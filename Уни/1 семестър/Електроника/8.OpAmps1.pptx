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407" r:id="rId3"/>
    <p:sldId id="408" r:id="rId4"/>
    <p:sldId id="399" r:id="rId5"/>
    <p:sldId id="405" r:id="rId6"/>
    <p:sldId id="396" r:id="rId7"/>
    <p:sldId id="39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288" y="1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14.12.2016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4038600"/>
            <a:ext cx="6400800" cy="762000"/>
          </a:xfrm>
        </p:spPr>
        <p:txBody>
          <a:bodyPr>
            <a:normAutofit fontScale="90000"/>
          </a:bodyPr>
          <a:lstStyle/>
          <a:p>
            <a:pPr lvl="0"/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ru-MO" sz="2700" dirty="0" smtClean="0"/>
              <a:t>Операционни усилватели (ОУ). Основни параметри без ОВ. </a:t>
            </a:r>
            <a:r>
              <a:rPr lang="bg-BG" sz="2400" dirty="0" smtClean="0"/>
              <a:t/>
            </a:r>
            <a:br>
              <a:rPr lang="bg-BG" sz="2400" dirty="0" smtClean="0"/>
            </a:b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609600" y="3711714"/>
            <a:ext cx="1143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VIII</a:t>
            </a:r>
            <a:endParaRPr lang="bg-BG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Операционни усилватели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pPr algn="ctr">
              <a:buNone/>
            </a:pPr>
            <a:endParaRPr lang="bg-BG" sz="1600" dirty="0" smtClean="0"/>
          </a:p>
          <a:p>
            <a:pPr algn="ctr">
              <a:buNone/>
            </a:pPr>
            <a:endParaRPr lang="bg-BG" sz="1600" dirty="0" smtClean="0"/>
          </a:p>
          <a:p>
            <a:pPr algn="ctr">
              <a:buNone/>
            </a:pPr>
            <a:endParaRPr lang="bg-BG" sz="1500" dirty="0" smtClean="0"/>
          </a:p>
          <a:p>
            <a:pPr algn="ctr">
              <a:buNone/>
            </a:pPr>
            <a:r>
              <a:rPr lang="bg-BG" sz="1500" dirty="0" smtClean="0"/>
              <a:t>Означение(а</a:t>
            </a:r>
            <a:r>
              <a:rPr lang="bg-BG" sz="1500" dirty="0" smtClean="0"/>
              <a:t>), опростена принципна схема (б</a:t>
            </a:r>
            <a:r>
              <a:rPr lang="bg-BG" sz="1500" dirty="0" smtClean="0"/>
              <a:t>)</a:t>
            </a:r>
            <a:endParaRPr lang="en-US" sz="1500" dirty="0" smtClean="0"/>
          </a:p>
          <a:p>
            <a:pPr>
              <a:buNone/>
            </a:pPr>
            <a:endParaRPr lang="bg-BG" sz="1400" dirty="0" smtClean="0"/>
          </a:p>
          <a:p>
            <a:pPr>
              <a:buNone/>
            </a:pPr>
            <a:r>
              <a:rPr lang="bg-BG" sz="1400" dirty="0" smtClean="0"/>
              <a:t>Основни параметри:</a:t>
            </a:r>
            <a:endParaRPr lang="en-US" sz="1400" dirty="0" smtClean="0"/>
          </a:p>
          <a:p>
            <a:pPr>
              <a:buNone/>
            </a:pP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i</a:t>
            </a:r>
            <a:r>
              <a:rPr lang="bg-BG" sz="1400" b="1" baseline="-25000" dirty="0" smtClean="0"/>
              <a:t>1</a:t>
            </a:r>
            <a:r>
              <a:rPr lang="bg-BG" sz="1400" b="1" dirty="0" smtClean="0"/>
              <a:t>,</a:t>
            </a:r>
            <a:r>
              <a:rPr lang="en-US" sz="1400" b="1" dirty="0" smtClean="0"/>
              <a:t>U</a:t>
            </a:r>
            <a:r>
              <a:rPr lang="en-US" sz="1400" b="1" baseline="-25000" dirty="0" smtClean="0"/>
              <a:t>i2 </a:t>
            </a:r>
            <a:r>
              <a:rPr lang="bg-BG" sz="1400" b="1" dirty="0" smtClean="0"/>
              <a:t>,</a:t>
            </a: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d</a:t>
            </a:r>
            <a:r>
              <a:rPr lang="en-US" sz="1400" dirty="0" smtClean="0"/>
              <a:t>,</a:t>
            </a:r>
            <a:r>
              <a:rPr lang="bg-BG" sz="1400" dirty="0" smtClean="0"/>
              <a:t> входни напрежения</a:t>
            </a:r>
          </a:p>
          <a:p>
            <a:pPr>
              <a:buNone/>
            </a:pPr>
            <a:r>
              <a:rPr lang="bg-BG" sz="1400" b="1" dirty="0" smtClean="0"/>
              <a:t>А,</a:t>
            </a:r>
            <a:r>
              <a:rPr lang="en-US" sz="1400" b="1" dirty="0" smtClean="0"/>
              <a:t> </a:t>
            </a:r>
            <a:r>
              <a:rPr lang="bg-BG" sz="1400" dirty="0" smtClean="0"/>
              <a:t>коефициент на усилване без ОВ (обратна връзка)</a:t>
            </a:r>
          </a:p>
          <a:p>
            <a:pPr>
              <a:buNone/>
            </a:pP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o</a:t>
            </a:r>
            <a:r>
              <a:rPr lang="en-US" sz="1400" dirty="0" smtClean="0"/>
              <a:t>,</a:t>
            </a:r>
            <a:r>
              <a:rPr lang="bg-BG" sz="1400" dirty="0" smtClean="0"/>
              <a:t> изходно напрежение</a:t>
            </a:r>
            <a:r>
              <a:rPr lang="en-US" sz="1400" dirty="0" smtClean="0"/>
              <a:t> </a:t>
            </a:r>
            <a:endParaRPr lang="en-US" sz="1400" dirty="0" smtClean="0"/>
          </a:p>
          <a:p>
            <a:pPr>
              <a:buNone/>
            </a:pPr>
            <a:r>
              <a:rPr lang="bg-BG" sz="1400" dirty="0" smtClean="0"/>
              <a:t>Основно съотношение:</a:t>
            </a:r>
          </a:p>
          <a:p>
            <a:pPr>
              <a:buNone/>
            </a:pP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o</a:t>
            </a:r>
            <a:r>
              <a:rPr lang="en-US" sz="1400" b="1" dirty="0" smtClean="0"/>
              <a:t>=(</a:t>
            </a: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i</a:t>
            </a:r>
            <a:r>
              <a:rPr lang="bg-BG" sz="1400" b="1" baseline="-25000" dirty="0" smtClean="0"/>
              <a:t>1</a:t>
            </a:r>
            <a:r>
              <a:rPr lang="en-US" sz="1400" b="1" dirty="0" smtClean="0"/>
              <a:t>-</a:t>
            </a: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i</a:t>
            </a:r>
            <a:r>
              <a:rPr lang="bg-BG" sz="1400" b="1" baseline="-25000" dirty="0" smtClean="0"/>
              <a:t>2</a:t>
            </a:r>
            <a:r>
              <a:rPr lang="en-US" sz="1400" b="1" dirty="0" smtClean="0"/>
              <a:t>) A</a:t>
            </a:r>
          </a:p>
          <a:p>
            <a:pPr>
              <a:buNone/>
            </a:pP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o</a:t>
            </a:r>
            <a:r>
              <a:rPr lang="en-US" sz="1400" b="1" dirty="0" smtClean="0"/>
              <a:t>=</a:t>
            </a:r>
            <a:r>
              <a:rPr lang="en-US" sz="1400" b="1" dirty="0" err="1" smtClean="0"/>
              <a:t>U</a:t>
            </a:r>
            <a:r>
              <a:rPr lang="en-US" sz="1400" b="1" baseline="-25000" dirty="0" err="1" smtClean="0"/>
              <a:t>d</a:t>
            </a:r>
            <a:r>
              <a:rPr lang="en-US" sz="1400" b="1" dirty="0" smtClean="0"/>
              <a:t> </a:t>
            </a:r>
            <a:r>
              <a:rPr lang="en-US" sz="1400" b="1" dirty="0" smtClean="0"/>
              <a:t>A</a:t>
            </a:r>
          </a:p>
          <a:p>
            <a:pPr algn="ctr">
              <a:buNone/>
            </a:pPr>
            <a:endParaRPr lang="bg-BG" sz="1600" dirty="0" smtClean="0"/>
          </a:p>
          <a:p>
            <a:endParaRPr lang="bg-B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733800"/>
            <a:ext cx="12382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1044575" y="2416175"/>
          <a:ext cx="4479925" cy="2863850"/>
        </p:xfrm>
        <a:graphic>
          <a:graphicData uri="http://schemas.openxmlformats.org/presentationml/2006/ole">
            <p:oleObj spid="_x0000_s13314" name="Visio" r:id="rId4" imgW="3162138" imgH="1918299" progId="Visio.Drawing.11">
              <p:embed/>
            </p:oleObj>
          </a:graphicData>
        </a:graphic>
      </p:graphicFrame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4419600" y="1524000"/>
          <a:ext cx="3611563" cy="2773363"/>
        </p:xfrm>
        <a:graphic>
          <a:graphicData uri="http://schemas.openxmlformats.org/presentationml/2006/ole">
            <p:oleObj spid="_x0000_s13318" name="Visio" r:id="rId5" imgW="4692396" imgH="3331159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ОУ. </a:t>
            </a:r>
            <a:r>
              <a:rPr lang="en-AU" dirty="0" err="1" smtClean="0"/>
              <a:t>Параметри</a:t>
            </a:r>
            <a:r>
              <a:rPr lang="en-AU" dirty="0" smtClean="0"/>
              <a:t> и </a:t>
            </a:r>
            <a:r>
              <a:rPr lang="en-AU" dirty="0" err="1" smtClean="0"/>
              <a:t>характеристики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bg-BG" i="1" dirty="0" smtClean="0"/>
              <a:t>1. Статични параметри:</a:t>
            </a:r>
            <a:endParaRPr lang="bg-BG" dirty="0" smtClean="0"/>
          </a:p>
          <a:p>
            <a:pPr>
              <a:buNone/>
            </a:pPr>
            <a:r>
              <a:rPr lang="bg-BG" b="1" dirty="0" smtClean="0"/>
              <a:t>1/ Входно напрежение на несиметрия – </a:t>
            </a:r>
            <a:r>
              <a:rPr lang="en-US" dirty="0" err="1" smtClean="0"/>
              <a:t>u</a:t>
            </a:r>
            <a:r>
              <a:rPr lang="en-US" baseline="-25000" dirty="0" err="1" smtClean="0"/>
              <a:t>i</a:t>
            </a:r>
            <a:r>
              <a:rPr lang="ru-RU" dirty="0" smtClean="0"/>
              <a:t>=</a:t>
            </a:r>
            <a:r>
              <a:rPr lang="bg-BG" dirty="0" smtClean="0"/>
              <a:t>U</a:t>
            </a:r>
            <a:r>
              <a:rPr lang="bg-BG" baseline="-25000" dirty="0" smtClean="0"/>
              <a:t>i0</a:t>
            </a:r>
            <a:r>
              <a:rPr lang="bg-BG" dirty="0" smtClean="0"/>
              <a:t> при </a:t>
            </a:r>
            <a:r>
              <a:rPr lang="en-US" dirty="0" err="1" smtClean="0"/>
              <a:t>U</a:t>
            </a:r>
            <a:r>
              <a:rPr lang="en-US" baseline="-25000" dirty="0" err="1" smtClean="0"/>
              <a:t>out</a:t>
            </a:r>
            <a:r>
              <a:rPr lang="ru-RU" dirty="0" smtClean="0"/>
              <a:t> =0</a:t>
            </a:r>
            <a:endParaRPr lang="bg-BG" dirty="0" smtClean="0"/>
          </a:p>
          <a:p>
            <a:pPr>
              <a:buNone/>
            </a:pPr>
            <a:r>
              <a:rPr lang="bg-BG" b="1" dirty="0" smtClean="0"/>
              <a:t>2/ Входен ток на несиметрия - I</a:t>
            </a:r>
            <a:r>
              <a:rPr lang="bg-BG" baseline="-25000" dirty="0" smtClean="0"/>
              <a:t>i0</a:t>
            </a:r>
            <a:r>
              <a:rPr lang="bg-BG" b="1" dirty="0" smtClean="0"/>
              <a:t>. </a:t>
            </a:r>
            <a:endParaRPr lang="bg-BG" dirty="0" smtClean="0"/>
          </a:p>
          <a:p>
            <a:pPr>
              <a:buNone/>
            </a:pPr>
            <a:r>
              <a:rPr lang="bg-BG" dirty="0" smtClean="0"/>
              <a:t>	I</a:t>
            </a:r>
            <a:r>
              <a:rPr lang="bg-BG" baseline="-25000" dirty="0" smtClean="0"/>
              <a:t>i0</a:t>
            </a:r>
            <a:r>
              <a:rPr lang="bg-BG" dirty="0" smtClean="0"/>
              <a:t>= I</a:t>
            </a:r>
            <a:r>
              <a:rPr lang="bg-BG" baseline="-25000" dirty="0" smtClean="0"/>
              <a:t>B1</a:t>
            </a:r>
            <a:r>
              <a:rPr lang="bg-BG" dirty="0" smtClean="0"/>
              <a:t> - I</a:t>
            </a:r>
            <a:r>
              <a:rPr lang="bg-BG" baseline="-25000" dirty="0" smtClean="0"/>
              <a:t>B2</a:t>
            </a:r>
            <a:r>
              <a:rPr lang="bg-BG" dirty="0" smtClean="0"/>
              <a:t>   при  </a:t>
            </a:r>
            <a:r>
              <a:rPr lang="bg-BG" dirty="0" err="1" smtClean="0"/>
              <a:t>U</a:t>
            </a:r>
            <a:r>
              <a:rPr lang="bg-BG" baseline="-25000" dirty="0" err="1" smtClean="0"/>
              <a:t>о</a:t>
            </a:r>
            <a:r>
              <a:rPr lang="en-US" baseline="-25000" dirty="0" err="1" smtClean="0"/>
              <a:t>ut</a:t>
            </a:r>
            <a:r>
              <a:rPr lang="bg-BG" dirty="0" smtClean="0"/>
              <a:t>=0.</a:t>
            </a:r>
          </a:p>
          <a:p>
            <a:pPr>
              <a:buNone/>
            </a:pPr>
            <a:r>
              <a:rPr lang="bg-BG" b="1" dirty="0" smtClean="0"/>
              <a:t>3/ Остатъчно изходно напрежение - U</a:t>
            </a:r>
            <a:r>
              <a:rPr lang="bg-BG" baseline="-25000" dirty="0" smtClean="0"/>
              <a:t>0</a:t>
            </a:r>
            <a:r>
              <a:rPr lang="en-US" baseline="-25000" dirty="0" smtClean="0"/>
              <a:t>,</a:t>
            </a:r>
            <a:r>
              <a:rPr lang="bg-BG" baseline="-25000" dirty="0" smtClean="0"/>
              <a:t>о</a:t>
            </a:r>
            <a:r>
              <a:rPr lang="en-US" baseline="-25000" dirty="0" err="1" smtClean="0"/>
              <a:t>ut</a:t>
            </a:r>
            <a:r>
              <a:rPr lang="bg-BG" b="1" dirty="0" smtClean="0"/>
              <a:t>.</a:t>
            </a:r>
            <a:endParaRPr lang="bg-BG" dirty="0" smtClean="0"/>
          </a:p>
          <a:p>
            <a:pPr>
              <a:buNone/>
            </a:pPr>
            <a:r>
              <a:rPr lang="bg-BG" dirty="0" smtClean="0"/>
              <a:t>	U</a:t>
            </a:r>
            <a:r>
              <a:rPr lang="bg-BG" baseline="-25000" dirty="0" smtClean="0"/>
              <a:t>0</a:t>
            </a:r>
            <a:r>
              <a:rPr lang="bg-BG" dirty="0" smtClean="0"/>
              <a:t>= </a:t>
            </a:r>
            <a:r>
              <a:rPr lang="bg-BG" dirty="0" err="1" smtClean="0"/>
              <a:t>U</a:t>
            </a:r>
            <a:r>
              <a:rPr lang="bg-BG" baseline="-25000" dirty="0" err="1" smtClean="0"/>
              <a:t>0</a:t>
            </a:r>
            <a:r>
              <a:rPr lang="en-US" baseline="-25000" dirty="0" smtClean="0"/>
              <a:t>,</a:t>
            </a:r>
            <a:r>
              <a:rPr lang="bg-BG" baseline="-25000" dirty="0" smtClean="0"/>
              <a:t>о</a:t>
            </a:r>
            <a:r>
              <a:rPr lang="en-US" baseline="-25000" dirty="0" err="1" smtClean="0"/>
              <a:t>ut</a:t>
            </a:r>
            <a:r>
              <a:rPr lang="bg-BG" dirty="0" smtClean="0"/>
              <a:t> при </a:t>
            </a:r>
            <a:r>
              <a:rPr lang="bg-BG" dirty="0" err="1" smtClean="0"/>
              <a:t>U</a:t>
            </a:r>
            <a:r>
              <a:rPr lang="bg-BG" baseline="-25000" dirty="0" err="1" smtClean="0"/>
              <a:t>id</a:t>
            </a:r>
            <a:r>
              <a:rPr lang="bg-BG" dirty="0" smtClean="0"/>
              <a:t> = 0.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ОУ. </a:t>
            </a:r>
            <a:r>
              <a:rPr lang="en-AU" sz="2800" dirty="0" err="1" smtClean="0"/>
              <a:t>Параметри</a:t>
            </a:r>
            <a:r>
              <a:rPr lang="en-AU" sz="2800" dirty="0" smtClean="0"/>
              <a:t> и </a:t>
            </a:r>
            <a:r>
              <a:rPr lang="en-AU" sz="2800" dirty="0" err="1" smtClean="0"/>
              <a:t>характеристики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i="1" dirty="0" smtClean="0"/>
              <a:t>2</a:t>
            </a:r>
            <a:r>
              <a:rPr lang="bg-BG" i="1" dirty="0" smtClean="0"/>
              <a:t>. Динамични  параметри</a:t>
            </a:r>
          </a:p>
          <a:p>
            <a:pPr>
              <a:buNone/>
            </a:pPr>
            <a:r>
              <a:rPr lang="bg-BG" sz="2000" b="1" dirty="0" smtClean="0"/>
              <a:t>1/ Коефициент на усилване по напрежение без ОБ (обратна връзка) – А</a:t>
            </a: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                                  </a:t>
            </a:r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         →80 до 120 </a:t>
            </a:r>
            <a:r>
              <a:rPr lang="bg-BG" sz="2000" dirty="0" err="1" smtClean="0"/>
              <a:t>dB</a:t>
            </a:r>
            <a:r>
              <a:rPr lang="bg-BG" sz="2000" dirty="0" smtClean="0"/>
              <a:t> (10</a:t>
            </a:r>
            <a:r>
              <a:rPr lang="bg-BG" sz="2000" baseline="30000" dirty="0" smtClean="0"/>
              <a:t>4</a:t>
            </a:r>
            <a:r>
              <a:rPr lang="bg-BG" sz="2000" dirty="0" smtClean="0"/>
              <a:t> до 10</a:t>
            </a:r>
            <a:r>
              <a:rPr lang="bg-BG" sz="2000" baseline="30000" dirty="0" smtClean="0"/>
              <a:t>6</a:t>
            </a:r>
            <a:r>
              <a:rPr lang="bg-BG" sz="2000" dirty="0" smtClean="0"/>
              <a:t>).</a:t>
            </a:r>
          </a:p>
          <a:p>
            <a:pPr>
              <a:buNone/>
            </a:pPr>
            <a:endParaRPr lang="bg-BG" sz="300" dirty="0" smtClean="0"/>
          </a:p>
          <a:p>
            <a:pPr>
              <a:buNone/>
            </a:pPr>
            <a:r>
              <a:rPr lang="bg-BG" sz="2000" dirty="0" smtClean="0"/>
              <a:t> </a:t>
            </a:r>
            <a:r>
              <a:rPr lang="bg-BG" sz="2000" b="1" dirty="0" smtClean="0"/>
              <a:t>2/ Коефициент на </a:t>
            </a:r>
            <a:r>
              <a:rPr lang="bg-BG" sz="2000" b="1" dirty="0" err="1" smtClean="0"/>
              <a:t>подтискане</a:t>
            </a:r>
            <a:r>
              <a:rPr lang="bg-BG" sz="2000" b="1" dirty="0" smtClean="0"/>
              <a:t> на </a:t>
            </a:r>
            <a:r>
              <a:rPr lang="bg-BG" sz="2000" b="1" dirty="0" err="1" smtClean="0"/>
              <a:t>синфазните</a:t>
            </a:r>
            <a:r>
              <a:rPr lang="bg-BG" sz="2000" b="1" dirty="0" smtClean="0"/>
              <a:t> </a:t>
            </a:r>
            <a:r>
              <a:rPr lang="bg-BG" sz="2000" b="1" dirty="0" smtClean="0"/>
              <a:t>сигнали </a:t>
            </a: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          </a:t>
            </a:r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     </a:t>
            </a:r>
            <a:r>
              <a:rPr lang="bg-BG" sz="1800" dirty="0" smtClean="0"/>
              <a:t>А</a:t>
            </a:r>
            <a:r>
              <a:rPr lang="bg-BG" sz="1800" baseline="-25000" dirty="0" smtClean="0"/>
              <a:t>СМ</a:t>
            </a:r>
            <a:r>
              <a:rPr lang="bg-BG" sz="1800" dirty="0" smtClean="0"/>
              <a:t> </a:t>
            </a:r>
            <a:r>
              <a:rPr lang="bg-BG" sz="1800" dirty="0" smtClean="0"/>
              <a:t>е  коефициент </a:t>
            </a:r>
            <a:r>
              <a:rPr lang="bg-BG" sz="1800" dirty="0" smtClean="0"/>
              <a:t>на </a:t>
            </a:r>
            <a:r>
              <a:rPr lang="bg-BG" sz="1800" dirty="0" smtClean="0"/>
              <a:t>предаване на </a:t>
            </a:r>
            <a:r>
              <a:rPr lang="bg-BG" sz="1800" dirty="0" err="1" smtClean="0"/>
              <a:t>синфазния</a:t>
            </a:r>
            <a:r>
              <a:rPr lang="bg-BG" sz="1800" dirty="0" smtClean="0"/>
              <a:t> </a:t>
            </a:r>
            <a:r>
              <a:rPr lang="bg-BG" sz="1800" dirty="0" smtClean="0"/>
              <a:t>сигнал, </a:t>
            </a:r>
          </a:p>
          <a:p>
            <a:pPr>
              <a:buNone/>
            </a:pPr>
            <a:r>
              <a:rPr lang="bg-BG" sz="1800" dirty="0" smtClean="0"/>
              <a:t>      CMRR  </a:t>
            </a:r>
            <a:r>
              <a:rPr lang="bg-BG" sz="1800" dirty="0" smtClean="0"/>
              <a:t>е </a:t>
            </a:r>
            <a:r>
              <a:rPr lang="bg-BG" sz="1800" dirty="0" smtClean="0"/>
              <a:t>в границите (-60 </a:t>
            </a:r>
            <a:r>
              <a:rPr lang="bg-BG" sz="1800" dirty="0" err="1" smtClean="0"/>
              <a:t>дo</a:t>
            </a:r>
            <a:r>
              <a:rPr lang="bg-BG" sz="1800" dirty="0" smtClean="0"/>
              <a:t> -120)</a:t>
            </a:r>
            <a:r>
              <a:rPr lang="bg-BG" sz="1800" dirty="0" err="1" smtClean="0"/>
              <a:t>dB</a:t>
            </a:r>
            <a:r>
              <a:rPr lang="bg-BG" sz="1800" dirty="0" smtClean="0"/>
              <a:t>.</a:t>
            </a:r>
          </a:p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743200"/>
            <a:ext cx="2286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2743200"/>
            <a:ext cx="1981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2438399" y="4572000"/>
          <a:ext cx="1668613" cy="762000"/>
        </p:xfrm>
        <a:graphic>
          <a:graphicData uri="http://schemas.openxmlformats.org/presentationml/2006/ole">
            <p:oleObj spid="_x0000_s11267" name="Equation" r:id="rId5" imgW="952087" imgH="431613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ОУ. </a:t>
            </a:r>
            <a:r>
              <a:rPr lang="en-AU" sz="2800" dirty="0" err="1" smtClean="0"/>
              <a:t>Параметри</a:t>
            </a:r>
            <a:r>
              <a:rPr lang="en-AU" sz="2800" dirty="0" smtClean="0"/>
              <a:t> и </a:t>
            </a:r>
            <a:r>
              <a:rPr lang="en-AU" sz="2800" dirty="0" err="1" smtClean="0"/>
              <a:t>характеристики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bg-BG" b="1" dirty="0" smtClean="0"/>
              <a:t>3/ </a:t>
            </a:r>
            <a:r>
              <a:rPr lang="bg-BG" sz="2200" b="1" dirty="0" smtClean="0"/>
              <a:t>Амплитудно-честотна характеристика (АЧХ) и фазово-честотна характеристика ФЧХ</a:t>
            </a:r>
            <a:endParaRPr lang="bg-BG" sz="2200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 algn="ctr">
              <a:buNone/>
            </a:pPr>
            <a:endParaRPr lang="bg-BG" sz="2000" dirty="0" smtClean="0"/>
          </a:p>
          <a:p>
            <a:pPr algn="ctr">
              <a:buNone/>
            </a:pPr>
            <a:r>
              <a:rPr lang="bg-BG" sz="2000" dirty="0" smtClean="0"/>
              <a:t>АЧХ и ФЧХ на операционен усилвател</a:t>
            </a:r>
          </a:p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6324600"/>
            <a:ext cx="10477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3" cstate="print"/>
          <a:srcRect l="2605" t="4619" r="3633" b="15260"/>
          <a:stretch>
            <a:fillRect/>
          </a:stretch>
        </p:blipFill>
        <p:spPr bwMode="auto">
          <a:xfrm>
            <a:off x="1295400" y="2819400"/>
            <a:ext cx="5642610" cy="2217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ОУ. </a:t>
            </a:r>
            <a:r>
              <a:rPr lang="en-AU" sz="2800" dirty="0" err="1" smtClean="0"/>
              <a:t>Параметри</a:t>
            </a:r>
            <a:r>
              <a:rPr lang="en-AU" sz="2800" dirty="0" smtClean="0"/>
              <a:t> и </a:t>
            </a:r>
            <a:r>
              <a:rPr lang="en-AU" sz="2800" dirty="0" err="1" smtClean="0"/>
              <a:t>характеристики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bg-BG" sz="2000" b="1" dirty="0" smtClean="0"/>
              <a:t>4/ Входно диференциално съпротивление – </a:t>
            </a:r>
            <a:r>
              <a:rPr lang="bg-BG" sz="2000" b="1" dirty="0" err="1" smtClean="0"/>
              <a:t>R</a:t>
            </a:r>
            <a:r>
              <a:rPr lang="bg-BG" sz="2000" b="1" baseline="-25000" dirty="0" err="1" smtClean="0"/>
              <a:t>id</a:t>
            </a:r>
            <a:r>
              <a:rPr lang="bg-BG" sz="2000" b="1" dirty="0" smtClean="0"/>
              <a:t> </a:t>
            </a: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        </a:t>
            </a:r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и е от порядъка на 300 </a:t>
            </a:r>
            <a:r>
              <a:rPr lang="bg-BG" sz="2000" dirty="0" err="1" smtClean="0"/>
              <a:t>кΩ</a:t>
            </a:r>
            <a:r>
              <a:rPr lang="bg-BG" sz="2000" dirty="0" smtClean="0"/>
              <a:t> до 1 GΩ.</a:t>
            </a:r>
          </a:p>
          <a:p>
            <a:pPr>
              <a:buNone/>
            </a:pPr>
            <a:r>
              <a:rPr lang="bg-BG" sz="2000" b="1" dirty="0" smtClean="0"/>
              <a:t>5/ Изходно съпротивление </a:t>
            </a:r>
            <a:r>
              <a:rPr lang="bg-BG" sz="2000" dirty="0" smtClean="0"/>
              <a:t>- </a:t>
            </a:r>
            <a:r>
              <a:rPr lang="bg-BG" sz="2000" b="1" dirty="0" err="1" smtClean="0"/>
              <a:t>R</a:t>
            </a:r>
            <a:r>
              <a:rPr lang="bg-BG" sz="2000" b="1" baseline="-25000" dirty="0" err="1" smtClean="0"/>
              <a:t>о</a:t>
            </a: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Съпротивление на еквивалентния вътрешен източник на е.д.н. и е от порядъка  на 50 до 200 Ω.</a:t>
            </a:r>
          </a:p>
          <a:p>
            <a:pPr>
              <a:buNone/>
            </a:pPr>
            <a:r>
              <a:rPr lang="bg-BG" sz="2000" b="1" dirty="0" smtClean="0"/>
              <a:t>6/ Максимално изходно напрежение – </a:t>
            </a:r>
            <a:r>
              <a:rPr lang="bg-BG" sz="2000" b="1" dirty="0" err="1" smtClean="0"/>
              <a:t>U</a:t>
            </a:r>
            <a:r>
              <a:rPr lang="bg-BG" sz="2000" b="1" baseline="-25000" dirty="0" err="1" smtClean="0"/>
              <a:t>o</a:t>
            </a:r>
            <a:r>
              <a:rPr lang="bg-BG" sz="2000" b="1" baseline="-25000" dirty="0" smtClean="0"/>
              <a:t> </a:t>
            </a:r>
            <a:r>
              <a:rPr lang="bg-BG" sz="2000" b="1" baseline="-25000" dirty="0" err="1" smtClean="0"/>
              <a:t>max</a:t>
            </a:r>
            <a:endParaRPr lang="bg-BG" sz="2000" dirty="0" smtClean="0"/>
          </a:p>
          <a:p>
            <a:pPr>
              <a:buNone/>
            </a:pPr>
            <a:r>
              <a:rPr lang="bg-BG" sz="2000" dirty="0" err="1" smtClean="0"/>
              <a:t>U</a:t>
            </a:r>
            <a:r>
              <a:rPr lang="bg-BG" sz="2000" baseline="-25000" dirty="0" err="1" smtClean="0"/>
              <a:t>оmax</a:t>
            </a:r>
            <a:r>
              <a:rPr lang="bg-BG" sz="2000" dirty="0" smtClean="0"/>
              <a:t> ≈ U</a:t>
            </a:r>
            <a:r>
              <a:rPr lang="bg-BG" sz="2000" baseline="-25000" dirty="0" smtClean="0"/>
              <a:t>CС</a:t>
            </a:r>
            <a:r>
              <a:rPr lang="bg-BG" sz="2000" dirty="0" smtClean="0"/>
              <a:t> - </a:t>
            </a:r>
            <a:r>
              <a:rPr lang="bg-BG" sz="2000" dirty="0" smtClean="0">
                <a:sym typeface="Symbol"/>
              </a:rPr>
              <a:t></a:t>
            </a:r>
            <a:r>
              <a:rPr lang="bg-BG" sz="2000" dirty="0" smtClean="0"/>
              <a:t>U,  където </a:t>
            </a:r>
            <a:r>
              <a:rPr lang="bg-BG" sz="2000" dirty="0" smtClean="0">
                <a:sym typeface="Symbol"/>
              </a:rPr>
              <a:t></a:t>
            </a:r>
            <a:r>
              <a:rPr lang="bg-BG" sz="2000" dirty="0" smtClean="0"/>
              <a:t> U= (1 до 5) </a:t>
            </a:r>
            <a:r>
              <a:rPr lang="bg-BG" sz="2000" cap="all" dirty="0" smtClean="0"/>
              <a:t>v</a:t>
            </a:r>
            <a:r>
              <a:rPr lang="bg-BG" sz="2000" dirty="0" smtClean="0"/>
              <a:t>.</a:t>
            </a:r>
          </a:p>
          <a:p>
            <a:pPr>
              <a:buNone/>
            </a:pPr>
            <a:endParaRPr lang="bg-BG" sz="2000" b="1" dirty="0" smtClean="0"/>
          </a:p>
          <a:p>
            <a:pPr>
              <a:buNone/>
            </a:pPr>
            <a:r>
              <a:rPr lang="bg-BG" sz="2000" b="1" dirty="0" smtClean="0"/>
              <a:t>7/ Честотна лента:     </a:t>
            </a:r>
            <a:r>
              <a:rPr lang="bg-BG" sz="2000" b="1" dirty="0" smtClean="0">
                <a:sym typeface="Symbol"/>
              </a:rPr>
              <a:t></a:t>
            </a:r>
            <a:r>
              <a:rPr lang="bg-BG" sz="2000" b="1" dirty="0" smtClean="0"/>
              <a:t>f ≈1МHz за А=1</a:t>
            </a:r>
            <a:r>
              <a:rPr lang="bg-BG" sz="2000" b="1" dirty="0" smtClean="0"/>
              <a:t>.</a:t>
            </a:r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r>
              <a:rPr lang="bg-BG" sz="2000" b="1" dirty="0" smtClean="0"/>
              <a:t>8/Идеален ОУ:</a:t>
            </a:r>
            <a:r>
              <a:rPr lang="bg-BG" sz="2000" dirty="0" smtClean="0"/>
              <a:t> </a:t>
            </a:r>
            <a:r>
              <a:rPr lang="bg-BG" sz="2000" b="1" dirty="0" smtClean="0"/>
              <a:t>А=∞, </a:t>
            </a:r>
            <a:r>
              <a:rPr lang="bg-BG" sz="2000" b="1" dirty="0" err="1" smtClean="0"/>
              <a:t>R</a:t>
            </a:r>
            <a:r>
              <a:rPr lang="bg-BG" sz="2000" b="1" baseline="-25000" dirty="0" err="1" smtClean="0"/>
              <a:t>i</a:t>
            </a:r>
            <a:r>
              <a:rPr lang="bg-BG" sz="2000" b="1" dirty="0" smtClean="0"/>
              <a:t>=∞, </a:t>
            </a:r>
            <a:r>
              <a:rPr lang="bg-BG" sz="2000" b="1" dirty="0" err="1" smtClean="0"/>
              <a:t>R</a:t>
            </a:r>
            <a:r>
              <a:rPr lang="bg-BG" sz="2000" b="1" baseline="-25000" dirty="0" err="1" smtClean="0"/>
              <a:t>о</a:t>
            </a:r>
            <a:r>
              <a:rPr lang="bg-BG" sz="2000" b="1" dirty="0" smtClean="0"/>
              <a:t>=0,  </a:t>
            </a:r>
            <a:r>
              <a:rPr lang="bg-BG" sz="2000" b="1" dirty="0" smtClean="0">
                <a:sym typeface="Symbol"/>
              </a:rPr>
              <a:t></a:t>
            </a:r>
            <a:r>
              <a:rPr lang="bg-BG" sz="2000" b="1" dirty="0" smtClean="0"/>
              <a:t>f = ∞ и нулеви собствени шумове</a:t>
            </a:r>
            <a:r>
              <a:rPr lang="bg-BG" dirty="0" smtClean="0"/>
              <a:t>.</a:t>
            </a:r>
            <a:endParaRPr lang="bg-BG" dirty="0" smtClean="0"/>
          </a:p>
          <a:p>
            <a:pPr>
              <a:buNone/>
            </a:pPr>
            <a:endParaRPr lang="bg-BG" dirty="0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9217" name="Object 1"/>
          <p:cNvGraphicFramePr>
            <a:graphicFrameLocks noChangeAspect="1"/>
          </p:cNvGraphicFramePr>
          <p:nvPr/>
        </p:nvGraphicFramePr>
        <p:xfrm>
          <a:off x="609600" y="1981200"/>
          <a:ext cx="1295400" cy="778377"/>
        </p:xfrm>
        <a:graphic>
          <a:graphicData uri="http://schemas.openxmlformats.org/presentationml/2006/ole">
            <p:oleObj spid="_x0000_s9217" name="Equation" r:id="rId3" imgW="723586" imgH="431613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 err="1" smtClean="0"/>
              <a:t>Захранване</a:t>
            </a:r>
            <a:r>
              <a:rPr lang="en-AU" sz="2800" dirty="0" smtClean="0"/>
              <a:t> </a:t>
            </a:r>
            <a:r>
              <a:rPr lang="en-AU" sz="2800" dirty="0" err="1" smtClean="0"/>
              <a:t>на</a:t>
            </a:r>
            <a:r>
              <a:rPr lang="en-AU" sz="2800" dirty="0" smtClean="0"/>
              <a:t> ОУ </a:t>
            </a:r>
            <a:r>
              <a:rPr lang="en-AU" sz="2800" dirty="0" err="1" smtClean="0"/>
              <a:t>със</a:t>
            </a:r>
            <a:r>
              <a:rPr lang="en-AU" sz="2800" dirty="0" smtClean="0"/>
              <a:t> </a:t>
            </a:r>
            <a:r>
              <a:rPr lang="en-AU" sz="2800" dirty="0" err="1" smtClean="0"/>
              <a:t>защита</a:t>
            </a:r>
            <a:r>
              <a:rPr lang="en-AU" sz="2800" dirty="0" smtClean="0"/>
              <a:t> </a:t>
            </a:r>
            <a:r>
              <a:rPr lang="en-AU" sz="2800" dirty="0" err="1" smtClean="0"/>
              <a:t>от</a:t>
            </a:r>
            <a:r>
              <a:rPr lang="en-AU" sz="2800" dirty="0" smtClean="0"/>
              <a:t> </a:t>
            </a:r>
            <a:r>
              <a:rPr lang="en-AU" sz="2800" dirty="0" err="1" smtClean="0"/>
              <a:t>повишено</a:t>
            </a:r>
            <a:r>
              <a:rPr lang="en-AU" sz="2800" dirty="0" smtClean="0"/>
              <a:t> </a:t>
            </a:r>
            <a:r>
              <a:rPr lang="en-AU" sz="2800" dirty="0" err="1" smtClean="0"/>
              <a:t>напрежение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10" name="Picture 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209800"/>
            <a:ext cx="565785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10518</TotalTime>
  <Words>278</Words>
  <Application>Microsoft Office PowerPoint</Application>
  <PresentationFormat>On-screen Show (4:3)</PresentationFormat>
  <Paragraphs>77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Oriel</vt:lpstr>
      <vt:lpstr>Microsoft Office Visio Drawing</vt:lpstr>
      <vt:lpstr>Visio</vt:lpstr>
      <vt:lpstr>Equation</vt:lpstr>
      <vt:lpstr>   Операционни усилватели (ОУ). Основни параметри без ОВ.     </vt:lpstr>
      <vt:lpstr>Операционни усилватели</vt:lpstr>
      <vt:lpstr>ОУ. Параметри и характеристики</vt:lpstr>
      <vt:lpstr>ОУ. Параметри и характеристики</vt:lpstr>
      <vt:lpstr>ОУ. Параметри и характеристики</vt:lpstr>
      <vt:lpstr>ОУ. Параметри и характеристики</vt:lpstr>
      <vt:lpstr>Захранване на ОУ със защита от повишено напрежение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296</cp:revision>
  <dcterms:created xsi:type="dcterms:W3CDTF">2006-08-16T00:00:00Z</dcterms:created>
  <dcterms:modified xsi:type="dcterms:W3CDTF">2016-12-14T07:52:28Z</dcterms:modified>
</cp:coreProperties>
</file>
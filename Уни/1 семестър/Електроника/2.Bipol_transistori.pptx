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6"/>
  </p:notesMasterIdLst>
  <p:sldIdLst>
    <p:sldId id="256" r:id="rId2"/>
    <p:sldId id="268" r:id="rId3"/>
    <p:sldId id="326" r:id="rId4"/>
    <p:sldId id="330" r:id="rId5"/>
    <p:sldId id="331" r:id="rId6"/>
    <p:sldId id="337" r:id="rId7"/>
    <p:sldId id="332" r:id="rId8"/>
    <p:sldId id="336" r:id="rId9"/>
    <p:sldId id="335" r:id="rId10"/>
    <p:sldId id="339" r:id="rId11"/>
    <p:sldId id="341" r:id="rId12"/>
    <p:sldId id="342" r:id="rId13"/>
    <p:sldId id="344" r:id="rId14"/>
    <p:sldId id="34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200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43C5CA-6687-4F32-A5FF-8CEAF2AE44B1}" type="datetimeFigureOut">
              <a:rPr lang="bg-BG" smtClean="0"/>
              <a:pPr/>
              <a:t>27.11.2016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CEEECB-D8FA-41A3-B0EC-BF3922F158D3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xmlns="" val="1363104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E2D2E592-4A2E-4BF9-A293-5D4CA1DD4DAF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8CD3E69-3D3E-498E-8451-15B84446259C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lIns="36000" tIns="36000" rIns="36000" bIns="36000" rtlCol="0"/>
          <a:lstStyle/>
          <a:p>
            <a:fld id="{12902C2A-6BBE-4F76-B0A0-0825489B58C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9DFBF9CF-4921-4328-9B41-A045E9AF6BFA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3EAFD-D94D-45EF-BEF1-DAA051E58B44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2322-A269-4D17-A395-14EA6835F691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8AD8E53-10C3-4075-BDB5-1A60D07778CA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3EB91-2A6D-426B-8EC3-948122788556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8CDD70B-CB48-4837-917F-683692E29684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832BB7E-0C31-4275-A2F4-79BF2F9688A2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2F2E9-85C3-4B1C-9AF4-D23F9A75E333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B7C2-5310-481F-99BE-A39F46511263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D8E6A2B-0561-4E1D-9856-5848DD06DFF0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3276600"/>
            <a:ext cx="6400800" cy="1447800"/>
          </a:xfrm>
        </p:spPr>
        <p:txBody>
          <a:bodyPr>
            <a:normAutofit fontScale="90000"/>
          </a:bodyPr>
          <a:lstStyle/>
          <a:p>
            <a:pPr lvl="0"/>
            <a:r>
              <a:rPr lang="ru-MO" dirty="0" smtClean="0"/>
              <a:t/>
            </a:r>
            <a:br>
              <a:rPr lang="ru-MO" dirty="0" smtClean="0"/>
            </a:br>
            <a:r>
              <a:rPr lang="ru-MO" dirty="0" smtClean="0"/>
              <a:t>Биполярни транзистори. Режими на работа. Схеми на свързване. </a:t>
            </a:r>
            <a:r>
              <a:rPr lang="bg-BG" dirty="0" smtClean="0"/>
              <a:t/>
            </a:r>
            <a:br>
              <a:rPr lang="bg-BG" dirty="0" smtClean="0"/>
            </a:b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tx1"/>
                </a:solidFill>
              </a:rPr>
              <a:t>Проф. Венцислав Вълчев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09800" y="1563469"/>
            <a:ext cx="6248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i="1" dirty="0" smtClean="0"/>
              <a:t>Дисциплина : </a:t>
            </a:r>
          </a:p>
          <a:p>
            <a:pPr algn="ctr"/>
            <a:r>
              <a:rPr lang="bg-BG" i="1" dirty="0" smtClean="0"/>
              <a:t>“Компютърна електроника” </a:t>
            </a:r>
            <a:endParaRPr lang="bg-BG" i="1" dirty="0"/>
          </a:p>
        </p:txBody>
      </p:sp>
      <p:sp>
        <p:nvSpPr>
          <p:cNvPr id="5" name="Rectangle 4"/>
          <p:cNvSpPr/>
          <p:nvPr/>
        </p:nvSpPr>
        <p:spPr>
          <a:xfrm>
            <a:off x="1676400" y="304800"/>
            <a:ext cx="7010400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sz="2800" b="1" dirty="0" smtClean="0"/>
              <a:t>Технически Университет Варна</a:t>
            </a:r>
          </a:p>
          <a:p>
            <a:pPr algn="ctr"/>
            <a:endParaRPr lang="bg-BG" sz="1050" b="1" dirty="0" smtClean="0"/>
          </a:p>
          <a:p>
            <a:pPr algn="ctr"/>
            <a:r>
              <a:rPr lang="bg-BG" dirty="0" smtClean="0"/>
              <a:t>Катедра „Електронна техника и микроелектроника“</a:t>
            </a:r>
            <a:endParaRPr lang="bg-BG" dirty="0"/>
          </a:p>
        </p:txBody>
      </p:sp>
      <p:sp>
        <p:nvSpPr>
          <p:cNvPr id="6" name="Rectangle 5"/>
          <p:cNvSpPr/>
          <p:nvPr/>
        </p:nvSpPr>
        <p:spPr>
          <a:xfrm>
            <a:off x="2209800" y="6248400"/>
            <a:ext cx="624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i="1" dirty="0" smtClean="0"/>
              <a:t>2016</a:t>
            </a:r>
            <a:endParaRPr lang="bg-BG" i="1" dirty="0"/>
          </a:p>
        </p:txBody>
      </p:sp>
      <p:sp>
        <p:nvSpPr>
          <p:cNvPr id="7" name="Rectangle 6"/>
          <p:cNvSpPr/>
          <p:nvPr/>
        </p:nvSpPr>
        <p:spPr>
          <a:xfrm>
            <a:off x="838200" y="3711714"/>
            <a:ext cx="838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smtClean="0">
                <a:solidFill>
                  <a:schemeClr val="bg1"/>
                </a:solidFill>
              </a:rPr>
              <a:t>II</a:t>
            </a:r>
            <a:endParaRPr lang="bg-BG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71411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0"/>
            <a:ext cx="8029446" cy="1143000"/>
          </a:xfrm>
        </p:spPr>
        <p:txBody>
          <a:bodyPr>
            <a:normAutofit/>
          </a:bodyPr>
          <a:lstStyle/>
          <a:p>
            <a:r>
              <a:rPr lang="bg-BG" dirty="0" smtClean="0"/>
              <a:t>Обща информация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53400" cy="4873752"/>
          </a:xfrm>
        </p:spPr>
        <p:txBody>
          <a:bodyPr>
            <a:normAutofit/>
          </a:bodyPr>
          <a:lstStyle/>
          <a:p>
            <a:r>
              <a:rPr lang="bg-BG" dirty="0" smtClean="0"/>
              <a:t>Транзисторите са един от най-широко разпространените полупроводникови елеметни. </a:t>
            </a:r>
          </a:p>
          <a:p>
            <a:r>
              <a:rPr lang="bg-BG" dirty="0" smtClean="0"/>
              <a:t>В зависимост от вида </a:t>
            </a:r>
            <a:r>
              <a:rPr lang="bg-BG" dirty="0" err="1" smtClean="0"/>
              <a:t>токоносители</a:t>
            </a:r>
            <a:r>
              <a:rPr lang="bg-BG" dirty="0" smtClean="0"/>
              <a:t> транзисторите биват:</a:t>
            </a:r>
          </a:p>
          <a:p>
            <a:pPr lvl="1"/>
            <a:r>
              <a:rPr lang="bg-BG" dirty="0" err="1" smtClean="0"/>
              <a:t>Униполярни</a:t>
            </a:r>
            <a:r>
              <a:rPr lang="en-US" dirty="0" smtClean="0"/>
              <a:t> (</a:t>
            </a:r>
            <a:r>
              <a:rPr lang="bg-BG" dirty="0" smtClean="0"/>
              <a:t>полеви) – използват „ефекта на полето“. Имат три извода – </a:t>
            </a:r>
            <a:r>
              <a:rPr lang="bg-BG" dirty="0" err="1" smtClean="0"/>
              <a:t>Гейт</a:t>
            </a:r>
            <a:r>
              <a:rPr lang="bg-BG" dirty="0" smtClean="0"/>
              <a:t>, Сорс, </a:t>
            </a:r>
            <a:r>
              <a:rPr lang="bg-BG" dirty="0" err="1" smtClean="0"/>
              <a:t>Дрейн</a:t>
            </a:r>
            <a:endParaRPr lang="bg-BG" dirty="0" smtClean="0"/>
          </a:p>
          <a:p>
            <a:pPr lvl="1"/>
            <a:r>
              <a:rPr lang="bg-BG" dirty="0" smtClean="0"/>
              <a:t>Биполярни </a:t>
            </a:r>
            <a:r>
              <a:rPr lang="en-US" dirty="0" smtClean="0"/>
              <a:t>(BJT) </a:t>
            </a:r>
            <a:r>
              <a:rPr lang="bg-BG" dirty="0" smtClean="0"/>
              <a:t>– движение на 2 вида заряди, използват електронно-дупчест преход (</a:t>
            </a:r>
            <a:r>
              <a:rPr lang="en-US" dirty="0" smtClean="0"/>
              <a:t>PN </a:t>
            </a:r>
            <a:r>
              <a:rPr lang="bg-BG" dirty="0" smtClean="0"/>
              <a:t>преход). Имат три извода – База, Емитер, Колектор</a:t>
            </a:r>
          </a:p>
          <a:p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xmlns="" val="1978191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BJT, </a:t>
            </a:r>
            <a:r>
              <a:rPr lang="bg-BG" dirty="0" smtClean="0"/>
              <a:t>в зависимост от поляритета</a:t>
            </a:r>
            <a:br>
              <a:rPr lang="bg-BG" dirty="0" smtClean="0"/>
            </a:b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2" name="Line 87"/>
          <p:cNvSpPr>
            <a:spLocks noChangeShapeType="1"/>
          </p:cNvSpPr>
          <p:nvPr/>
        </p:nvSpPr>
        <p:spPr bwMode="auto">
          <a:xfrm>
            <a:off x="4572000" y="1752600"/>
            <a:ext cx="0" cy="3276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bg-BG"/>
          </a:p>
        </p:txBody>
      </p:sp>
      <p:sp>
        <p:nvSpPr>
          <p:cNvPr id="13" name="Text Box 88"/>
          <p:cNvSpPr txBox="1">
            <a:spLocks noChangeArrowheads="1"/>
          </p:cNvSpPr>
          <p:nvPr/>
        </p:nvSpPr>
        <p:spPr bwMode="auto">
          <a:xfrm>
            <a:off x="1371600" y="175260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npn</a:t>
            </a:r>
          </a:p>
        </p:txBody>
      </p:sp>
      <p:sp>
        <p:nvSpPr>
          <p:cNvPr id="14" name="Text Box 89"/>
          <p:cNvSpPr txBox="1">
            <a:spLocks noChangeArrowheads="1"/>
          </p:cNvSpPr>
          <p:nvPr/>
        </p:nvSpPr>
        <p:spPr bwMode="auto">
          <a:xfrm>
            <a:off x="6172200" y="175260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pnp</a:t>
            </a:r>
          </a:p>
        </p:txBody>
      </p:sp>
      <p:sp>
        <p:nvSpPr>
          <p:cNvPr id="15" name="Rectangle 90"/>
          <p:cNvSpPr>
            <a:spLocks noChangeArrowheads="1"/>
          </p:cNvSpPr>
          <p:nvPr/>
        </p:nvSpPr>
        <p:spPr bwMode="auto">
          <a:xfrm>
            <a:off x="838200" y="2362200"/>
            <a:ext cx="1066800" cy="838200"/>
          </a:xfrm>
          <a:prstGeom prst="rect">
            <a:avLst/>
          </a:prstGeom>
          <a:solidFill>
            <a:srgbClr val="C0C0C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</a:p>
        </p:txBody>
      </p:sp>
      <p:sp>
        <p:nvSpPr>
          <p:cNvPr id="16" name="Rectangle 91"/>
          <p:cNvSpPr>
            <a:spLocks noChangeArrowheads="1"/>
          </p:cNvSpPr>
          <p:nvPr/>
        </p:nvSpPr>
        <p:spPr bwMode="auto">
          <a:xfrm>
            <a:off x="1905000" y="2362200"/>
            <a:ext cx="685800" cy="838200"/>
          </a:xfrm>
          <a:prstGeom prst="rect">
            <a:avLst/>
          </a:prstGeom>
          <a:solidFill>
            <a:srgbClr val="96969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</a:p>
        </p:txBody>
      </p:sp>
      <p:sp>
        <p:nvSpPr>
          <p:cNvPr id="17" name="Rectangle 92"/>
          <p:cNvSpPr>
            <a:spLocks noChangeArrowheads="1"/>
          </p:cNvSpPr>
          <p:nvPr/>
        </p:nvSpPr>
        <p:spPr bwMode="auto">
          <a:xfrm>
            <a:off x="2514600" y="2362200"/>
            <a:ext cx="685800" cy="838200"/>
          </a:xfrm>
          <a:prstGeom prst="rect">
            <a:avLst/>
          </a:prstGeom>
          <a:solidFill>
            <a:srgbClr val="C0C0C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</a:p>
        </p:txBody>
      </p:sp>
      <p:sp>
        <p:nvSpPr>
          <p:cNvPr id="18" name="Line 93"/>
          <p:cNvSpPr>
            <a:spLocks noChangeShapeType="1"/>
          </p:cNvSpPr>
          <p:nvPr/>
        </p:nvSpPr>
        <p:spPr bwMode="auto">
          <a:xfrm flipH="1">
            <a:off x="457200" y="28194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bg-BG"/>
          </a:p>
        </p:txBody>
      </p:sp>
      <p:sp>
        <p:nvSpPr>
          <p:cNvPr id="19" name="Line 94"/>
          <p:cNvSpPr>
            <a:spLocks noChangeShapeType="1"/>
          </p:cNvSpPr>
          <p:nvPr/>
        </p:nvSpPr>
        <p:spPr bwMode="auto">
          <a:xfrm>
            <a:off x="2133600" y="32004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bg-BG"/>
          </a:p>
        </p:txBody>
      </p:sp>
      <p:sp>
        <p:nvSpPr>
          <p:cNvPr id="20" name="Line 95"/>
          <p:cNvSpPr>
            <a:spLocks noChangeShapeType="1"/>
          </p:cNvSpPr>
          <p:nvPr/>
        </p:nvSpPr>
        <p:spPr bwMode="auto">
          <a:xfrm>
            <a:off x="3200400" y="28194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bg-BG"/>
          </a:p>
        </p:txBody>
      </p:sp>
      <p:sp>
        <p:nvSpPr>
          <p:cNvPr id="21" name="Oval 96"/>
          <p:cNvSpPr>
            <a:spLocks noChangeArrowheads="1"/>
          </p:cNvSpPr>
          <p:nvPr/>
        </p:nvSpPr>
        <p:spPr bwMode="auto">
          <a:xfrm>
            <a:off x="3505200" y="2743200"/>
            <a:ext cx="152400" cy="1524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bg-BG"/>
          </a:p>
        </p:txBody>
      </p:sp>
      <p:sp>
        <p:nvSpPr>
          <p:cNvPr id="22" name="Oval 97"/>
          <p:cNvSpPr>
            <a:spLocks noChangeArrowheads="1"/>
          </p:cNvSpPr>
          <p:nvPr/>
        </p:nvSpPr>
        <p:spPr bwMode="auto">
          <a:xfrm>
            <a:off x="2057400" y="3505200"/>
            <a:ext cx="152400" cy="1524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bg-BG"/>
          </a:p>
        </p:txBody>
      </p:sp>
      <p:sp>
        <p:nvSpPr>
          <p:cNvPr id="23" name="Oval 98"/>
          <p:cNvSpPr>
            <a:spLocks noChangeArrowheads="1"/>
          </p:cNvSpPr>
          <p:nvPr/>
        </p:nvSpPr>
        <p:spPr bwMode="auto">
          <a:xfrm>
            <a:off x="381000" y="2743200"/>
            <a:ext cx="152400" cy="1524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bg-BG"/>
          </a:p>
        </p:txBody>
      </p:sp>
      <p:sp>
        <p:nvSpPr>
          <p:cNvPr id="24" name="Text Box 99"/>
          <p:cNvSpPr txBox="1">
            <a:spLocks noChangeArrowheads="1"/>
          </p:cNvSpPr>
          <p:nvPr/>
        </p:nvSpPr>
        <p:spPr bwMode="auto">
          <a:xfrm>
            <a:off x="0" y="25908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</a:p>
        </p:txBody>
      </p:sp>
      <p:sp>
        <p:nvSpPr>
          <p:cNvPr id="25" name="Text Box 100"/>
          <p:cNvSpPr txBox="1">
            <a:spLocks noChangeArrowheads="1"/>
          </p:cNvSpPr>
          <p:nvPr/>
        </p:nvSpPr>
        <p:spPr bwMode="auto">
          <a:xfrm>
            <a:off x="1905000" y="36576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</a:p>
        </p:txBody>
      </p:sp>
      <p:sp>
        <p:nvSpPr>
          <p:cNvPr id="26" name="Text Box 101"/>
          <p:cNvSpPr txBox="1">
            <a:spLocks noChangeArrowheads="1"/>
          </p:cNvSpPr>
          <p:nvPr/>
        </p:nvSpPr>
        <p:spPr bwMode="auto">
          <a:xfrm>
            <a:off x="3657600" y="25908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</a:p>
        </p:txBody>
      </p:sp>
      <p:sp>
        <p:nvSpPr>
          <p:cNvPr id="27" name="Rectangle 102"/>
          <p:cNvSpPr>
            <a:spLocks noChangeArrowheads="1"/>
          </p:cNvSpPr>
          <p:nvPr/>
        </p:nvSpPr>
        <p:spPr bwMode="auto">
          <a:xfrm>
            <a:off x="5638800" y="2362200"/>
            <a:ext cx="1066800" cy="838200"/>
          </a:xfrm>
          <a:prstGeom prst="rect">
            <a:avLst/>
          </a:prstGeom>
          <a:solidFill>
            <a:srgbClr val="C0C0C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</a:p>
        </p:txBody>
      </p:sp>
      <p:sp>
        <p:nvSpPr>
          <p:cNvPr id="28" name="Rectangle 103"/>
          <p:cNvSpPr>
            <a:spLocks noChangeArrowheads="1"/>
          </p:cNvSpPr>
          <p:nvPr/>
        </p:nvSpPr>
        <p:spPr bwMode="auto">
          <a:xfrm>
            <a:off x="6705600" y="2362200"/>
            <a:ext cx="685800" cy="838200"/>
          </a:xfrm>
          <a:prstGeom prst="rect">
            <a:avLst/>
          </a:prstGeom>
          <a:solidFill>
            <a:srgbClr val="96969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</a:p>
        </p:txBody>
      </p:sp>
      <p:sp>
        <p:nvSpPr>
          <p:cNvPr id="29" name="Rectangle 104"/>
          <p:cNvSpPr>
            <a:spLocks noChangeArrowheads="1"/>
          </p:cNvSpPr>
          <p:nvPr/>
        </p:nvSpPr>
        <p:spPr bwMode="auto">
          <a:xfrm>
            <a:off x="7315200" y="2362200"/>
            <a:ext cx="685800" cy="838200"/>
          </a:xfrm>
          <a:prstGeom prst="rect">
            <a:avLst/>
          </a:prstGeom>
          <a:solidFill>
            <a:srgbClr val="C0C0C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</a:p>
        </p:txBody>
      </p:sp>
      <p:sp>
        <p:nvSpPr>
          <p:cNvPr id="30" name="Line 105"/>
          <p:cNvSpPr>
            <a:spLocks noChangeShapeType="1"/>
          </p:cNvSpPr>
          <p:nvPr/>
        </p:nvSpPr>
        <p:spPr bwMode="auto">
          <a:xfrm flipH="1">
            <a:off x="5257800" y="28194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bg-BG"/>
          </a:p>
        </p:txBody>
      </p:sp>
      <p:sp>
        <p:nvSpPr>
          <p:cNvPr id="31" name="Line 106"/>
          <p:cNvSpPr>
            <a:spLocks noChangeShapeType="1"/>
          </p:cNvSpPr>
          <p:nvPr/>
        </p:nvSpPr>
        <p:spPr bwMode="auto">
          <a:xfrm>
            <a:off x="6934200" y="32004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bg-BG"/>
          </a:p>
        </p:txBody>
      </p:sp>
      <p:sp>
        <p:nvSpPr>
          <p:cNvPr id="32" name="Line 107"/>
          <p:cNvSpPr>
            <a:spLocks noChangeShapeType="1"/>
          </p:cNvSpPr>
          <p:nvPr/>
        </p:nvSpPr>
        <p:spPr bwMode="auto">
          <a:xfrm>
            <a:off x="8001000" y="28194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bg-BG"/>
          </a:p>
        </p:txBody>
      </p:sp>
      <p:sp>
        <p:nvSpPr>
          <p:cNvPr id="33" name="Oval 108"/>
          <p:cNvSpPr>
            <a:spLocks noChangeArrowheads="1"/>
          </p:cNvSpPr>
          <p:nvPr/>
        </p:nvSpPr>
        <p:spPr bwMode="auto">
          <a:xfrm>
            <a:off x="8305800" y="2743200"/>
            <a:ext cx="152400" cy="1524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bg-BG"/>
          </a:p>
        </p:txBody>
      </p:sp>
      <p:sp>
        <p:nvSpPr>
          <p:cNvPr id="34" name="Oval 109"/>
          <p:cNvSpPr>
            <a:spLocks noChangeArrowheads="1"/>
          </p:cNvSpPr>
          <p:nvPr/>
        </p:nvSpPr>
        <p:spPr bwMode="auto">
          <a:xfrm>
            <a:off x="6858000" y="3505200"/>
            <a:ext cx="152400" cy="1524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bg-BG"/>
          </a:p>
        </p:txBody>
      </p:sp>
      <p:sp>
        <p:nvSpPr>
          <p:cNvPr id="35" name="Oval 110"/>
          <p:cNvSpPr>
            <a:spLocks noChangeArrowheads="1"/>
          </p:cNvSpPr>
          <p:nvPr/>
        </p:nvSpPr>
        <p:spPr bwMode="auto">
          <a:xfrm>
            <a:off x="5181600" y="2743200"/>
            <a:ext cx="152400" cy="1524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bg-BG"/>
          </a:p>
        </p:txBody>
      </p:sp>
      <p:sp>
        <p:nvSpPr>
          <p:cNvPr id="36" name="Text Box 111"/>
          <p:cNvSpPr txBox="1">
            <a:spLocks noChangeArrowheads="1"/>
          </p:cNvSpPr>
          <p:nvPr/>
        </p:nvSpPr>
        <p:spPr bwMode="auto">
          <a:xfrm>
            <a:off x="4800600" y="25908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</a:p>
        </p:txBody>
      </p:sp>
      <p:sp>
        <p:nvSpPr>
          <p:cNvPr id="37" name="Text Box 112"/>
          <p:cNvSpPr txBox="1">
            <a:spLocks noChangeArrowheads="1"/>
          </p:cNvSpPr>
          <p:nvPr/>
        </p:nvSpPr>
        <p:spPr bwMode="auto">
          <a:xfrm>
            <a:off x="6705600" y="36576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</a:p>
        </p:txBody>
      </p:sp>
      <p:sp>
        <p:nvSpPr>
          <p:cNvPr id="38" name="Text Box 113"/>
          <p:cNvSpPr txBox="1">
            <a:spLocks noChangeArrowheads="1"/>
          </p:cNvSpPr>
          <p:nvPr/>
        </p:nvSpPr>
        <p:spPr bwMode="auto">
          <a:xfrm>
            <a:off x="8458200" y="25908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</a:p>
        </p:txBody>
      </p:sp>
      <p:sp>
        <p:nvSpPr>
          <p:cNvPr id="41" name="Oval 116"/>
          <p:cNvSpPr>
            <a:spLocks noChangeArrowheads="1"/>
          </p:cNvSpPr>
          <p:nvPr/>
        </p:nvSpPr>
        <p:spPr bwMode="auto">
          <a:xfrm>
            <a:off x="2895600" y="3886200"/>
            <a:ext cx="762000" cy="762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42" name="Line 117"/>
          <p:cNvSpPr>
            <a:spLocks noChangeShapeType="1"/>
          </p:cNvSpPr>
          <p:nvPr/>
        </p:nvSpPr>
        <p:spPr bwMode="auto">
          <a:xfrm>
            <a:off x="3124200" y="4038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43" name="Freeform 118"/>
          <p:cNvSpPr>
            <a:spLocks/>
          </p:cNvSpPr>
          <p:nvPr/>
        </p:nvSpPr>
        <p:spPr bwMode="auto">
          <a:xfrm>
            <a:off x="3124200" y="3940175"/>
            <a:ext cx="336550" cy="250825"/>
          </a:xfrm>
          <a:custGeom>
            <a:avLst/>
            <a:gdLst>
              <a:gd name="T0" fmla="*/ 0 w 212"/>
              <a:gd name="T1" fmla="*/ 158 h 158"/>
              <a:gd name="T2" fmla="*/ 212 w 212"/>
              <a:gd name="T3" fmla="*/ 0 h 15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12" h="158">
                <a:moveTo>
                  <a:pt x="0" y="158"/>
                </a:moveTo>
                <a:lnTo>
                  <a:pt x="212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44" name="Freeform 119"/>
          <p:cNvSpPr>
            <a:spLocks/>
          </p:cNvSpPr>
          <p:nvPr/>
        </p:nvSpPr>
        <p:spPr bwMode="auto">
          <a:xfrm>
            <a:off x="3124200" y="4343400"/>
            <a:ext cx="327025" cy="247650"/>
          </a:xfrm>
          <a:custGeom>
            <a:avLst/>
            <a:gdLst>
              <a:gd name="T0" fmla="*/ 0 w 206"/>
              <a:gd name="T1" fmla="*/ 0 h 156"/>
              <a:gd name="T2" fmla="*/ 206 w 206"/>
              <a:gd name="T3" fmla="*/ 156 h 15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06" h="156">
                <a:moveTo>
                  <a:pt x="0" y="0"/>
                </a:moveTo>
                <a:lnTo>
                  <a:pt x="206" y="156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45" name="Line 120"/>
          <p:cNvSpPr>
            <a:spLocks noChangeShapeType="1"/>
          </p:cNvSpPr>
          <p:nvPr/>
        </p:nvSpPr>
        <p:spPr bwMode="auto">
          <a:xfrm flipH="1">
            <a:off x="2667000" y="42672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46" name="Line 121"/>
          <p:cNvSpPr>
            <a:spLocks noChangeShapeType="1"/>
          </p:cNvSpPr>
          <p:nvPr/>
        </p:nvSpPr>
        <p:spPr bwMode="auto">
          <a:xfrm>
            <a:off x="3124200" y="43434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47" name="Text Box 122"/>
          <p:cNvSpPr txBox="1">
            <a:spLocks noChangeArrowheads="1"/>
          </p:cNvSpPr>
          <p:nvPr/>
        </p:nvSpPr>
        <p:spPr bwMode="auto">
          <a:xfrm>
            <a:off x="2362200" y="4038600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</a:p>
        </p:txBody>
      </p:sp>
      <p:sp>
        <p:nvSpPr>
          <p:cNvPr id="48" name="Line 123"/>
          <p:cNvSpPr>
            <a:spLocks noChangeShapeType="1"/>
          </p:cNvSpPr>
          <p:nvPr/>
        </p:nvSpPr>
        <p:spPr bwMode="auto">
          <a:xfrm flipV="1">
            <a:off x="3429000" y="36576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49" name="Line 124"/>
          <p:cNvSpPr>
            <a:spLocks noChangeShapeType="1"/>
          </p:cNvSpPr>
          <p:nvPr/>
        </p:nvSpPr>
        <p:spPr bwMode="auto">
          <a:xfrm flipV="1">
            <a:off x="3429000" y="45720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50" name="Text Box 125"/>
          <p:cNvSpPr txBox="1">
            <a:spLocks noChangeArrowheads="1"/>
          </p:cNvSpPr>
          <p:nvPr/>
        </p:nvSpPr>
        <p:spPr bwMode="auto">
          <a:xfrm>
            <a:off x="3200400" y="32766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</a:p>
        </p:txBody>
      </p:sp>
      <p:sp>
        <p:nvSpPr>
          <p:cNvPr id="51" name="Text Box 126"/>
          <p:cNvSpPr txBox="1">
            <a:spLocks noChangeArrowheads="1"/>
          </p:cNvSpPr>
          <p:nvPr/>
        </p:nvSpPr>
        <p:spPr bwMode="auto">
          <a:xfrm>
            <a:off x="3200400" y="48768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</a:p>
        </p:txBody>
      </p:sp>
      <p:sp>
        <p:nvSpPr>
          <p:cNvPr id="53" name="Oval 128"/>
          <p:cNvSpPr>
            <a:spLocks noChangeArrowheads="1"/>
          </p:cNvSpPr>
          <p:nvPr/>
        </p:nvSpPr>
        <p:spPr bwMode="auto">
          <a:xfrm>
            <a:off x="7772400" y="3886200"/>
            <a:ext cx="762000" cy="762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54" name="Line 129"/>
          <p:cNvSpPr>
            <a:spLocks noChangeShapeType="1"/>
          </p:cNvSpPr>
          <p:nvPr/>
        </p:nvSpPr>
        <p:spPr bwMode="auto">
          <a:xfrm>
            <a:off x="8001000" y="4038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55" name="Freeform 130"/>
          <p:cNvSpPr>
            <a:spLocks/>
          </p:cNvSpPr>
          <p:nvPr/>
        </p:nvSpPr>
        <p:spPr bwMode="auto">
          <a:xfrm>
            <a:off x="8001000" y="3940175"/>
            <a:ext cx="336550" cy="250825"/>
          </a:xfrm>
          <a:custGeom>
            <a:avLst/>
            <a:gdLst>
              <a:gd name="T0" fmla="*/ 0 w 212"/>
              <a:gd name="T1" fmla="*/ 158 h 158"/>
              <a:gd name="T2" fmla="*/ 212 w 212"/>
              <a:gd name="T3" fmla="*/ 0 h 15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12" h="158">
                <a:moveTo>
                  <a:pt x="0" y="158"/>
                </a:moveTo>
                <a:lnTo>
                  <a:pt x="212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56" name="Freeform 131"/>
          <p:cNvSpPr>
            <a:spLocks/>
          </p:cNvSpPr>
          <p:nvPr/>
        </p:nvSpPr>
        <p:spPr bwMode="auto">
          <a:xfrm>
            <a:off x="8001000" y="4343400"/>
            <a:ext cx="327025" cy="247650"/>
          </a:xfrm>
          <a:custGeom>
            <a:avLst/>
            <a:gdLst>
              <a:gd name="T0" fmla="*/ 0 w 206"/>
              <a:gd name="T1" fmla="*/ 0 h 156"/>
              <a:gd name="T2" fmla="*/ 206 w 206"/>
              <a:gd name="T3" fmla="*/ 156 h 15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06" h="156">
                <a:moveTo>
                  <a:pt x="0" y="0"/>
                </a:moveTo>
                <a:lnTo>
                  <a:pt x="206" y="156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57" name="Line 132"/>
          <p:cNvSpPr>
            <a:spLocks noChangeShapeType="1"/>
          </p:cNvSpPr>
          <p:nvPr/>
        </p:nvSpPr>
        <p:spPr bwMode="auto">
          <a:xfrm flipH="1">
            <a:off x="7543800" y="42672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58" name="Text Box 134"/>
          <p:cNvSpPr txBox="1">
            <a:spLocks noChangeArrowheads="1"/>
          </p:cNvSpPr>
          <p:nvPr/>
        </p:nvSpPr>
        <p:spPr bwMode="auto">
          <a:xfrm>
            <a:off x="7239000" y="4038600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</a:p>
        </p:txBody>
      </p:sp>
      <p:sp>
        <p:nvSpPr>
          <p:cNvPr id="59" name="Line 135"/>
          <p:cNvSpPr>
            <a:spLocks noChangeShapeType="1"/>
          </p:cNvSpPr>
          <p:nvPr/>
        </p:nvSpPr>
        <p:spPr bwMode="auto">
          <a:xfrm flipV="1">
            <a:off x="8305800" y="36576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60" name="Line 136"/>
          <p:cNvSpPr>
            <a:spLocks noChangeShapeType="1"/>
          </p:cNvSpPr>
          <p:nvPr/>
        </p:nvSpPr>
        <p:spPr bwMode="auto">
          <a:xfrm flipV="1">
            <a:off x="8305800" y="45720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61" name="Text Box 137"/>
          <p:cNvSpPr txBox="1">
            <a:spLocks noChangeArrowheads="1"/>
          </p:cNvSpPr>
          <p:nvPr/>
        </p:nvSpPr>
        <p:spPr bwMode="auto">
          <a:xfrm>
            <a:off x="8077200" y="32766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</a:p>
        </p:txBody>
      </p:sp>
      <p:sp>
        <p:nvSpPr>
          <p:cNvPr id="62" name="Text Box 138"/>
          <p:cNvSpPr txBox="1">
            <a:spLocks noChangeArrowheads="1"/>
          </p:cNvSpPr>
          <p:nvPr/>
        </p:nvSpPr>
        <p:spPr bwMode="auto">
          <a:xfrm>
            <a:off x="8077200" y="48768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</a:p>
        </p:txBody>
      </p:sp>
      <p:sp>
        <p:nvSpPr>
          <p:cNvPr id="64" name="Line 140"/>
          <p:cNvSpPr>
            <a:spLocks noChangeShapeType="1"/>
          </p:cNvSpPr>
          <p:nvPr/>
        </p:nvSpPr>
        <p:spPr bwMode="auto">
          <a:xfrm flipH="1" flipV="1">
            <a:off x="8001000" y="43434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xmlns="" val="1507085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Токове и напрежения</a:t>
            </a:r>
            <a:br>
              <a:rPr lang="bg-BG" dirty="0" smtClean="0"/>
            </a:b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Line 93"/>
          <p:cNvSpPr>
            <a:spLocks noChangeShapeType="1"/>
          </p:cNvSpPr>
          <p:nvPr/>
        </p:nvSpPr>
        <p:spPr bwMode="auto">
          <a:xfrm>
            <a:off x="1600200" y="2438400"/>
            <a:ext cx="1447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6" name="Line 94"/>
          <p:cNvSpPr>
            <a:spLocks noChangeShapeType="1"/>
          </p:cNvSpPr>
          <p:nvPr/>
        </p:nvSpPr>
        <p:spPr bwMode="auto">
          <a:xfrm flipH="1" flipV="1">
            <a:off x="1447800" y="1905000"/>
            <a:ext cx="6096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7" name="Line 96"/>
          <p:cNvSpPr>
            <a:spLocks noChangeShapeType="1"/>
          </p:cNvSpPr>
          <p:nvPr/>
        </p:nvSpPr>
        <p:spPr bwMode="auto">
          <a:xfrm flipH="1">
            <a:off x="914400" y="19050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8" name="Line 97"/>
          <p:cNvSpPr>
            <a:spLocks noChangeShapeType="1"/>
          </p:cNvSpPr>
          <p:nvPr/>
        </p:nvSpPr>
        <p:spPr bwMode="auto">
          <a:xfrm flipV="1">
            <a:off x="2667000" y="1905000"/>
            <a:ext cx="4572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9" name="Line 98"/>
          <p:cNvSpPr>
            <a:spLocks noChangeShapeType="1"/>
          </p:cNvSpPr>
          <p:nvPr/>
        </p:nvSpPr>
        <p:spPr bwMode="auto">
          <a:xfrm flipH="1">
            <a:off x="3124200" y="19050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0" name="Line 99"/>
          <p:cNvSpPr>
            <a:spLocks noChangeShapeType="1"/>
          </p:cNvSpPr>
          <p:nvPr/>
        </p:nvSpPr>
        <p:spPr bwMode="auto">
          <a:xfrm>
            <a:off x="2362200" y="2438400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1" name="Oval 100"/>
          <p:cNvSpPr>
            <a:spLocks noChangeArrowheads="1"/>
          </p:cNvSpPr>
          <p:nvPr/>
        </p:nvSpPr>
        <p:spPr bwMode="auto">
          <a:xfrm>
            <a:off x="2286000" y="3048000"/>
            <a:ext cx="152400" cy="1524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bg-BG"/>
          </a:p>
        </p:txBody>
      </p:sp>
      <p:sp>
        <p:nvSpPr>
          <p:cNvPr id="12" name="Oval 101"/>
          <p:cNvSpPr>
            <a:spLocks noChangeArrowheads="1"/>
          </p:cNvSpPr>
          <p:nvPr/>
        </p:nvSpPr>
        <p:spPr bwMode="auto">
          <a:xfrm>
            <a:off x="3657600" y="1828800"/>
            <a:ext cx="152400" cy="1524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bg-BG"/>
          </a:p>
        </p:txBody>
      </p:sp>
      <p:sp>
        <p:nvSpPr>
          <p:cNvPr id="13" name="Oval 102"/>
          <p:cNvSpPr>
            <a:spLocks noChangeArrowheads="1"/>
          </p:cNvSpPr>
          <p:nvPr/>
        </p:nvSpPr>
        <p:spPr bwMode="auto">
          <a:xfrm>
            <a:off x="762000" y="1828800"/>
            <a:ext cx="152400" cy="1524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bg-BG"/>
          </a:p>
        </p:txBody>
      </p:sp>
      <p:sp>
        <p:nvSpPr>
          <p:cNvPr id="14" name="Text Box 103"/>
          <p:cNvSpPr txBox="1">
            <a:spLocks noChangeArrowheads="1"/>
          </p:cNvSpPr>
          <p:nvPr/>
        </p:nvSpPr>
        <p:spPr bwMode="auto">
          <a:xfrm>
            <a:off x="2057400" y="3200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</a:p>
        </p:txBody>
      </p:sp>
      <p:sp>
        <p:nvSpPr>
          <p:cNvPr id="15" name="Text Box 104"/>
          <p:cNvSpPr txBox="1">
            <a:spLocks noChangeArrowheads="1"/>
          </p:cNvSpPr>
          <p:nvPr/>
        </p:nvSpPr>
        <p:spPr bwMode="auto">
          <a:xfrm>
            <a:off x="3733800" y="1752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</a:p>
        </p:txBody>
      </p:sp>
      <p:sp>
        <p:nvSpPr>
          <p:cNvPr id="16" name="Text Box 105"/>
          <p:cNvSpPr txBox="1">
            <a:spLocks noChangeArrowheads="1"/>
          </p:cNvSpPr>
          <p:nvPr/>
        </p:nvSpPr>
        <p:spPr bwMode="auto">
          <a:xfrm>
            <a:off x="228600" y="1676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</a:p>
        </p:txBody>
      </p:sp>
      <p:sp>
        <p:nvSpPr>
          <p:cNvPr id="17" name="Line 106"/>
          <p:cNvSpPr>
            <a:spLocks noChangeShapeType="1"/>
          </p:cNvSpPr>
          <p:nvPr/>
        </p:nvSpPr>
        <p:spPr bwMode="auto">
          <a:xfrm flipH="1">
            <a:off x="838200" y="17526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8" name="Line 107"/>
          <p:cNvSpPr>
            <a:spLocks noChangeShapeType="1"/>
          </p:cNvSpPr>
          <p:nvPr/>
        </p:nvSpPr>
        <p:spPr bwMode="auto">
          <a:xfrm flipH="1">
            <a:off x="3124200" y="17526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19" name="Text Box 108"/>
          <p:cNvSpPr txBox="1">
            <a:spLocks noChangeArrowheads="1"/>
          </p:cNvSpPr>
          <p:nvPr/>
        </p:nvSpPr>
        <p:spPr bwMode="auto">
          <a:xfrm>
            <a:off x="914400" y="1295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</a:p>
        </p:txBody>
      </p:sp>
      <p:sp>
        <p:nvSpPr>
          <p:cNvPr id="20" name="Text Box 109"/>
          <p:cNvSpPr txBox="1">
            <a:spLocks noChangeArrowheads="1"/>
          </p:cNvSpPr>
          <p:nvPr/>
        </p:nvSpPr>
        <p:spPr bwMode="auto">
          <a:xfrm>
            <a:off x="3200400" y="1295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</a:p>
        </p:txBody>
      </p:sp>
      <p:sp>
        <p:nvSpPr>
          <p:cNvPr id="21" name="Text Box 110"/>
          <p:cNvSpPr txBox="1">
            <a:spLocks noChangeArrowheads="1"/>
          </p:cNvSpPr>
          <p:nvPr/>
        </p:nvSpPr>
        <p:spPr bwMode="auto">
          <a:xfrm>
            <a:off x="2438400" y="2590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</a:p>
        </p:txBody>
      </p:sp>
      <p:sp>
        <p:nvSpPr>
          <p:cNvPr id="22" name="Line 111"/>
          <p:cNvSpPr>
            <a:spLocks noChangeShapeType="1"/>
          </p:cNvSpPr>
          <p:nvPr/>
        </p:nvSpPr>
        <p:spPr bwMode="auto">
          <a:xfrm flipV="1">
            <a:off x="2514600" y="25908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23" name="Text Box 112"/>
          <p:cNvSpPr txBox="1">
            <a:spLocks noChangeArrowheads="1"/>
          </p:cNvSpPr>
          <p:nvPr/>
        </p:nvSpPr>
        <p:spPr bwMode="auto">
          <a:xfrm>
            <a:off x="609600" y="20574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-</a:t>
            </a:r>
          </a:p>
        </p:txBody>
      </p:sp>
      <p:sp>
        <p:nvSpPr>
          <p:cNvPr id="24" name="Text Box 113"/>
          <p:cNvSpPr txBox="1">
            <a:spLocks noChangeArrowheads="1"/>
          </p:cNvSpPr>
          <p:nvPr/>
        </p:nvSpPr>
        <p:spPr bwMode="auto">
          <a:xfrm>
            <a:off x="1371600" y="28956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+</a:t>
            </a:r>
          </a:p>
        </p:txBody>
      </p:sp>
      <p:sp>
        <p:nvSpPr>
          <p:cNvPr id="25" name="Text Box 114"/>
          <p:cNvSpPr txBox="1">
            <a:spLocks noChangeArrowheads="1"/>
          </p:cNvSpPr>
          <p:nvPr/>
        </p:nvSpPr>
        <p:spPr bwMode="auto">
          <a:xfrm>
            <a:off x="762000" y="2514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en-US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BE</a:t>
            </a:r>
          </a:p>
        </p:txBody>
      </p:sp>
      <p:sp>
        <p:nvSpPr>
          <p:cNvPr id="26" name="Text Box 115"/>
          <p:cNvSpPr txBox="1">
            <a:spLocks noChangeArrowheads="1"/>
          </p:cNvSpPr>
          <p:nvPr/>
        </p:nvSpPr>
        <p:spPr bwMode="auto">
          <a:xfrm>
            <a:off x="3276600" y="2514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en-US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BC</a:t>
            </a:r>
          </a:p>
        </p:txBody>
      </p:sp>
      <p:sp>
        <p:nvSpPr>
          <p:cNvPr id="27" name="Text Box 116"/>
          <p:cNvSpPr txBox="1">
            <a:spLocks noChangeArrowheads="1"/>
          </p:cNvSpPr>
          <p:nvPr/>
        </p:nvSpPr>
        <p:spPr bwMode="auto">
          <a:xfrm>
            <a:off x="2895600" y="28956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+</a:t>
            </a:r>
          </a:p>
        </p:txBody>
      </p:sp>
      <p:sp>
        <p:nvSpPr>
          <p:cNvPr id="28" name="Text Box 117"/>
          <p:cNvSpPr txBox="1">
            <a:spLocks noChangeArrowheads="1"/>
          </p:cNvSpPr>
          <p:nvPr/>
        </p:nvSpPr>
        <p:spPr bwMode="auto">
          <a:xfrm>
            <a:off x="3505200" y="20574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-</a:t>
            </a:r>
          </a:p>
        </p:txBody>
      </p:sp>
      <p:sp>
        <p:nvSpPr>
          <p:cNvPr id="29" name="Text Box 118"/>
          <p:cNvSpPr txBox="1">
            <a:spLocks noChangeArrowheads="1"/>
          </p:cNvSpPr>
          <p:nvPr/>
        </p:nvSpPr>
        <p:spPr bwMode="auto">
          <a:xfrm>
            <a:off x="2667000" y="15240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+</a:t>
            </a:r>
          </a:p>
        </p:txBody>
      </p:sp>
      <p:sp>
        <p:nvSpPr>
          <p:cNvPr id="30" name="Text Box 119"/>
          <p:cNvSpPr txBox="1">
            <a:spLocks noChangeArrowheads="1"/>
          </p:cNvSpPr>
          <p:nvPr/>
        </p:nvSpPr>
        <p:spPr bwMode="auto">
          <a:xfrm>
            <a:off x="1524000" y="15240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-</a:t>
            </a:r>
          </a:p>
        </p:txBody>
      </p:sp>
      <p:sp>
        <p:nvSpPr>
          <p:cNvPr id="31" name="Text Box 120"/>
          <p:cNvSpPr txBox="1">
            <a:spLocks noChangeArrowheads="1"/>
          </p:cNvSpPr>
          <p:nvPr/>
        </p:nvSpPr>
        <p:spPr bwMode="auto">
          <a:xfrm>
            <a:off x="2057400" y="1524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en-US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CE</a:t>
            </a:r>
          </a:p>
        </p:txBody>
      </p:sp>
      <p:sp>
        <p:nvSpPr>
          <p:cNvPr id="32" name="Line 121"/>
          <p:cNvSpPr>
            <a:spLocks noChangeShapeType="1"/>
          </p:cNvSpPr>
          <p:nvPr/>
        </p:nvSpPr>
        <p:spPr bwMode="auto">
          <a:xfrm>
            <a:off x="6248400" y="2514600"/>
            <a:ext cx="1447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33" name="Line 122"/>
          <p:cNvSpPr>
            <a:spLocks noChangeShapeType="1"/>
          </p:cNvSpPr>
          <p:nvPr/>
        </p:nvSpPr>
        <p:spPr bwMode="auto">
          <a:xfrm rot="10800000" flipH="1" flipV="1">
            <a:off x="6096000" y="1981200"/>
            <a:ext cx="6096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34" name="Line 124"/>
          <p:cNvSpPr>
            <a:spLocks noChangeShapeType="1"/>
          </p:cNvSpPr>
          <p:nvPr/>
        </p:nvSpPr>
        <p:spPr bwMode="auto">
          <a:xfrm flipH="1">
            <a:off x="5562600" y="19812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35" name="Line 125"/>
          <p:cNvSpPr>
            <a:spLocks noChangeShapeType="1"/>
          </p:cNvSpPr>
          <p:nvPr/>
        </p:nvSpPr>
        <p:spPr bwMode="auto">
          <a:xfrm flipV="1">
            <a:off x="7315200" y="1981200"/>
            <a:ext cx="4572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36" name="Line 126"/>
          <p:cNvSpPr>
            <a:spLocks noChangeShapeType="1"/>
          </p:cNvSpPr>
          <p:nvPr/>
        </p:nvSpPr>
        <p:spPr bwMode="auto">
          <a:xfrm flipH="1">
            <a:off x="7772400" y="19812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37" name="Line 127"/>
          <p:cNvSpPr>
            <a:spLocks noChangeShapeType="1"/>
          </p:cNvSpPr>
          <p:nvPr/>
        </p:nvSpPr>
        <p:spPr bwMode="auto">
          <a:xfrm>
            <a:off x="7010400" y="2514600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38" name="Oval 128"/>
          <p:cNvSpPr>
            <a:spLocks noChangeArrowheads="1"/>
          </p:cNvSpPr>
          <p:nvPr/>
        </p:nvSpPr>
        <p:spPr bwMode="auto">
          <a:xfrm>
            <a:off x="6934200" y="3124200"/>
            <a:ext cx="152400" cy="1524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bg-BG"/>
          </a:p>
        </p:txBody>
      </p:sp>
      <p:sp>
        <p:nvSpPr>
          <p:cNvPr id="39" name="Oval 129"/>
          <p:cNvSpPr>
            <a:spLocks noChangeArrowheads="1"/>
          </p:cNvSpPr>
          <p:nvPr/>
        </p:nvSpPr>
        <p:spPr bwMode="auto">
          <a:xfrm>
            <a:off x="8305800" y="1905000"/>
            <a:ext cx="152400" cy="1524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bg-BG"/>
          </a:p>
        </p:txBody>
      </p:sp>
      <p:sp>
        <p:nvSpPr>
          <p:cNvPr id="40" name="Oval 130"/>
          <p:cNvSpPr>
            <a:spLocks noChangeArrowheads="1"/>
          </p:cNvSpPr>
          <p:nvPr/>
        </p:nvSpPr>
        <p:spPr bwMode="auto">
          <a:xfrm>
            <a:off x="5410200" y="1905000"/>
            <a:ext cx="152400" cy="1524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bg-BG"/>
          </a:p>
        </p:txBody>
      </p:sp>
      <p:sp>
        <p:nvSpPr>
          <p:cNvPr id="41" name="Text Box 131"/>
          <p:cNvSpPr txBox="1">
            <a:spLocks noChangeArrowheads="1"/>
          </p:cNvSpPr>
          <p:nvPr/>
        </p:nvSpPr>
        <p:spPr bwMode="auto">
          <a:xfrm>
            <a:off x="6705600" y="3276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</a:p>
        </p:txBody>
      </p:sp>
      <p:sp>
        <p:nvSpPr>
          <p:cNvPr id="42" name="Text Box 132"/>
          <p:cNvSpPr txBox="1">
            <a:spLocks noChangeArrowheads="1"/>
          </p:cNvSpPr>
          <p:nvPr/>
        </p:nvSpPr>
        <p:spPr bwMode="auto">
          <a:xfrm>
            <a:off x="8382000" y="1828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</a:p>
        </p:txBody>
      </p:sp>
      <p:sp>
        <p:nvSpPr>
          <p:cNvPr id="43" name="Text Box 133"/>
          <p:cNvSpPr txBox="1">
            <a:spLocks noChangeArrowheads="1"/>
          </p:cNvSpPr>
          <p:nvPr/>
        </p:nvSpPr>
        <p:spPr bwMode="auto">
          <a:xfrm>
            <a:off x="4876800" y="1752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</a:p>
        </p:txBody>
      </p:sp>
      <p:sp>
        <p:nvSpPr>
          <p:cNvPr id="44" name="Text Box 136"/>
          <p:cNvSpPr txBox="1">
            <a:spLocks noChangeArrowheads="1"/>
          </p:cNvSpPr>
          <p:nvPr/>
        </p:nvSpPr>
        <p:spPr bwMode="auto">
          <a:xfrm>
            <a:off x="5562600" y="1371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</a:p>
        </p:txBody>
      </p:sp>
      <p:sp>
        <p:nvSpPr>
          <p:cNvPr id="45" name="Text Box 137"/>
          <p:cNvSpPr txBox="1">
            <a:spLocks noChangeArrowheads="1"/>
          </p:cNvSpPr>
          <p:nvPr/>
        </p:nvSpPr>
        <p:spPr bwMode="auto">
          <a:xfrm>
            <a:off x="7772400" y="1371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</a:p>
        </p:txBody>
      </p:sp>
      <p:sp>
        <p:nvSpPr>
          <p:cNvPr id="46" name="Text Box 138"/>
          <p:cNvSpPr txBox="1">
            <a:spLocks noChangeArrowheads="1"/>
          </p:cNvSpPr>
          <p:nvPr/>
        </p:nvSpPr>
        <p:spPr bwMode="auto">
          <a:xfrm>
            <a:off x="7086600" y="2667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</a:p>
        </p:txBody>
      </p:sp>
      <p:sp>
        <p:nvSpPr>
          <p:cNvPr id="47" name="Text Box 140"/>
          <p:cNvSpPr txBox="1">
            <a:spLocks noChangeArrowheads="1"/>
          </p:cNvSpPr>
          <p:nvPr/>
        </p:nvSpPr>
        <p:spPr bwMode="auto">
          <a:xfrm>
            <a:off x="6172200" y="28956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-</a:t>
            </a:r>
          </a:p>
        </p:txBody>
      </p:sp>
      <p:sp>
        <p:nvSpPr>
          <p:cNvPr id="48" name="Text Box 141"/>
          <p:cNvSpPr txBox="1">
            <a:spLocks noChangeArrowheads="1"/>
          </p:cNvSpPr>
          <p:nvPr/>
        </p:nvSpPr>
        <p:spPr bwMode="auto">
          <a:xfrm>
            <a:off x="5257800" y="22098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+</a:t>
            </a:r>
          </a:p>
        </p:txBody>
      </p:sp>
      <p:sp>
        <p:nvSpPr>
          <p:cNvPr id="49" name="Text Box 142"/>
          <p:cNvSpPr txBox="1">
            <a:spLocks noChangeArrowheads="1"/>
          </p:cNvSpPr>
          <p:nvPr/>
        </p:nvSpPr>
        <p:spPr bwMode="auto">
          <a:xfrm>
            <a:off x="5410200" y="2590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en-US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EB</a:t>
            </a:r>
          </a:p>
        </p:txBody>
      </p:sp>
      <p:sp>
        <p:nvSpPr>
          <p:cNvPr id="50" name="Text Box 143"/>
          <p:cNvSpPr txBox="1">
            <a:spLocks noChangeArrowheads="1"/>
          </p:cNvSpPr>
          <p:nvPr/>
        </p:nvSpPr>
        <p:spPr bwMode="auto">
          <a:xfrm>
            <a:off x="7924800" y="2590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en-US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CB</a:t>
            </a:r>
          </a:p>
        </p:txBody>
      </p:sp>
      <p:sp>
        <p:nvSpPr>
          <p:cNvPr id="51" name="Text Box 144"/>
          <p:cNvSpPr txBox="1">
            <a:spLocks noChangeArrowheads="1"/>
          </p:cNvSpPr>
          <p:nvPr/>
        </p:nvSpPr>
        <p:spPr bwMode="auto">
          <a:xfrm>
            <a:off x="8229600" y="22098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+</a:t>
            </a:r>
          </a:p>
        </p:txBody>
      </p:sp>
      <p:sp>
        <p:nvSpPr>
          <p:cNvPr id="52" name="Text Box 145"/>
          <p:cNvSpPr txBox="1">
            <a:spLocks noChangeArrowheads="1"/>
          </p:cNvSpPr>
          <p:nvPr/>
        </p:nvSpPr>
        <p:spPr bwMode="auto">
          <a:xfrm>
            <a:off x="7467600" y="29718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-</a:t>
            </a:r>
          </a:p>
        </p:txBody>
      </p:sp>
      <p:sp>
        <p:nvSpPr>
          <p:cNvPr id="53" name="Text Box 146"/>
          <p:cNvSpPr txBox="1">
            <a:spLocks noChangeArrowheads="1"/>
          </p:cNvSpPr>
          <p:nvPr/>
        </p:nvSpPr>
        <p:spPr bwMode="auto">
          <a:xfrm>
            <a:off x="6172200" y="16002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+</a:t>
            </a:r>
          </a:p>
        </p:txBody>
      </p:sp>
      <p:sp>
        <p:nvSpPr>
          <p:cNvPr id="54" name="Text Box 147"/>
          <p:cNvSpPr txBox="1">
            <a:spLocks noChangeArrowheads="1"/>
          </p:cNvSpPr>
          <p:nvPr/>
        </p:nvSpPr>
        <p:spPr bwMode="auto">
          <a:xfrm>
            <a:off x="7315200" y="16002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-</a:t>
            </a:r>
          </a:p>
        </p:txBody>
      </p:sp>
      <p:sp>
        <p:nvSpPr>
          <p:cNvPr id="55" name="Text Box 148"/>
          <p:cNvSpPr txBox="1">
            <a:spLocks noChangeArrowheads="1"/>
          </p:cNvSpPr>
          <p:nvPr/>
        </p:nvSpPr>
        <p:spPr bwMode="auto">
          <a:xfrm>
            <a:off x="6629400" y="1600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en-US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EC</a:t>
            </a:r>
          </a:p>
        </p:txBody>
      </p:sp>
      <p:sp>
        <p:nvSpPr>
          <p:cNvPr id="56" name="Line 149"/>
          <p:cNvSpPr>
            <a:spLocks noChangeShapeType="1"/>
          </p:cNvSpPr>
          <p:nvPr/>
        </p:nvSpPr>
        <p:spPr bwMode="auto">
          <a:xfrm>
            <a:off x="4572000" y="1066800"/>
            <a:ext cx="0" cy="5029200"/>
          </a:xfrm>
          <a:prstGeom prst="line">
            <a:avLst/>
          </a:prstGeom>
          <a:ln w="38100">
            <a:headEnd/>
            <a:tailE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bg-BG"/>
          </a:p>
        </p:txBody>
      </p:sp>
      <p:sp>
        <p:nvSpPr>
          <p:cNvPr id="57" name="Line 152"/>
          <p:cNvSpPr>
            <a:spLocks noChangeShapeType="1"/>
          </p:cNvSpPr>
          <p:nvPr/>
        </p:nvSpPr>
        <p:spPr bwMode="auto">
          <a:xfrm>
            <a:off x="5562600" y="1828800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58" name="Line 153"/>
          <p:cNvSpPr>
            <a:spLocks noChangeShapeType="1"/>
          </p:cNvSpPr>
          <p:nvPr/>
        </p:nvSpPr>
        <p:spPr bwMode="auto">
          <a:xfrm>
            <a:off x="7772400" y="1828800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59" name="Line 154"/>
          <p:cNvSpPr>
            <a:spLocks noChangeShapeType="1"/>
          </p:cNvSpPr>
          <p:nvPr/>
        </p:nvSpPr>
        <p:spPr bwMode="auto">
          <a:xfrm>
            <a:off x="7162800" y="26670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60" name="Text Box 156"/>
          <p:cNvSpPr txBox="1">
            <a:spLocks noChangeArrowheads="1"/>
          </p:cNvSpPr>
          <p:nvPr/>
        </p:nvSpPr>
        <p:spPr bwMode="auto">
          <a:xfrm>
            <a:off x="381000" y="4267200"/>
            <a:ext cx="3886200" cy="1614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npn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 = I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 + I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CE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 = -V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BC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 + V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BE</a:t>
            </a:r>
          </a:p>
        </p:txBody>
      </p:sp>
      <p:sp>
        <p:nvSpPr>
          <p:cNvPr id="61" name="Text Box 157"/>
          <p:cNvSpPr txBox="1">
            <a:spLocks noChangeArrowheads="1"/>
          </p:cNvSpPr>
          <p:nvPr/>
        </p:nvSpPr>
        <p:spPr bwMode="auto">
          <a:xfrm>
            <a:off x="5105400" y="4267200"/>
            <a:ext cx="3886200" cy="1614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80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pnp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 = I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 + I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EC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 = V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EB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 - V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CB</a:t>
            </a:r>
          </a:p>
        </p:txBody>
      </p:sp>
    </p:spTree>
    <p:extLst>
      <p:ext uri="{BB962C8B-B14F-4D97-AF65-F5344CB8AC3E}">
        <p14:creationId xmlns:p14="http://schemas.microsoft.com/office/powerpoint/2010/main" xmlns="" val="1794952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Режими на работа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Активен</a:t>
            </a:r>
            <a:r>
              <a:rPr lang="en-US" dirty="0" smtClean="0"/>
              <a:t>:</a:t>
            </a:r>
            <a:endParaRPr lang="en-US" dirty="0"/>
          </a:p>
          <a:p>
            <a:pPr lvl="1"/>
            <a:r>
              <a:rPr lang="bg-BG" dirty="0" smtClean="0"/>
              <a:t>Най-разпространен</a:t>
            </a:r>
            <a:endParaRPr lang="en-US" dirty="0"/>
          </a:p>
          <a:p>
            <a:r>
              <a:rPr lang="bg-BG" dirty="0" smtClean="0"/>
              <a:t>Насищане</a:t>
            </a:r>
            <a:r>
              <a:rPr lang="en-US" dirty="0" smtClean="0"/>
              <a:t>:</a:t>
            </a:r>
            <a:endParaRPr lang="en-US" dirty="0"/>
          </a:p>
          <a:p>
            <a:pPr lvl="1"/>
            <a:r>
              <a:rPr lang="bg-BG" dirty="0" smtClean="0"/>
              <a:t>Транзисторът е </a:t>
            </a:r>
            <a:r>
              <a:rPr lang="bg-BG" dirty="0" err="1" smtClean="0"/>
              <a:t>еквипотенциална</a:t>
            </a:r>
            <a:r>
              <a:rPr lang="bg-BG" dirty="0" smtClean="0"/>
              <a:t> точка (затворена верига)</a:t>
            </a:r>
            <a:endParaRPr lang="en-US" dirty="0"/>
          </a:p>
          <a:p>
            <a:r>
              <a:rPr lang="bg-BG" dirty="0" smtClean="0"/>
              <a:t>Отсечка:</a:t>
            </a:r>
          </a:p>
          <a:p>
            <a:pPr lvl="1"/>
            <a:r>
              <a:rPr lang="bg-BG" dirty="0" smtClean="0"/>
              <a:t>Прекъсната верига</a:t>
            </a:r>
            <a:endParaRPr lang="en-US" dirty="0"/>
          </a:p>
          <a:p>
            <a:r>
              <a:rPr lang="bg-BG" dirty="0" smtClean="0"/>
              <a:t>Инверсен</a:t>
            </a:r>
            <a:endParaRPr lang="en-US" dirty="0"/>
          </a:p>
          <a:p>
            <a:pPr>
              <a:buNone/>
            </a:pPr>
            <a:endParaRPr lang="en-US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4" name="Text Box 30"/>
          <p:cNvSpPr txBox="1">
            <a:spLocks noChangeArrowheads="1"/>
          </p:cNvSpPr>
          <p:nvPr/>
        </p:nvSpPr>
        <p:spPr bwMode="auto">
          <a:xfrm>
            <a:off x="1905000" y="4419600"/>
            <a:ext cx="7239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28600" indent="-228600"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algn="l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endParaRPr lang="en-US" sz="2000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75614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33400" y="914400"/>
            <a:ext cx="7467600" cy="1143000"/>
          </a:xfrm>
        </p:spPr>
        <p:txBody>
          <a:bodyPr>
            <a:normAutofit fontScale="90000"/>
          </a:bodyPr>
          <a:lstStyle/>
          <a:p>
            <a:r>
              <a:rPr lang="bg-BG" b="1" dirty="0" smtClean="0">
                <a:solidFill>
                  <a:schemeClr val="tx1"/>
                </a:solidFill>
              </a:rPr>
              <a:t>Схеми на свързване на биполярните транзистори</a:t>
            </a:r>
            <a:r>
              <a:rPr lang="en-US" b="1" dirty="0" smtClean="0">
                <a:solidFill>
                  <a:schemeClr val="tx1"/>
                </a:solidFill>
              </a:rPr>
              <a:t>.</a:t>
            </a:r>
            <a:r>
              <a:rPr lang="bg-BG" b="1" dirty="0" smtClean="0">
                <a:solidFill>
                  <a:schemeClr val="tx1"/>
                </a:solidFill>
              </a:rPr>
              <a:t> </a:t>
            </a:r>
            <a:br>
              <a:rPr lang="bg-BG" b="1" dirty="0" smtClean="0">
                <a:solidFill>
                  <a:schemeClr val="tx1"/>
                </a:solidFill>
              </a:rPr>
            </a:br>
            <a:r>
              <a:rPr lang="bg-BG" b="1" dirty="0" smtClean="0">
                <a:solidFill>
                  <a:schemeClr val="tx1"/>
                </a:solidFill>
              </a:rPr>
              <a:t>Правила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533400" y="2362200"/>
            <a:ext cx="7467600" cy="3810000"/>
          </a:xfrm>
        </p:spPr>
        <p:txBody>
          <a:bodyPr/>
          <a:lstStyle/>
          <a:p>
            <a:r>
              <a:rPr lang="bg-BG" dirty="0" smtClean="0"/>
              <a:t>Независимо от схемата на свързване, </a:t>
            </a:r>
            <a:r>
              <a:rPr lang="bg-BG" b="1" dirty="0" smtClean="0"/>
              <a:t>управляващият ток </a:t>
            </a:r>
            <a:r>
              <a:rPr lang="bg-BG" dirty="0" smtClean="0"/>
              <a:t>се подава на прехода емитер-база</a:t>
            </a:r>
          </a:p>
          <a:p>
            <a:r>
              <a:rPr lang="bg-BG" dirty="0"/>
              <a:t>Независимо от схемата на свързване, </a:t>
            </a:r>
            <a:r>
              <a:rPr lang="bg-BG" b="1" dirty="0" smtClean="0"/>
              <a:t>управляваният ток </a:t>
            </a:r>
            <a:r>
              <a:rPr lang="bg-BG" dirty="0" smtClean="0"/>
              <a:t>протича през веригата колектор-емитер</a:t>
            </a:r>
          </a:p>
          <a:p>
            <a:r>
              <a:rPr lang="bg-BG" dirty="0" smtClean="0"/>
              <a:t>При всички схем</a:t>
            </a:r>
            <a:r>
              <a:rPr lang="bg-BG" dirty="0"/>
              <a:t>и</a:t>
            </a:r>
            <a:r>
              <a:rPr lang="bg-BG" dirty="0" smtClean="0"/>
              <a:t>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baseline="-25000" dirty="0" err="1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baseline="-250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+I</a:t>
            </a:r>
            <a:r>
              <a:rPr lang="en-US" i="1" baseline="-25000" dirty="0" err="1" smtClean="0">
                <a:latin typeface="Times New Roman" pitchFamily="18" charset="0"/>
                <a:cs typeface="Times New Roman" pitchFamily="18" charset="0"/>
              </a:rPr>
              <a:t>c</a:t>
            </a:r>
            <a:endParaRPr lang="bg-BG" i="1" baseline="-25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bg-BG" dirty="0" smtClean="0"/>
              <a:t>3 схеми на свързване: ОЕ, ОБ, ОК</a:t>
            </a:r>
            <a:endParaRPr lang="bg-BG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5032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685800" y="533400"/>
            <a:ext cx="7467600" cy="5178552"/>
          </a:xfrm>
        </p:spPr>
        <p:txBody>
          <a:bodyPr/>
          <a:lstStyle/>
          <a:p>
            <a:pPr>
              <a:spcBef>
                <a:spcPct val="0"/>
              </a:spcBef>
              <a:buNone/>
            </a:pPr>
            <a:r>
              <a:rPr lang="bg-BG" sz="3000" b="1" cap="small" dirty="0" smtClean="0">
                <a:latin typeface="+mj-lt"/>
                <a:ea typeface="+mj-ea"/>
                <a:cs typeface="+mj-cs"/>
              </a:rPr>
              <a:t>Схема общ емитер (ОЕ)</a:t>
            </a:r>
          </a:p>
          <a:p>
            <a:r>
              <a:rPr lang="bg-BG" dirty="0" smtClean="0"/>
              <a:t>Голям коефициент на усилване по напрежение</a:t>
            </a:r>
          </a:p>
          <a:p>
            <a:r>
              <a:rPr lang="bg-BG" dirty="0"/>
              <a:t>Голям коефициент на усилване по </a:t>
            </a:r>
            <a:r>
              <a:rPr lang="bg-BG" dirty="0" smtClean="0"/>
              <a:t>ток</a:t>
            </a:r>
            <a:endParaRPr lang="bg-BG" dirty="0"/>
          </a:p>
          <a:p>
            <a:r>
              <a:rPr lang="bg-BG" dirty="0" smtClean="0"/>
              <a:t>Най-голям коефициент на усилване по мощност</a:t>
            </a:r>
          </a:p>
          <a:p>
            <a:r>
              <a:rPr lang="bg-BG" dirty="0" err="1" smtClean="0"/>
              <a:t>Инвертира</a:t>
            </a:r>
            <a:r>
              <a:rPr lang="bg-BG" dirty="0" smtClean="0"/>
              <a:t> изходния сигнал</a:t>
            </a:r>
            <a:endParaRPr lang="bg-BG" dirty="0"/>
          </a:p>
          <a:p>
            <a:r>
              <a:rPr lang="bg-BG" dirty="0"/>
              <a:t>Използва се </a:t>
            </a:r>
            <a:r>
              <a:rPr lang="bg-BG" dirty="0" smtClean="0"/>
              <a:t>в усилватели на мощност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026" name="Picture 2" descr="D:\GTN\dropbox\TU\MKE\7. BJT\common_emmite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810000"/>
            <a:ext cx="4038600" cy="2476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26293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r>
              <a:rPr lang="bg-BG" b="1" dirty="0" smtClean="0">
                <a:solidFill>
                  <a:schemeClr val="tx1"/>
                </a:solidFill>
              </a:rPr>
              <a:t>Схема общ колектор (ОК)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609600" y="1066800"/>
            <a:ext cx="7467600" cy="4873752"/>
          </a:xfrm>
        </p:spPr>
        <p:txBody>
          <a:bodyPr/>
          <a:lstStyle/>
          <a:p>
            <a:r>
              <a:rPr lang="bg-BG" dirty="0" smtClean="0"/>
              <a:t>Коефициент на усилване по напрежение по-малък от 1</a:t>
            </a:r>
          </a:p>
          <a:p>
            <a:r>
              <a:rPr lang="bg-BG" dirty="0" smtClean="0"/>
              <a:t>Голям </a:t>
            </a:r>
            <a:r>
              <a:rPr lang="bg-BG" dirty="0"/>
              <a:t>коефициент на усилване по </a:t>
            </a:r>
            <a:r>
              <a:rPr lang="bg-BG" dirty="0" smtClean="0"/>
              <a:t>ток</a:t>
            </a:r>
          </a:p>
          <a:p>
            <a:r>
              <a:rPr lang="bg-BG" dirty="0" smtClean="0"/>
              <a:t>Голям коефициент </a:t>
            </a:r>
            <a:r>
              <a:rPr lang="bg-BG" dirty="0"/>
              <a:t>на усилване по </a:t>
            </a:r>
            <a:r>
              <a:rPr lang="bg-BG" dirty="0" smtClean="0"/>
              <a:t>мощност</a:t>
            </a:r>
          </a:p>
          <a:p>
            <a:r>
              <a:rPr lang="bg-BG" dirty="0" smtClean="0"/>
              <a:t>Голямо входно съпротивление и </a:t>
            </a:r>
            <a:r>
              <a:rPr lang="bg-BG" dirty="0"/>
              <a:t>малко</a:t>
            </a:r>
            <a:r>
              <a:rPr lang="bg-BG" dirty="0" smtClean="0"/>
              <a:t> изходно съпротивление</a:t>
            </a:r>
          </a:p>
          <a:p>
            <a:r>
              <a:rPr lang="bg-BG" dirty="0" smtClean="0"/>
              <a:t>Използва се в съгласуващи стъпала</a:t>
            </a:r>
            <a:endParaRPr lang="bg-BG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2051" name="Picture 3" descr="D:\GTN\dropbox\TU\MKE\7. BJT\common_collecto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67013" y="4215401"/>
            <a:ext cx="3862387" cy="2490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55807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92162"/>
          </a:xfrm>
        </p:spPr>
        <p:txBody>
          <a:bodyPr/>
          <a:lstStyle/>
          <a:p>
            <a:r>
              <a:rPr lang="bg-BG" b="1" dirty="0" smtClean="0">
                <a:solidFill>
                  <a:schemeClr val="tx1"/>
                </a:solidFill>
              </a:rPr>
              <a:t>Схема обща база (ОБ)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381000" y="1143000"/>
            <a:ext cx="7467600" cy="4873752"/>
          </a:xfrm>
        </p:spPr>
        <p:txBody>
          <a:bodyPr>
            <a:normAutofit/>
          </a:bodyPr>
          <a:lstStyle/>
          <a:p>
            <a:r>
              <a:rPr lang="bg-BG" sz="2000" dirty="0" smtClean="0"/>
              <a:t>Добра стабилност – изхода не влияе върху входа, заради добрата изолация между входа и изхода</a:t>
            </a:r>
          </a:p>
          <a:p>
            <a:r>
              <a:rPr lang="bg-BG" sz="2000" dirty="0" smtClean="0"/>
              <a:t>Входния капацитет не се влияе от ефекта на Милър</a:t>
            </a:r>
          </a:p>
          <a:p>
            <a:r>
              <a:rPr lang="bg-BG" sz="2000" dirty="0" smtClean="0"/>
              <a:t>Входния ток </a:t>
            </a:r>
            <a:r>
              <a:rPr lang="en-US" sz="2000" dirty="0" err="1" smtClean="0"/>
              <a:t>Ie</a:t>
            </a:r>
            <a:r>
              <a:rPr lang="en-US" sz="2000" dirty="0" smtClean="0"/>
              <a:t> </a:t>
            </a:r>
            <a:r>
              <a:rPr lang="bg-BG" sz="2000" dirty="0" smtClean="0"/>
              <a:t>е по-малък от изходния </a:t>
            </a:r>
            <a:r>
              <a:rPr lang="en-US" sz="2000" dirty="0" err="1" smtClean="0"/>
              <a:t>Ic</a:t>
            </a:r>
            <a:r>
              <a:rPr lang="en-US" sz="2000" dirty="0" smtClean="0"/>
              <a:t>, </a:t>
            </a:r>
            <a:r>
              <a:rPr lang="bg-BG" sz="2000" dirty="0" smtClean="0"/>
              <a:t>т.е. няма усилване по ток.</a:t>
            </a:r>
            <a:endParaRPr lang="bg-BG" sz="2000" dirty="0"/>
          </a:p>
          <a:p>
            <a:r>
              <a:rPr lang="bg-BG" sz="2000" dirty="0"/>
              <a:t>Използва се </a:t>
            </a:r>
            <a:r>
              <a:rPr lang="bg-BG" sz="2000" dirty="0" smtClean="0"/>
              <a:t>в високочестотни усилвателни стъпала</a:t>
            </a:r>
          </a:p>
          <a:p>
            <a:endParaRPr lang="bg-BG" sz="2000" dirty="0" smtClean="0"/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3074" name="Picture 2" descr="D:\GTN\dropbox\TU\MKE\7. BJT\comon_bas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429000"/>
            <a:ext cx="4104211" cy="2970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800859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 smtClean="0">
                <a:solidFill>
                  <a:schemeClr val="tx1"/>
                </a:solidFill>
              </a:rPr>
              <a:t>Статични характеристики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bg-BG" sz="2000" dirty="0" smtClean="0"/>
              <a:t>При </a:t>
            </a:r>
            <a:r>
              <a:rPr lang="bg-BG" sz="2000" i="1" dirty="0" smtClean="0"/>
              <a:t>статичен режим</a:t>
            </a:r>
            <a:r>
              <a:rPr lang="bg-BG" sz="2000" dirty="0" smtClean="0"/>
              <a:t>, в колекторната верига, няма товарно съпротивление. При наличие на входен сигнал </a:t>
            </a:r>
            <a:r>
              <a:rPr lang="bg-BG" sz="2000" b="1" dirty="0" smtClean="0"/>
              <a:t>колекторния ток се променя</a:t>
            </a:r>
            <a:r>
              <a:rPr lang="bg-BG" sz="2000" dirty="0" smtClean="0"/>
              <a:t>, но напрежението </a:t>
            </a:r>
            <a:r>
              <a:rPr lang="en-US" sz="2000" b="1" dirty="0" smtClean="0"/>
              <a:t>U</a:t>
            </a:r>
            <a:r>
              <a:rPr lang="en-US" sz="2000" b="1" baseline="-25000" dirty="0" smtClean="0"/>
              <a:t>CE </a:t>
            </a:r>
            <a:r>
              <a:rPr lang="bg-BG" sz="2000" b="1" dirty="0" smtClean="0"/>
              <a:t>остава непроменено</a:t>
            </a:r>
            <a:r>
              <a:rPr lang="bg-BG" sz="2000" dirty="0" smtClean="0"/>
              <a:t>, равно на захранващия източник.</a:t>
            </a:r>
          </a:p>
          <a:p>
            <a:pPr algn="just"/>
            <a:r>
              <a:rPr lang="bg-BG" sz="2000" dirty="0" smtClean="0"/>
              <a:t>При </a:t>
            </a:r>
            <a:r>
              <a:rPr lang="bg-BG" sz="2000" i="1" dirty="0" smtClean="0"/>
              <a:t>динамичния режим </a:t>
            </a:r>
            <a:r>
              <a:rPr lang="bg-BG" sz="2000" dirty="0" smtClean="0"/>
              <a:t>на работа, в колекторната верига има включено товарно съпротивление. В резултат на това, при протичането на </a:t>
            </a:r>
            <a:r>
              <a:rPr lang="bg-BG" sz="2000" b="1" dirty="0" smtClean="0"/>
              <a:t>променлив ток </a:t>
            </a:r>
            <a:r>
              <a:rPr lang="bg-BG" sz="2000" dirty="0" smtClean="0"/>
              <a:t>през колектор-емитер, напрежението </a:t>
            </a:r>
            <a:r>
              <a:rPr lang="en-US" sz="2000" b="1" dirty="0"/>
              <a:t>U</a:t>
            </a:r>
            <a:r>
              <a:rPr lang="en-US" sz="2000" b="1" baseline="-25000" dirty="0"/>
              <a:t>CE </a:t>
            </a:r>
            <a:r>
              <a:rPr lang="bg-BG" sz="2000" b="1" dirty="0" smtClean="0"/>
              <a:t>се променя </a:t>
            </a:r>
            <a:r>
              <a:rPr lang="bg-BG" sz="2000" dirty="0" smtClean="0"/>
              <a:t>постоянно.</a:t>
            </a:r>
          </a:p>
          <a:p>
            <a:pPr algn="just"/>
            <a:r>
              <a:rPr lang="bg-BG" sz="2000" dirty="0" smtClean="0"/>
              <a:t>Реалните транзистори работят най-често в динамичен режим.</a:t>
            </a:r>
          </a:p>
          <a:p>
            <a:pPr algn="just"/>
            <a:r>
              <a:rPr lang="bg-BG" sz="2000" dirty="0" smtClean="0"/>
              <a:t>В каталожната информация и справочниците се дават статични параметри и статични характеристики, защото те са </a:t>
            </a:r>
            <a:r>
              <a:rPr lang="bg-BG" sz="2000" b="1" dirty="0" smtClean="0"/>
              <a:t>характеристики на самия транзистор</a:t>
            </a:r>
            <a:r>
              <a:rPr lang="bg-BG" sz="2000" dirty="0" smtClean="0"/>
              <a:t>, а не на схемата в която той е включен.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13438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Входна статична характеристика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bg-BG" dirty="0" smtClean="0"/>
              <a:t>Прилича на </a:t>
            </a:r>
            <a:r>
              <a:rPr lang="bg-BG" dirty="0" err="1" smtClean="0"/>
              <a:t>волт-амперната</a:t>
            </a:r>
            <a:r>
              <a:rPr lang="bg-BG" dirty="0" smtClean="0"/>
              <a:t> характеристика на полупроводников диод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4098" name="Picture 2" descr="D:\GTN\dropbox\TU\MKE\7. BJT\vhodni_harakteristiki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743200"/>
            <a:ext cx="6503988" cy="319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998482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Изходни статични характеристики</a:t>
            </a:r>
            <a:br>
              <a:rPr lang="bg-BG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7696200" cy="5407152"/>
          </a:xfrm>
        </p:spPr>
        <p:txBody>
          <a:bodyPr>
            <a:normAutofit/>
          </a:bodyPr>
          <a:lstStyle/>
          <a:p>
            <a:r>
              <a:rPr lang="bg-BG" sz="2000" dirty="0" smtClean="0"/>
              <a:t>Най-често използвани в практиката.</a:t>
            </a:r>
          </a:p>
          <a:p>
            <a:r>
              <a:rPr lang="bg-BG" sz="2000" dirty="0" smtClean="0"/>
              <a:t>Лесно могат да се определят редица параметри като, изходен ток, захранващо напрежение, входен ток и други</a:t>
            </a:r>
          </a:p>
          <a:p>
            <a:r>
              <a:rPr lang="bg-BG" sz="2000" dirty="0" smtClean="0"/>
              <a:t>Забелязва се сгъстяване при нарастване на базови ток – нараства концентрацията на електрони, а от там и рекомбинацията, което намалява коефициента на усилване по ток.</a:t>
            </a:r>
          </a:p>
          <a:p>
            <a:r>
              <a:rPr lang="bg-BG" sz="2000" dirty="0" smtClean="0"/>
              <a:t>Наклона на характеристиките се обуславя с ефекта на </a:t>
            </a:r>
            <a:r>
              <a:rPr lang="bg-BG" sz="2000" dirty="0" err="1" smtClean="0"/>
              <a:t>Ерли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122" name="Picture 2" descr="D:\GTN\dropbox\TU\MKE\7. BJT\изходни характеристики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5800" y="3810000"/>
            <a:ext cx="7050088" cy="2987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57962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Право предаване по ток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bg-BG" dirty="0" smtClean="0"/>
              <a:t>Позволяват определянето на коефициента на усилване по ток на схемата.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7171" name="Picture 3" descr="D:\GTN\dropbox\TU\MKE\7. BJT\правопредване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3400" y="2667000"/>
            <a:ext cx="7740572" cy="350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912010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GTN\Desktop\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9206" r="7114"/>
          <a:stretch/>
        </p:blipFill>
        <p:spPr bwMode="auto">
          <a:xfrm rot="5400000">
            <a:off x="2250707" y="1756077"/>
            <a:ext cx="4832415" cy="5219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Пълни статични характеристики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7467600" cy="5407152"/>
          </a:xfrm>
        </p:spPr>
        <p:txBody>
          <a:bodyPr/>
          <a:lstStyle/>
          <a:p>
            <a:r>
              <a:rPr lang="bg-BG" dirty="0" smtClean="0"/>
              <a:t>Каталожна информация за българския транзистор 2Т3511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96534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9429</TotalTime>
  <Words>579</Words>
  <Application>Microsoft Office PowerPoint</Application>
  <PresentationFormat>On-screen Show (4:3)</PresentationFormat>
  <Paragraphs>131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Oriel</vt:lpstr>
      <vt:lpstr> Биполярни транзистори. Режими на работа. Схеми на свързване.  </vt:lpstr>
      <vt:lpstr>Обща информация</vt:lpstr>
      <vt:lpstr>BJT, в зависимост от поляритета </vt:lpstr>
      <vt:lpstr>Токове и напрежения </vt:lpstr>
      <vt:lpstr>Режими на работа</vt:lpstr>
      <vt:lpstr>Схеми на свързване на биполярните транзистори.  Правила</vt:lpstr>
      <vt:lpstr>Slide 7</vt:lpstr>
      <vt:lpstr>Схема общ колектор (ОК)</vt:lpstr>
      <vt:lpstr>Схема обща база (ОБ)</vt:lpstr>
      <vt:lpstr>Статични характеристики</vt:lpstr>
      <vt:lpstr>Входна статична характеристика</vt:lpstr>
      <vt:lpstr>Изходни статични характеристики </vt:lpstr>
      <vt:lpstr>Право предаване по ток</vt:lpstr>
      <vt:lpstr>Пълни статични характеристики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4: Пасивни електронни елементи и компоненти</dc:title>
  <dc:creator>Georgi</dc:creator>
  <cp:lastModifiedBy>Teacher</cp:lastModifiedBy>
  <cp:revision>225</cp:revision>
  <dcterms:created xsi:type="dcterms:W3CDTF">2006-08-16T00:00:00Z</dcterms:created>
  <dcterms:modified xsi:type="dcterms:W3CDTF">2016-11-27T15:28:41Z</dcterms:modified>
</cp:coreProperties>
</file>
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68" r:id="rId3"/>
    <p:sldId id="325" r:id="rId4"/>
    <p:sldId id="326" r:id="rId5"/>
    <p:sldId id="331" r:id="rId6"/>
    <p:sldId id="332" r:id="rId7"/>
    <p:sldId id="344" r:id="rId8"/>
    <p:sldId id="356" r:id="rId9"/>
    <p:sldId id="360" r:id="rId10"/>
    <p:sldId id="361" r:id="rId11"/>
    <p:sldId id="362" r:id="rId12"/>
    <p:sldId id="350" r:id="rId13"/>
    <p:sldId id="34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0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27.11.2016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362200"/>
            <a:ext cx="6172200" cy="1143000"/>
          </a:xfrm>
        </p:spPr>
        <p:txBody>
          <a:bodyPr>
            <a:normAutofit/>
          </a:bodyPr>
          <a:lstStyle/>
          <a:p>
            <a:pPr algn="ctr"/>
            <a:r>
              <a:rPr lang="bg-BG" dirty="0" smtClean="0"/>
              <a:t>Сензори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Проф. Венцислав Вълчев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Дисциплина : </a:t>
            </a:r>
          </a:p>
          <a:p>
            <a:pPr algn="ctr"/>
            <a:r>
              <a:rPr lang="bg-BG" i="1" dirty="0" smtClean="0"/>
              <a:t>“Материали </a:t>
            </a:r>
            <a:r>
              <a:rPr lang="bg-BG" i="1" dirty="0"/>
              <a:t>и компоненти в електрониката”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 smtClean="0"/>
              <a:t>Технически Университет Варна</a:t>
            </a:r>
          </a:p>
          <a:p>
            <a:pPr algn="ctr"/>
            <a:endParaRPr lang="bg-BG" sz="1050" b="1" dirty="0" smtClean="0"/>
          </a:p>
          <a:p>
            <a:pPr algn="ctr"/>
            <a:r>
              <a:rPr lang="bg-BG" dirty="0" smtClean="0"/>
              <a:t>Катедра „Електронна техника и микроелектроника“</a:t>
            </a:r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2012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609600" y="3711714"/>
            <a:ext cx="1371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X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14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029446" cy="1143000"/>
          </a:xfrm>
        </p:spPr>
        <p:txBody>
          <a:bodyPr>
            <a:normAutofit/>
          </a:bodyPr>
          <a:lstStyle/>
          <a:p>
            <a:r>
              <a:rPr lang="bg-BG" dirty="0" smtClean="0"/>
              <a:t>Обща информация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rmAutofit/>
          </a:bodyPr>
          <a:lstStyle/>
          <a:p>
            <a:r>
              <a:rPr lang="bg-BG" dirty="0" smtClean="0"/>
              <a:t>Датчицте (сензорите) позволяват взаимодействието на съвременната електронна техника с околната среда.</a:t>
            </a:r>
          </a:p>
          <a:p>
            <a:r>
              <a:rPr lang="bg-BG" dirty="0" smtClean="0"/>
              <a:t>Идеалният датчик не променя измерваната величина</a:t>
            </a:r>
          </a:p>
          <a:p>
            <a:endParaRPr lang="en-GB" dirty="0"/>
          </a:p>
          <a:p>
            <a:endParaRPr lang="bg-BG" dirty="0" smtClean="0"/>
          </a:p>
        </p:txBody>
      </p:sp>
      <p:sp>
        <p:nvSpPr>
          <p:cNvPr id="2" name="Cloud 1"/>
          <p:cNvSpPr/>
          <p:nvPr/>
        </p:nvSpPr>
        <p:spPr>
          <a:xfrm>
            <a:off x="304800" y="4495800"/>
            <a:ext cx="2362200" cy="1219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bg-BG" sz="2800" dirty="0" smtClean="0"/>
              <a:t>Околна среда</a:t>
            </a:r>
            <a:endParaRPr lang="bg-BG" sz="2800" dirty="0"/>
          </a:p>
        </p:txBody>
      </p:sp>
      <p:pic>
        <p:nvPicPr>
          <p:cNvPr id="1026" name="Picture 2" descr="E:\dropbox\TU\MKE\12.sensors\-computer-clipart-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062820"/>
            <a:ext cx="2771775" cy="203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3505200" y="4724400"/>
            <a:ext cx="1676400" cy="762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датчик</a:t>
            </a:r>
            <a:endParaRPr lang="bg-BG" dirty="0"/>
          </a:p>
        </p:txBody>
      </p:sp>
      <p:sp>
        <p:nvSpPr>
          <p:cNvPr id="6" name="Right Arrow 5"/>
          <p:cNvSpPr/>
          <p:nvPr/>
        </p:nvSpPr>
        <p:spPr>
          <a:xfrm>
            <a:off x="2895600" y="4953000"/>
            <a:ext cx="381000" cy="3048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ight Arrow 8"/>
          <p:cNvSpPr/>
          <p:nvPr/>
        </p:nvSpPr>
        <p:spPr>
          <a:xfrm>
            <a:off x="5410200" y="4953000"/>
            <a:ext cx="381000" cy="3048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197819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Характеристики на сензорите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 smtClean="0"/>
              <a:t>Обхват </a:t>
            </a:r>
            <a:r>
              <a:rPr lang="en-US" dirty="0" smtClean="0"/>
              <a:t>(range)</a:t>
            </a:r>
            <a:r>
              <a:rPr lang="bg-BG" dirty="0" smtClean="0"/>
              <a:t>– разликата между минималната и максималната стойност, която може да се измери.</a:t>
            </a:r>
          </a:p>
          <a:p>
            <a:r>
              <a:rPr lang="bg-BG" dirty="0" smtClean="0"/>
              <a:t>Разделителна способност </a:t>
            </a:r>
            <a:r>
              <a:rPr lang="en-US" dirty="0" smtClean="0"/>
              <a:t>(resolution) </a:t>
            </a:r>
            <a:r>
              <a:rPr lang="bg-BG" dirty="0" smtClean="0"/>
              <a:t>– най-малакта промяна на измерваната величина, която може да бъде отчетена</a:t>
            </a:r>
          </a:p>
          <a:p>
            <a:r>
              <a:rPr lang="bg-BG" dirty="0" smtClean="0"/>
              <a:t>Грешка </a:t>
            </a:r>
            <a:r>
              <a:rPr lang="en-US" dirty="0" smtClean="0"/>
              <a:t>(error) </a:t>
            </a:r>
            <a:r>
              <a:rPr lang="bg-BG" dirty="0" smtClean="0"/>
              <a:t>– разликата между реалната и измерената стойности</a:t>
            </a:r>
          </a:p>
          <a:p>
            <a:r>
              <a:rPr lang="bg-BG" dirty="0" smtClean="0"/>
              <a:t>Линейност </a:t>
            </a:r>
            <a:r>
              <a:rPr lang="en-US" dirty="0" smtClean="0"/>
              <a:t>(linearity) </a:t>
            </a:r>
            <a:r>
              <a:rPr lang="bg-BG" dirty="0" smtClean="0"/>
              <a:t>– показва в каква степен изходната характеристика се отклонява от права линия</a:t>
            </a:r>
          </a:p>
          <a:p>
            <a:r>
              <a:rPr lang="bg-BG" dirty="0" smtClean="0"/>
              <a:t>Точност</a:t>
            </a:r>
            <a:r>
              <a:rPr lang="en-US" dirty="0" smtClean="0"/>
              <a:t> </a:t>
            </a:r>
            <a:r>
              <a:rPr lang="en-US" dirty="0" smtClean="0"/>
              <a:t>(accuracy)</a:t>
            </a:r>
            <a:r>
              <a:rPr lang="bg-BG" dirty="0" smtClean="0"/>
              <a:t> – показва в какъв диапазон са очакваните стойности от </a:t>
            </a:r>
            <a:r>
              <a:rPr lang="bg-BG" dirty="0" smtClean="0"/>
              <a:t>сензора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0010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Видове сензори</a:t>
            </a: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7467600" cy="5486400"/>
          </a:xfrm>
        </p:spPr>
        <p:txBody>
          <a:bodyPr>
            <a:normAutofit fontScale="92500" lnSpcReduction="20000"/>
          </a:bodyPr>
          <a:lstStyle/>
          <a:p>
            <a:r>
              <a:rPr lang="bg-BG" dirty="0" smtClean="0"/>
              <a:t>В </a:t>
            </a:r>
            <a:r>
              <a:rPr lang="bg-BG" dirty="0" smtClean="0"/>
              <a:t>зависимост от измерваната величина</a:t>
            </a:r>
          </a:p>
          <a:p>
            <a:pPr lvl="1"/>
            <a:r>
              <a:rPr lang="bg-BG" dirty="0" smtClean="0"/>
              <a:t>За температура</a:t>
            </a:r>
          </a:p>
          <a:p>
            <a:pPr lvl="1"/>
            <a:r>
              <a:rPr lang="bg-BG" dirty="0" smtClean="0"/>
              <a:t>За светлина</a:t>
            </a:r>
          </a:p>
          <a:p>
            <a:pPr lvl="2"/>
            <a:r>
              <a:rPr lang="bg-BG" dirty="0" smtClean="0"/>
              <a:t>Интензитет</a:t>
            </a:r>
          </a:p>
          <a:p>
            <a:pPr lvl="2"/>
            <a:r>
              <a:rPr lang="bg-BG" dirty="0" smtClean="0"/>
              <a:t>Цвят</a:t>
            </a:r>
          </a:p>
          <a:p>
            <a:pPr lvl="1"/>
            <a:r>
              <a:rPr lang="bg-BG" dirty="0" smtClean="0"/>
              <a:t>Влажност</a:t>
            </a:r>
          </a:p>
          <a:p>
            <a:pPr lvl="1"/>
            <a:r>
              <a:rPr lang="bg-BG" dirty="0" smtClean="0"/>
              <a:t>Концентрация на газове</a:t>
            </a:r>
          </a:p>
          <a:p>
            <a:pPr lvl="1"/>
            <a:r>
              <a:rPr lang="bg-BG" dirty="0" smtClean="0"/>
              <a:t>Механична деформация</a:t>
            </a:r>
          </a:p>
          <a:p>
            <a:pPr lvl="1"/>
            <a:r>
              <a:rPr lang="bg-BG" dirty="0" smtClean="0"/>
              <a:t>Разстояние</a:t>
            </a:r>
            <a:endParaRPr lang="en-US" dirty="0" smtClean="0"/>
          </a:p>
          <a:p>
            <a:pPr lvl="1"/>
            <a:r>
              <a:rPr lang="bg-BG" dirty="0" smtClean="0"/>
              <a:t>Движение</a:t>
            </a:r>
          </a:p>
          <a:p>
            <a:pPr lvl="2"/>
            <a:r>
              <a:rPr lang="bg-BG" dirty="0" smtClean="0"/>
              <a:t>Преместване и завъртане</a:t>
            </a:r>
          </a:p>
          <a:p>
            <a:pPr lvl="2"/>
            <a:r>
              <a:rPr lang="bg-BG" dirty="0"/>
              <a:t>Ускорение</a:t>
            </a:r>
          </a:p>
          <a:p>
            <a:pPr lvl="1"/>
            <a:r>
              <a:rPr lang="bg-BG" dirty="0" smtClean="0"/>
              <a:t>Магнитно поле</a:t>
            </a:r>
          </a:p>
          <a:p>
            <a:pPr lvl="1"/>
            <a:r>
              <a:rPr lang="bg-BG" dirty="0" smtClean="0"/>
              <a:t>Звук</a:t>
            </a:r>
          </a:p>
          <a:p>
            <a:pPr lvl="1"/>
            <a:r>
              <a:rPr lang="bg-BG" dirty="0" smtClean="0"/>
              <a:t>Налягане </a:t>
            </a:r>
          </a:p>
          <a:p>
            <a:r>
              <a:rPr lang="bg-BG" dirty="0" smtClean="0"/>
              <a:t>В зависимост от директния контакт с обекта</a:t>
            </a:r>
          </a:p>
          <a:p>
            <a:pPr lvl="1"/>
            <a:r>
              <a:rPr lang="bg-BG" dirty="0" smtClean="0"/>
              <a:t>Контактни</a:t>
            </a:r>
          </a:p>
          <a:p>
            <a:pPr lvl="1"/>
            <a:r>
              <a:rPr lang="bg-BG" dirty="0" smtClean="0"/>
              <a:t>Безконтактни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375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Сензори за температура</a:t>
            </a: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467600" cy="5407152"/>
          </a:xfrm>
        </p:spPr>
        <p:txBody>
          <a:bodyPr>
            <a:normAutofit/>
          </a:bodyPr>
          <a:lstStyle/>
          <a:p>
            <a:r>
              <a:rPr lang="bg-BG" dirty="0" smtClean="0"/>
              <a:t>Електромеханични</a:t>
            </a:r>
          </a:p>
          <a:p>
            <a:pPr lvl="1"/>
            <a:r>
              <a:rPr lang="bg-BG" dirty="0" smtClean="0"/>
              <a:t>Биметална пластина</a:t>
            </a:r>
          </a:p>
          <a:p>
            <a:pPr lvl="1"/>
            <a:r>
              <a:rPr lang="bg-BG" dirty="0" err="1" smtClean="0"/>
              <a:t>Живажни</a:t>
            </a:r>
            <a:r>
              <a:rPr lang="bg-BG" dirty="0" smtClean="0"/>
              <a:t> термометри</a:t>
            </a:r>
          </a:p>
          <a:p>
            <a:r>
              <a:rPr lang="bg-BG" dirty="0" smtClean="0"/>
              <a:t>Термодвойка</a:t>
            </a:r>
            <a:endParaRPr lang="bg-BG" dirty="0" smtClean="0"/>
          </a:p>
          <a:p>
            <a:r>
              <a:rPr lang="bg-BG" dirty="0" smtClean="0"/>
              <a:t>Терморезистор</a:t>
            </a:r>
          </a:p>
          <a:p>
            <a:pPr lvl="1"/>
            <a:r>
              <a:rPr lang="bg-BG" dirty="0" smtClean="0"/>
              <a:t>Термистор</a:t>
            </a:r>
          </a:p>
          <a:p>
            <a:pPr lvl="1"/>
            <a:r>
              <a:rPr lang="bg-BG" dirty="0" smtClean="0"/>
              <a:t>Позистор</a:t>
            </a:r>
          </a:p>
          <a:p>
            <a:pPr lvl="1"/>
            <a:r>
              <a:rPr lang="en-US" dirty="0" smtClean="0"/>
              <a:t>RTD</a:t>
            </a:r>
            <a:endParaRPr lang="bg-BG" dirty="0"/>
          </a:p>
          <a:p>
            <a:r>
              <a:rPr lang="en-US" dirty="0" smtClean="0"/>
              <a:t>PN </a:t>
            </a:r>
            <a:r>
              <a:rPr lang="bg-BG" dirty="0" smtClean="0"/>
              <a:t>преход</a:t>
            </a:r>
          </a:p>
          <a:p>
            <a:r>
              <a:rPr lang="bg-BG" dirty="0" smtClean="0"/>
              <a:t>Инфрачервени </a:t>
            </a:r>
          </a:p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944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My Documents\Dropbox\TU\MKE\12.sensors\K-Type-Thermocouple-Probe-TP-01N-TP-01-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5297" b="29810"/>
          <a:stretch/>
        </p:blipFill>
        <p:spPr bwMode="auto">
          <a:xfrm>
            <a:off x="3886200" y="5257800"/>
            <a:ext cx="2370325" cy="120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Термодвойки</a:t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4876800"/>
          </a:xfrm>
        </p:spPr>
        <p:txBody>
          <a:bodyPr>
            <a:normAutofit/>
          </a:bodyPr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bg-BG" sz="2400" dirty="0" smtClean="0"/>
              <a:t>Позволяват </a:t>
            </a:r>
            <a:r>
              <a:rPr lang="bg-BG" sz="2400" dirty="0" smtClean="0"/>
              <a:t>измерване на температура до около 2000°С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bg-BG" sz="2400" dirty="0" smtClean="0"/>
              <a:t>Изходният сигнал е много слаб</a:t>
            </a:r>
            <a:r>
              <a:rPr lang="bg-BG" sz="2400" dirty="0"/>
              <a:t>,</a:t>
            </a:r>
            <a:r>
              <a:rPr lang="bg-BG" sz="2400" dirty="0" smtClean="0"/>
              <a:t> което го прави податлив на смущения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bg-BG" sz="2400" dirty="0" smtClean="0"/>
              <a:t>Термодвойките нямат проблем със самозагряването</a:t>
            </a: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bg-BG" sz="2400" dirty="0" smtClean="0"/>
              <a:t>Проблеми със линеаризацията на изходния сигнал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bg-BG" sz="2400" dirty="0" smtClean="0"/>
              <a:t>Термодвойка тип</a:t>
            </a:r>
            <a:r>
              <a:rPr lang="en-US" sz="2400" dirty="0" smtClean="0"/>
              <a:t> </a:t>
            </a:r>
            <a:r>
              <a:rPr lang="bg-BG" sz="2400" dirty="0" smtClean="0"/>
              <a:t>К – (никел,хром,алуминий и </a:t>
            </a:r>
            <a:r>
              <a:rPr lang="bg-BG" sz="2400" dirty="0" err="1" smtClean="0"/>
              <a:t>др</a:t>
            </a:r>
            <a:r>
              <a:rPr lang="bg-BG" sz="2400" dirty="0" smtClean="0"/>
              <a:t>) – най-широко използвана, евтина. Работен температурен диапазон -200°С – 1250­°С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7875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My Documents\Dropbox\TU\MKE\12.sensors\Power-NTC-Thermistors-MF72-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819400"/>
            <a:ext cx="2146300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Полупроводникови резистори</a:t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6629400" cy="5562600"/>
          </a:xfrm>
        </p:spPr>
        <p:txBody>
          <a:bodyPr>
            <a:normAutofit lnSpcReduction="10000"/>
          </a:bodyPr>
          <a:lstStyle/>
          <a:p>
            <a:r>
              <a:rPr lang="bg-BG" dirty="0" smtClean="0"/>
              <a:t>Резистори, чийто съпротивление се променя при промяна на температурата се наричат терморезистори</a:t>
            </a:r>
          </a:p>
          <a:p>
            <a:r>
              <a:rPr lang="bg-BG" dirty="0" smtClean="0"/>
              <a:t>В зависимост от това в каква посока се изменя съпротивлението (нараства или намалява), терморезисторите са два вида:</a:t>
            </a:r>
          </a:p>
          <a:p>
            <a:pPr lvl="1"/>
            <a:r>
              <a:rPr lang="bg-BG" dirty="0" smtClean="0"/>
              <a:t>Термистори </a:t>
            </a:r>
            <a:r>
              <a:rPr lang="en-US" dirty="0" smtClean="0"/>
              <a:t>(NTC</a:t>
            </a:r>
            <a:r>
              <a:rPr lang="bg-BG" dirty="0" smtClean="0"/>
              <a:t> </a:t>
            </a:r>
            <a:r>
              <a:rPr lang="en-US" dirty="0" smtClean="0"/>
              <a:t>– Negative Temperature Coefficient) –</a:t>
            </a:r>
            <a:r>
              <a:rPr lang="bg-BG" dirty="0" smtClean="0"/>
              <a:t> терморезистори с отрицателен температурен коефициент. </a:t>
            </a:r>
            <a:r>
              <a:rPr lang="bg-BG" dirty="0" smtClean="0"/>
              <a:t>Съпротивлението намалява с увеличаването на температурата</a:t>
            </a:r>
            <a:endParaRPr lang="bg-BG" dirty="0" smtClean="0"/>
          </a:p>
          <a:p>
            <a:r>
              <a:rPr lang="bg-BG" dirty="0" smtClean="0"/>
              <a:t>Характеризират </a:t>
            </a:r>
            <a:r>
              <a:rPr lang="bg-BG" dirty="0" smtClean="0"/>
              <a:t>се с много висока чувствителност,  евтини и лесни за използване в електрониката. Имат сравнително ниска точност и висока нелинейност.</a:t>
            </a:r>
            <a:endParaRPr lang="bg-BG" dirty="0"/>
          </a:p>
          <a:p>
            <a:pPr lvl="1"/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1330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29434" y="3962400"/>
            <a:ext cx="1909766" cy="1876839"/>
          </a:xfrm>
          <a:prstGeom prst="round2DiagRect">
            <a:avLst>
              <a:gd name="adj1" fmla="val 50000"/>
              <a:gd name="adj2" fmla="val 20124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Датчици за влажност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 smtClean="0"/>
              <a:t>Измерват относителна влажност – </a:t>
            </a:r>
            <a:r>
              <a:rPr lang="en-US" dirty="0" smtClean="0"/>
              <a:t>RH[%]</a:t>
            </a:r>
            <a:endParaRPr lang="bg-BG" dirty="0" smtClean="0"/>
          </a:p>
          <a:p>
            <a:r>
              <a:rPr lang="bg-BG" dirty="0" smtClean="0"/>
              <a:t>Видове</a:t>
            </a:r>
          </a:p>
          <a:p>
            <a:pPr lvl="1"/>
            <a:r>
              <a:rPr lang="bg-BG" dirty="0" smtClean="0"/>
              <a:t>Капацитивни – променя се диелектричната проницаемост на специфчен материал, </a:t>
            </a:r>
            <a:r>
              <a:rPr lang="el-GR" dirty="0" smtClean="0"/>
              <a:t>ε</a:t>
            </a:r>
            <a:r>
              <a:rPr lang="en-US" baseline="-25000" dirty="0" smtClean="0"/>
              <a:t>r</a:t>
            </a:r>
            <a:r>
              <a:rPr lang="en-US" dirty="0" smtClean="0"/>
              <a:t> – </a:t>
            </a:r>
            <a:r>
              <a:rPr lang="bg-BG" dirty="0" smtClean="0"/>
              <a:t>на водата е 81, а на повечето пасивни диелектрици под 10.</a:t>
            </a:r>
          </a:p>
          <a:p>
            <a:pPr lvl="1"/>
            <a:r>
              <a:rPr lang="bg-BG" dirty="0" smtClean="0"/>
              <a:t>Резистивни – променя се съпротивлението на изолатор, при поглъщането на вода</a:t>
            </a:r>
          </a:p>
          <a:p>
            <a:pPr marL="0" indent="0">
              <a:buNone/>
            </a:pPr>
            <a:r>
              <a:rPr lang="bg-BG" dirty="0" smtClean="0"/>
              <a:t>Не всички сензори могат да измерват в целия диапазон от 0÷100%</a:t>
            </a:r>
          </a:p>
          <a:p>
            <a:pPr marL="0" indent="0">
              <a:buNone/>
            </a:pPr>
            <a:r>
              <a:rPr lang="bg-BG" dirty="0" smtClean="0"/>
              <a:t>Предлагат се цифрови комбинирани датчици (температура и влажност) – много удобни за употреба и с добра точност. Висока цена.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539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фоторезистори</a:t>
            </a:r>
            <a:endParaRPr lang="bg-B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 smtClean="0"/>
              <a:t>Това са полупроводникови резистори, чийто съпротивление се променя при промяна интензитета на светлината</a:t>
            </a:r>
          </a:p>
          <a:p>
            <a:r>
              <a:rPr lang="bg-BG" dirty="0" smtClean="0"/>
              <a:t>Евтини</a:t>
            </a:r>
          </a:p>
          <a:p>
            <a:r>
              <a:rPr lang="bg-BG" dirty="0" smtClean="0"/>
              <a:t>Лесни за свързване към микропроцесорна система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146" name="Picture 2" descr="E:\My Documents\Dropbox\TU\MKE\12.sensors\ld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9801" y="3918759"/>
            <a:ext cx="4953000" cy="287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50486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2" descr="E:\dropbox\TU\MKE\6. diodes\фото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653338" y="1951037"/>
            <a:ext cx="1292225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E:\dropbox\TU\MKE\6. diodes\QSC112QSC113QSC114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733800"/>
            <a:ext cx="16573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E:\dropbox\TU\MKE\6. diodes\imag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74748" y="3644900"/>
            <a:ext cx="2109153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609600" y="4270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mtClean="0"/>
              <a:t>фотодиоди</a:t>
            </a:r>
            <a:br>
              <a:rPr lang="bg-BG" smtClean="0"/>
            </a:br>
            <a:endParaRPr lang="bg-BG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7467600" cy="5330952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Преобразуват светлината в електрически ток. Реагират на определена дължина на вълната. Имат сравнително малка чувствителност, но голямо бързодействие</a:t>
            </a:r>
          </a:p>
          <a:p>
            <a:r>
              <a:rPr lang="bg-BG" dirty="0" smtClean="0"/>
              <a:t>Работни режими</a:t>
            </a:r>
          </a:p>
          <a:p>
            <a:pPr lvl="1"/>
            <a:r>
              <a:rPr lang="bg-BG" dirty="0" smtClean="0"/>
              <a:t>Фотоволтаичен – фотодиода работи на празен ход слънчевите батерии</a:t>
            </a:r>
          </a:p>
          <a:p>
            <a:pPr lvl="1"/>
            <a:r>
              <a:rPr lang="bg-BG" dirty="0" smtClean="0"/>
              <a:t>Фотопроводим – фотодиода е включен в обратна посока. Високо бързодействие</a:t>
            </a:r>
          </a:p>
          <a:p>
            <a:r>
              <a:rPr lang="bg-BG" dirty="0" smtClean="0"/>
              <a:t>Приложение</a:t>
            </a:r>
          </a:p>
          <a:p>
            <a:pPr lvl="1"/>
            <a:r>
              <a:rPr lang="bg-BG" dirty="0" smtClean="0"/>
              <a:t>Оптрони</a:t>
            </a:r>
          </a:p>
          <a:p>
            <a:pPr lvl="1"/>
            <a:r>
              <a:rPr lang="bg-BG" dirty="0" smtClean="0"/>
              <a:t>Оптична комуникация</a:t>
            </a:r>
          </a:p>
          <a:p>
            <a:pPr lvl="1"/>
            <a:r>
              <a:rPr lang="bg-BG" dirty="0" smtClean="0"/>
              <a:t>Детектори за дим</a:t>
            </a:r>
          </a:p>
          <a:p>
            <a:pPr lvl="1"/>
            <a:r>
              <a:rPr lang="bg-BG" dirty="0" smtClean="0"/>
              <a:t>Детектор за пулс в медицината</a:t>
            </a:r>
          </a:p>
          <a:p>
            <a:pPr lvl="1"/>
            <a:r>
              <a:rPr lang="bg-BG" dirty="0"/>
              <a:t>Високоскоростни светлинни матрици</a:t>
            </a:r>
            <a:endParaRPr lang="en-US" dirty="0"/>
          </a:p>
          <a:p>
            <a:pPr lvl="1"/>
            <a:r>
              <a:rPr lang="bg-BG" dirty="0" smtClean="0"/>
              <a:t>Приемници за сигналите от различни системи за дистанционен контрол (дистанционни управления)</a:t>
            </a:r>
          </a:p>
          <a:p>
            <a:endParaRPr lang="bg-BG" dirty="0"/>
          </a:p>
        </p:txBody>
      </p:sp>
      <p:sp>
        <p:nvSpPr>
          <p:cNvPr id="11" name="Slide Number Placeholder 3"/>
          <p:cNvSpPr txBox="1">
            <a:spLocks/>
          </p:cNvSpPr>
          <p:nvPr/>
        </p:nvSpPr>
        <p:spPr>
          <a:xfrm>
            <a:off x="8281416" y="5886450"/>
            <a:ext cx="609600" cy="521208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902C2A-6BBE-4F76-B0A0-0825489B58C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9453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фототранзистори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 smtClean="0"/>
              <a:t>Представляват транзистор, чийто корпус е изграден от прозрачен материал, и светлината може да освети </a:t>
            </a:r>
            <a:r>
              <a:rPr lang="en-US" dirty="0" smtClean="0"/>
              <a:t>PN</a:t>
            </a:r>
            <a:r>
              <a:rPr lang="bg-BG" dirty="0" smtClean="0"/>
              <a:t> прехода.</a:t>
            </a:r>
          </a:p>
          <a:p>
            <a:r>
              <a:rPr lang="bg-BG" dirty="0" smtClean="0"/>
              <a:t>Подобни на фотодиодите, но с по-висока чувствителност, за сметка на по-бавно време за реакция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170" name="Picture 2" descr="E:\My Documents\Dropbox\TU\MKE\12.sensors\PhotoTransist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87750" y="3830638"/>
            <a:ext cx="2540000" cy="234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29229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Сензори за движение</a:t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7467600" cy="5178552"/>
          </a:xfrm>
        </p:spPr>
        <p:txBody>
          <a:bodyPr>
            <a:normAutofit lnSpcReduction="10000"/>
          </a:bodyPr>
          <a:lstStyle/>
          <a:p>
            <a:r>
              <a:rPr lang="bg-BG" dirty="0" smtClean="0"/>
              <a:t>Скоростта и ускорението мога да се получат съответно с едно и две диференцирания на сигнала за позиция</a:t>
            </a:r>
          </a:p>
          <a:p>
            <a:pPr lvl="1"/>
            <a:r>
              <a:rPr lang="bg-BG" dirty="0" smtClean="0"/>
              <a:t>Води до увеличаване на шума в сигнала</a:t>
            </a:r>
          </a:p>
          <a:p>
            <a:pPr lvl="1"/>
            <a:r>
              <a:rPr lang="bg-BG" dirty="0" smtClean="0"/>
              <a:t>Оптрон с процеп и перфориан диск е много евтино решение даващо тази възможност – компютърните мишки с топчета.</a:t>
            </a:r>
          </a:p>
          <a:p>
            <a:r>
              <a:rPr lang="bg-BG" dirty="0" smtClean="0"/>
              <a:t>Друг вариант е да се измерва скоростта директно – да се измерва честотата на поредица от импулси от фото или друг вид преобразувател.</a:t>
            </a:r>
          </a:p>
          <a:p>
            <a:r>
              <a:rPr lang="bg-BG" dirty="0" smtClean="0"/>
              <a:t>Има сензори даващи възможнот дори ускорението да се измерва директно – </a:t>
            </a:r>
            <a:r>
              <a:rPr lang="en-US" dirty="0" smtClean="0"/>
              <a:t>MEMS</a:t>
            </a:r>
            <a:r>
              <a:rPr lang="bg-BG" dirty="0" smtClean="0"/>
              <a:t> акселерометри – </a:t>
            </a:r>
            <a:r>
              <a:rPr lang="en-US" dirty="0" err="1" smtClean="0"/>
              <a:t>iphone</a:t>
            </a:r>
            <a:r>
              <a:rPr lang="en-US" dirty="0" smtClean="0"/>
              <a:t>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319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Оптични газови сензори</a:t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 тези сензори се използва някои от следните явления:</a:t>
            </a:r>
            <a:endParaRPr lang="en-US" dirty="0"/>
          </a:p>
          <a:p>
            <a:pPr lvl="1"/>
            <a:r>
              <a:rPr lang="bg-BG" dirty="0" smtClean="0"/>
              <a:t>Промяна в индекса на пречупване</a:t>
            </a:r>
            <a:endParaRPr lang="en-US" dirty="0"/>
          </a:p>
          <a:p>
            <a:pPr lvl="1"/>
            <a:r>
              <a:rPr lang="bg-BG" dirty="0" smtClean="0"/>
              <a:t>Поглъщане на светлината</a:t>
            </a:r>
            <a:endParaRPr lang="en-US" dirty="0"/>
          </a:p>
          <a:p>
            <a:pPr lvl="1"/>
            <a:r>
              <a:rPr lang="bg-BG" dirty="0" smtClean="0"/>
              <a:t>Флуорисценция</a:t>
            </a:r>
            <a:endParaRPr lang="en-US" dirty="0"/>
          </a:p>
          <a:p>
            <a:pPr lvl="1"/>
            <a:endParaRPr lang="en-US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3696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10275</TotalTime>
  <Words>652</Words>
  <Application>Microsoft Office PowerPoint</Application>
  <PresentationFormat>On-screen Show (4:3)</PresentationFormat>
  <Paragraphs>111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Oriel</vt:lpstr>
      <vt:lpstr>Сензори</vt:lpstr>
      <vt:lpstr>Обща информация</vt:lpstr>
      <vt:lpstr>Характеристики на сензорите</vt:lpstr>
      <vt:lpstr>Видове сензори </vt:lpstr>
      <vt:lpstr>Сензори за температура </vt:lpstr>
      <vt:lpstr>Термодвойки </vt:lpstr>
      <vt:lpstr>Полупроводникови резистори </vt:lpstr>
      <vt:lpstr>Датчици за влажност</vt:lpstr>
      <vt:lpstr>фоторезистори</vt:lpstr>
      <vt:lpstr>Slide 10</vt:lpstr>
      <vt:lpstr>фототранзистори</vt:lpstr>
      <vt:lpstr>Сензори за движение </vt:lpstr>
      <vt:lpstr>Оптични газови сензори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Teacher</dc:creator>
  <cp:lastModifiedBy>Teacher</cp:lastModifiedBy>
  <cp:revision>240</cp:revision>
  <dcterms:created xsi:type="dcterms:W3CDTF">2006-08-16T00:00:00Z</dcterms:created>
  <dcterms:modified xsi:type="dcterms:W3CDTF">2016-11-27T15:42:44Z</dcterms:modified>
</cp:coreProperties>
</file>
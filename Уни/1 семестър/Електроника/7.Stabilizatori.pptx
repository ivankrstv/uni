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Default Extension="bin" ContentType="application/vnd.openxmlformats-officedocument.oleObject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Default Extension="vml" ContentType="application/vnd.openxmlformats-officedocument.vmlDrawing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9"/>
  </p:notesMasterIdLst>
  <p:sldIdLst>
    <p:sldId id="256" r:id="rId2"/>
    <p:sldId id="407" r:id="rId3"/>
    <p:sldId id="408" r:id="rId4"/>
    <p:sldId id="399" r:id="rId5"/>
    <p:sldId id="405" r:id="rId6"/>
    <p:sldId id="396" r:id="rId7"/>
    <p:sldId id="397" r:id="rId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660"/>
  </p:normalViewPr>
  <p:slideViewPr>
    <p:cSldViewPr>
      <p:cViewPr>
        <p:scale>
          <a:sx n="75" d="100"/>
          <a:sy n="75" d="100"/>
        </p:scale>
        <p:origin x="-1008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17.wmf"/><Relationship Id="rId1" Type="http://schemas.openxmlformats.org/officeDocument/2006/relationships/image" Target="../media/image16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43C5CA-6687-4F32-A5FF-8CEAF2AE44B1}" type="datetimeFigureOut">
              <a:rPr lang="bg-BG" smtClean="0"/>
              <a:pPr/>
              <a:t>27.11.2016 г.</a:t>
            </a:fld>
            <a:endParaRPr lang="bg-B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bg-B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CEEECB-D8FA-41A3-B0EC-BF3922F158D3}" type="slidenum">
              <a:rPr lang="bg-BG" smtClean="0"/>
              <a:pPr/>
              <a:t>‹#›</a:t>
            </a:fld>
            <a:endParaRPr lang="bg-BG"/>
          </a:p>
        </p:txBody>
      </p:sp>
    </p:spTree>
    <p:extLst>
      <p:ext uri="{BB962C8B-B14F-4D97-AF65-F5344CB8AC3E}">
        <p14:creationId xmlns="" xmlns:p14="http://schemas.microsoft.com/office/powerpoint/2010/main" val="13631042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286000" y="3124200"/>
            <a:ext cx="6172200" cy="1894362"/>
          </a:xfrm>
        </p:spPr>
        <p:txBody>
          <a:bodyPr/>
          <a:lstStyle>
            <a:lvl1pPr>
              <a:defRPr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286000" y="5003322"/>
            <a:ext cx="6172200" cy="1371600"/>
          </a:xfrm>
        </p:spPr>
        <p:txBody>
          <a:bodyPr/>
          <a:lstStyle>
            <a:lvl1pPr marL="0" indent="0" algn="l">
              <a:buNone/>
              <a:defRPr sz="1800" b="1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4621" y="1174097"/>
            <a:ext cx="2286000" cy="381000"/>
          </a:xfrm>
        </p:spPr>
        <p:txBody>
          <a:bodyPr/>
          <a:lstStyle/>
          <a:p>
            <a:fld id="{E2D2E592-4A2E-4BF9-A293-5D4CA1DD4DAF}" type="datetime1">
              <a:rPr lang="en-US" smtClean="0"/>
              <a:pPr/>
              <a:t>11/27/2016</a:t>
            </a:fld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269" y="4181669"/>
            <a:ext cx="3657600" cy="384048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0" name="Rectangle 9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2" name="Rectangle 11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4" name="Rectangle 13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9" name="Rectangle 18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8" name="Straight Connector 17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0" name="Straight Connector 19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2" name="Straight Connector 21"/>
          <p:cNvSpPr>
            <a:spLocks noChangeShapeType="1"/>
          </p:cNvSpPr>
          <p:nvPr/>
        </p:nvSpPr>
        <p:spPr bwMode="auto">
          <a:xfrm>
            <a:off x="9113856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7" name="Rectangle 26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Oval 20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Oval 22"/>
          <p:cNvSpPr/>
          <p:nvPr/>
        </p:nvSpPr>
        <p:spPr bwMode="auto">
          <a:xfrm>
            <a:off x="1309632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4" name="Oval 23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Oval 25"/>
          <p:cNvSpPr/>
          <p:nvPr/>
        </p:nvSpPr>
        <p:spPr bwMode="auto">
          <a:xfrm>
            <a:off x="1664208" y="5788152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5" name="Oval 24"/>
          <p:cNvSpPr/>
          <p:nvPr/>
        </p:nvSpPr>
        <p:spPr>
          <a:xfrm>
            <a:off x="1905000" y="4495800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 bwMode="auto">
          <a:xfrm>
            <a:off x="1325544" y="4928702"/>
            <a:ext cx="609600" cy="517524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752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A8CD3E69-3D3E-498E-8451-15B84446259C}" type="datetime1">
              <a:rPr lang="en-US" smtClean="0"/>
              <a:pPr/>
              <a:t>11/27/2016</a:t>
            </a:fld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5"/>
          </p:nvPr>
        </p:nvSpPr>
        <p:spPr/>
        <p:txBody>
          <a:bodyPr lIns="36000" tIns="36000" rIns="36000" bIns="36000" rtlCol="0"/>
          <a:lstStyle/>
          <a:p>
            <a:fld id="{12902C2A-6BBE-4F76-B0A0-0825489B58C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0" y="2895600"/>
            <a:ext cx="6172200" cy="2053590"/>
          </a:xfrm>
        </p:spPr>
        <p:txBody>
          <a:bodyPr/>
          <a:lstStyle>
            <a:lvl1pPr algn="l">
              <a:buNone/>
              <a:defRPr sz="3000" b="1" cap="small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86000" y="5010150"/>
            <a:ext cx="6172200" cy="1371600"/>
          </a:xfrm>
        </p:spPr>
        <p:txBody>
          <a:bodyPr anchor="t"/>
          <a:lstStyle>
            <a:lvl1pPr marL="0" indent="0">
              <a:buNone/>
              <a:defRPr sz="1800" b="1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3256" y="1170432"/>
            <a:ext cx="2286000" cy="381000"/>
          </a:xfrm>
        </p:spPr>
        <p:txBody>
          <a:bodyPr/>
          <a:lstStyle/>
          <a:p>
            <a:fld id="{9DFBF9CF-4921-4328-9B41-A045E9AF6BFA}" type="datetime1">
              <a:rPr lang="en-US" smtClean="0"/>
              <a:pPr/>
              <a:t>11/27/2016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456" y="4178808"/>
            <a:ext cx="3657600" cy="384048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Rectangle 8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0" name="Rectangle 9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1" name="Rectangle 10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2" name="Rectangle 11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4" name="Straight Connector 13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7" name="Straight Connector 16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8" name="Rectangle 17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9" name="Oval 18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0" name="Oval 19"/>
          <p:cNvSpPr/>
          <p:nvPr/>
        </p:nvSpPr>
        <p:spPr bwMode="auto">
          <a:xfrm>
            <a:off x="1324704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Oval 20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Oval 21"/>
          <p:cNvSpPr/>
          <p:nvPr/>
        </p:nvSpPr>
        <p:spPr bwMode="auto">
          <a:xfrm>
            <a:off x="1664208" y="5791200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Oval 22"/>
          <p:cNvSpPr/>
          <p:nvPr/>
        </p:nvSpPr>
        <p:spPr bwMode="auto">
          <a:xfrm>
            <a:off x="1879040" y="4479888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Straight Connector 25"/>
          <p:cNvSpPr>
            <a:spLocks noChangeShapeType="1"/>
          </p:cNvSpPr>
          <p:nvPr/>
        </p:nvSpPr>
        <p:spPr bwMode="auto">
          <a:xfrm>
            <a:off x="9097944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1340616" y="4928702"/>
            <a:ext cx="609600" cy="517524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D3EAFD-D94D-45EF-BEF1-DAA051E58B44}" type="datetime1">
              <a:rPr lang="en-US" smtClean="0"/>
              <a:pPr/>
              <a:t>11/27/2016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270248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7543800" cy="1143000"/>
          </a:xfrm>
        </p:spPr>
        <p:txBody>
          <a:bodyPr anchor="b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62322-A269-4D17-A395-14EA6835F691}" type="datetime1">
              <a:rPr lang="en-US" smtClean="0"/>
              <a:pPr/>
              <a:t>11/27/2016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371975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"/>
          </p:nvPr>
        </p:nvSpPr>
        <p:spPr>
          <a:xfrm>
            <a:off x="4572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3"/>
          </p:nvPr>
        </p:nvSpPr>
        <p:spPr>
          <a:xfrm>
            <a:off x="43434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C8AD8E53-10C3-4075-BDB5-1A60D07778CA}" type="datetime1">
              <a:rPr lang="en-US" smtClean="0"/>
              <a:pPr/>
              <a:t>11/27/2016</a:t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3EB91-2A6D-426B-8EC3-948122788556}" type="datetime1">
              <a:rPr lang="en-US" smtClean="0"/>
              <a:pPr/>
              <a:t>11/27/2016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3371850" y="3200400"/>
            <a:ext cx="6309360" cy="457200"/>
          </a:xfrm>
        </p:spPr>
        <p:txBody>
          <a:bodyPr anchor="b"/>
          <a:lstStyle>
            <a:lvl1pPr algn="l">
              <a:buNone/>
              <a:defRPr sz="2000" b="1" cap="small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12280" y="274320"/>
            <a:ext cx="1527048" cy="4983480"/>
          </a:xfrm>
        </p:spPr>
        <p:txBody>
          <a:bodyPr/>
          <a:lstStyle>
            <a:lvl1pPr marL="0" indent="0">
              <a:spcBef>
                <a:spcPts val="400"/>
              </a:spcBef>
              <a:spcAft>
                <a:spcPts val="1000"/>
              </a:spcAft>
              <a:buNone/>
              <a:defRPr sz="12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2" name="Rectangle 11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4" name="Oval 13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8" name="Content Placeholder 17"/>
          <p:cNvSpPr>
            <a:spLocks noGrp="1"/>
          </p:cNvSpPr>
          <p:nvPr>
            <p:ph sz="quarter" idx="1"/>
          </p:nvPr>
        </p:nvSpPr>
        <p:spPr>
          <a:xfrm>
            <a:off x="304800" y="274320"/>
            <a:ext cx="5638800" cy="6327648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1" name="Date Placeholder 20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38CDD70B-CB48-4837-917F-683692E29684}" type="datetime1">
              <a:rPr lang="en-US" smtClean="0"/>
              <a:pPr/>
              <a:t>11/27/2016</a:t>
            </a:fld>
            <a:endParaRPr lang="en-US" dirty="0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3" name="Footer Placeholder 22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3" name="Oval 12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3350133" y="3200400"/>
            <a:ext cx="6309360" cy="45720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6172200" cy="6858000"/>
          </a:xfrm>
          <a:solidFill>
            <a:schemeClr val="bg2"/>
          </a:solidFill>
          <a:ln w="1270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lstStyle>
            <a:lvl1pPr marL="0" indent="0">
              <a:buNone/>
              <a:defRPr sz="3200"/>
            </a:lvl1pPr>
          </a:lstStyle>
          <a:p>
            <a:pPr algn="ctr" eaLnBrk="1" latinLnBrk="0" hangingPunct="1">
              <a:buFontTx/>
              <a:buNone/>
            </a:pPr>
            <a:r>
              <a:rPr kumimoji="0" lang="en-US" dirty="0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65798" y="264795"/>
            <a:ext cx="1524000" cy="4956048"/>
          </a:xfrm>
        </p:spPr>
        <p:txBody>
          <a:bodyPr rot="0" spcFirstLastPara="0" vertOverflow="overflow" horzOverflow="overflow" vert="horz" wrap="square" lIns="91440" tIns="45720" rIns="91440" bIns="45720" numCol="1" spcCol="274320" rtlCol="0" fromWordArt="0" anchor="t" anchorCtr="0" forceAA="0" compatLnSpc="1">
            <a:normAutofit/>
          </a:bodyPr>
          <a:lstStyle>
            <a:lvl1pPr marL="0" indent="0">
              <a:spcBef>
                <a:spcPts val="100"/>
              </a:spcBef>
              <a:spcAft>
                <a:spcPts val="400"/>
              </a:spcAft>
              <a:buFontTx/>
              <a:buNone/>
              <a:defRPr sz="12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1" name="Rectangle 10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2" name="Straight Connector 11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9" name="Straight Connector 18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0" name="Straight Connector 19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7" name="Date Placeholder 1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3832BB7E-0C31-4275-A2F4-79BF2F9688A2}" type="datetime1">
              <a:rPr lang="en-US" smtClean="0"/>
              <a:pPr/>
              <a:t>11/27/2016</a:t>
            </a:fld>
            <a:endParaRPr lang="en-US" dirty="0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2F2E9-85C3-4B1C-9AF4-D23F9A75E333}" type="datetime1">
              <a:rPr lang="en-US" smtClean="0"/>
              <a:pPr/>
              <a:t>11/27/2016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16764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F0B7C2-5310-481F-99BE-A39F46511263}" type="datetime1">
              <a:rPr lang="en-US" smtClean="0"/>
              <a:pPr/>
              <a:t>11/27/2016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467600" cy="487375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 rot="5400000">
            <a:off x="7589520" y="1081851"/>
            <a:ext cx="2011680" cy="384048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fld id="{AD8E6A2B-0561-4E1D-9856-5848DD06DFF0}" type="datetime1">
              <a:rPr lang="en-US" smtClean="0"/>
              <a:pPr/>
              <a:t>11/27/2016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 rot="5400000">
            <a:off x="6990186" y="3737240"/>
            <a:ext cx="3200400" cy="365760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76200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0" name="Rectangle 9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2" name="Oval 11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8129016" y="5734050"/>
            <a:ext cx="609600" cy="521208"/>
          </a:xfrm>
          <a:prstGeom prst="rect">
            <a:avLst/>
          </a:prstGeom>
        </p:spPr>
        <p:txBody>
          <a:bodyPr vert="horz" anchor="ctr"/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3000" b="0" kern="1200" cap="sm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0000"/>
        <a:buFont typeface="Wingdings"/>
        <a:buChar char="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182880" algn="l" rtl="0" eaLnBrk="1" latinLnBrk="0" hangingPunct="1">
        <a:spcBef>
          <a:spcPct val="20000"/>
        </a:spcBef>
        <a:buClr>
          <a:schemeClr val="accent2">
            <a:tint val="60000"/>
          </a:schemeClr>
        </a:buClr>
        <a:buSzPct val="68000"/>
        <a:buFont typeface="Wingdings 2"/>
        <a:buChar char="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rtl="0" eaLnBrk="1" latinLnBrk="0" hangingPunct="1">
        <a:spcBef>
          <a:spcPct val="20000"/>
        </a:spcBef>
        <a:buClr>
          <a:schemeClr val="accent1"/>
        </a:buClr>
        <a:buChar char="•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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ct val="20000"/>
        </a:spcBef>
        <a:buClr>
          <a:schemeClr val="accent2"/>
        </a:buClr>
        <a:buChar char="•"/>
        <a:defRPr kumimoji="0" sz="1400" kern="1200" cap="small" baseline="0">
          <a:solidFill>
            <a:schemeClr val="tx2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Char char="•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5" Type="http://schemas.openxmlformats.org/officeDocument/2006/relationships/oleObject" Target="../embeddings/oleObject2.bin"/><Relationship Id="rId4" Type="http://schemas.openxmlformats.org/officeDocument/2006/relationships/oleObject" Target="../embeddings/oleObject1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86000" y="4038600"/>
            <a:ext cx="6400800" cy="762000"/>
          </a:xfrm>
        </p:spPr>
        <p:txBody>
          <a:bodyPr>
            <a:normAutofit fontScale="90000"/>
          </a:bodyPr>
          <a:lstStyle/>
          <a:p>
            <a:r>
              <a:rPr lang="en-US" sz="2200" dirty="0" smtClean="0"/>
              <a:t/>
            </a:r>
            <a:br>
              <a:rPr lang="en-US" sz="2200" dirty="0" smtClean="0"/>
            </a:br>
            <a:r>
              <a:rPr lang="bg-BG" sz="2200" dirty="0" smtClean="0"/>
              <a:t/>
            </a:r>
            <a:br>
              <a:rPr lang="bg-BG" sz="2200" dirty="0" smtClean="0"/>
            </a:br>
            <a:r>
              <a:rPr lang="bg-BG" sz="2200" dirty="0" smtClean="0"/>
              <a:t/>
            </a:r>
            <a:br>
              <a:rPr lang="bg-BG" sz="2200" dirty="0" smtClean="0"/>
            </a:br>
            <a:r>
              <a:rPr lang="ru-MO" sz="2400" dirty="0" smtClean="0"/>
              <a:t>Стабилизатори на напрежение. Импулсни захранващи устройства.</a:t>
            </a:r>
            <a:r>
              <a:rPr lang="bg-BG" sz="2400" dirty="0" smtClean="0"/>
              <a:t/>
            </a:r>
            <a:br>
              <a:rPr lang="bg-BG" sz="2400" dirty="0" smtClean="0"/>
            </a:br>
            <a:r>
              <a:rPr lang="bg-BG" sz="2000" dirty="0" smtClean="0"/>
              <a:t/>
            </a:r>
            <a:br>
              <a:rPr lang="bg-BG" sz="2000" dirty="0" smtClean="0"/>
            </a:br>
            <a:r>
              <a:rPr lang="bg-BG" dirty="0" smtClean="0"/>
              <a:t/>
            </a:r>
            <a:br>
              <a:rPr lang="bg-BG" dirty="0" smtClean="0"/>
            </a:br>
            <a:r>
              <a:rPr lang="bg-BG" dirty="0" smtClean="0"/>
              <a:t/>
            </a:r>
            <a:br>
              <a:rPr lang="bg-BG" dirty="0" smtClean="0"/>
            </a:br>
            <a:endParaRPr lang="bg-BG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bg-BG" dirty="0" smtClean="0">
                <a:solidFill>
                  <a:schemeClr val="tx1"/>
                </a:solidFill>
              </a:rPr>
              <a:t>Проф. Венцислав Вълчев</a:t>
            </a:r>
            <a:endParaRPr lang="bg-BG" dirty="0">
              <a:solidFill>
                <a:schemeClr val="tx1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209800" y="1563469"/>
            <a:ext cx="62484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bg-BG" i="1" dirty="0" smtClean="0"/>
              <a:t>Дисциплина : </a:t>
            </a:r>
          </a:p>
          <a:p>
            <a:pPr algn="ctr"/>
            <a:r>
              <a:rPr lang="bg-BG" i="1" dirty="0" smtClean="0"/>
              <a:t>“Компютърна електроника” </a:t>
            </a:r>
            <a:endParaRPr lang="bg-BG" i="1" dirty="0"/>
          </a:p>
        </p:txBody>
      </p:sp>
      <p:sp>
        <p:nvSpPr>
          <p:cNvPr id="5" name="Rectangle 4"/>
          <p:cNvSpPr/>
          <p:nvPr/>
        </p:nvSpPr>
        <p:spPr>
          <a:xfrm>
            <a:off x="1676400" y="304800"/>
            <a:ext cx="7010400" cy="9848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bg-BG" sz="2800" b="1" dirty="0" smtClean="0"/>
              <a:t>Технически Университет Варна</a:t>
            </a:r>
          </a:p>
          <a:p>
            <a:pPr algn="ctr"/>
            <a:endParaRPr lang="bg-BG" sz="1050" b="1" dirty="0" smtClean="0"/>
          </a:p>
          <a:p>
            <a:pPr algn="ctr"/>
            <a:r>
              <a:rPr lang="bg-BG" dirty="0" smtClean="0"/>
              <a:t>Катедра „Електронна техника и микроелектроника“</a:t>
            </a:r>
            <a:endParaRPr lang="bg-BG" dirty="0"/>
          </a:p>
        </p:txBody>
      </p:sp>
      <p:sp>
        <p:nvSpPr>
          <p:cNvPr id="6" name="Rectangle 5"/>
          <p:cNvSpPr/>
          <p:nvPr/>
        </p:nvSpPr>
        <p:spPr>
          <a:xfrm>
            <a:off x="2209800" y="6248400"/>
            <a:ext cx="62484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bg-BG" i="1" dirty="0" smtClean="0"/>
              <a:t>2016</a:t>
            </a:r>
            <a:endParaRPr lang="bg-BG" i="1" dirty="0"/>
          </a:p>
        </p:txBody>
      </p:sp>
      <p:sp>
        <p:nvSpPr>
          <p:cNvPr id="7" name="Rectangle 6"/>
          <p:cNvSpPr/>
          <p:nvPr/>
        </p:nvSpPr>
        <p:spPr>
          <a:xfrm>
            <a:off x="609600" y="3711714"/>
            <a:ext cx="11430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4000" b="1" dirty="0" smtClean="0">
                <a:solidFill>
                  <a:schemeClr val="bg1"/>
                </a:solidFill>
              </a:rPr>
              <a:t>VII</a:t>
            </a:r>
            <a:endParaRPr lang="bg-BG" sz="40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42714116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sz="2800" dirty="0" smtClean="0"/>
              <a:t>Стабилизатори на напрежение</a:t>
            </a:r>
            <a:endParaRPr lang="bg-BG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2902C2A-6BBE-4F76-B0A0-0825489B58CE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bg-BG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3400" y="1676400"/>
            <a:ext cx="7043738" cy="2612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09600" y="3733800"/>
            <a:ext cx="1238250" cy="657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31" name="Picture 7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438400" y="4876800"/>
            <a:ext cx="3286125" cy="800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Класификация на стабилизаторите на напрежение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2902C2A-6BBE-4F76-B0A0-0825489B58CE}" type="slidenum">
              <a:rPr lang="en-US" smtClean="0"/>
              <a:pPr/>
              <a:t>3</a:t>
            </a:fld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5800" y="3886200"/>
            <a:ext cx="7374835" cy="106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09600" y="1752600"/>
            <a:ext cx="7467600" cy="8778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" name="Picture 6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09600" y="2743200"/>
            <a:ext cx="7486374" cy="8096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sz="2800" dirty="0" smtClean="0"/>
              <a:t>Параметрични стабилизатори на напрежение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buNone/>
            </a:pPr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2902C2A-6BBE-4F76-B0A0-0825489B58CE}" type="slidenum">
              <a:rPr lang="en-US" smtClean="0"/>
              <a:pPr/>
              <a:t>4</a:t>
            </a:fld>
            <a:endParaRPr lang="en-US" dirty="0"/>
          </a:p>
        </p:txBody>
      </p:sp>
      <p:pic>
        <p:nvPicPr>
          <p:cNvPr id="6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81000" y="1524000"/>
            <a:ext cx="3124200" cy="31671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114800" y="2209800"/>
            <a:ext cx="3965821" cy="2105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971800" y="4953000"/>
            <a:ext cx="2240573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sz="2800" dirty="0" smtClean="0"/>
              <a:t>Импулсни стабилизатори на напрежение</a:t>
            </a:r>
            <a:endParaRPr lang="bg-BG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2902C2A-6BBE-4F76-B0A0-0825489B58CE}" type="slidenum">
              <a:rPr lang="en-US" smtClean="0"/>
              <a:pPr/>
              <a:t>5</a:t>
            </a:fld>
            <a:endParaRPr lang="en-US" dirty="0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38200" y="1676400"/>
            <a:ext cx="6814800" cy="2743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648200" y="4191000"/>
            <a:ext cx="1047750" cy="352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101" name="Picture 5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209800" y="4495800"/>
            <a:ext cx="4610100" cy="2181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905000" y="6324600"/>
            <a:ext cx="1047750" cy="352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sz="2800" dirty="0" smtClean="0"/>
              <a:t>Средна стойност на импулсната поредица</a:t>
            </a:r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2902C2A-6BBE-4F76-B0A0-0825489B58CE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bg-BG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90600" y="1676400"/>
            <a:ext cx="6793706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43000" y="2514600"/>
            <a:ext cx="1047750" cy="352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123" name="Picture 3" descr="Fi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524000" y="3886200"/>
            <a:ext cx="5869890" cy="2111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125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bg-BG"/>
          </a:p>
        </p:txBody>
      </p:sp>
      <p:sp>
        <p:nvSpPr>
          <p:cNvPr id="5127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bg-BG"/>
          </a:p>
        </p:txBody>
      </p:sp>
      <p:sp>
        <p:nvSpPr>
          <p:cNvPr id="5129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bg-BG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sz="2800" dirty="0" smtClean="0"/>
              <a:t>Понижаващ импулсен преобразувател на напрежение</a:t>
            </a:r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2902C2A-6BBE-4F76-B0A0-0825489B58CE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bg-BG" dirty="0"/>
          </a:p>
        </p:txBody>
      </p:sp>
      <p:pic>
        <p:nvPicPr>
          <p:cNvPr id="8193" name="Picture 1" descr="Fi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467368" y="1752600"/>
            <a:ext cx="6126849" cy="2133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195" name="Rectangle 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bg-BG"/>
          </a:p>
        </p:txBody>
      </p:sp>
      <p:graphicFrame>
        <p:nvGraphicFramePr>
          <p:cNvPr id="8194" name="Object 2"/>
          <p:cNvGraphicFramePr>
            <a:graphicFrameLocks noChangeAspect="1"/>
          </p:cNvGraphicFramePr>
          <p:nvPr/>
        </p:nvGraphicFramePr>
        <p:xfrm>
          <a:off x="3124200" y="5410200"/>
          <a:ext cx="1981200" cy="564816"/>
        </p:xfrm>
        <a:graphic>
          <a:graphicData uri="http://schemas.openxmlformats.org/presentationml/2006/ole">
            <p:oleObj spid="_x0000_s8194" name="Equation" r:id="rId4" imgW="723586" imgH="203112" progId="Equation.3">
              <p:embed/>
            </p:oleObj>
          </a:graphicData>
        </a:graphic>
      </p:graphicFrame>
      <p:graphicFrame>
        <p:nvGraphicFramePr>
          <p:cNvPr id="8196" name="Object 4"/>
          <p:cNvGraphicFramePr>
            <a:graphicFrameLocks noChangeAspect="1"/>
          </p:cNvGraphicFramePr>
          <p:nvPr/>
        </p:nvGraphicFramePr>
        <p:xfrm>
          <a:off x="1828800" y="4419600"/>
          <a:ext cx="4626599" cy="838200"/>
        </p:xfrm>
        <a:graphic>
          <a:graphicData uri="http://schemas.openxmlformats.org/presentationml/2006/ole">
            <p:oleObj spid="_x0000_s8196" name="Equation" r:id="rId5" imgW="2222500" imgH="406400" progId="Equation.3">
              <p:embed/>
            </p:oleObj>
          </a:graphicData>
        </a:graphic>
      </p:graphicFrame>
      <p:sp>
        <p:nvSpPr>
          <p:cNvPr id="11" name="Rectangle 10"/>
          <p:cNvSpPr/>
          <p:nvPr/>
        </p:nvSpPr>
        <p:spPr>
          <a:xfrm>
            <a:off x="6019800" y="5410200"/>
            <a:ext cx="13716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bg-BG" sz="2400" dirty="0" smtClean="0"/>
              <a:t>0&lt;δ&lt;1</a:t>
            </a:r>
            <a:endParaRPr lang="bg-BG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el">
  <a:themeElements>
    <a:clrScheme name="Oriel">
      <a:dk1>
        <a:sysClr val="windowText" lastClr="000000"/>
      </a:dk1>
      <a:lt1>
        <a:sysClr val="window" lastClr="FFFFFF"/>
      </a:lt1>
      <a:dk2>
        <a:srgbClr val="575F6D"/>
      </a:dk2>
      <a:lt2>
        <a:srgbClr val="FFF39D"/>
      </a:lt2>
      <a:accent1>
        <a:srgbClr val="FE8637"/>
      </a:accent1>
      <a:accent2>
        <a:srgbClr val="7598D9"/>
      </a:accent2>
      <a:accent3>
        <a:srgbClr val="B32C16"/>
      </a:accent3>
      <a:accent4>
        <a:srgbClr val="F5CD2D"/>
      </a:accent4>
      <a:accent5>
        <a:srgbClr val="AEBAD5"/>
      </a:accent5>
      <a:accent6>
        <a:srgbClr val="777C84"/>
      </a:accent6>
      <a:hlink>
        <a:srgbClr val="D2611C"/>
      </a:hlink>
      <a:folHlink>
        <a:srgbClr val="3B435B"/>
      </a:folHlink>
    </a:clrScheme>
    <a:fontScheme name="Oriel">
      <a:majorFont>
        <a:latin typeface="Century Schoolbook"/>
        <a:ea typeface=""/>
        <a:cs typeface=""/>
        <a:font script="Jpan" typeface="ＭＳ Ｐ明朝"/>
        <a:font script="Hang" typeface="휴먼매직체"/>
        <a:font script="Hans" typeface="华文楷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Schoolbook"/>
        <a:ea typeface=""/>
        <a:cs typeface=""/>
        <a:font script="Jpan" typeface="ＭＳ Ｐ明朝"/>
        <a:font script="Hang" typeface="휴먼매직체"/>
        <a:font script="Hans" typeface="宋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iel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60000"/>
              </a:schemeClr>
            </a:gs>
            <a:gs pos="30000">
              <a:schemeClr val="phClr">
                <a:tint val="38000"/>
                <a:satMod val="260000"/>
              </a:schemeClr>
            </a:gs>
            <a:gs pos="75000">
              <a:schemeClr val="phClr">
                <a:tint val="55000"/>
                <a:satMod val="255000"/>
              </a:schemeClr>
            </a:gs>
            <a:gs pos="100000">
              <a:schemeClr val="phClr">
                <a:tint val="70000"/>
                <a:satMod val="255000"/>
              </a:schemeClr>
            </a:gs>
          </a:gsLst>
          <a:path path="circle">
            <a:fillToRect l="5000" t="100000" r="120000" b="10000"/>
          </a:path>
        </a:gradFill>
        <a:gradFill rotWithShape="1">
          <a:gsLst>
            <a:gs pos="0">
              <a:schemeClr val="phClr">
                <a:shade val="63000"/>
                <a:satMod val="165000"/>
              </a:schemeClr>
            </a:gs>
            <a:gs pos="30000">
              <a:schemeClr val="phClr">
                <a:shade val="58000"/>
                <a:satMod val="165000"/>
              </a:schemeClr>
            </a:gs>
            <a:gs pos="75000">
              <a:schemeClr val="phClr">
                <a:shade val="30000"/>
                <a:satMod val="175000"/>
              </a:schemeClr>
            </a:gs>
            <a:gs pos="100000">
              <a:schemeClr val="phClr">
                <a:shade val="15000"/>
                <a:satMod val="175000"/>
              </a:schemeClr>
            </a:gs>
          </a:gsLst>
          <a:path path="circle">
            <a:fillToRect l="5000" t="100000" r="120000" b="10000"/>
          </a:path>
        </a:gradFill>
      </a:fillStyleLst>
      <a:lnStyleLst>
        <a:ln w="12700" cap="flat" cmpd="sng" algn="ctr">
          <a:solidFill>
            <a:schemeClr val="phClr">
              <a:shade val="70000"/>
              <a:satMod val="15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492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0"/>
            </a:lightRig>
          </a:scene3d>
          <a:sp3d>
            <a:bevelT w="47625" h="69850"/>
            <a:contourClr>
              <a:schemeClr val="lt1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8000"/>
                <a:satMod val="125000"/>
              </a:schemeClr>
            </a:gs>
            <a:gs pos="40000">
              <a:schemeClr val="phClr">
                <a:tint val="90000"/>
                <a:shade val="90000"/>
                <a:satMod val="120000"/>
              </a:schemeClr>
            </a:gs>
            <a:gs pos="100000">
              <a:schemeClr val="phClr">
                <a:tint val="5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80000"/>
              </a:schemeClr>
              <a:schemeClr val="phClr">
                <a:tint val="91000"/>
              </a:schemeClr>
            </a:duotone>
          </a:blip>
          <a:tile tx="0" ty="0" sx="40000" sy="50000" flip="y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Oriel</Template>
  <TotalTime>10430</TotalTime>
  <Words>55</Words>
  <Application>Microsoft Office PowerPoint</Application>
  <PresentationFormat>On-screen Show (4:3)</PresentationFormat>
  <Paragraphs>22</Paragraphs>
  <Slides>7</Slides>
  <Notes>0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9" baseType="lpstr">
      <vt:lpstr>Oriel</vt:lpstr>
      <vt:lpstr>Equation</vt:lpstr>
      <vt:lpstr>   Стабилизатори на напрежение. Импулсни захранващи устройства.    </vt:lpstr>
      <vt:lpstr>Стабилизатори на напрежение</vt:lpstr>
      <vt:lpstr>Класификация на стабилизаторите на напрежение</vt:lpstr>
      <vt:lpstr>Параметрични стабилизатори на напрежение</vt:lpstr>
      <vt:lpstr>Импулсни стабилизатори на напрежение</vt:lpstr>
      <vt:lpstr>Средна стойност на импулсната поредица</vt:lpstr>
      <vt:lpstr>Понижаващ импулсен преобразувател на напрежение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Tema 4: Пасивни електронни елементи и компоненти</dc:title>
  <dc:creator>Georgi</dc:creator>
  <cp:lastModifiedBy>Teacher</cp:lastModifiedBy>
  <cp:revision>288</cp:revision>
  <dcterms:created xsi:type="dcterms:W3CDTF">2006-08-16T00:00:00Z</dcterms:created>
  <dcterms:modified xsi:type="dcterms:W3CDTF">2016-11-27T15:30:00Z</dcterms:modified>
</cp:coreProperties>
</file>
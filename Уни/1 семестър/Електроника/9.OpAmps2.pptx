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407" r:id="rId3"/>
    <p:sldId id="408" r:id="rId4"/>
    <p:sldId id="399" r:id="rId5"/>
    <p:sldId id="405" r:id="rId6"/>
    <p:sldId id="396" r:id="rId7"/>
    <p:sldId id="39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0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12.12.2016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12/12/2016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6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4953000"/>
            <a:ext cx="6400800" cy="7620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ru-MO" sz="2700" dirty="0" smtClean="0"/>
              <a:t>Операционни усилватели (ОУ). </a:t>
            </a:r>
            <a:r>
              <a:rPr lang="ru-MO" sz="2400" dirty="0" smtClean="0"/>
              <a:t>Основни схеми на приложение. Суматор, диференциране и интегриране с ОУ.</a:t>
            </a:r>
            <a:r>
              <a:rPr lang="bg-BG" sz="2400" dirty="0" smtClean="0"/>
              <a:t/>
            </a:r>
            <a:br>
              <a:rPr lang="bg-BG" sz="2400" dirty="0" smtClean="0"/>
            </a:br>
            <a:r>
              <a:rPr lang="bg-BG" sz="2400" dirty="0" smtClean="0"/>
              <a:t/>
            </a:r>
            <a:br>
              <a:rPr lang="bg-BG" sz="2400" dirty="0" smtClean="0"/>
            </a:br>
            <a:r>
              <a:rPr lang="bg-BG" sz="2000" dirty="0" smtClean="0"/>
              <a:t/>
            </a:r>
            <a:br>
              <a:rPr lang="bg-BG" sz="2000" dirty="0" smtClean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“Компютърна електроника” </a:t>
            </a:r>
            <a:endParaRPr lang="bg-BG" i="1" dirty="0"/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2016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609600" y="3711714"/>
            <a:ext cx="114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IX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ОУ. </a:t>
            </a:r>
            <a:r>
              <a:rPr lang="bg-BG" sz="2800" dirty="0" err="1" smtClean="0"/>
              <a:t>Инвертиращ</a:t>
            </a:r>
            <a:r>
              <a:rPr lang="bg-BG" sz="2800" dirty="0" smtClean="0"/>
              <a:t> усилвател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 smtClean="0"/>
          </a:p>
          <a:p>
            <a:endParaRPr lang="bg-BG" dirty="0" smtClean="0"/>
          </a:p>
          <a:p>
            <a:endParaRPr lang="bg-BG" dirty="0" smtClean="0"/>
          </a:p>
          <a:p>
            <a:endParaRPr lang="bg-BG" dirty="0" smtClean="0"/>
          </a:p>
          <a:p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sz="500" dirty="0" smtClean="0"/>
          </a:p>
          <a:p>
            <a:pPr algn="ctr">
              <a:buNone/>
            </a:pPr>
            <a:r>
              <a:rPr lang="bg-BG" sz="1600" dirty="0" err="1" smtClean="0"/>
              <a:t>Инвертиращ</a:t>
            </a:r>
            <a:r>
              <a:rPr lang="bg-BG" sz="1600" dirty="0" smtClean="0"/>
              <a:t> </a:t>
            </a:r>
            <a:r>
              <a:rPr lang="bg-BG" sz="1600" dirty="0" smtClean="0"/>
              <a:t>усилвател (а); предавателна характеристика (б)</a:t>
            </a:r>
          </a:p>
          <a:p>
            <a:pPr>
              <a:buNone/>
            </a:pPr>
            <a:r>
              <a:rPr lang="bg-BG" sz="1800" dirty="0" smtClean="0"/>
              <a:t>       КОЕФИЦИЕНТ НА УСИЛВАНЕ  А’:</a:t>
            </a:r>
            <a:endParaRPr lang="bg-BG" sz="1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733800"/>
            <a:ext cx="123825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15" name="Picture 1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1524000"/>
            <a:ext cx="5562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323" name="Object 11"/>
          <p:cNvGraphicFramePr>
            <a:graphicFrameLocks noChangeAspect="1"/>
          </p:cNvGraphicFramePr>
          <p:nvPr/>
        </p:nvGraphicFramePr>
        <p:xfrm>
          <a:off x="1335266" y="5334000"/>
          <a:ext cx="820559" cy="708025"/>
        </p:xfrm>
        <a:graphic>
          <a:graphicData uri="http://schemas.openxmlformats.org/presentationml/2006/ole">
            <p:oleObj spid="_x0000_s13323" name="Equation" r:id="rId5" imgW="596900" imgH="431800" progId="Equation.3">
              <p:embed/>
            </p:oleObj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2590800" y="5410200"/>
          <a:ext cx="1502833" cy="609600"/>
        </p:xfrm>
        <a:graphic>
          <a:graphicData uri="http://schemas.openxmlformats.org/presentationml/2006/ole">
            <p:oleObj spid="_x0000_s13322" name="Equation" r:id="rId6" imgW="1066800" imgH="431800" progId="Equation.3">
              <p:embed/>
            </p:oleObj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4495799" y="5334000"/>
          <a:ext cx="1354309" cy="669925"/>
        </p:xfrm>
        <a:graphic>
          <a:graphicData uri="http://schemas.openxmlformats.org/presentationml/2006/ole">
            <p:oleObj spid="_x0000_s13321" name="Equation" r:id="rId7" imgW="888614" imgH="444307" progId="Equation.3">
              <p:embed/>
            </p:oleObj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6019800" y="5283630"/>
          <a:ext cx="2057400" cy="644096"/>
        </p:xfrm>
        <a:graphic>
          <a:graphicData uri="http://schemas.openxmlformats.org/presentationml/2006/ole">
            <p:oleObj spid="_x0000_s13320" name="Equation" r:id="rId8" imgW="1409088" imgH="444307" progId="Equation.3">
              <p:embed/>
            </p:oleObj>
          </a:graphicData>
        </a:graphic>
      </p:graphicFrame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0" y="479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    </a:t>
            </a:r>
            <a:endParaRPr kumimoji="0" lang="en-A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0" y="936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   </a:t>
            </a:r>
            <a:endParaRPr kumimoji="0" lang="en-A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0" y="1377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 </a:t>
            </a:r>
            <a:endParaRPr kumimoji="0" lang="en-A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 smtClean="0"/>
              <a:t>ОУ. </a:t>
            </a:r>
            <a:r>
              <a:rPr lang="bg-BG" sz="3200" dirty="0" err="1" smtClean="0"/>
              <a:t>Неинвертиращ</a:t>
            </a:r>
            <a:r>
              <a:rPr lang="bg-BG" sz="3200" dirty="0" smtClean="0"/>
              <a:t> </a:t>
            </a:r>
            <a:r>
              <a:rPr lang="bg-BG" sz="3200" dirty="0" smtClean="0"/>
              <a:t>усилвател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 cstate="print"/>
          <a:srcRect l="2693" t="2313" r="-55"/>
          <a:stretch>
            <a:fillRect/>
          </a:stretch>
        </p:blipFill>
        <p:spPr bwMode="auto">
          <a:xfrm>
            <a:off x="1447800" y="1600200"/>
            <a:ext cx="51054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048000" y="4800600"/>
          <a:ext cx="2929402" cy="739775"/>
        </p:xfrm>
        <a:graphic>
          <a:graphicData uri="http://schemas.openxmlformats.org/presentationml/2006/ole">
            <p:oleObj spid="_x0000_s12291" name="Equation" r:id="rId4" imgW="1727200" imgH="431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ОУ. </a:t>
            </a:r>
            <a:r>
              <a:rPr lang="bg-BG" sz="2800" dirty="0" err="1" smtClean="0"/>
              <a:t>Повторител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 algn="ctr">
              <a:buNone/>
            </a:pPr>
            <a:r>
              <a:rPr lang="en-US" dirty="0" err="1" smtClean="0"/>
              <a:t>U</a:t>
            </a:r>
            <a:r>
              <a:rPr lang="en-US" sz="2000" dirty="0" err="1" smtClean="0"/>
              <a:t>out</a:t>
            </a:r>
            <a:r>
              <a:rPr lang="en-US" dirty="0" smtClean="0"/>
              <a:t>=</a:t>
            </a:r>
            <a:r>
              <a:rPr lang="en-US" dirty="0" err="1" smtClean="0"/>
              <a:t>U</a:t>
            </a:r>
            <a:r>
              <a:rPr lang="en-US" sz="2000" dirty="0" err="1" smtClean="0"/>
              <a:t>in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14" name="Picture 1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286000"/>
            <a:ext cx="37338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ОУ. </a:t>
            </a:r>
            <a:r>
              <a:rPr lang="bg-BG" sz="2800" dirty="0" smtClean="0"/>
              <a:t>Сумиращ усилвател, </a:t>
            </a:r>
            <a:r>
              <a:rPr lang="bg-BG" sz="2800" dirty="0" err="1" smtClean="0"/>
              <a:t>инвертиращ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 algn="ctr">
              <a:buNone/>
            </a:pPr>
            <a:endParaRPr lang="bg-BG" sz="2000" dirty="0" smtClean="0"/>
          </a:p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6324600"/>
            <a:ext cx="10477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0241" name="Object 1"/>
          <p:cNvGraphicFramePr>
            <a:graphicFrameLocks noChangeAspect="1"/>
          </p:cNvGraphicFramePr>
          <p:nvPr/>
        </p:nvGraphicFramePr>
        <p:xfrm>
          <a:off x="1981200" y="1981200"/>
          <a:ext cx="3962400" cy="2325810"/>
        </p:xfrm>
        <a:graphic>
          <a:graphicData uri="http://schemas.openxmlformats.org/presentationml/2006/ole">
            <p:oleObj spid="_x0000_s10241" name="Visio" r:id="rId4" imgW="4345229" imgH="1563929" progId="Visio.Drawing.11">
              <p:embed/>
            </p:oleObj>
          </a:graphicData>
        </a:graphic>
      </p:graphicFrame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81200" y="4800600"/>
            <a:ext cx="3200400" cy="101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ОУ. </a:t>
            </a:r>
            <a:r>
              <a:rPr lang="bg-BG" sz="2800" dirty="0" err="1" smtClean="0"/>
              <a:t>Интегратор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13" name="Picture 1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828800"/>
            <a:ext cx="558546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800600"/>
            <a:ext cx="2209800" cy="922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ОУ. </a:t>
            </a:r>
            <a:r>
              <a:rPr lang="bg-BG" sz="2800" dirty="0" err="1" smtClean="0"/>
              <a:t>Диференциатор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bg-BG" dirty="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1752600" y="1905000"/>
          <a:ext cx="4066233" cy="2875028"/>
        </p:xfrm>
        <a:graphic>
          <a:graphicData uri="http://schemas.openxmlformats.org/presentationml/2006/ole">
            <p:oleObj spid="_x0000_s8197" name="Visio" r:id="rId3" imgW="1976628" imgH="1398727" progId="Visio.Drawing.11">
              <p:embed/>
            </p:oleObj>
          </a:graphicData>
        </a:graphic>
      </p:graphicFrame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2971800" y="5029200"/>
          <a:ext cx="1676400" cy="729310"/>
        </p:xfrm>
        <a:graphic>
          <a:graphicData uri="http://schemas.openxmlformats.org/presentationml/2006/ole">
            <p:oleObj spid="_x0000_s8199" name="Equation" r:id="rId4" imgW="105410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10480</TotalTime>
  <Words>71</Words>
  <Application>Microsoft Office PowerPoint</Application>
  <PresentationFormat>On-screen Show 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Oriel</vt:lpstr>
      <vt:lpstr>Microsoft Equation 3.0</vt:lpstr>
      <vt:lpstr>Microsoft Office Visio Drawing</vt:lpstr>
      <vt:lpstr>   Операционни усилватели (ОУ). Основни схеми на приложение. Суматор, диференциране и интегриране с ОУ.     </vt:lpstr>
      <vt:lpstr>ОУ. Инвертиращ усилвател</vt:lpstr>
      <vt:lpstr>ОУ. Неинвертиращ усилвател</vt:lpstr>
      <vt:lpstr>ОУ. Повторител</vt:lpstr>
      <vt:lpstr>ОУ. Сумиращ усилвател, инвертиращ</vt:lpstr>
      <vt:lpstr>ОУ. Интегратор</vt:lpstr>
      <vt:lpstr>ОУ. Диференциатор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Georgi</dc:creator>
  <cp:lastModifiedBy>Teacher</cp:lastModifiedBy>
  <cp:revision>297</cp:revision>
  <dcterms:created xsi:type="dcterms:W3CDTF">2006-08-16T00:00:00Z</dcterms:created>
  <dcterms:modified xsi:type="dcterms:W3CDTF">2016-12-12T15:28:47Z</dcterms:modified>
</cp:coreProperties>
</file>
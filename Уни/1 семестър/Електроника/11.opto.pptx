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68" r:id="rId3"/>
    <p:sldId id="322" r:id="rId4"/>
    <p:sldId id="323" r:id="rId5"/>
    <p:sldId id="324" r:id="rId6"/>
    <p:sldId id="325" r:id="rId7"/>
    <p:sldId id="351" r:id="rId8"/>
    <p:sldId id="352" r:id="rId9"/>
    <p:sldId id="353" r:id="rId10"/>
    <p:sldId id="350" r:id="rId11"/>
    <p:sldId id="345" r:id="rId12"/>
    <p:sldId id="326" r:id="rId13"/>
    <p:sldId id="337" r:id="rId14"/>
    <p:sldId id="327" r:id="rId15"/>
    <p:sldId id="328" r:id="rId16"/>
    <p:sldId id="329" r:id="rId17"/>
    <p:sldId id="346" r:id="rId18"/>
    <p:sldId id="340" r:id="rId19"/>
    <p:sldId id="33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9" d="100"/>
          <a:sy n="89" d="100"/>
        </p:scale>
        <p:origin x="22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28.11.2023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743200"/>
            <a:ext cx="6172200" cy="1143000"/>
          </a:xfrm>
        </p:spPr>
        <p:txBody>
          <a:bodyPr>
            <a:normAutofit/>
          </a:bodyPr>
          <a:lstStyle/>
          <a:p>
            <a:pPr algn="ctr"/>
            <a:r>
              <a:rPr lang="bg-BG" dirty="0" err="1"/>
              <a:t>Оптоелектронни</a:t>
            </a:r>
            <a:r>
              <a:rPr lang="bg-BG" dirty="0"/>
              <a:t> елементи – видове и класификация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5736" y="5013176"/>
            <a:ext cx="6172200" cy="1371600"/>
          </a:xfrm>
        </p:spPr>
        <p:txBody>
          <a:bodyPr/>
          <a:lstStyle/>
          <a:p>
            <a:r>
              <a:rPr lang="en-US" dirty="0"/>
              <a:t>Prof. V.</a:t>
            </a:r>
            <a:r>
              <a:rPr lang="bg-BG" dirty="0"/>
              <a:t> </a:t>
            </a:r>
            <a:r>
              <a:rPr lang="en-US" dirty="0"/>
              <a:t>Valchev</a:t>
            </a:r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/>
              <a:t>Дисциплина : </a:t>
            </a:r>
          </a:p>
          <a:p>
            <a:pPr algn="ctr"/>
            <a:r>
              <a:rPr lang="bg-BG" i="1" dirty="0"/>
              <a:t>“Компютърна електроника”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/>
              <a:t>Технически Университет Варна</a:t>
            </a:r>
          </a:p>
          <a:p>
            <a:pPr algn="ctr"/>
            <a:endParaRPr lang="bg-BG" sz="1050" b="1" dirty="0"/>
          </a:p>
          <a:p>
            <a:pPr algn="ctr"/>
            <a:r>
              <a:rPr lang="bg-BG" dirty="0"/>
              <a:t>Катедра „Електронна техника и микроелектроника“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/>
              <a:t>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11714"/>
            <a:ext cx="137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X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41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/>
              <a:t>Обща информация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bg-BG" dirty="0" err="1"/>
              <a:t>Оптоелектроника</a:t>
            </a:r>
            <a:r>
              <a:rPr lang="bg-BG" dirty="0"/>
              <a:t> – приложение на електрониката в устройства реагиращи и работещи със светлина</a:t>
            </a:r>
          </a:p>
        </p:txBody>
      </p:sp>
      <p:pic>
        <p:nvPicPr>
          <p:cNvPr id="10" name="Picture 2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1569744" cy="1519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Oval 24"/>
          <p:cNvSpPr>
            <a:spLocks noChangeArrowheads="1"/>
          </p:cNvSpPr>
          <p:nvPr/>
        </p:nvSpPr>
        <p:spPr bwMode="auto">
          <a:xfrm>
            <a:off x="2100984" y="3102733"/>
            <a:ext cx="2954813" cy="2804355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26"/>
          <p:cNvSpPr>
            <a:spLocks noChangeArrowheads="1"/>
          </p:cNvSpPr>
          <p:nvPr/>
        </p:nvSpPr>
        <p:spPr bwMode="auto">
          <a:xfrm>
            <a:off x="4686446" y="3030826"/>
            <a:ext cx="2954813" cy="2804355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111" y="2887013"/>
            <a:ext cx="2299214" cy="98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AutoShape 30"/>
          <p:cNvSpPr>
            <a:spLocks/>
          </p:cNvSpPr>
          <p:nvPr/>
        </p:nvSpPr>
        <p:spPr bwMode="auto">
          <a:xfrm rot="16200000">
            <a:off x="4800600" y="5357813"/>
            <a:ext cx="142875" cy="665163"/>
          </a:xfrm>
          <a:prstGeom prst="leftBrace">
            <a:avLst>
              <a:gd name="adj1" fmla="val 38796"/>
              <a:gd name="adj2" fmla="val 50000"/>
            </a:avLst>
          </a:prstGeom>
          <a:noFill/>
          <a:ln w="38100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32"/>
          <p:cNvSpPr txBox="1">
            <a:spLocks noChangeArrowheads="1"/>
          </p:cNvSpPr>
          <p:nvPr/>
        </p:nvSpPr>
        <p:spPr bwMode="auto">
          <a:xfrm>
            <a:off x="3578390" y="5834063"/>
            <a:ext cx="28658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bg-BG" sz="2000" b="1" dirty="0" err="1">
                <a:solidFill>
                  <a:srgbClr val="9900FF"/>
                </a:solidFill>
              </a:rPr>
              <a:t>Оптоелектроника</a:t>
            </a:r>
            <a:endParaRPr lang="en-US" sz="2000" b="1" dirty="0">
              <a:solidFill>
                <a:srgbClr val="9900FF"/>
              </a:solidFill>
            </a:endParaRPr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2164082" y="4034522"/>
            <a:ext cx="2960969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bg-BG" sz="2000" b="1" dirty="0"/>
              <a:t>Електроника</a:t>
            </a:r>
          </a:p>
          <a:p>
            <a:pPr algn="ctr">
              <a:spcBef>
                <a:spcPct val="50000"/>
              </a:spcBef>
            </a:pPr>
            <a:r>
              <a:rPr lang="bg-BG" sz="2000" b="1" dirty="0"/>
              <a:t>(електрони)</a:t>
            </a:r>
            <a:endParaRPr lang="en-US" sz="2000" b="1" dirty="0"/>
          </a:p>
        </p:txBody>
      </p:sp>
      <p:sp>
        <p:nvSpPr>
          <p:cNvPr id="17" name="Text Box 29"/>
          <p:cNvSpPr txBox="1">
            <a:spLocks noChangeArrowheads="1"/>
          </p:cNvSpPr>
          <p:nvPr/>
        </p:nvSpPr>
        <p:spPr bwMode="auto">
          <a:xfrm>
            <a:off x="4869582" y="3956623"/>
            <a:ext cx="2960969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bg-BG" sz="2000" b="1" dirty="0"/>
              <a:t>Оптика</a:t>
            </a:r>
          </a:p>
          <a:p>
            <a:pPr algn="ctr">
              <a:spcBef>
                <a:spcPct val="50000"/>
              </a:spcBef>
            </a:pPr>
            <a:r>
              <a:rPr lang="bg-BG" sz="2000" b="1" dirty="0"/>
              <a:t>(светлина / фотони)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7819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77838" y="1589881"/>
            <a:ext cx="7573963" cy="5038725"/>
            <a:chOff x="528" y="1008"/>
            <a:chExt cx="4998" cy="3174"/>
          </a:xfrm>
        </p:grpSpPr>
        <p:pic>
          <p:nvPicPr>
            <p:cNvPr id="6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008"/>
              <a:ext cx="1328" cy="1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1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1056"/>
              <a:ext cx="1086" cy="1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1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056"/>
              <a:ext cx="1171" cy="1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496"/>
              <a:ext cx="1147" cy="15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2496"/>
              <a:ext cx="1446" cy="1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2496"/>
              <a:ext cx="1494" cy="1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540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</a:t>
            </a:r>
            <a:r>
              <a:rPr lang="bg-BG" dirty="0" err="1"/>
              <a:t>оптоелектронни</a:t>
            </a:r>
            <a:r>
              <a:rPr lang="bg-BG" dirty="0"/>
              <a:t> елементи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err="1"/>
              <a:t>Светодиоди</a:t>
            </a:r>
            <a:r>
              <a:rPr lang="bg-BG" dirty="0"/>
              <a:t> </a:t>
            </a:r>
            <a:r>
              <a:rPr lang="en-US" dirty="0"/>
              <a:t>Light-emitting diodes (LEDs)</a:t>
            </a:r>
            <a:r>
              <a:rPr lang="bg-BG" dirty="0"/>
              <a:t> </a:t>
            </a:r>
            <a:r>
              <a:rPr lang="en-US" dirty="0"/>
              <a:t> </a:t>
            </a:r>
            <a:endParaRPr lang="bg-BG" dirty="0"/>
          </a:p>
          <a:p>
            <a:pPr lvl="1"/>
            <a:r>
              <a:rPr lang="en-US" dirty="0"/>
              <a:t> (</a:t>
            </a:r>
            <a:r>
              <a:rPr lang="bg-BG" dirty="0"/>
              <a:t>индикация, осветление, предаване на данни</a:t>
            </a:r>
            <a:r>
              <a:rPr lang="en-US" dirty="0"/>
              <a:t>,···)</a:t>
            </a:r>
          </a:p>
          <a:p>
            <a:r>
              <a:rPr lang="bg-BG" dirty="0"/>
              <a:t>Лазерни диоди	</a:t>
            </a:r>
          </a:p>
          <a:p>
            <a:pPr lvl="1"/>
            <a:r>
              <a:rPr lang="en-US" dirty="0"/>
              <a:t>(</a:t>
            </a:r>
            <a:r>
              <a:rPr lang="bg-BG" dirty="0"/>
              <a:t>съхраняване на данни, предаване на данни</a:t>
            </a:r>
            <a:r>
              <a:rPr lang="en-US" dirty="0"/>
              <a:t>)</a:t>
            </a:r>
          </a:p>
          <a:p>
            <a:r>
              <a:rPr lang="bg-BG" dirty="0" err="1"/>
              <a:t>Фотодиоди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bg-BG" dirty="0"/>
              <a:t>датчици, </a:t>
            </a:r>
            <a:r>
              <a:rPr lang="bg-BG" dirty="0" err="1"/>
              <a:t>приемници</a:t>
            </a:r>
            <a:r>
              <a:rPr lang="bg-BG" dirty="0"/>
              <a:t> за оптично предадени данни</a:t>
            </a:r>
            <a:r>
              <a:rPr lang="en-US" dirty="0"/>
              <a:t> )</a:t>
            </a:r>
          </a:p>
          <a:p>
            <a:r>
              <a:rPr lang="bg-BG" dirty="0"/>
              <a:t>Слънчеви панели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bg-BG" dirty="0"/>
              <a:t>преобразуване на енергията от слънчевата радиация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3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Светодиод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3" descr="180px-Ledmr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524000"/>
            <a:ext cx="2286000" cy="3556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409848"/>
            <a:ext cx="6019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bg-BG" sz="2400" b="1" dirty="0" err="1">
                <a:solidFill>
                  <a:srgbClr val="9900FF"/>
                </a:solidFill>
              </a:rPr>
              <a:t>Светодиода</a:t>
            </a:r>
            <a:r>
              <a:rPr lang="bg-BG" sz="2400" b="1" dirty="0">
                <a:solidFill>
                  <a:srgbClr val="9900FF"/>
                </a:solidFill>
              </a:rPr>
              <a:t> </a:t>
            </a:r>
            <a:r>
              <a:rPr lang="bg-BG" sz="2800" dirty="0"/>
              <a:t>е полупроводников диод, който излъчва </a:t>
            </a:r>
            <a:r>
              <a:rPr lang="bg-BG" sz="2800" dirty="0" err="1"/>
              <a:t>некоферентна</a:t>
            </a:r>
            <a:r>
              <a:rPr lang="bg-BG" sz="2800" dirty="0"/>
              <a:t> светлина, с тесен спектър, когато се свърже в права посока </a:t>
            </a:r>
            <a:r>
              <a:rPr lang="en-US" sz="2800" dirty="0"/>
              <a:t>PN </a:t>
            </a:r>
            <a:r>
              <a:rPr lang="bg-BG" sz="2800" dirty="0"/>
              <a:t>преходът му.</a:t>
            </a:r>
            <a:endParaRPr lang="en-US" dirty="0">
              <a:latin typeface="Verdana" pitchFamily="34" charset="0"/>
            </a:endParaRPr>
          </a:p>
        </p:txBody>
      </p:sp>
      <p:pic>
        <p:nvPicPr>
          <p:cNvPr id="7" name="Picture 6" descr="300px-RBG-L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524000"/>
            <a:ext cx="3886200" cy="26114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35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Зависимост на цвета на излъчваната светлина от полупроводниковия материал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69374093"/>
              </p:ext>
            </p:extLst>
          </p:nvPr>
        </p:nvGraphicFramePr>
        <p:xfrm>
          <a:off x="457200" y="1600200"/>
          <a:ext cx="8153400" cy="4842511"/>
        </p:xfrm>
        <a:graphic>
          <a:graphicData uri="http://schemas.openxmlformats.org/drawingml/2006/table">
            <a:tbl>
              <a:tblPr/>
              <a:tblGrid>
                <a:gridCol w="148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882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Нормална яркост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GaAs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GaAIAs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--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</a:rPr>
                        <a:t>Зелен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Син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ИнфраЧервен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ИнфраЧервен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--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Супер ярки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GaAIAs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GaAsP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InGaN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66"/>
                          </a:solidFill>
                          <a:effectLst/>
                          <a:latin typeface="Arial" charset="0"/>
                        </a:rPr>
                        <a:t>Жълт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Син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FF33"/>
                          </a:solidFill>
                          <a:effectLst/>
                          <a:latin typeface="Arial" charset="0"/>
                        </a:rPr>
                        <a:t>Зелен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FF33"/>
                          </a:solidFill>
                          <a:effectLst/>
                          <a:latin typeface="Arial" charset="0"/>
                        </a:rPr>
                        <a:t>Зелен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Ултра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ярки 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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GaAIAs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InGaAIP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InGaN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--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Червен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charset="0"/>
                        </a:rPr>
                        <a:t>Жълт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Оранжев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Син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</a:rPr>
                        <a:t>Зелен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--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3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bg-BG" dirty="0"/>
              <a:t>Бели </a:t>
            </a:r>
            <a:r>
              <a:rPr lang="bg-BG" dirty="0" err="1"/>
              <a:t>светодиоди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7467600" cy="5637240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Принцип на работа</a:t>
            </a:r>
          </a:p>
          <a:p>
            <a:r>
              <a:rPr lang="fr-FR" dirty="0"/>
              <a:t> </a:t>
            </a:r>
            <a:endParaRPr lang="bg-BG" dirty="0"/>
          </a:p>
          <a:p>
            <a:endParaRPr lang="bg-BG" u="sng" dirty="0"/>
          </a:p>
          <a:p>
            <a:endParaRPr lang="bg-BG" u="sng" dirty="0"/>
          </a:p>
          <a:p>
            <a:r>
              <a:rPr lang="fr-FR" u="sng" dirty="0"/>
              <a:t>1st technique</a:t>
            </a:r>
            <a:r>
              <a:rPr lang="fr-FR" dirty="0"/>
              <a:t>: Found in 1993, when the first blue LED was produced.</a:t>
            </a:r>
            <a:r>
              <a:rPr lang="bg-BG" dirty="0"/>
              <a:t> </a:t>
            </a:r>
          </a:p>
          <a:p>
            <a:pPr lvl="1"/>
            <a:r>
              <a:rPr lang="fr-FR" dirty="0"/>
              <a:t>By </a:t>
            </a:r>
            <a:r>
              <a:rPr lang="fr-FR" dirty="0" err="1"/>
              <a:t>juxtaposing</a:t>
            </a:r>
            <a:r>
              <a:rPr lang="fr-FR" dirty="0"/>
              <a:t> </a:t>
            </a:r>
            <a:r>
              <a:rPr lang="fr-FR" dirty="0" err="1"/>
              <a:t>at</a:t>
            </a:r>
            <a:r>
              <a:rPr lang="fr-FR" dirty="0"/>
              <a:t> a certain distance </a:t>
            </a:r>
            <a:r>
              <a:rPr lang="fr-FR" dirty="0" err="1"/>
              <a:t>blue</a:t>
            </a:r>
            <a:r>
              <a:rPr lang="fr-FR" dirty="0"/>
              <a:t>, </a:t>
            </a:r>
            <a:r>
              <a:rPr lang="fr-FR" dirty="0" err="1"/>
              <a:t>red</a:t>
            </a:r>
            <a:r>
              <a:rPr lang="fr-FR" dirty="0"/>
              <a:t>, and green </a:t>
            </a:r>
            <a:r>
              <a:rPr lang="fr-FR" dirty="0" err="1"/>
              <a:t>LEDs</a:t>
            </a:r>
            <a:r>
              <a:rPr lang="fr-FR" dirty="0"/>
              <a:t>, white light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obtained</a:t>
            </a:r>
            <a:r>
              <a:rPr lang="fr-FR" dirty="0"/>
              <a:t>.</a:t>
            </a:r>
            <a:r>
              <a:rPr lang="bg-BG" dirty="0"/>
              <a:t> </a:t>
            </a:r>
            <a:r>
              <a:rPr lang="fr-FR" dirty="0"/>
              <a:t>Most simple </a:t>
            </a:r>
            <a:r>
              <a:rPr lang="fr-FR" dirty="0" err="1"/>
              <a:t>method</a:t>
            </a:r>
            <a:r>
              <a:rPr lang="fr-FR" dirty="0"/>
              <a:t> but not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nowadays</a:t>
            </a:r>
            <a:endParaRPr lang="bg-BG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de-DE" dirty="0"/>
              <a:t> </a:t>
            </a:r>
            <a:r>
              <a:rPr lang="de-DE" u="sng" dirty="0"/>
              <a:t>2nd technique</a:t>
            </a:r>
            <a:r>
              <a:rPr lang="de-DE" dirty="0"/>
              <a:t>: found in 1996 by Nichia Corp. and Fraunhofer Institut</a:t>
            </a:r>
            <a:r>
              <a:rPr lang="de-DE" u="sng" dirty="0"/>
              <a:t> </a:t>
            </a:r>
          </a:p>
          <a:p>
            <a:pPr lvl="1"/>
            <a:r>
              <a:rPr lang="de-DE" dirty="0"/>
              <a:t> Start with LED with an active layer made of InGaN</a:t>
            </a:r>
            <a:r>
              <a:rPr lang="bg-BG" dirty="0"/>
              <a:t>. </a:t>
            </a:r>
            <a:r>
              <a:rPr lang="de-DE" dirty="0"/>
              <a:t> Cover this structure with a yellow phosphor crystal coating   (Ce3+:YAG).</a:t>
            </a:r>
            <a:r>
              <a:rPr lang="bg-BG" dirty="0"/>
              <a:t> </a:t>
            </a:r>
            <a:r>
              <a:rPr lang="de-DE" dirty="0"/>
              <a:t> The LED chip emits blue light, which is converted to yellow light by the   phosphor.</a:t>
            </a:r>
          </a:p>
          <a:p>
            <a:pPr marL="0" indent="0">
              <a:spcBef>
                <a:spcPct val="5000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30" descr="ledintrofigure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0"/>
            <a:ext cx="3240087" cy="253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7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Температура на цвета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14" descr="PlanckianLoc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34734"/>
            <a:ext cx="4896544" cy="550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3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18" descr="nanol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"/>
          <a:stretch>
            <a:fillRect/>
          </a:stretch>
        </p:blipFill>
        <p:spPr bwMode="auto">
          <a:xfrm>
            <a:off x="179512" y="1023237"/>
            <a:ext cx="7704856" cy="571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61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739790"/>
            <a:ext cx="8447856" cy="3899010"/>
          </a:xfrm>
          <a:prstGeom prst="rect">
            <a:avLst/>
          </a:prstGeom>
          <a:noFill/>
          <a:ln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Principle of LED</a:t>
            </a:r>
          </a:p>
        </p:txBody>
      </p:sp>
    </p:spTree>
    <p:extLst>
      <p:ext uri="{BB962C8B-B14F-4D97-AF65-F5344CB8AC3E}">
        <p14:creationId xmlns:p14="http://schemas.microsoft.com/office/powerpoint/2010/main" val="1240348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D:\GTN\Dropbox\TU\MKE\10.Opto\7_Segment_LE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550715"/>
            <a:ext cx="2001083" cy="163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Светодиодни</a:t>
            </a:r>
            <a:r>
              <a:rPr lang="bg-BG" dirty="0"/>
              <a:t> индикатори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dirty="0"/>
              <a:t>Седем сегментни</a:t>
            </a:r>
          </a:p>
          <a:p>
            <a:endParaRPr lang="bg-BG" dirty="0"/>
          </a:p>
          <a:p>
            <a:r>
              <a:rPr lang="bg-BG" dirty="0"/>
              <a:t>14-сегментни</a:t>
            </a:r>
          </a:p>
          <a:p>
            <a:endParaRPr lang="bg-BG" dirty="0"/>
          </a:p>
          <a:p>
            <a:r>
              <a:rPr lang="bg-BG" dirty="0"/>
              <a:t>16 сегментни</a:t>
            </a:r>
          </a:p>
          <a:p>
            <a:endParaRPr lang="bg-BG" dirty="0"/>
          </a:p>
          <a:p>
            <a:r>
              <a:rPr lang="bg-BG" dirty="0"/>
              <a:t>Матрични</a:t>
            </a:r>
          </a:p>
          <a:p>
            <a:endParaRPr lang="bg-BG" dirty="0"/>
          </a:p>
          <a:p>
            <a:r>
              <a:rPr lang="bg-BG" dirty="0" err="1"/>
              <a:t>Нивоиндикатори</a:t>
            </a:r>
            <a:endParaRPr lang="bg-BG" dirty="0"/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Разнообразие от цветове, форми и размери.</a:t>
            </a:r>
          </a:p>
          <a:p>
            <a:pPr marL="0" indent="0">
              <a:buNone/>
            </a:pPr>
            <a:r>
              <a:rPr lang="bg-BG" dirty="0"/>
              <a:t>Консумация на ток около 20мА на сегмент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074" name="Picture 2" descr="D:\GTN\Dropbox\TU\MKE\10.Opto\7-segments_Indicator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556792"/>
            <a:ext cx="8572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GTN\Dropbox\TU\MKE\10.Opto\Sixteen-segment_display_animated.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661248"/>
            <a:ext cx="613776" cy="85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GTN\Dropbox\TU\MKE\10.Opto\500px-7_segment_display_labeled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36" y="1196752"/>
            <a:ext cx="2085131" cy="208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319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GTN\Dropbox\TU\MKE\10.Opto\pulsed-laser-diod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420888"/>
            <a:ext cx="2613157" cy="195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Лазерни диоди</a:t>
            </a:r>
            <a:br>
              <a:rPr lang="bg-B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7467600" cy="5493224"/>
          </a:xfrm>
        </p:spPr>
        <p:txBody>
          <a:bodyPr/>
          <a:lstStyle/>
          <a:p>
            <a:r>
              <a:rPr lang="en-US" altLang="ja-JP" dirty="0">
                <a:solidFill>
                  <a:schemeClr val="folHlink"/>
                </a:solidFill>
              </a:rPr>
              <a:t>L</a:t>
            </a:r>
            <a:r>
              <a:rPr lang="en-US" altLang="ja-JP" dirty="0"/>
              <a:t>ight </a:t>
            </a:r>
            <a:r>
              <a:rPr lang="en-US" altLang="ja-JP" dirty="0">
                <a:solidFill>
                  <a:schemeClr val="folHlink"/>
                </a:solidFill>
              </a:rPr>
              <a:t>A</a:t>
            </a:r>
            <a:r>
              <a:rPr lang="en-US" altLang="ja-JP" dirty="0"/>
              <a:t>mplification by </a:t>
            </a:r>
            <a:r>
              <a:rPr lang="en-US" altLang="ja-JP" dirty="0">
                <a:solidFill>
                  <a:schemeClr val="folHlink"/>
                </a:solidFill>
              </a:rPr>
              <a:t>S</a:t>
            </a:r>
            <a:r>
              <a:rPr lang="en-US" altLang="ja-JP" dirty="0"/>
              <a:t>timulated </a:t>
            </a:r>
            <a:r>
              <a:rPr lang="en-US" altLang="ja-JP" dirty="0">
                <a:solidFill>
                  <a:schemeClr val="folHlink"/>
                </a:solidFill>
              </a:rPr>
              <a:t>E</a:t>
            </a:r>
            <a:r>
              <a:rPr lang="en-US" altLang="ja-JP" dirty="0"/>
              <a:t>mission of </a:t>
            </a:r>
            <a:r>
              <a:rPr lang="en-US" altLang="ja-JP" dirty="0">
                <a:solidFill>
                  <a:schemeClr val="folHlink"/>
                </a:solidFill>
              </a:rPr>
              <a:t>R</a:t>
            </a:r>
            <a:r>
              <a:rPr lang="en-US" altLang="ja-JP" dirty="0"/>
              <a:t>adiation</a:t>
            </a:r>
            <a:r>
              <a:rPr lang="bg-BG" altLang="ja-JP" dirty="0"/>
              <a:t> </a:t>
            </a:r>
            <a:r>
              <a:rPr lang="en-US" altLang="ja-JP" i="1" dirty="0"/>
              <a:t>“Stimulated emission”</a:t>
            </a:r>
            <a:r>
              <a:rPr lang="bg-BG" altLang="ja-JP" i="1" dirty="0"/>
              <a:t> - </a:t>
            </a:r>
            <a:r>
              <a:rPr lang="en-US" altLang="ja-JP" i="1" dirty="0"/>
              <a:t>antonym of “spontaneous emission”</a:t>
            </a:r>
            <a:endParaRPr lang="bg-BG" altLang="ja-JP" i="1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altLang="ja-JP" i="1" dirty="0"/>
              <a:t>LED emits light by spontaneous emission mechanism, while LD has an optical cavity which enables multiplication of photon by stimulated emission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 descr="D:\GTN\Dropbox\TU\MKE\10.Opto\laser_operati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537120"/>
            <a:ext cx="7560840" cy="215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9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129016" y="5643302"/>
            <a:ext cx="609600" cy="738026"/>
          </a:xfrm>
          <a:noFill/>
          <a:ln>
            <a:solidFill>
              <a:schemeClr val="bg1"/>
            </a:solidFill>
          </a:ln>
        </p:spPr>
        <p:txBody>
          <a:bodyPr/>
          <a:lstStyle/>
          <a:p>
            <a:fld id="{12902C2A-6BBE-4F76-B0A0-0825489B58CE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12172" y="1600200"/>
            <a:ext cx="8915400" cy="120491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bg-BG" altLang="ja-JP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Лазерните диоди,</a:t>
            </a:r>
            <a:r>
              <a:rPr kumimoji="0" lang="bg-BG" altLang="ja-JP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работят както </a:t>
            </a:r>
            <a:r>
              <a:rPr kumimoji="0" lang="bg-BG" altLang="ja-JP" sz="2400" b="0" i="0" u="none" strike="noStrike" kern="1200" cap="none" spc="0" normalizeH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светодиоди</a:t>
            </a:r>
            <a:r>
              <a:rPr kumimoji="0" lang="bg-BG" altLang="ja-JP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, когато работния ток е под определена прагова стойност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 descr="D:\GTN\Dropbox\TU\MKE\10.Opto\laser_vah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40968"/>
            <a:ext cx="5995987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Фотодиоди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6" descr="270px-Photodiode-closeu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676400"/>
            <a:ext cx="2895600" cy="28638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4794519"/>
            <a:ext cx="7620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bg-BG" sz="2000" b="1" dirty="0" err="1">
                <a:solidFill>
                  <a:srgbClr val="9900FF"/>
                </a:solidFill>
              </a:rPr>
              <a:t>Фотодиода</a:t>
            </a:r>
            <a:r>
              <a:rPr lang="bg-BG" sz="2000" b="1" dirty="0">
                <a:solidFill>
                  <a:srgbClr val="9900FF"/>
                </a:solidFill>
              </a:rPr>
              <a:t> </a:t>
            </a:r>
            <a:r>
              <a:rPr lang="bg-BG" sz="2000" b="1" dirty="0"/>
              <a:t>е полупроводников диод, който работи като </a:t>
            </a:r>
            <a:r>
              <a:rPr lang="bg-BG" sz="2000" b="1" dirty="0" err="1"/>
              <a:t>фотодетектор</a:t>
            </a:r>
            <a:r>
              <a:rPr lang="bg-BG" sz="2000" b="1" dirty="0"/>
              <a:t>. Когато фотон с достатъчна енергия достигне до </a:t>
            </a:r>
            <a:r>
              <a:rPr lang="bg-BG" sz="2000" b="1" dirty="0" err="1"/>
              <a:t>фотодиода</a:t>
            </a:r>
            <a:r>
              <a:rPr lang="bg-BG" sz="2000" b="1" dirty="0"/>
              <a:t>, той възбужда електрон. Това е равносилно на генериране на електрически ток. </a:t>
            </a:r>
            <a:endParaRPr lang="en-US" sz="2000" b="1" dirty="0"/>
          </a:p>
        </p:txBody>
      </p:sp>
      <p:pic>
        <p:nvPicPr>
          <p:cNvPr id="7" name="Picture 8" descr="250px-Photodiode_symbol_sv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2362200"/>
            <a:ext cx="3810000" cy="1630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554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Зависимост на спектъра на светлината от използвания полупроводник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15621420"/>
              </p:ext>
            </p:extLst>
          </p:nvPr>
        </p:nvGraphicFramePr>
        <p:xfrm>
          <a:off x="457200" y="1828800"/>
          <a:ext cx="7467600" cy="4267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013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Материал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Спектър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5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Силиций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(Si)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190–1100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95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Германий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400–1700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95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Оловен Сулфид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PbS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&lt;1000-3500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331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Indium gallium arsenide 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InGaAs</a:t>
                      </a:r>
                      <a:r>
                        <a:rPr kumimoji="0" lang="bg-BG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800–2600</a:t>
                      </a:r>
                    </a:p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Слънчеви батерии / </a:t>
            </a:r>
            <a:r>
              <a:rPr lang="bg-BG" dirty="0" err="1"/>
              <a:t>фотоволтачини</a:t>
            </a:r>
            <a:r>
              <a:rPr lang="bg-BG" dirty="0"/>
              <a:t> панели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1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4619048" cy="449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4419600" y="2057400"/>
            <a:ext cx="2310441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bg-BG" b="1" dirty="0">
                <a:solidFill>
                  <a:srgbClr val="CC00CC"/>
                </a:solidFill>
              </a:rPr>
              <a:t>Слънчева енергия</a:t>
            </a:r>
            <a:endParaRPr lang="en-US" b="1" dirty="0">
              <a:solidFill>
                <a:srgbClr val="FF00FF"/>
              </a:solidFill>
            </a:endParaRPr>
          </a:p>
        </p:txBody>
      </p: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5357818" y="2350290"/>
            <a:ext cx="3108864" cy="92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30188" indent="-230188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Безплатна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На практика неограничена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Децентрализирана 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4419600" y="3449637"/>
            <a:ext cx="2475358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bg-BG" b="1" dirty="0">
                <a:solidFill>
                  <a:srgbClr val="CC00CC"/>
                </a:solidFill>
              </a:rPr>
              <a:t>Слънчеви батерии</a:t>
            </a:r>
            <a:endParaRPr lang="en-US" b="1" dirty="0">
              <a:solidFill>
                <a:srgbClr val="FF00FF"/>
              </a:solidFill>
            </a:endParaRPr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4419600" y="3830637"/>
            <a:ext cx="4152928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30188" indent="-230188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Директно преобразуване на слънчевата енергия в електричество</a:t>
            </a:r>
            <a:endParaRPr lang="en-US" sz="1600" b="1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Без замърсяване</a:t>
            </a:r>
            <a:endParaRPr lang="en-US" sz="1600" b="1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Не отделят парникови газове</a:t>
            </a:r>
            <a:endParaRPr lang="en-US" sz="1600" b="1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При преобразуването на енергия не се отделят отпадни материали</a:t>
            </a:r>
            <a:endParaRPr lang="en-US" sz="1600" b="1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bg-BG" sz="1600" b="1" dirty="0">
                <a:solidFill>
                  <a:srgbClr val="FFC000"/>
                </a:solidFill>
              </a:rPr>
              <a:t>Без загуби от пренасяне на електроенергията (могат да се използват там където се консумира енергията)</a:t>
            </a:r>
            <a:endParaRPr lang="en-US" sz="1600" b="1" dirty="0">
              <a:solidFill>
                <a:srgbClr val="FFC000"/>
              </a:solidFill>
            </a:endParaRPr>
          </a:p>
        </p:txBody>
      </p:sp>
      <p:sp>
        <p:nvSpPr>
          <p:cNvPr id="10" name="Text Box 29"/>
          <p:cNvSpPr txBox="1">
            <a:spLocks noChangeArrowheads="1"/>
          </p:cNvSpPr>
          <p:nvPr/>
        </p:nvSpPr>
        <p:spPr bwMode="auto">
          <a:xfrm>
            <a:off x="4419600" y="15240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 dirty="0">
                <a:solidFill>
                  <a:srgbClr val="0000FF"/>
                </a:solidFill>
              </a:rPr>
              <a:t>Предимства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30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Течнокристални</a:t>
            </a:r>
            <a:r>
              <a:rPr lang="bg-BG" dirty="0"/>
              <a:t> индикатори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2" descr="D:\GTN\Dropbox\TU\laboratoriq po elektronika\13. LED &amp; LCD ind\LCD_WORK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231" y="2058780"/>
            <a:ext cx="7924599" cy="367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134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Съвременни технологии в </a:t>
            </a:r>
            <a:r>
              <a:rPr lang="bg-BG" dirty="0" err="1"/>
              <a:t>оптоелектрониката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Тенденции в </a:t>
            </a:r>
            <a:r>
              <a:rPr lang="bg-BG" dirty="0" err="1"/>
              <a:t>оптоелектрониката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 Long wavelength, high power light sources or</a:t>
            </a:r>
          </a:p>
          <a:p>
            <a:r>
              <a:rPr lang="en-US" dirty="0"/>
              <a:t>    </a:t>
            </a:r>
            <a:r>
              <a:rPr lang="en-US" dirty="0" err="1"/>
              <a:t>photodetectors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Nanoscale</a:t>
            </a:r>
            <a:r>
              <a:rPr lang="en-US" dirty="0"/>
              <a:t> devices </a:t>
            </a:r>
          </a:p>
          <a:p>
            <a:r>
              <a:rPr lang="en-US" dirty="0"/>
              <a:t> Low cost, easy fabricated materials</a:t>
            </a:r>
          </a:p>
          <a:p>
            <a:r>
              <a:rPr lang="en-US" dirty="0"/>
              <a:t> High </a:t>
            </a:r>
            <a:r>
              <a:rPr lang="en-US" dirty="0" err="1"/>
              <a:t>opto</a:t>
            </a:r>
            <a:r>
              <a:rPr lang="en-US" dirty="0"/>
              <a:t>-electronic conversion efficiency</a:t>
            </a:r>
          </a:p>
          <a:p>
            <a:r>
              <a:rPr lang="en-US" dirty="0"/>
              <a:t> Multi-wavelength sources 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10734</TotalTime>
  <Words>562</Words>
  <Application>Microsoft Office PowerPoint</Application>
  <PresentationFormat>Презентация на цял екран (4:3)</PresentationFormat>
  <Paragraphs>143</Paragraphs>
  <Slides>19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Schoolbook</vt:lpstr>
      <vt:lpstr>Verdana</vt:lpstr>
      <vt:lpstr>Wingdings</vt:lpstr>
      <vt:lpstr>Wingdings 2</vt:lpstr>
      <vt:lpstr>Oriel</vt:lpstr>
      <vt:lpstr>Оптоелектронни елементи – видове и класификация</vt:lpstr>
      <vt:lpstr>Обща информация</vt:lpstr>
      <vt:lpstr>Примери</vt:lpstr>
      <vt:lpstr>Основни видове оптоелектронни елементи</vt:lpstr>
      <vt:lpstr>Светодиод</vt:lpstr>
      <vt:lpstr>Зависимост на цвета на излъчваната светлина от полупроводниковия материал</vt:lpstr>
      <vt:lpstr>Бели светодиоди</vt:lpstr>
      <vt:lpstr>Температура на цвета </vt:lpstr>
      <vt:lpstr>Презентация на PowerPoint</vt:lpstr>
      <vt:lpstr>Operation Principle of LED</vt:lpstr>
      <vt:lpstr>Светодиодни индикатори</vt:lpstr>
      <vt:lpstr>Лазерни диоди </vt:lpstr>
      <vt:lpstr>Презентация на PowerPoint</vt:lpstr>
      <vt:lpstr>Фотодиоди</vt:lpstr>
      <vt:lpstr>Зависимост на спектъра на светлината от използвания полупроводник</vt:lpstr>
      <vt:lpstr>Слънчеви батерии / фотоволтачини панели</vt:lpstr>
      <vt:lpstr>Течнокристални индикатори</vt:lpstr>
      <vt:lpstr>Съвременни технологии в оптоелектрониката</vt:lpstr>
      <vt:lpstr>Тенденции в оптоелектрониката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GTN</dc:creator>
  <cp:lastModifiedBy>Rector</cp:lastModifiedBy>
  <cp:revision>270</cp:revision>
  <dcterms:created xsi:type="dcterms:W3CDTF">2006-08-16T00:00:00Z</dcterms:created>
  <dcterms:modified xsi:type="dcterms:W3CDTF">2023-11-28T10:10:37Z</dcterms:modified>
</cp:coreProperties>
</file>
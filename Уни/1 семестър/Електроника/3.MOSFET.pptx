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68" r:id="rId3"/>
    <p:sldId id="375" r:id="rId4"/>
    <p:sldId id="386" r:id="rId5"/>
    <p:sldId id="392" r:id="rId6"/>
    <p:sldId id="385" r:id="rId7"/>
    <p:sldId id="380" r:id="rId8"/>
    <p:sldId id="390" r:id="rId9"/>
    <p:sldId id="394" r:id="rId10"/>
    <p:sldId id="388" r:id="rId11"/>
    <p:sldId id="391" r:id="rId12"/>
    <p:sldId id="378" r:id="rId13"/>
    <p:sldId id="393" r:id="rId14"/>
    <p:sldId id="370" r:id="rId15"/>
    <p:sldId id="37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0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27.11.2016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895600"/>
            <a:ext cx="6400800" cy="1447800"/>
          </a:xfrm>
        </p:spPr>
        <p:txBody>
          <a:bodyPr>
            <a:normAutofit fontScale="90000"/>
          </a:bodyPr>
          <a:lstStyle/>
          <a:p>
            <a:pPr lvl="0"/>
            <a:r>
              <a:rPr lang="bg-BG" dirty="0"/>
              <a:t>Полеви </a:t>
            </a:r>
            <a:r>
              <a:rPr lang="bg-BG" dirty="0" smtClean="0"/>
              <a:t>транзистори. </a:t>
            </a:r>
            <a:r>
              <a:rPr lang="ru-MO" dirty="0" smtClean="0"/>
              <a:t>MOSFET. Основни свойства и параметри. Схеми на свързване. </a:t>
            </a: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Проф. Венцислав Вълчев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Дисциплина : </a:t>
            </a:r>
          </a:p>
          <a:p>
            <a:pPr algn="ctr"/>
            <a:r>
              <a:rPr lang="bg-BG" i="1" dirty="0" smtClean="0"/>
              <a:t>“Компютърна електроника” </a:t>
            </a:r>
            <a:endParaRPr lang="bg-BG" i="1" dirty="0"/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 smtClean="0"/>
              <a:t>Технически Университет Варна</a:t>
            </a:r>
          </a:p>
          <a:p>
            <a:pPr algn="ctr"/>
            <a:endParaRPr lang="bg-BG" sz="1050" b="1" dirty="0" smtClean="0"/>
          </a:p>
          <a:p>
            <a:pPr algn="ctr"/>
            <a:r>
              <a:rPr lang="bg-BG" dirty="0" smtClean="0"/>
              <a:t>Катедра „Електронна техника и микроелектроника“</a:t>
            </a:r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2016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762000" y="3711714"/>
            <a:ext cx="99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smtClean="0">
                <a:solidFill>
                  <a:schemeClr val="bg1"/>
                </a:solidFill>
              </a:rPr>
              <a:t>III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14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029446" cy="1143000"/>
          </a:xfrm>
        </p:spPr>
        <p:txBody>
          <a:bodyPr>
            <a:normAutofit/>
          </a:bodyPr>
          <a:lstStyle/>
          <a:p>
            <a:r>
              <a:rPr lang="bg-BG" dirty="0" smtClean="0"/>
              <a:t>Обща информация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Autofit/>
          </a:bodyPr>
          <a:lstStyle/>
          <a:p>
            <a:r>
              <a:rPr lang="bg-BG" dirty="0" err="1" smtClean="0"/>
              <a:t>Униполярни</a:t>
            </a:r>
            <a:r>
              <a:rPr lang="bg-BG" dirty="0" smtClean="0"/>
              <a:t> транзистори с 3 или 4 електрода. 99% от съвременните интегрални схеми са базирани на полеви транзистори.</a:t>
            </a:r>
          </a:p>
          <a:p>
            <a:r>
              <a:rPr lang="bg-BG" dirty="0" smtClean="0"/>
              <a:t>Използват „ефекта на полето“</a:t>
            </a:r>
          </a:p>
          <a:p>
            <a:r>
              <a:rPr lang="bg-BG" dirty="0" smtClean="0"/>
              <a:t>Полеви </a:t>
            </a:r>
            <a:r>
              <a:rPr lang="bg-BG" dirty="0"/>
              <a:t>транзистори с </a:t>
            </a:r>
            <a:r>
              <a:rPr lang="en-US" dirty="0"/>
              <a:t>PN </a:t>
            </a:r>
            <a:r>
              <a:rPr lang="bg-BG" dirty="0"/>
              <a:t>преход </a:t>
            </a:r>
            <a:r>
              <a:rPr lang="en-US" dirty="0"/>
              <a:t>(</a:t>
            </a:r>
            <a:r>
              <a:rPr lang="bg-BG" dirty="0"/>
              <a:t>(</a:t>
            </a:r>
            <a:r>
              <a:rPr lang="en-US" dirty="0"/>
              <a:t>J)FET</a:t>
            </a:r>
            <a:r>
              <a:rPr lang="bg-BG" dirty="0"/>
              <a:t> = </a:t>
            </a:r>
            <a:r>
              <a:rPr lang="en-US" dirty="0"/>
              <a:t>(Junction) Field Effect Transistor)</a:t>
            </a:r>
            <a:endParaRPr lang="bg-BG" dirty="0" smtClean="0"/>
          </a:p>
          <a:p>
            <a:r>
              <a:rPr lang="bg-BG" dirty="0" smtClean="0"/>
              <a:t>Полеви транзистори с изолиран управляващ електрод - МОС транзистори, </a:t>
            </a:r>
            <a:r>
              <a:rPr lang="en-US" dirty="0" smtClean="0"/>
              <a:t>MOSFET</a:t>
            </a:r>
            <a:r>
              <a:rPr lang="bg-BG" dirty="0" smtClean="0"/>
              <a:t> (</a:t>
            </a:r>
            <a:r>
              <a:rPr lang="en-US" dirty="0" smtClean="0"/>
              <a:t>Metal </a:t>
            </a:r>
            <a:r>
              <a:rPr lang="en-US" dirty="0"/>
              <a:t>Oxide Semiconductor Field Effect </a:t>
            </a:r>
            <a:r>
              <a:rPr lang="en-US" dirty="0" smtClean="0"/>
              <a:t>Transistors</a:t>
            </a:r>
            <a:r>
              <a:rPr lang="bg-BG" dirty="0" smtClean="0"/>
              <a:t>)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xmlns="" val="197819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История</a:t>
            </a:r>
            <a:br>
              <a:rPr lang="bg-B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bg-BG" dirty="0" smtClean="0"/>
              <a:t>Първи патенти, полеви транзистор</a:t>
            </a:r>
            <a:r>
              <a:rPr lang="en-US" dirty="0" smtClean="0"/>
              <a:t>:  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bg-BG" sz="2000" dirty="0" smtClean="0"/>
              <a:t>1926 - </a:t>
            </a:r>
            <a:r>
              <a:rPr lang="en-US" sz="2000" dirty="0" err="1"/>
              <a:t>Lilienfeld</a:t>
            </a:r>
            <a:r>
              <a:rPr lang="en-US" sz="2000" dirty="0"/>
              <a:t>, </a:t>
            </a:r>
            <a:r>
              <a:rPr lang="en-US" sz="2000" dirty="0" err="1"/>
              <a:t>Heil</a:t>
            </a:r>
            <a:r>
              <a:rPr lang="en-US" sz="2000" dirty="0"/>
              <a:t>, Shockley </a:t>
            </a:r>
          </a:p>
          <a:p>
            <a:pPr>
              <a:lnSpc>
                <a:spcPct val="80000"/>
              </a:lnSpc>
            </a:pPr>
            <a:r>
              <a:rPr lang="bg-BG" dirty="0" smtClean="0"/>
              <a:t>Силициев МОС транзистор</a:t>
            </a:r>
            <a:r>
              <a:rPr lang="en-US" dirty="0" smtClean="0"/>
              <a:t>:  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bg-BG" sz="2000" dirty="0" smtClean="0"/>
              <a:t>1959 - </a:t>
            </a:r>
            <a:r>
              <a:rPr lang="en-US" sz="2000" dirty="0"/>
              <a:t>M. M. (John) </a:t>
            </a:r>
            <a:r>
              <a:rPr lang="en-US" sz="2000" dirty="0" err="1"/>
              <a:t>Atalla</a:t>
            </a:r>
            <a:r>
              <a:rPr lang="en-US" sz="2000" dirty="0"/>
              <a:t> and </a:t>
            </a:r>
            <a:r>
              <a:rPr lang="en-US" sz="2000" dirty="0" err="1"/>
              <a:t>Dawon</a:t>
            </a:r>
            <a:r>
              <a:rPr lang="en-US" sz="2000" dirty="0"/>
              <a:t> </a:t>
            </a:r>
            <a:r>
              <a:rPr lang="en-US" sz="2000" dirty="0" err="1"/>
              <a:t>Kahng</a:t>
            </a:r>
            <a:r>
              <a:rPr lang="en-US" sz="2000" dirty="0"/>
              <a:t> at Bell Labs </a:t>
            </a:r>
          </a:p>
          <a:p>
            <a:pPr>
              <a:lnSpc>
                <a:spcPct val="80000"/>
              </a:lnSpc>
            </a:pPr>
            <a:r>
              <a:rPr lang="bg-BG" dirty="0"/>
              <a:t>МОС </a:t>
            </a:r>
            <a:r>
              <a:rPr lang="bg-BG" dirty="0" smtClean="0"/>
              <a:t>транзистори с </a:t>
            </a:r>
            <a:r>
              <a:rPr lang="en-US" dirty="0" smtClean="0"/>
              <a:t>P </a:t>
            </a:r>
            <a:r>
              <a:rPr lang="bg-BG" dirty="0" smtClean="0"/>
              <a:t>и </a:t>
            </a:r>
            <a:r>
              <a:rPr lang="en-US" dirty="0" smtClean="0"/>
              <a:t>N</a:t>
            </a:r>
            <a:r>
              <a:rPr lang="bg-BG" dirty="0" smtClean="0"/>
              <a:t> канал</a:t>
            </a:r>
            <a:r>
              <a:rPr lang="en-US" dirty="0" smtClean="0"/>
              <a:t>:  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bg-BG" sz="2000" dirty="0" smtClean="0"/>
              <a:t>Края на </a:t>
            </a:r>
            <a:r>
              <a:rPr lang="en-US" sz="2000" dirty="0" smtClean="0"/>
              <a:t>1960</a:t>
            </a:r>
            <a:r>
              <a:rPr lang="bg-BG" sz="2000" dirty="0" smtClean="0"/>
              <a:t>и</a:t>
            </a:r>
            <a:r>
              <a:rPr lang="en-US" sz="2000" dirty="0" smtClean="0"/>
              <a:t>!</a:t>
            </a:r>
            <a:endParaRPr lang="en-US" sz="2000" dirty="0"/>
          </a:p>
          <a:p>
            <a:pPr>
              <a:lnSpc>
                <a:spcPct val="80000"/>
              </a:lnSpc>
            </a:pPr>
            <a:r>
              <a:rPr lang="bg-BG" dirty="0" err="1" smtClean="0"/>
              <a:t>Коплементарна</a:t>
            </a:r>
            <a:r>
              <a:rPr lang="bg-BG" dirty="0" smtClean="0"/>
              <a:t> МОС технология</a:t>
            </a:r>
            <a:r>
              <a:rPr lang="en-US" dirty="0" smtClean="0"/>
              <a:t>:  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sz="2000" dirty="0"/>
              <a:t>1980s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285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Размери!</a:t>
            </a:r>
            <a:br>
              <a:rPr lang="bg-B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7" name="Picture 3" descr="D:\GTN\dropbox\TU\MKE\8. MOSFET\bridge_sp06_figure2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05200"/>
            <a:ext cx="5722531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GTN\dropbox\TU\MKE\8. MOSFET\future_transistor_200-pix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28516" y="3340099"/>
            <a:ext cx="2380507" cy="238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GTN\dropbox\TU\MKE\8. MOSFET\spotlight137-fig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4624" y="990600"/>
            <a:ext cx="85344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1224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Изводи: </a:t>
            </a:r>
            <a:r>
              <a:rPr lang="en-US" b="1" dirty="0" smtClean="0">
                <a:solidFill>
                  <a:schemeClr val="tx1"/>
                </a:solidFill>
              </a:rPr>
              <a:t>G</a:t>
            </a:r>
            <a:r>
              <a:rPr lang="en-US" dirty="0" smtClean="0">
                <a:solidFill>
                  <a:schemeClr val="tx1"/>
                </a:solidFill>
              </a:rPr>
              <a:t>ate, </a:t>
            </a:r>
            <a:r>
              <a:rPr lang="en-US" b="1" dirty="0" smtClean="0">
                <a:solidFill>
                  <a:schemeClr val="tx1"/>
                </a:solidFill>
              </a:rPr>
              <a:t>D</a:t>
            </a:r>
            <a:r>
              <a:rPr lang="en-US" dirty="0" smtClean="0">
                <a:solidFill>
                  <a:schemeClr val="tx1"/>
                </a:solidFill>
              </a:rPr>
              <a:t>rain, </a:t>
            </a:r>
            <a:r>
              <a:rPr lang="en-US" b="1" dirty="0" smtClean="0">
                <a:solidFill>
                  <a:schemeClr val="tx1"/>
                </a:solidFill>
              </a:rPr>
              <a:t>S</a:t>
            </a:r>
            <a:r>
              <a:rPr lang="en-US" dirty="0" smtClean="0">
                <a:solidFill>
                  <a:schemeClr val="tx1"/>
                </a:solidFill>
              </a:rPr>
              <a:t>ource 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4" descr="boy_f_05013a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7300298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Обща </a:t>
            </a:r>
            <a:r>
              <a:rPr lang="bg-BG" dirty="0" smtClean="0"/>
              <a:t>информация</a:t>
            </a:r>
            <a:br>
              <a:rPr lang="bg-B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483352"/>
          </a:xfrm>
        </p:spPr>
        <p:txBody>
          <a:bodyPr>
            <a:normAutofit lnSpcReduction="10000"/>
          </a:bodyPr>
          <a:lstStyle/>
          <a:p>
            <a:pPr>
              <a:spcBef>
                <a:spcPct val="50000"/>
              </a:spcBef>
            </a:pPr>
            <a:r>
              <a:rPr lang="bg-BG" b="1" dirty="0" smtClean="0"/>
              <a:t>Полеви транзистори с </a:t>
            </a:r>
            <a:r>
              <a:rPr lang="en-US" b="1" dirty="0" smtClean="0"/>
              <a:t>PN </a:t>
            </a:r>
            <a:r>
              <a:rPr lang="bg-BG" b="1" dirty="0" smtClean="0"/>
              <a:t>преход </a:t>
            </a:r>
            <a:r>
              <a:rPr lang="en-US" b="1" dirty="0" smtClean="0"/>
              <a:t>(</a:t>
            </a:r>
            <a:r>
              <a:rPr lang="bg-BG" b="1" dirty="0" smtClean="0"/>
              <a:t>(</a:t>
            </a:r>
            <a:r>
              <a:rPr lang="en-US" b="1" dirty="0" smtClean="0"/>
              <a:t>J)FET</a:t>
            </a:r>
            <a:r>
              <a:rPr lang="bg-BG" b="1" dirty="0" smtClean="0"/>
              <a:t> = </a:t>
            </a:r>
            <a:r>
              <a:rPr lang="en-US" b="1" dirty="0" smtClean="0"/>
              <a:t>(Junction) F</a:t>
            </a:r>
            <a:r>
              <a:rPr lang="en-US" dirty="0" smtClean="0"/>
              <a:t>ield </a:t>
            </a:r>
            <a:r>
              <a:rPr lang="en-US" b="1" dirty="0" smtClean="0"/>
              <a:t>E</a:t>
            </a:r>
            <a:r>
              <a:rPr lang="en-US" dirty="0" smtClean="0"/>
              <a:t>ffect </a:t>
            </a:r>
            <a:r>
              <a:rPr lang="en-US" b="1" dirty="0" smtClean="0"/>
              <a:t>T</a:t>
            </a:r>
            <a:r>
              <a:rPr lang="en-US" dirty="0" smtClean="0"/>
              <a:t>ransistor</a:t>
            </a:r>
            <a:r>
              <a:rPr lang="en-US" b="1" dirty="0" smtClean="0"/>
              <a:t>)</a:t>
            </a:r>
            <a:endParaRPr lang="en-US" b="1" dirty="0">
              <a:latin typeface="TimesNewRoman,Bold" charset="0"/>
            </a:endParaRPr>
          </a:p>
          <a:p>
            <a:pPr>
              <a:spcBef>
                <a:spcPct val="50000"/>
              </a:spcBef>
            </a:pPr>
            <a:r>
              <a:rPr lang="bg-BG" b="1" dirty="0" smtClean="0">
                <a:latin typeface="TimesNewRoman,Bold" charset="0"/>
              </a:rPr>
              <a:t>Основни характеристики</a:t>
            </a:r>
            <a:endParaRPr lang="en-US" b="1" dirty="0">
              <a:latin typeface="TimesNewRoman,Bold" charset="0"/>
            </a:endParaRPr>
          </a:p>
          <a:p>
            <a:pPr lvl="1">
              <a:spcBef>
                <a:spcPct val="50000"/>
              </a:spcBef>
            </a:pPr>
            <a:r>
              <a:rPr lang="bg-BG" dirty="0" smtClean="0"/>
              <a:t>Тока през веригата </a:t>
            </a:r>
            <a:r>
              <a:rPr lang="bg-BG" dirty="0" err="1" smtClean="0"/>
              <a:t>Дрейн-Сорс</a:t>
            </a:r>
            <a:r>
              <a:rPr lang="bg-BG" dirty="0" smtClean="0"/>
              <a:t> се контролира </a:t>
            </a:r>
            <a:r>
              <a:rPr lang="bg-BG" dirty="0" smtClean="0">
                <a:latin typeface="TimesNewRoman" charset="0"/>
              </a:rPr>
              <a:t>от </a:t>
            </a:r>
            <a:r>
              <a:rPr lang="bg-BG" dirty="0" smtClean="0"/>
              <a:t>електрическото поле подадено на </a:t>
            </a:r>
            <a:r>
              <a:rPr lang="bg-BG" dirty="0" err="1" smtClean="0"/>
              <a:t>Гейта</a:t>
            </a:r>
            <a:endParaRPr lang="en-US" dirty="0" smtClean="0"/>
          </a:p>
          <a:p>
            <a:pPr lvl="1"/>
            <a:r>
              <a:rPr lang="bg-BG" dirty="0" err="1" smtClean="0"/>
              <a:t>Униполярен</a:t>
            </a:r>
            <a:r>
              <a:rPr lang="bg-BG" dirty="0" smtClean="0"/>
              <a:t> </a:t>
            </a:r>
            <a:r>
              <a:rPr lang="bg-BG" dirty="0"/>
              <a:t>транзистор (има само един вид </a:t>
            </a:r>
            <a:r>
              <a:rPr lang="bg-BG" dirty="0" err="1"/>
              <a:t>токоносители</a:t>
            </a:r>
            <a:r>
              <a:rPr lang="bg-BG" dirty="0" smtClean="0"/>
              <a:t>)</a:t>
            </a:r>
          </a:p>
          <a:p>
            <a:pPr lvl="1"/>
            <a:r>
              <a:rPr lang="bg-BG" dirty="0"/>
              <a:t>Много висок входен </a:t>
            </a:r>
            <a:r>
              <a:rPr lang="bg-BG" dirty="0" err="1"/>
              <a:t>импеданс</a:t>
            </a:r>
            <a:r>
              <a:rPr lang="bg-BG" dirty="0"/>
              <a:t> (в резултат много малка консумация)</a:t>
            </a:r>
            <a:endParaRPr lang="en-GB" dirty="0"/>
          </a:p>
          <a:p>
            <a:pPr lvl="1"/>
            <a:r>
              <a:rPr lang="bg-BG" dirty="0"/>
              <a:t>Възможност за значително усилване по </a:t>
            </a:r>
            <a:r>
              <a:rPr lang="bg-BG" dirty="0" smtClean="0"/>
              <a:t>мощност</a:t>
            </a:r>
          </a:p>
          <a:p>
            <a:pPr lvl="1"/>
            <a:r>
              <a:rPr lang="bg-BG" dirty="0" smtClean="0"/>
              <a:t>Ниско ниво на собствените шумове</a:t>
            </a:r>
          </a:p>
          <a:p>
            <a:pPr lvl="1"/>
            <a:r>
              <a:rPr lang="bg-BG" dirty="0" smtClean="0"/>
              <a:t>Устойчивост на облъчване на различни лъчения</a:t>
            </a:r>
          </a:p>
          <a:p>
            <a:pPr lvl="1"/>
            <a:r>
              <a:rPr lang="bg-BG" dirty="0" smtClean="0"/>
              <a:t>Може да се използват като управляеми съпротивления</a:t>
            </a:r>
          </a:p>
          <a:p>
            <a:pPr lvl="1"/>
            <a:r>
              <a:rPr lang="bg-BG" dirty="0" smtClean="0"/>
              <a:t>Работят винаги в режим на обедняване</a:t>
            </a:r>
            <a:endParaRPr lang="en-GB" dirty="0"/>
          </a:p>
          <a:p>
            <a:pPr lvl="1"/>
            <a:endParaRPr lang="bg-BG" dirty="0" smtClean="0"/>
          </a:p>
          <a:p>
            <a:pPr lvl="1"/>
            <a:endParaRPr lang="en-GB" dirty="0"/>
          </a:p>
          <a:p>
            <a:pPr lvl="1">
              <a:spcBef>
                <a:spcPct val="50000"/>
              </a:spcBef>
            </a:pPr>
            <a:endParaRPr lang="en-US" sz="800" dirty="0">
              <a:latin typeface="TimesNewRoman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4433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Поведение на канала при различно напрежение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003551" cy="423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8600" y="4953000"/>
            <a:ext cx="266700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U</a:t>
            </a:r>
            <a:r>
              <a:rPr lang="en-US" sz="1400" baseline="-25000" dirty="0" smtClean="0"/>
              <a:t>GS</a:t>
            </a:r>
            <a:r>
              <a:rPr lang="en-US" sz="1400" dirty="0" smtClean="0"/>
              <a:t> </a:t>
            </a:r>
            <a:r>
              <a:rPr lang="bg-BG" sz="1400" dirty="0" smtClean="0"/>
              <a:t>е нула или малко, каналът не е затворен, протича ток</a:t>
            </a:r>
            <a:endParaRPr lang="bg-BG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124200" y="4953000"/>
            <a:ext cx="266700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U</a:t>
            </a:r>
            <a:r>
              <a:rPr lang="en-US" sz="1400" baseline="-25000" dirty="0" smtClean="0"/>
              <a:t>GS</a:t>
            </a:r>
            <a:r>
              <a:rPr lang="en-US" sz="1400" dirty="0" smtClean="0"/>
              <a:t> </a:t>
            </a:r>
            <a:r>
              <a:rPr lang="bg-BG" sz="1400" dirty="0" smtClean="0"/>
              <a:t>е достатъчно, за да повлияе на канала, </a:t>
            </a:r>
          </a:p>
          <a:p>
            <a:r>
              <a:rPr lang="bg-BG" sz="1400" dirty="0" smtClean="0"/>
              <a:t>протичащия  ток намалява</a:t>
            </a:r>
            <a:endParaRPr lang="bg-BG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6172200" y="4953000"/>
            <a:ext cx="266700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U</a:t>
            </a:r>
            <a:r>
              <a:rPr lang="en-US" sz="1400" baseline="-25000" dirty="0" smtClean="0"/>
              <a:t>GS</a:t>
            </a:r>
            <a:r>
              <a:rPr lang="en-US" sz="1400" dirty="0" smtClean="0"/>
              <a:t> </a:t>
            </a:r>
            <a:r>
              <a:rPr lang="bg-BG" sz="1400" dirty="0" smtClean="0"/>
              <a:t>е достатъчно голямо за да запуши канала, </a:t>
            </a:r>
          </a:p>
          <a:p>
            <a:r>
              <a:rPr lang="bg-BG" sz="1400" dirty="0" smtClean="0"/>
              <a:t>протичащия  ток е нула</a:t>
            </a:r>
            <a:endParaRPr lang="bg-BG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152400" y="1295400"/>
            <a:ext cx="144780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bg-BG" sz="1000" dirty="0" smtClean="0"/>
              <a:t>Обеднен слой,  високо съпротивление, </a:t>
            </a:r>
          </a:p>
          <a:p>
            <a:r>
              <a:rPr lang="en-US" sz="1000" dirty="0" smtClean="0"/>
              <a:t>PN </a:t>
            </a:r>
            <a:r>
              <a:rPr lang="bg-BG" sz="1000" dirty="0" smtClean="0"/>
              <a:t>преход</a:t>
            </a:r>
            <a:endParaRPr lang="bg-BG" sz="1000" dirty="0"/>
          </a:p>
        </p:txBody>
      </p:sp>
    </p:spTree>
    <p:extLst>
      <p:ext uri="{BB962C8B-B14F-4D97-AF65-F5344CB8AC3E}">
        <p14:creationId xmlns:p14="http://schemas.microsoft.com/office/powerpoint/2010/main" xmlns="" val="360432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Волт-амперни</a:t>
            </a:r>
            <a:r>
              <a:rPr lang="bg-BG" dirty="0" smtClean="0"/>
              <a:t> характеристики на</a:t>
            </a:r>
            <a:r>
              <a:rPr lang="en-US" dirty="0" smtClean="0"/>
              <a:t> JFET</a:t>
            </a:r>
            <a:r>
              <a:rPr lang="bg-BG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bg-BG" dirty="0" smtClean="0"/>
              <a:t>          предавателна </a:t>
            </a:r>
            <a:r>
              <a:rPr lang="bg-BG" dirty="0" err="1" smtClean="0"/>
              <a:t>х-ка</a:t>
            </a: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r>
              <a:rPr lang="bg-BG" dirty="0" smtClean="0"/>
              <a:t>                                                       изходна </a:t>
            </a:r>
            <a:r>
              <a:rPr lang="bg-BG" dirty="0" err="1" smtClean="0"/>
              <a:t>х-ка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" y="3714078"/>
            <a:ext cx="4343400" cy="2851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24000"/>
            <a:ext cx="4410075" cy="2959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27188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>
            <a:normAutofit/>
          </a:bodyPr>
          <a:lstStyle/>
          <a:p>
            <a:r>
              <a:rPr lang="en-US" sz="2200" b="1" dirty="0" smtClean="0">
                <a:solidFill>
                  <a:schemeClr val="tx1"/>
                </a:solidFill>
              </a:rPr>
              <a:t>MOSFET</a:t>
            </a:r>
            <a:r>
              <a:rPr lang="bg-BG" sz="2200" b="1" dirty="0" smtClean="0">
                <a:solidFill>
                  <a:schemeClr val="tx1"/>
                </a:solidFill>
              </a:rPr>
              <a:t> (</a:t>
            </a:r>
            <a:r>
              <a:rPr lang="en-US" sz="2200" b="1" dirty="0" smtClean="0">
                <a:solidFill>
                  <a:schemeClr val="tx1"/>
                </a:solidFill>
              </a:rPr>
              <a:t>Metal Oxide Semiconductor Field Effect Transistors</a:t>
            </a:r>
            <a:r>
              <a:rPr lang="bg-BG" sz="2200" b="1" dirty="0" smtClean="0">
                <a:solidFill>
                  <a:schemeClr val="tx1"/>
                </a:solidFill>
              </a:rPr>
              <a:t>). </a:t>
            </a:r>
            <a:r>
              <a:rPr lang="bg-BG" sz="2200" dirty="0" smtClean="0"/>
              <a:t>Структура</a:t>
            </a:r>
            <a:endParaRPr lang="bg-BG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367588" cy="46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581400" y="2286000"/>
            <a:ext cx="13716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Gate, </a:t>
            </a:r>
            <a:r>
              <a:rPr lang="bg-BG" sz="1600" dirty="0" smtClean="0"/>
              <a:t>метал </a:t>
            </a:r>
            <a:endParaRPr lang="bg-BG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5257800" y="2133600"/>
            <a:ext cx="762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bg-BG" sz="1600" dirty="0" smtClean="0"/>
              <a:t>Окис</a:t>
            </a:r>
            <a:endParaRPr lang="bg-BG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0" y="2133600"/>
            <a:ext cx="762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Drain</a:t>
            </a:r>
            <a:endParaRPr lang="bg-BG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81000" y="2971800"/>
            <a:ext cx="9906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Source</a:t>
            </a:r>
            <a:endParaRPr lang="bg-BG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6324600" y="4572000"/>
            <a:ext cx="20574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bg-BG" sz="1600" dirty="0" smtClean="0"/>
              <a:t>Подложка, </a:t>
            </a:r>
            <a:r>
              <a:rPr lang="en-US" sz="1600" dirty="0" smtClean="0"/>
              <a:t>Base</a:t>
            </a:r>
            <a:endParaRPr lang="bg-BG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685800"/>
            <a:ext cx="8029446" cy="1143000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solidFill>
                  <a:schemeClr val="tx1"/>
                </a:solidFill>
              </a:rPr>
              <a:t>MOSFET</a:t>
            </a:r>
            <a:r>
              <a:rPr lang="bg-BG" sz="2800" b="1" dirty="0" smtClean="0">
                <a:solidFill>
                  <a:schemeClr val="tx1"/>
                </a:solidFill>
              </a:rPr>
              <a:t> (</a:t>
            </a:r>
            <a:r>
              <a:rPr lang="en-US" sz="2800" b="1" dirty="0" smtClean="0">
                <a:solidFill>
                  <a:schemeClr val="tx1"/>
                </a:solidFill>
              </a:rPr>
              <a:t>Metal Oxide Semiconductor Field Effect Transistors</a:t>
            </a:r>
            <a:r>
              <a:rPr lang="bg-BG" sz="2800" b="1" dirty="0" smtClean="0">
                <a:solidFill>
                  <a:schemeClr val="tx1"/>
                </a:solidFill>
              </a:rPr>
              <a:t>) </a:t>
            </a:r>
            <a:r>
              <a:rPr lang="bg-BG" sz="2800" dirty="0" smtClean="0"/>
              <a:t/>
            </a:r>
            <a:br>
              <a:rPr lang="bg-BG" sz="2800" dirty="0" smtClean="0"/>
            </a:br>
            <a:r>
              <a:rPr lang="bg-BG" dirty="0" smtClean="0"/>
              <a:t>Обща информация</a:t>
            </a:r>
            <a:br>
              <a:rPr lang="bg-BG" dirty="0" smtClean="0"/>
            </a:b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153400" cy="5026152"/>
          </a:xfrm>
        </p:spPr>
        <p:txBody>
          <a:bodyPr>
            <a:noAutofit/>
          </a:bodyPr>
          <a:lstStyle/>
          <a:p>
            <a:r>
              <a:rPr lang="bg-BG" sz="2000" b="1" dirty="0" smtClean="0"/>
              <a:t>Полеви транзистори с изолиран управляващ електрод -МОС транзистори, </a:t>
            </a:r>
            <a:r>
              <a:rPr lang="en-US" sz="2000" b="1" dirty="0" smtClean="0"/>
              <a:t>MOSFET</a:t>
            </a:r>
            <a:r>
              <a:rPr lang="bg-BG" sz="2000" b="1" dirty="0" smtClean="0"/>
              <a:t> (</a:t>
            </a:r>
            <a:r>
              <a:rPr lang="en-US" sz="2000" b="1" dirty="0" smtClean="0"/>
              <a:t>M</a:t>
            </a:r>
            <a:r>
              <a:rPr lang="en-US" sz="2000" dirty="0" smtClean="0"/>
              <a:t>etal </a:t>
            </a:r>
            <a:r>
              <a:rPr lang="en-US" sz="2000" b="1" dirty="0"/>
              <a:t>O</a:t>
            </a:r>
            <a:r>
              <a:rPr lang="en-US" sz="2000" dirty="0"/>
              <a:t>xide </a:t>
            </a:r>
            <a:r>
              <a:rPr lang="en-US" sz="2000" b="1" dirty="0"/>
              <a:t>S</a:t>
            </a:r>
            <a:r>
              <a:rPr lang="en-US" sz="2000" dirty="0"/>
              <a:t>emiconductor </a:t>
            </a:r>
            <a:r>
              <a:rPr lang="en-US" sz="2000" b="1" dirty="0"/>
              <a:t>F</a:t>
            </a:r>
            <a:r>
              <a:rPr lang="en-US" sz="2000" dirty="0"/>
              <a:t>ield </a:t>
            </a:r>
            <a:r>
              <a:rPr lang="en-US" sz="2000" b="1" dirty="0"/>
              <a:t>E</a:t>
            </a:r>
            <a:r>
              <a:rPr lang="en-US" sz="2000" dirty="0"/>
              <a:t>ffect </a:t>
            </a:r>
            <a:r>
              <a:rPr lang="en-US" sz="2000" b="1" dirty="0" smtClean="0"/>
              <a:t>T</a:t>
            </a:r>
            <a:r>
              <a:rPr lang="en-US" sz="2000" dirty="0" smtClean="0"/>
              <a:t>ransistors</a:t>
            </a:r>
            <a:r>
              <a:rPr lang="bg-BG" sz="2000" dirty="0"/>
              <a:t>) - Най-широко разпространеният транзистор в съвременната електроника</a:t>
            </a:r>
            <a:r>
              <a:rPr lang="en-GB" sz="2000" dirty="0"/>
              <a:t>.</a:t>
            </a:r>
            <a:endParaRPr lang="bg-BG" sz="2000" dirty="0"/>
          </a:p>
          <a:p>
            <a:pPr lvl="2"/>
            <a:r>
              <a:rPr lang="bg-BG" sz="2000" dirty="0" smtClean="0"/>
              <a:t>Характеристики</a:t>
            </a:r>
            <a:endParaRPr lang="en-GB" sz="2000" dirty="0"/>
          </a:p>
          <a:p>
            <a:pPr lvl="3"/>
            <a:r>
              <a:rPr lang="bg-BG" sz="2000" dirty="0" smtClean="0"/>
              <a:t>По-евтин за производство</a:t>
            </a:r>
            <a:endParaRPr lang="en-GB" sz="2000" dirty="0"/>
          </a:p>
          <a:p>
            <a:pPr lvl="3"/>
            <a:r>
              <a:rPr lang="bg-BG" sz="2000" dirty="0" smtClean="0"/>
              <a:t>Малък обем</a:t>
            </a:r>
            <a:endParaRPr lang="en-GB" sz="2000" dirty="0"/>
          </a:p>
          <a:p>
            <a:pPr lvl="3"/>
            <a:r>
              <a:rPr lang="bg-BG" sz="2000" dirty="0" smtClean="0"/>
              <a:t>Ниска консумация </a:t>
            </a:r>
            <a:endParaRPr lang="en-GB" sz="2000" dirty="0"/>
          </a:p>
          <a:p>
            <a:pPr lvl="2"/>
            <a:r>
              <a:rPr lang="bg-BG" sz="2000" dirty="0" smtClean="0"/>
              <a:t>Приложение </a:t>
            </a:r>
            <a:endParaRPr lang="en-GB" sz="2000" dirty="0"/>
          </a:p>
          <a:p>
            <a:pPr lvl="3"/>
            <a:r>
              <a:rPr lang="bg-BG" sz="2000" dirty="0" smtClean="0"/>
              <a:t>Микропроцесори</a:t>
            </a:r>
            <a:endParaRPr lang="en-GB" sz="2000" dirty="0"/>
          </a:p>
          <a:p>
            <a:pPr lvl="3"/>
            <a:r>
              <a:rPr lang="bg-BG" sz="2000" dirty="0" smtClean="0"/>
              <a:t>Памети</a:t>
            </a:r>
            <a:endParaRPr lang="en-GB" sz="2000" dirty="0"/>
          </a:p>
          <a:p>
            <a:pPr lvl="3"/>
            <a:r>
              <a:rPr lang="bg-BG" sz="2000" dirty="0" smtClean="0"/>
              <a:t>Силова електроника</a:t>
            </a:r>
            <a:endParaRPr lang="en-GB" sz="2000" dirty="0"/>
          </a:p>
        </p:txBody>
      </p:sp>
      <p:pic>
        <p:nvPicPr>
          <p:cNvPr id="6" name="Picture 2" descr="D:\GTN\dropbox\TU\MKE\8. MOSFET\article-new_ehow_images_a07_av_4k_troubleshooting-mosfet-transistor-800x8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57600"/>
            <a:ext cx="3672319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3926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</a:t>
            </a:r>
            <a:r>
              <a:rPr lang="bg-BG" dirty="0" smtClean="0"/>
              <a:t>качества</a:t>
            </a:r>
            <a:br>
              <a:rPr lang="bg-B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467600" cy="5407152"/>
          </a:xfrm>
        </p:spPr>
        <p:txBody>
          <a:bodyPr>
            <a:noAutofit/>
          </a:bodyPr>
          <a:lstStyle/>
          <a:p>
            <a:pPr marL="407988" lvl="3" indent="-182563"/>
            <a:r>
              <a:rPr lang="bg-BG" sz="2000" dirty="0" smtClean="0"/>
              <a:t>Много </a:t>
            </a:r>
            <a:r>
              <a:rPr lang="bg-BG" sz="2000" dirty="0"/>
              <a:t>висок входен импеданс (в резултат много малка консумация) </a:t>
            </a:r>
            <a:r>
              <a:rPr lang="bg-BG" sz="2000" b="1" dirty="0"/>
              <a:t>(по-висок от </a:t>
            </a:r>
            <a:r>
              <a:rPr lang="bg-BG" sz="2000" b="1" dirty="0" err="1"/>
              <a:t>импеданса</a:t>
            </a:r>
            <a:r>
              <a:rPr lang="bg-BG" sz="2000" b="1" dirty="0"/>
              <a:t> на полевите транзистори с </a:t>
            </a:r>
            <a:r>
              <a:rPr lang="en-US" sz="2000" b="1" dirty="0"/>
              <a:t>PN</a:t>
            </a:r>
            <a:r>
              <a:rPr lang="bg-BG" sz="2000" b="1" dirty="0"/>
              <a:t> преход)</a:t>
            </a:r>
            <a:endParaRPr lang="en-GB" sz="2000" b="1" dirty="0"/>
          </a:p>
          <a:p>
            <a:pPr marL="407988" lvl="3" indent="-182563"/>
            <a:r>
              <a:rPr lang="bg-BG" sz="2000" dirty="0"/>
              <a:t>Възможност за значително усилване по мощност</a:t>
            </a:r>
          </a:p>
          <a:p>
            <a:pPr marL="407988" lvl="3" indent="-182563"/>
            <a:r>
              <a:rPr lang="bg-BG" sz="2000" b="1" dirty="0"/>
              <a:t>Ако не са предвидени предпазни диоди, </a:t>
            </a:r>
            <a:r>
              <a:rPr lang="en-US" sz="2000" b="1" dirty="0"/>
              <a:t>MOSFET</a:t>
            </a:r>
            <a:r>
              <a:rPr lang="bg-BG" sz="2000" b="1" dirty="0"/>
              <a:t> са много чувствителни на статично електричество</a:t>
            </a:r>
            <a:endParaRPr lang="en-GB" sz="2000" b="1" dirty="0"/>
          </a:p>
          <a:p>
            <a:pPr marL="407988" lvl="3" indent="-182563"/>
            <a:r>
              <a:rPr lang="bg-BG" sz="2000" dirty="0"/>
              <a:t>3 или 4 електроден елемент (</a:t>
            </a:r>
            <a:r>
              <a:rPr lang="bg-BG" sz="2000" dirty="0" err="1"/>
              <a:t>Гейт</a:t>
            </a:r>
            <a:r>
              <a:rPr lang="bg-BG" sz="2000" dirty="0"/>
              <a:t>, Сорс, </a:t>
            </a:r>
            <a:r>
              <a:rPr lang="bg-BG" sz="2000" dirty="0" err="1"/>
              <a:t>Дрейн</a:t>
            </a:r>
            <a:r>
              <a:rPr lang="bg-BG" sz="2000" dirty="0"/>
              <a:t>, </a:t>
            </a:r>
            <a:r>
              <a:rPr lang="bg-BG" sz="2000" dirty="0" smtClean="0"/>
              <a:t>Подложка</a:t>
            </a:r>
            <a:r>
              <a:rPr lang="bg-BG" sz="2000" dirty="0"/>
              <a:t>)</a:t>
            </a:r>
            <a:endParaRPr lang="en-GB" sz="2000" dirty="0"/>
          </a:p>
          <a:p>
            <a:pPr marL="407988" lvl="3" indent="-182563"/>
            <a:r>
              <a:rPr lang="bg-BG" sz="2000" dirty="0"/>
              <a:t>Два вида транзистори: </a:t>
            </a:r>
          </a:p>
          <a:p>
            <a:pPr marL="682308" lvl="5" indent="-182563"/>
            <a:r>
              <a:rPr lang="bg-BG" sz="1800" dirty="0"/>
              <a:t>работещи в режим на обедняване – нормално затворен ключ</a:t>
            </a:r>
          </a:p>
          <a:p>
            <a:pPr marL="682308" lvl="5" indent="-182563"/>
            <a:r>
              <a:rPr lang="bg-BG" sz="1800" b="1" dirty="0"/>
              <a:t>режим на обогатяване – нормално отворен ключ</a:t>
            </a:r>
            <a:endParaRPr lang="en-GB" sz="1800" b="1" dirty="0"/>
          </a:p>
          <a:p>
            <a:pPr marL="407988" lvl="3" indent="-182563"/>
            <a:r>
              <a:rPr lang="bg-BG" sz="2000" dirty="0"/>
              <a:t>Два различни вида канали</a:t>
            </a:r>
            <a:r>
              <a:rPr lang="en-GB" sz="2000" dirty="0"/>
              <a:t>: </a:t>
            </a:r>
            <a:endParaRPr lang="bg-BG" sz="2000" dirty="0"/>
          </a:p>
          <a:p>
            <a:pPr marL="682308" lvl="5" indent="-182563"/>
            <a:r>
              <a:rPr lang="en-GB" sz="1800" dirty="0" smtClean="0"/>
              <a:t>N </a:t>
            </a:r>
            <a:r>
              <a:rPr lang="bg-BG" sz="1800" dirty="0" smtClean="0"/>
              <a:t>- канал</a:t>
            </a:r>
            <a:r>
              <a:rPr lang="en-GB" sz="1800" dirty="0" smtClean="0"/>
              <a:t> </a:t>
            </a:r>
            <a:endParaRPr lang="bg-BG" sz="1800" dirty="0"/>
          </a:p>
          <a:p>
            <a:pPr marL="682308" lvl="5" indent="-182563"/>
            <a:r>
              <a:rPr lang="en-US" sz="1800" dirty="0" smtClean="0"/>
              <a:t>P - </a:t>
            </a:r>
            <a:r>
              <a:rPr lang="bg-BG" sz="1800" dirty="0" smtClean="0"/>
              <a:t>канал</a:t>
            </a:r>
            <a:endParaRPr lang="bg-BG" sz="1800" dirty="0"/>
          </a:p>
          <a:p>
            <a:pPr marL="407988" indent="-182563"/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8676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bg-BG" dirty="0" smtClean="0"/>
              <a:t>Символни означения</a:t>
            </a:r>
            <a:r>
              <a:rPr lang="en-US" dirty="0" smtClean="0"/>
              <a:t>, MOSFET</a:t>
            </a:r>
            <a:r>
              <a:rPr lang="bg-BG" dirty="0" smtClean="0"/>
              <a:t/>
            </a:r>
            <a:br>
              <a:rPr lang="bg-BG" dirty="0" smtClean="0"/>
            </a:br>
            <a:endParaRPr lang="en-US" dirty="0" smtClean="0"/>
          </a:p>
        </p:txBody>
      </p:sp>
      <p:pic>
        <p:nvPicPr>
          <p:cNvPr id="15363" name="Picture 4" descr="MOSFETCircuitSymbolText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24477"/>
          <a:stretch/>
        </p:blipFill>
        <p:spPr>
          <a:xfrm>
            <a:off x="914400" y="1219200"/>
            <a:ext cx="7239000" cy="5153025"/>
          </a:xfrm>
          <a:noFill/>
        </p:spPr>
      </p:pic>
      <p:sp>
        <p:nvSpPr>
          <p:cNvPr id="4" name="TextBox 3"/>
          <p:cNvSpPr txBox="1"/>
          <p:nvPr/>
        </p:nvSpPr>
        <p:spPr>
          <a:xfrm>
            <a:off x="1295400" y="3124200"/>
            <a:ext cx="2133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N </a:t>
            </a:r>
            <a:r>
              <a:rPr lang="bg-BG" dirty="0" smtClean="0"/>
              <a:t>канал, индуциран</a:t>
            </a:r>
            <a:endParaRPr lang="bg-BG" dirty="0"/>
          </a:p>
        </p:txBody>
      </p:sp>
      <p:sp>
        <p:nvSpPr>
          <p:cNvPr id="5" name="TextBox 4"/>
          <p:cNvSpPr txBox="1"/>
          <p:nvPr/>
        </p:nvSpPr>
        <p:spPr>
          <a:xfrm>
            <a:off x="3733800" y="3048000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N </a:t>
            </a:r>
            <a:r>
              <a:rPr lang="bg-BG" dirty="0" smtClean="0"/>
              <a:t>канал, вграден</a:t>
            </a:r>
            <a:endParaRPr lang="bg-BG" dirty="0"/>
          </a:p>
        </p:txBody>
      </p:sp>
      <p:sp>
        <p:nvSpPr>
          <p:cNvPr id="7" name="TextBox 6"/>
          <p:cNvSpPr txBox="1"/>
          <p:nvPr/>
        </p:nvSpPr>
        <p:spPr>
          <a:xfrm>
            <a:off x="1295400" y="6019800"/>
            <a:ext cx="2133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 </a:t>
            </a:r>
            <a:r>
              <a:rPr lang="bg-BG" dirty="0" smtClean="0"/>
              <a:t>канал, индуциран</a:t>
            </a:r>
            <a:endParaRPr lang="bg-BG" dirty="0"/>
          </a:p>
        </p:txBody>
      </p:sp>
      <p:sp>
        <p:nvSpPr>
          <p:cNvPr id="8" name="TextBox 7"/>
          <p:cNvSpPr txBox="1"/>
          <p:nvPr/>
        </p:nvSpPr>
        <p:spPr>
          <a:xfrm>
            <a:off x="3962400" y="6019800"/>
            <a:ext cx="2133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 </a:t>
            </a:r>
            <a:r>
              <a:rPr lang="bg-BG" dirty="0" smtClean="0"/>
              <a:t>канал, вграден</a:t>
            </a:r>
            <a:endParaRPr lang="bg-BG" dirty="0"/>
          </a:p>
        </p:txBody>
      </p:sp>
      <p:sp>
        <p:nvSpPr>
          <p:cNvPr id="9" name="TextBox 8"/>
          <p:cNvSpPr txBox="1"/>
          <p:nvPr/>
        </p:nvSpPr>
        <p:spPr>
          <a:xfrm>
            <a:off x="6172200" y="2057400"/>
            <a:ext cx="2057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bg-BG" dirty="0"/>
          </a:p>
        </p:txBody>
      </p:sp>
      <p:sp>
        <p:nvSpPr>
          <p:cNvPr id="11" name="TextBox 10"/>
          <p:cNvSpPr txBox="1"/>
          <p:nvPr/>
        </p:nvSpPr>
        <p:spPr>
          <a:xfrm>
            <a:off x="5867400" y="1219200"/>
            <a:ext cx="2133600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xmlns="" val="387004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Полеви транзистор с N вграден канал: </a:t>
            </a:r>
            <a:br>
              <a:rPr lang="bg-BG" dirty="0" smtClean="0"/>
            </a:br>
            <a:r>
              <a:rPr lang="bg-BG" dirty="0" smtClean="0"/>
              <a:t>а) предавателна </a:t>
            </a:r>
            <a:r>
              <a:rPr lang="bg-BG" dirty="0" err="1" smtClean="0"/>
              <a:t>х-ка</a:t>
            </a:r>
            <a:r>
              <a:rPr lang="bg-BG" dirty="0" smtClean="0"/>
              <a:t>; б) схема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 </a:t>
            </a: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24000"/>
            <a:ext cx="762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295400" y="3505200"/>
            <a:ext cx="13716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bg-BG" sz="1600" dirty="0" smtClean="0"/>
              <a:t>Обедняване</a:t>
            </a:r>
            <a:endParaRPr lang="bg-BG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505200" y="2514600"/>
            <a:ext cx="152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bg-BG" sz="1600" dirty="0" smtClean="0"/>
              <a:t>Обогатяване</a:t>
            </a:r>
            <a:endParaRPr lang="bg-BG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964517"/>
            <a:ext cx="2895600" cy="18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Сравнение с биполярните транзистори</a:t>
            </a:r>
            <a:br>
              <a:rPr lang="bg-BG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457200" y="1828800"/>
            <a:ext cx="3657600" cy="3886200"/>
          </a:xfrm>
        </p:spPr>
        <p:txBody>
          <a:bodyPr>
            <a:normAutofit lnSpcReduction="10000"/>
          </a:bodyPr>
          <a:lstStyle/>
          <a:p>
            <a:r>
              <a:rPr lang="bg-BG" dirty="0" smtClean="0"/>
              <a:t>Управляват се с ток</a:t>
            </a:r>
          </a:p>
          <a:p>
            <a:r>
              <a:rPr lang="bg-BG" dirty="0" smtClean="0"/>
              <a:t>По-добри аналогови усилвателни свойства</a:t>
            </a:r>
          </a:p>
          <a:p>
            <a:r>
              <a:rPr lang="bg-BG" dirty="0" smtClean="0"/>
              <a:t>По-висока работна честота</a:t>
            </a:r>
          </a:p>
          <a:p>
            <a:r>
              <a:rPr lang="bg-BG" dirty="0" smtClean="0"/>
              <a:t>По-добри свойства при високо напрежение (над 1000</a:t>
            </a:r>
            <a:r>
              <a:rPr lang="en-US" dirty="0" smtClean="0"/>
              <a:t>V)</a:t>
            </a:r>
            <a:endParaRPr lang="bg-BG" dirty="0" smtClean="0"/>
          </a:p>
          <a:p>
            <a:endParaRPr lang="bg-BG" dirty="0"/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371975" y="1828800"/>
            <a:ext cx="3657600" cy="3886200"/>
          </a:xfrm>
        </p:spPr>
        <p:txBody>
          <a:bodyPr>
            <a:normAutofit fontScale="92500"/>
          </a:bodyPr>
          <a:lstStyle/>
          <a:p>
            <a:r>
              <a:rPr lang="bg-BG" dirty="0" smtClean="0"/>
              <a:t>Много високо входно съпротивление – управляват се с напрежение</a:t>
            </a:r>
          </a:p>
          <a:p>
            <a:r>
              <a:rPr lang="bg-BG" dirty="0" smtClean="0"/>
              <a:t>По-лесни и по-евтини за производство</a:t>
            </a:r>
          </a:p>
          <a:p>
            <a:r>
              <a:rPr lang="bg-BG" dirty="0" smtClean="0"/>
              <a:t>По-лесно реализиране на цифрови схеми</a:t>
            </a:r>
          </a:p>
          <a:p>
            <a:r>
              <a:rPr lang="bg-BG" dirty="0" smtClean="0"/>
              <a:t>По-малък собствен шум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/>
          </p:nvPr>
        </p:nvSpPr>
        <p:spPr>
          <a:xfrm>
            <a:off x="457200" y="1036320"/>
            <a:ext cx="3657600" cy="658368"/>
          </a:xfrm>
        </p:spPr>
        <p:txBody>
          <a:bodyPr/>
          <a:lstStyle/>
          <a:p>
            <a:r>
              <a:rPr lang="bg-BG" dirty="0"/>
              <a:t>Биполярни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343400" y="1036320"/>
            <a:ext cx="3657600" cy="658368"/>
          </a:xfrm>
        </p:spPr>
        <p:txBody>
          <a:bodyPr/>
          <a:lstStyle/>
          <a:p>
            <a:r>
              <a:rPr lang="bg-BG" dirty="0" smtClean="0"/>
              <a:t>Полеви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6985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Параметри на </a:t>
            </a:r>
            <a:r>
              <a:rPr lang="en-US" dirty="0" smtClean="0"/>
              <a:t>MOSFET </a:t>
            </a:r>
            <a:r>
              <a:rPr lang="bg-BG" dirty="0" smtClean="0"/>
              <a:t>транзисторите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R,ds,on</a:t>
            </a:r>
            <a:r>
              <a:rPr lang="en-US" dirty="0" smtClean="0"/>
              <a:t> – </a:t>
            </a:r>
            <a:r>
              <a:rPr lang="bg-BG" dirty="0" smtClean="0"/>
              <a:t>съпротивление при отпушено състояние</a:t>
            </a:r>
            <a:endParaRPr lang="en-US" dirty="0" smtClean="0"/>
          </a:p>
          <a:p>
            <a:r>
              <a:rPr lang="en-US" dirty="0" smtClean="0"/>
              <a:t>V,</a:t>
            </a:r>
            <a:r>
              <a:rPr lang="en-US" sz="1200" dirty="0" smtClean="0"/>
              <a:t>T</a:t>
            </a:r>
            <a:r>
              <a:rPr lang="bg-BG" dirty="0" smtClean="0"/>
              <a:t> – отпушващо напрежение на </a:t>
            </a:r>
            <a:r>
              <a:rPr lang="bg-BG" dirty="0" err="1" smtClean="0"/>
              <a:t>гейта</a:t>
            </a:r>
            <a:endParaRPr lang="en-US" dirty="0" smtClean="0"/>
          </a:p>
          <a:p>
            <a:r>
              <a:rPr lang="en-US" dirty="0" smtClean="0"/>
              <a:t>Id</a:t>
            </a:r>
            <a:r>
              <a:rPr lang="bg-BG" dirty="0" smtClean="0"/>
              <a:t> – допустим ток на </a:t>
            </a:r>
            <a:r>
              <a:rPr lang="bg-BG" dirty="0" err="1" smtClean="0"/>
              <a:t>гейта</a:t>
            </a:r>
            <a:endParaRPr lang="en-US" dirty="0" smtClean="0"/>
          </a:p>
          <a:p>
            <a:r>
              <a:rPr lang="en-US" dirty="0" err="1" smtClean="0"/>
              <a:t>V,ds</a:t>
            </a:r>
            <a:r>
              <a:rPr lang="bg-BG" dirty="0" smtClean="0"/>
              <a:t>  - напрежение на изхода</a:t>
            </a:r>
            <a:endParaRPr lang="en-US" dirty="0" smtClean="0"/>
          </a:p>
          <a:p>
            <a:r>
              <a:rPr lang="en-US" dirty="0" err="1" smtClean="0"/>
              <a:t>C,in</a:t>
            </a:r>
            <a:r>
              <a:rPr lang="bg-BG" dirty="0" smtClean="0"/>
              <a:t> – входен капацитет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63658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10157</TotalTime>
  <Words>584</Words>
  <Application>Microsoft Office PowerPoint</Application>
  <PresentationFormat>On-screen Show (4:3)</PresentationFormat>
  <Paragraphs>140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Oriel</vt:lpstr>
      <vt:lpstr>Полеви транзистори. MOSFET. Основни свойства и параметри. Схеми на свързване.  </vt:lpstr>
      <vt:lpstr>Обща информация</vt:lpstr>
      <vt:lpstr>История </vt:lpstr>
      <vt:lpstr>Размери! </vt:lpstr>
      <vt:lpstr>Изводи: Gate, Drain, Source </vt:lpstr>
      <vt:lpstr>Обща информация </vt:lpstr>
      <vt:lpstr>Поведение на канала при различно напрежение</vt:lpstr>
      <vt:lpstr>Волт-амперни характеристики на JFET </vt:lpstr>
      <vt:lpstr>MOSFET (Metal Oxide Semiconductor Field Effect Transistors). Структура</vt:lpstr>
      <vt:lpstr>MOSFET (Metal Oxide Semiconductor Field Effect Transistors)  Обща информация </vt:lpstr>
      <vt:lpstr>Основни качества </vt:lpstr>
      <vt:lpstr>Символни означения, MOSFET </vt:lpstr>
      <vt:lpstr>Полеви транзистор с N вграден канал:  а) предавателна х-ка; б) схема</vt:lpstr>
      <vt:lpstr>Сравнение с биполярните транзистори </vt:lpstr>
      <vt:lpstr>Параметри на MOSFET транзисторите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Georgi</dc:creator>
  <cp:lastModifiedBy>Teacher</cp:lastModifiedBy>
  <cp:revision>266</cp:revision>
  <dcterms:created xsi:type="dcterms:W3CDTF">2006-08-16T00:00:00Z</dcterms:created>
  <dcterms:modified xsi:type="dcterms:W3CDTF">2016-11-27T15:29:08Z</dcterms:modified>
</cp:coreProperties>
</file>
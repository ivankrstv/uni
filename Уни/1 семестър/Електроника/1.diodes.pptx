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268" r:id="rId3"/>
    <p:sldId id="344" r:id="rId4"/>
    <p:sldId id="322" r:id="rId5"/>
    <p:sldId id="329" r:id="rId6"/>
    <p:sldId id="354" r:id="rId7"/>
    <p:sldId id="355" r:id="rId8"/>
    <p:sldId id="330" r:id="rId9"/>
    <p:sldId id="332" r:id="rId10"/>
    <p:sldId id="333" r:id="rId11"/>
    <p:sldId id="334" r:id="rId12"/>
    <p:sldId id="335" r:id="rId13"/>
    <p:sldId id="346" r:id="rId14"/>
    <p:sldId id="347" r:id="rId15"/>
    <p:sldId id="348" r:id="rId16"/>
    <p:sldId id="350" r:id="rId17"/>
    <p:sldId id="35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125" d="100"/>
          <a:sy n="125" d="100"/>
        </p:scale>
        <p:origin x="11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3C5CA-6687-4F32-A5FF-8CEAF2AE44B1}" type="datetimeFigureOut">
              <a:rPr lang="bg-BG" smtClean="0"/>
              <a:pPr/>
              <a:t>3.10.2023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EECB-D8FA-41A3-B0EC-BF3922F158D3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6310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2D2E592-4A2E-4BF9-A293-5D4CA1DD4DAF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8CD3E69-3D3E-498E-8451-15B84446259C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lIns="36000" tIns="36000" rIns="36000" bIns="36000" rtlCol="0"/>
          <a:lstStyle/>
          <a:p>
            <a:fld id="{12902C2A-6BBE-4F76-B0A0-0825489B58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DFBF9CF-4921-4328-9B41-A045E9AF6BFA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3EAFD-D94D-45EF-BEF1-DAA051E58B44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2322-A269-4D17-A395-14EA6835F691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8AD8E53-10C3-4075-BDB5-1A60D07778CA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EB91-2A6D-426B-8EC3-948122788556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8CDD70B-CB48-4837-917F-683692E29684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832BB7E-0C31-4275-A2F4-79BF2F9688A2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F2E9-85C3-4B1C-9AF4-D23F9A75E333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B7C2-5310-481F-99BE-A39F46511263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D8E6A2B-0561-4E1D-9856-5848DD06DFF0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362200"/>
            <a:ext cx="6172200" cy="1143000"/>
          </a:xfrm>
        </p:spPr>
        <p:txBody>
          <a:bodyPr>
            <a:normAutofit/>
          </a:bodyPr>
          <a:lstStyle/>
          <a:p>
            <a:r>
              <a:rPr lang="bg-BG" dirty="0"/>
              <a:t>Полупроводникови диоди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>
                <a:solidFill>
                  <a:schemeClr val="tx1"/>
                </a:solidFill>
              </a:rPr>
              <a:t>Проф. Венцислав Вълчев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9800" y="1563469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/>
              <a:t>Дисциплина : </a:t>
            </a:r>
          </a:p>
          <a:p>
            <a:pPr algn="ctr"/>
            <a:r>
              <a:rPr lang="bg-BG" i="1" dirty="0"/>
              <a:t>“Електрониката” 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6400" y="304800"/>
            <a:ext cx="70104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800" b="1" dirty="0"/>
              <a:t>Технически Университет Варна</a:t>
            </a:r>
          </a:p>
          <a:p>
            <a:pPr algn="ctr"/>
            <a:endParaRPr lang="bg-BG" sz="1050" b="1" dirty="0"/>
          </a:p>
          <a:p>
            <a:pPr algn="ctr"/>
            <a:r>
              <a:rPr lang="bg-BG" dirty="0"/>
              <a:t>Катедра „Електронна техника и микроелектроника“</a:t>
            </a:r>
          </a:p>
        </p:txBody>
      </p:sp>
      <p:sp>
        <p:nvSpPr>
          <p:cNvPr id="6" name="Rectangle 5"/>
          <p:cNvSpPr/>
          <p:nvPr/>
        </p:nvSpPr>
        <p:spPr>
          <a:xfrm>
            <a:off x="2209800" y="6248400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/>
              <a:t>20</a:t>
            </a:r>
            <a:r>
              <a:rPr lang="en-US" i="1" dirty="0"/>
              <a:t>23</a:t>
            </a:r>
            <a:endParaRPr lang="bg-BG" i="1" dirty="0"/>
          </a:p>
        </p:txBody>
      </p:sp>
      <p:sp>
        <p:nvSpPr>
          <p:cNvPr id="7" name="Rectangle 6"/>
          <p:cNvSpPr/>
          <p:nvPr/>
        </p:nvSpPr>
        <p:spPr>
          <a:xfrm>
            <a:off x="838200" y="3711714"/>
            <a:ext cx="838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</a:t>
            </a:r>
            <a:endParaRPr lang="bg-BG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411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0"/>
            <a:ext cx="8029446" cy="1143000"/>
          </a:xfrm>
        </p:spPr>
        <p:txBody>
          <a:bodyPr>
            <a:normAutofit/>
          </a:bodyPr>
          <a:lstStyle/>
          <a:p>
            <a:r>
              <a:rPr lang="bg-BG" dirty="0"/>
              <a:t>Обща информация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>
            <a:normAutofit/>
          </a:bodyPr>
          <a:lstStyle/>
          <a:p>
            <a:r>
              <a:rPr lang="bg-BG" dirty="0"/>
              <a:t>Диодите са един от най-широко разпространените полупроводникови елеметни. </a:t>
            </a:r>
          </a:p>
          <a:p>
            <a:r>
              <a:rPr lang="bg-BG" dirty="0"/>
              <a:t>Полупроводниковия диод има два електрода Анод</a:t>
            </a:r>
            <a:r>
              <a:rPr lang="en-US" dirty="0"/>
              <a:t> (anode) </a:t>
            </a:r>
            <a:r>
              <a:rPr lang="bg-BG" dirty="0"/>
              <a:t>и Катод</a:t>
            </a:r>
            <a:r>
              <a:rPr lang="en-US" dirty="0"/>
              <a:t> (</a:t>
            </a:r>
            <a:r>
              <a:rPr lang="en-US" dirty="0" err="1"/>
              <a:t>Cathod</a:t>
            </a:r>
            <a:r>
              <a:rPr lang="en-US" dirty="0"/>
              <a:t>)</a:t>
            </a:r>
            <a:r>
              <a:rPr lang="bg-BG" dirty="0"/>
              <a:t>, в кото се използват свойствата на един </a:t>
            </a:r>
            <a:r>
              <a:rPr lang="en-US" dirty="0"/>
              <a:t>PN</a:t>
            </a:r>
            <a:r>
              <a:rPr lang="bg-BG" dirty="0"/>
              <a:t> преход.</a:t>
            </a:r>
          </a:p>
        </p:txBody>
      </p:sp>
    </p:spTree>
    <p:extLst>
      <p:ext uri="{BB962C8B-B14F-4D97-AF65-F5344CB8AC3E}">
        <p14:creationId xmlns:p14="http://schemas.microsoft.com/office/powerpoint/2010/main" val="1978191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Класификация. Видове диоди:</a:t>
            </a:r>
            <a:br>
              <a:rPr lang="bg-BG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467600" cy="5559552"/>
          </a:xfrm>
        </p:spPr>
        <p:txBody>
          <a:bodyPr>
            <a:normAutofit fontScale="85000" lnSpcReduction="20000"/>
          </a:bodyPr>
          <a:lstStyle/>
          <a:p>
            <a:r>
              <a:rPr lang="bg-BG" dirty="0"/>
              <a:t>В зависимост от предназначението си:</a:t>
            </a:r>
          </a:p>
          <a:p>
            <a:pPr lvl="1"/>
            <a:r>
              <a:rPr lang="bg-BG" dirty="0"/>
              <a:t>Изправителни</a:t>
            </a:r>
          </a:p>
          <a:p>
            <a:pPr lvl="1"/>
            <a:r>
              <a:rPr lang="bg-BG" dirty="0"/>
              <a:t>Детекторни</a:t>
            </a:r>
          </a:p>
          <a:p>
            <a:pPr lvl="1"/>
            <a:r>
              <a:rPr lang="bg-BG" dirty="0"/>
              <a:t>Импулсни</a:t>
            </a:r>
          </a:p>
          <a:p>
            <a:pPr lvl="1"/>
            <a:r>
              <a:rPr lang="bg-BG" dirty="0"/>
              <a:t>Опорни</a:t>
            </a:r>
          </a:p>
          <a:p>
            <a:pPr lvl="1"/>
            <a:r>
              <a:rPr lang="bg-BG" dirty="0"/>
              <a:t>Светещи</a:t>
            </a:r>
          </a:p>
          <a:p>
            <a:r>
              <a:rPr lang="bg-BG" dirty="0"/>
              <a:t>В зависимост от мощността</a:t>
            </a:r>
          </a:p>
          <a:p>
            <a:pPr lvl="1"/>
            <a:r>
              <a:rPr lang="bg-BG" dirty="0"/>
              <a:t>Маломощни</a:t>
            </a:r>
          </a:p>
          <a:p>
            <a:pPr lvl="1"/>
            <a:r>
              <a:rPr lang="bg-BG" dirty="0"/>
              <a:t>Средномощни</a:t>
            </a:r>
          </a:p>
          <a:p>
            <a:pPr lvl="1"/>
            <a:r>
              <a:rPr lang="bg-BG" dirty="0"/>
              <a:t>Мощни</a:t>
            </a:r>
          </a:p>
          <a:p>
            <a:r>
              <a:rPr lang="bg-BG" dirty="0"/>
              <a:t>В зависимост от честотата</a:t>
            </a:r>
          </a:p>
          <a:p>
            <a:pPr lvl="1"/>
            <a:r>
              <a:rPr lang="bg-BG" dirty="0"/>
              <a:t>Нискочестотни</a:t>
            </a:r>
          </a:p>
          <a:p>
            <a:pPr lvl="1"/>
            <a:r>
              <a:rPr lang="bg-BG" dirty="0"/>
              <a:t>Високочестотни</a:t>
            </a:r>
          </a:p>
          <a:p>
            <a:r>
              <a:rPr lang="bg-BG" dirty="0"/>
              <a:t>В зависимост от използвания полупроводник</a:t>
            </a:r>
          </a:p>
          <a:p>
            <a:pPr lvl="1"/>
            <a:r>
              <a:rPr lang="bg-BG" dirty="0"/>
              <a:t>Силициев</a:t>
            </a:r>
          </a:p>
          <a:p>
            <a:pPr lvl="1"/>
            <a:r>
              <a:rPr lang="bg-BG" dirty="0"/>
              <a:t>Германиеви</a:t>
            </a:r>
          </a:p>
          <a:p>
            <a:pPr lvl="1"/>
            <a:r>
              <a:rPr lang="bg-BG" dirty="0"/>
              <a:t>Галиевоарсенидни</a:t>
            </a:r>
          </a:p>
          <a:p>
            <a:pPr lvl="1"/>
            <a:r>
              <a:rPr lang="bg-BG" dirty="0"/>
              <a:t>Силициево-карбидни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577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електронно-дупчест преход (</a:t>
            </a:r>
            <a:r>
              <a:rPr lang="en-US" dirty="0"/>
              <a:t>PN </a:t>
            </a:r>
            <a:r>
              <a:rPr lang="bg-BG" dirty="0"/>
              <a:t>преход)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bg-BG" dirty="0"/>
              <a:t>Електронно-дупчест преход (за кратко </a:t>
            </a:r>
            <a:r>
              <a:rPr lang="en-US" dirty="0"/>
              <a:t>PN </a:t>
            </a:r>
            <a:r>
              <a:rPr lang="bg-BG" dirty="0"/>
              <a:t>преход) е най-важният елемент от съвременната полупроводникова техника. </a:t>
            </a:r>
          </a:p>
          <a:p>
            <a:r>
              <a:rPr lang="bg-BG" dirty="0"/>
              <a:t>Основното му свойство е неговата еднопосочна проводимост.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453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Характеристики на диодите</a:t>
            </a:r>
            <a:br>
              <a:rPr lang="bg-BG" dirty="0"/>
            </a:br>
            <a:endParaRPr lang="bg-BG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483352"/>
          </a:xfrm>
        </p:spPr>
        <p:txBody>
          <a:bodyPr/>
          <a:lstStyle/>
          <a:p>
            <a:pPr defTabSz="874713">
              <a:tabLst>
                <a:tab pos="6181725" algn="l"/>
              </a:tabLst>
            </a:pPr>
            <a:r>
              <a:rPr lang="bg-BG" dirty="0"/>
              <a:t>Волт амперна характеристика</a:t>
            </a:r>
          </a:p>
          <a:p>
            <a:pPr defTabSz="874713">
              <a:tabLst>
                <a:tab pos="6181725" algn="l"/>
              </a:tabLst>
            </a:pPr>
            <a:r>
              <a:rPr lang="bg-BG" dirty="0"/>
              <a:t>Максимален изправен ток	</a:t>
            </a:r>
            <a:r>
              <a:rPr lang="en-US" dirty="0"/>
              <a:t>I</a:t>
            </a:r>
            <a:r>
              <a:rPr lang="bg-BG" baseline="-25000" dirty="0"/>
              <a:t>0</a:t>
            </a:r>
          </a:p>
          <a:p>
            <a:pPr defTabSz="874713">
              <a:tabLst>
                <a:tab pos="6181725" algn="l"/>
              </a:tabLst>
            </a:pPr>
            <a:r>
              <a:rPr lang="bg-BG" dirty="0"/>
              <a:t>Импулсен ток в права посока</a:t>
            </a:r>
            <a:r>
              <a:rPr lang="en-US" dirty="0"/>
              <a:t>	I</a:t>
            </a:r>
            <a:r>
              <a:rPr lang="en-US" baseline="-25000" dirty="0"/>
              <a:t>FM</a:t>
            </a:r>
            <a:endParaRPr lang="bg-BG" baseline="-25000" dirty="0"/>
          </a:p>
          <a:p>
            <a:pPr defTabSz="874713">
              <a:tabLst>
                <a:tab pos="6181725" algn="l"/>
              </a:tabLst>
            </a:pPr>
            <a:r>
              <a:rPr lang="bg-BG" dirty="0"/>
              <a:t>Обратен ток</a:t>
            </a:r>
            <a:r>
              <a:rPr lang="en-US" dirty="0"/>
              <a:t>	I</a:t>
            </a:r>
            <a:r>
              <a:rPr lang="en-US" baseline="-25000" dirty="0"/>
              <a:t>R</a:t>
            </a:r>
            <a:endParaRPr lang="bg-BG" baseline="-25000" dirty="0"/>
          </a:p>
          <a:p>
            <a:pPr defTabSz="874713">
              <a:tabLst>
                <a:tab pos="6181725" algn="l"/>
              </a:tabLst>
            </a:pPr>
            <a:r>
              <a:rPr lang="bg-BG" dirty="0"/>
              <a:t>Пад на напрежение в права посока</a:t>
            </a:r>
            <a:r>
              <a:rPr lang="en-US" dirty="0"/>
              <a:t>	V</a:t>
            </a:r>
            <a:r>
              <a:rPr lang="en-US" baseline="-25000" dirty="0"/>
              <a:t>F</a:t>
            </a:r>
            <a:endParaRPr lang="bg-BG" baseline="-25000" dirty="0"/>
          </a:p>
          <a:p>
            <a:pPr defTabSz="874713">
              <a:tabLst>
                <a:tab pos="6181725" algn="l"/>
              </a:tabLst>
            </a:pPr>
            <a:r>
              <a:rPr lang="bg-BG" dirty="0"/>
              <a:t>Максимално обратно напрежение 	</a:t>
            </a:r>
            <a:r>
              <a:rPr lang="en-US" dirty="0"/>
              <a:t>V</a:t>
            </a:r>
            <a:r>
              <a:rPr lang="en-US" baseline="-25000" dirty="0"/>
              <a:t>R</a:t>
            </a:r>
            <a:r>
              <a:rPr lang="bg-BG" baseline="-25000" dirty="0"/>
              <a:t>М</a:t>
            </a:r>
          </a:p>
          <a:p>
            <a:pPr defTabSz="874713">
              <a:tabLst>
                <a:tab pos="6181725" algn="l"/>
              </a:tabLst>
            </a:pPr>
            <a:r>
              <a:rPr lang="bg-BG" dirty="0"/>
              <a:t>Максимална разсейвана мощност</a:t>
            </a:r>
            <a:r>
              <a:rPr lang="en-US" dirty="0"/>
              <a:t>	P</a:t>
            </a:r>
            <a:r>
              <a:rPr lang="en-US" baseline="-25000" dirty="0"/>
              <a:t>D</a:t>
            </a:r>
            <a:endParaRPr lang="bg-BG" baseline="-25000" dirty="0"/>
          </a:p>
          <a:p>
            <a:pPr defTabSz="874713">
              <a:tabLst>
                <a:tab pos="6181725" algn="l"/>
              </a:tabLst>
            </a:pPr>
            <a:r>
              <a:rPr lang="bg-BG" dirty="0"/>
              <a:t>Капацитет на прехода</a:t>
            </a:r>
            <a:r>
              <a:rPr lang="en-US" dirty="0"/>
              <a:t>	C</a:t>
            </a:r>
            <a:r>
              <a:rPr lang="en-US" baseline="-25000" dirty="0"/>
              <a:t>J</a:t>
            </a:r>
            <a:endParaRPr lang="bg-BG" baseline="-25000" dirty="0"/>
          </a:p>
          <a:p>
            <a:pPr defTabSz="874713">
              <a:tabLst>
                <a:tab pos="6181725" algn="l"/>
              </a:tabLst>
            </a:pPr>
            <a:r>
              <a:rPr lang="bg-BG" dirty="0"/>
              <a:t>Максимално време за възстановяване</a:t>
            </a:r>
            <a:r>
              <a:rPr lang="en-US" dirty="0"/>
              <a:t>	</a:t>
            </a:r>
            <a:r>
              <a:rPr lang="en-US" dirty="0" err="1"/>
              <a:t>t</a:t>
            </a:r>
            <a:r>
              <a:rPr lang="en-US" baseline="-25000" dirty="0" err="1"/>
              <a:t>rr</a:t>
            </a:r>
            <a:endParaRPr lang="bg-BG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02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Волт амперна характеристика</a:t>
            </a:r>
            <a:br>
              <a:rPr lang="bg-BG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772400" cy="5483352"/>
          </a:xfrm>
        </p:spPr>
        <p:txBody>
          <a:bodyPr/>
          <a:lstStyle/>
          <a:p>
            <a:r>
              <a:rPr lang="bg-BG" dirty="0"/>
              <a:t>Показва зависимостта на тока от напрежението.</a:t>
            </a:r>
          </a:p>
          <a:p>
            <a:pPr lvl="1"/>
            <a:r>
              <a:rPr lang="bg-BG" dirty="0"/>
              <a:t>Първи квадрант – диода е включен в права посока</a:t>
            </a:r>
          </a:p>
          <a:p>
            <a:pPr lvl="1"/>
            <a:r>
              <a:rPr lang="bg-BG" dirty="0"/>
              <a:t>Трети квадрант – диода е включен в обратна посока</a:t>
            </a:r>
          </a:p>
          <a:p>
            <a:pPr lvl="1"/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3794" name="Picture 2" descr="E:\dropbox\TU\MKE\6. diodes\вах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2" y="2216823"/>
            <a:ext cx="5486398" cy="42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5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Апроксимации на ВАХ</a:t>
            </a:r>
            <a:br>
              <a:rPr lang="bg-BG" dirty="0"/>
            </a:b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4818" name="Picture 2" descr="E:\dropbox\TU\MKE\6. diodes\vah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347" y="4419600"/>
            <a:ext cx="3581053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19" name="Picture 3" descr="E:\dropbox\TU\MKE\6. diodes\vah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552" y="1616609"/>
            <a:ext cx="3581053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0" name="Picture 4" descr="E:\dropbox\TU\MKE\6. diodes\vah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29861"/>
            <a:ext cx="3515016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37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Максимален изправен ток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bg-BG" dirty="0"/>
              <a:t>Това е най-голямата допустима средна стойност на изправения ток през диода. При средномощните и мощните диоди, този ток може да се достигне само при използване на охлаждащ радиатор!</a:t>
            </a:r>
            <a:endParaRPr lang="en-US" dirty="0"/>
          </a:p>
          <a:p>
            <a:r>
              <a:rPr lang="bg-BG" dirty="0"/>
              <a:t>Протичането на по-голям ток (два пъти по-голям, за някоко секунди са достатъчни) води до прегряване на кристала и настъпването на необратими повреди.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41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Импулсен ток в права посока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bg-BG" dirty="0"/>
              <a:t>Максималната стойност на тока, който може да протече, дори и за минимално време. Обуславя се от токоносещата способност на проводниците свързващи електродите със самият кристал.</a:t>
            </a:r>
          </a:p>
          <a:p>
            <a:r>
              <a:rPr lang="bg-BG" dirty="0"/>
              <a:t>Обикновено е някоко десетки пъти повече от </a:t>
            </a:r>
            <a:r>
              <a:rPr lang="en-US" dirty="0"/>
              <a:t>I</a:t>
            </a:r>
            <a:r>
              <a:rPr lang="en-US" baseline="-25000" dirty="0"/>
              <a:t>0</a:t>
            </a:r>
            <a:r>
              <a:rPr lang="bg-BG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143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Обратен ток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/>
              <a:t>Създава се от неосновните токоносители в близост до </a:t>
            </a:r>
            <a:r>
              <a:rPr lang="en-US" dirty="0"/>
              <a:t>PN </a:t>
            </a:r>
            <a:r>
              <a:rPr lang="bg-BG" dirty="0"/>
              <a:t>прехода</a:t>
            </a:r>
            <a:endParaRPr lang="ru-RU" dirty="0"/>
          </a:p>
          <a:p>
            <a:r>
              <a:rPr lang="ru-RU" dirty="0"/>
              <a:t>Обикновено е микроампери, но може да достигне и до милиампери. Желателно е да има минимална стойност</a:t>
            </a:r>
          </a:p>
          <a:p>
            <a:r>
              <a:rPr lang="ru-RU" dirty="0"/>
              <a:t>Обратния ток не зависи от приложеното напрежение</a:t>
            </a:r>
          </a:p>
          <a:p>
            <a:r>
              <a:rPr lang="ru-RU" dirty="0"/>
              <a:t>Обратния ток зависи силно от температурата</a:t>
            </a:r>
          </a:p>
          <a:p>
            <a:r>
              <a:rPr lang="ru-RU" dirty="0"/>
              <a:t>Зависи от използвания полупроводник</a:t>
            </a:r>
          </a:p>
          <a:p>
            <a:pPr lvl="1"/>
            <a:r>
              <a:rPr lang="ru-RU" dirty="0"/>
              <a:t>При германиеви диоди, този ток има по-голяма стойност отколкото при силициевите (около 1000 пъти)</a:t>
            </a:r>
          </a:p>
          <a:p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465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Пад на напрежение в права посока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bg-BG" dirty="0"/>
              <a:t>Това е падът на напрежение между двата извода на диода, когато през него протича максималният ток в права посока. Обикновено е в границите от 0,5÷1,5</a:t>
            </a:r>
            <a:r>
              <a:rPr lang="en-US" dirty="0"/>
              <a:t>V.</a:t>
            </a:r>
            <a:endParaRPr lang="bg-BG" dirty="0"/>
          </a:p>
          <a:p>
            <a:r>
              <a:rPr lang="bg-BG" dirty="0"/>
              <a:t>Оказва правопропорционално влияние върху загубите на енергия в диода.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251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Максимално обратно напрежение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bg-BG" dirty="0"/>
              <a:t>Максималното напрежение което диода може да издържи продължително време. При подаване на по-голямо от това напрежение, в диода настъпва пробив.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145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b="1" dirty="0">
                <a:solidFill>
                  <a:schemeClr val="tx1"/>
                </a:solidFill>
              </a:rPr>
              <a:t>ВИДОВЕ ДИОДИ.</a:t>
            </a:r>
            <a:br>
              <a:rPr lang="bg-BG" dirty="0"/>
            </a:br>
            <a:r>
              <a:rPr lang="bg-BG" dirty="0"/>
              <a:t>Изправителни диоди</a:t>
            </a:r>
            <a:br>
              <a:rPr lang="bg-BG" dirty="0"/>
            </a:br>
            <a:endParaRPr lang="bg-BG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8001000" cy="5483352"/>
          </a:xfrm>
        </p:spPr>
        <p:txBody>
          <a:bodyPr/>
          <a:lstStyle/>
          <a:p>
            <a:r>
              <a:rPr lang="bg-BG" dirty="0"/>
              <a:t>Основното им предназначение е да изправят променливия ток.</a:t>
            </a:r>
          </a:p>
          <a:p>
            <a:r>
              <a:rPr lang="bg-BG" dirty="0"/>
              <a:t>При мощност по-голяма от няколко вата се нуждаят от радиатор</a:t>
            </a:r>
          </a:p>
          <a:p>
            <a:r>
              <a:rPr lang="bg-BG" dirty="0"/>
              <a:t>Използват се във всички захранващи блокове</a:t>
            </a:r>
          </a:p>
          <a:p>
            <a:r>
              <a:rPr lang="bg-BG" dirty="0"/>
              <a:t>Произвеждат се и диодни блокове за изправители, еднофазни и трифазни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25602" name="Picture 2" descr="E:\dropbox\TU\MKE\6. diodes\izprawivet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38685" y="5063123"/>
            <a:ext cx="2747963" cy="53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4" name="Picture 4" descr="E:\dropbox\TU\MKE\6. diodes\izprawivetl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812" y="3910013"/>
            <a:ext cx="5970588" cy="264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138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4" descr="E:\dropbox\TU\MKE\6. diodes\zener_vah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895" y="2507492"/>
            <a:ext cx="4379913" cy="4104376"/>
          </a:xfrm>
          <a:prstGeom prst="round2DiagRect">
            <a:avLst>
              <a:gd name="adj1" fmla="val 50000"/>
              <a:gd name="adj2" fmla="val 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9" name="Picture 5" descr="E:\dropbox\TU\MKE\6. diodes\imagesCARHTDZW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1371668"/>
            <a:ext cx="1937957" cy="193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Ценерови диоди</a:t>
            </a:r>
            <a:r>
              <a:rPr lang="en-US" dirty="0"/>
              <a:t> (</a:t>
            </a:r>
            <a:r>
              <a:rPr lang="bg-BG" dirty="0"/>
              <a:t>Стабилитрони</a:t>
            </a:r>
            <a:r>
              <a:rPr lang="en-US" dirty="0"/>
              <a:t>)</a:t>
            </a:r>
            <a:r>
              <a:rPr lang="bg-BG" dirty="0"/>
              <a:t> и Стабистори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47695" cy="4873752"/>
          </a:xfrm>
        </p:spPr>
        <p:txBody>
          <a:bodyPr>
            <a:normAutofit fontScale="77500" lnSpcReduction="20000"/>
          </a:bodyPr>
          <a:lstStyle/>
          <a:p>
            <a:r>
              <a:rPr lang="bg-BG" dirty="0"/>
              <a:t>В права посока работят като обикновен диод, почти не се ползват</a:t>
            </a:r>
          </a:p>
          <a:p>
            <a:r>
              <a:rPr lang="bg-BG" dirty="0"/>
              <a:t>В обратна посока настъпва ценеров пробив (възобратим)</a:t>
            </a:r>
          </a:p>
          <a:p>
            <a:r>
              <a:rPr lang="bg-BG" dirty="0"/>
              <a:t>Използват се в стабилизиращи схеми и схеми за задаване на опорно напрежение/ток</a:t>
            </a:r>
          </a:p>
          <a:p>
            <a:r>
              <a:rPr lang="bg-BG" dirty="0"/>
              <a:t>Чрез последователно свързване може да се получи произволно напрежение на стабилизация</a:t>
            </a:r>
          </a:p>
          <a:p>
            <a:r>
              <a:rPr lang="bg-BG" dirty="0"/>
              <a:t>Стабистора използва правия участък на ВАХ</a:t>
            </a:r>
            <a:r>
              <a:rPr lang="en-US" dirty="0"/>
              <a:t> </a:t>
            </a:r>
            <a:r>
              <a:rPr lang="bg-BG" dirty="0"/>
              <a:t>за стабилизиране на напрежения под 3-4</a:t>
            </a:r>
            <a:r>
              <a:rPr lang="en-US" dirty="0"/>
              <a:t>V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26627" name="Picture 3" descr="E:\dropbox\TU\MKE\6. diodes\zener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132638" y="1550229"/>
            <a:ext cx="1292225" cy="62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683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Шотки диоди</a:t>
            </a:r>
            <a:br>
              <a:rPr lang="en-US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267200" cy="4873752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Няма </a:t>
            </a:r>
            <a:r>
              <a:rPr lang="en-US" dirty="0"/>
              <a:t>PN</a:t>
            </a:r>
            <a:r>
              <a:rPr lang="bg-BG" dirty="0"/>
              <a:t> преход, а използва прехода метал-полупроводник</a:t>
            </a:r>
          </a:p>
          <a:p>
            <a:r>
              <a:rPr lang="bg-BG" dirty="0"/>
              <a:t>Има по-малък пад в права посока (около 0,35</a:t>
            </a:r>
            <a:r>
              <a:rPr lang="en-US" dirty="0"/>
              <a:t>V</a:t>
            </a:r>
            <a:r>
              <a:rPr lang="bg-BG" dirty="0"/>
              <a:t>).</a:t>
            </a:r>
          </a:p>
          <a:p>
            <a:r>
              <a:rPr lang="bg-BG" dirty="0"/>
              <a:t>Няма инжекция на неосновни токоносители – изключително високо бързодействие</a:t>
            </a:r>
          </a:p>
          <a:p>
            <a:r>
              <a:rPr lang="bg-BG" dirty="0"/>
              <a:t>По-голям обратен ток</a:t>
            </a:r>
          </a:p>
          <a:p>
            <a:r>
              <a:rPr lang="bg-BG" dirty="0"/>
              <a:t>Малко пробивно напрежение (&lt;100</a:t>
            </a:r>
            <a:r>
              <a:rPr lang="en-US" dirty="0"/>
              <a:t>V)</a:t>
            </a:r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32770" name="Picture 2" descr="E:\dropbox\TU\MKE\6. diodes\shotk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630" y="4847950"/>
            <a:ext cx="1292225" cy="62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1" name="Picture 3" descr="E:\dropbox\TU\MKE\6. diodes\шорки вах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588" y="1066800"/>
            <a:ext cx="4166310" cy="2817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474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 descr="E:\dropbox\TU\MKE\6. diodes\лед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467600" y="1828800"/>
            <a:ext cx="1292225" cy="89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Светодиоди</a:t>
            </a:r>
            <a:br>
              <a:rPr lang="bg-BG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54833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bg-BG" dirty="0"/>
              <a:t>При протичане на ток в права посока излъчват светлина. </a:t>
            </a:r>
            <a:r>
              <a:rPr lang="ru-RU" dirty="0"/>
              <a:t>Излъчваната светлина е в диапазона ултравиолетова – инфрачервена (250 - 800nm)</a:t>
            </a:r>
          </a:p>
          <a:p>
            <a:r>
              <a:rPr lang="bg-BG" dirty="0"/>
              <a:t>Характеристики</a:t>
            </a:r>
          </a:p>
          <a:p>
            <a:pPr marL="365760" lvl="1" indent="-365760"/>
            <a:r>
              <a:rPr lang="bg-BG" dirty="0"/>
              <a:t>Устойчивост на механични натоварвания</a:t>
            </a:r>
          </a:p>
          <a:p>
            <a:pPr marL="365760" lvl="1" indent="-365760"/>
            <a:r>
              <a:rPr lang="bg-BG" dirty="0"/>
              <a:t>Плавно и лесно регулиране на силата на светене</a:t>
            </a:r>
          </a:p>
          <a:p>
            <a:pPr marL="365760" lvl="1" indent="-365760"/>
            <a:r>
              <a:rPr lang="bg-BG" dirty="0"/>
              <a:t>Ефективност</a:t>
            </a:r>
          </a:p>
          <a:p>
            <a:pPr marL="365760" lvl="1" indent="-365760"/>
            <a:r>
              <a:rPr lang="bg-BG" dirty="0"/>
              <a:t>Дълъг живот</a:t>
            </a:r>
          </a:p>
          <a:p>
            <a:pPr marL="365760" lvl="1" indent="-365760"/>
            <a:r>
              <a:rPr lang="bg-BG" dirty="0"/>
              <a:t>Малки размери</a:t>
            </a:r>
          </a:p>
          <a:p>
            <a:pPr marL="365760" lvl="1" indent="-365760"/>
            <a:r>
              <a:rPr lang="bg-BG" dirty="0"/>
              <a:t>Бързодействие</a:t>
            </a:r>
          </a:p>
          <a:p>
            <a:r>
              <a:rPr lang="bg-BG" dirty="0"/>
              <a:t>Приложение</a:t>
            </a:r>
          </a:p>
          <a:p>
            <a:pPr lvl="1"/>
            <a:r>
              <a:rPr lang="bg-BG" dirty="0"/>
              <a:t>Индикатори</a:t>
            </a:r>
          </a:p>
          <a:p>
            <a:pPr lvl="1"/>
            <a:r>
              <a:rPr lang="bg-BG" dirty="0"/>
              <a:t>Осветление </a:t>
            </a:r>
          </a:p>
          <a:p>
            <a:pPr lvl="1"/>
            <a:r>
              <a:rPr lang="bg-BG" dirty="0"/>
              <a:t>Отдалечено управление</a:t>
            </a:r>
          </a:p>
          <a:p>
            <a:pPr lvl="1"/>
            <a:r>
              <a:rPr lang="bg-BG" dirty="0"/>
              <a:t>Лазерни светодиоди</a:t>
            </a:r>
          </a:p>
          <a:p>
            <a:pPr lvl="1"/>
            <a:endParaRPr lang="bg-BG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29700" name="Picture 4" descr="E:\dropbox\TU\MKE\6. diodes\led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179762"/>
            <a:ext cx="4222293" cy="2766459"/>
          </a:xfrm>
          <a:prstGeom prst="round2DiagRect">
            <a:avLst>
              <a:gd name="adj1" fmla="val 48992"/>
              <a:gd name="adj2" fmla="val 1407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913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E:\dropbox\TU\MKE\6. diodes\фото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00938" y="1798637"/>
            <a:ext cx="1292225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3" name="Picture 3" descr="E:\dropbox\TU\MKE\6. diodes\QSC112QSC113QSC114-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581400"/>
            <a:ext cx="16573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4" name="Picture 4" descr="E:\dropbox\TU\MKE\6. diodes\imag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48" y="3492500"/>
            <a:ext cx="2109153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фотодиоди</a:t>
            </a:r>
            <a:br>
              <a:rPr lang="bg-BG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7467600" cy="5330952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Преобразуват светлината в електрически ток. Реагират на определена дължина на вълната</a:t>
            </a:r>
          </a:p>
          <a:p>
            <a:r>
              <a:rPr lang="bg-BG" dirty="0"/>
              <a:t>Работни режими</a:t>
            </a:r>
          </a:p>
          <a:p>
            <a:pPr lvl="1"/>
            <a:r>
              <a:rPr lang="bg-BG" dirty="0"/>
              <a:t>Фотоволтаичен – фотодиода работи на празен ход слънчевите батерии</a:t>
            </a:r>
          </a:p>
          <a:p>
            <a:pPr lvl="1"/>
            <a:r>
              <a:rPr lang="bg-BG" dirty="0"/>
              <a:t>Фотопроводим – фотодиода е включен в обратна посока. Високо бързодействие</a:t>
            </a:r>
          </a:p>
          <a:p>
            <a:r>
              <a:rPr lang="bg-BG" dirty="0"/>
              <a:t>Приложение</a:t>
            </a:r>
          </a:p>
          <a:p>
            <a:pPr lvl="1"/>
            <a:r>
              <a:rPr lang="bg-BG" dirty="0"/>
              <a:t>Оптрони</a:t>
            </a:r>
          </a:p>
          <a:p>
            <a:pPr lvl="1"/>
            <a:r>
              <a:rPr lang="bg-BG" dirty="0"/>
              <a:t>Оптична комуникация</a:t>
            </a:r>
          </a:p>
          <a:p>
            <a:pPr lvl="1"/>
            <a:r>
              <a:rPr lang="bg-BG" dirty="0"/>
              <a:t>Детектори за дим</a:t>
            </a:r>
          </a:p>
          <a:p>
            <a:pPr lvl="1"/>
            <a:r>
              <a:rPr lang="bg-BG" dirty="0"/>
              <a:t>Детектор за пулс в медицината</a:t>
            </a:r>
          </a:p>
          <a:p>
            <a:pPr lvl="1"/>
            <a:r>
              <a:rPr lang="bg-BG" dirty="0"/>
              <a:t>Високоскоростни светлинни матрици</a:t>
            </a:r>
            <a:endParaRPr lang="en-US" dirty="0"/>
          </a:p>
          <a:p>
            <a:pPr lvl="1"/>
            <a:r>
              <a:rPr lang="bg-BG" dirty="0"/>
              <a:t>Приемници за сигналите от различни системи за дистанционен контрол (дистанционни управления)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8506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8910</TotalTime>
  <Words>735</Words>
  <Application>Microsoft Office PowerPoint</Application>
  <PresentationFormat>On-screen Show (4:3)</PresentationFormat>
  <Paragraphs>126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Century Schoolbook</vt:lpstr>
      <vt:lpstr>Wingdings</vt:lpstr>
      <vt:lpstr>Wingdings 2</vt:lpstr>
      <vt:lpstr>Oriel</vt:lpstr>
      <vt:lpstr>Полупроводникови диоди</vt:lpstr>
      <vt:lpstr>Обща информация</vt:lpstr>
      <vt:lpstr>Класификация. Видове диоди: </vt:lpstr>
      <vt:lpstr>електронно-дупчест преход (PN преход)</vt:lpstr>
      <vt:lpstr>Характеристики на диодите </vt:lpstr>
      <vt:lpstr>Волт амперна характеристика </vt:lpstr>
      <vt:lpstr>Апроксимации на ВАХ </vt:lpstr>
      <vt:lpstr>Максимален изправен ток</vt:lpstr>
      <vt:lpstr>Импулсен ток в права посока</vt:lpstr>
      <vt:lpstr>Обратен ток</vt:lpstr>
      <vt:lpstr>Пад на напрежение в права посока</vt:lpstr>
      <vt:lpstr>Максимално обратно напрежение</vt:lpstr>
      <vt:lpstr>ВИДОВЕ ДИОДИ. Изправителни диоди </vt:lpstr>
      <vt:lpstr>Ценерови диоди (Стабилитрони) и Стабистори</vt:lpstr>
      <vt:lpstr>Шотки диоди </vt:lpstr>
      <vt:lpstr>Светодиоди </vt:lpstr>
      <vt:lpstr>фотодиоди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4: Пасивни електронни елементи и компоненти</dc:title>
  <dc:creator>Teacher</dc:creator>
  <cp:lastModifiedBy>Teacher</cp:lastModifiedBy>
  <cp:revision>199</cp:revision>
  <dcterms:created xsi:type="dcterms:W3CDTF">2006-08-16T00:00:00Z</dcterms:created>
  <dcterms:modified xsi:type="dcterms:W3CDTF">2023-10-03T10:48:40Z</dcterms:modified>
</cp:coreProperties>
</file>
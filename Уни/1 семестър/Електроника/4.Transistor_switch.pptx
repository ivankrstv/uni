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tiff" ContentType="image/tif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3"/>
  </p:notesMasterIdLst>
  <p:sldIdLst>
    <p:sldId id="256" r:id="rId2"/>
    <p:sldId id="395" r:id="rId3"/>
    <p:sldId id="375" r:id="rId4"/>
    <p:sldId id="399" r:id="rId5"/>
    <p:sldId id="396" r:id="rId6"/>
    <p:sldId id="397" r:id="rId7"/>
    <p:sldId id="398" r:id="rId8"/>
    <p:sldId id="400" r:id="rId9"/>
    <p:sldId id="401" r:id="rId10"/>
    <p:sldId id="402" r:id="rId11"/>
    <p:sldId id="403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75" d="100"/>
          <a:sy n="75" d="100"/>
        </p:scale>
        <p:origin x="-100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43C5CA-6687-4F32-A5FF-8CEAF2AE44B1}" type="datetimeFigureOut">
              <a:rPr lang="bg-BG" smtClean="0"/>
              <a:pPr/>
              <a:t>27.11.2016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EEECB-D8FA-41A3-B0EC-BF3922F158D3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xmlns="" val="1363104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2D2E592-4A2E-4BF9-A293-5D4CA1DD4DAF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8CD3E69-3D3E-498E-8451-15B84446259C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lIns="36000" tIns="36000" rIns="36000" bIns="36000" rtlCol="0"/>
          <a:lstStyle/>
          <a:p>
            <a:fld id="{12902C2A-6BBE-4F76-B0A0-0825489B58C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DFBF9CF-4921-4328-9B41-A045E9AF6BFA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3EAFD-D94D-45EF-BEF1-DAA051E58B44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2322-A269-4D17-A395-14EA6835F691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8AD8E53-10C3-4075-BDB5-1A60D07778CA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3EB91-2A6D-426B-8EC3-948122788556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8CDD70B-CB48-4837-917F-683692E29684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832BB7E-0C31-4275-A2F4-79BF2F9688A2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F2E9-85C3-4B1C-9AF4-D23F9A75E333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B7C2-5310-481F-99BE-A39F46511263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D8E6A2B-0561-4E1D-9856-5848DD06DFF0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895600"/>
            <a:ext cx="6400800" cy="1676400"/>
          </a:xfrm>
        </p:spPr>
        <p:txBody>
          <a:bodyPr>
            <a:normAutofit fontScale="90000"/>
          </a:bodyPr>
          <a:lstStyle/>
          <a:p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ru-MO" sz="2200" dirty="0" smtClean="0"/>
              <a:t>Транзисторен ключ. Приложени</a:t>
            </a:r>
            <a:r>
              <a:rPr lang="bg-BG" sz="2200" dirty="0" smtClean="0"/>
              <a:t>я</a:t>
            </a:r>
            <a:r>
              <a:rPr lang="ru-MO" sz="2200" dirty="0" smtClean="0"/>
              <a:t> при управление на релета, светодиодни индикатори и оптрони. </a:t>
            </a:r>
            <a:r>
              <a:rPr lang="bg-BG" dirty="0" smtClean="0"/>
              <a:t/>
            </a:r>
            <a:br>
              <a:rPr lang="bg-BG" dirty="0" smtClean="0"/>
            </a:br>
            <a:r>
              <a:rPr lang="bg-BG" dirty="0" smtClean="0"/>
              <a:t/>
            </a:r>
            <a:br>
              <a:rPr lang="bg-BG" dirty="0" smtClean="0"/>
            </a:b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tx1"/>
                </a:solidFill>
              </a:rPr>
              <a:t>Проф. Венцислав Вълчев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09800" y="1563469"/>
            <a:ext cx="6248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i="1" dirty="0" smtClean="0"/>
              <a:t>Дисциплина : </a:t>
            </a:r>
          </a:p>
          <a:p>
            <a:pPr algn="ctr"/>
            <a:r>
              <a:rPr lang="bg-BG" i="1" dirty="0" smtClean="0"/>
              <a:t>“Компютърна електроника” </a:t>
            </a:r>
            <a:endParaRPr lang="bg-BG" i="1" dirty="0"/>
          </a:p>
        </p:txBody>
      </p:sp>
      <p:sp>
        <p:nvSpPr>
          <p:cNvPr id="5" name="Rectangle 4"/>
          <p:cNvSpPr/>
          <p:nvPr/>
        </p:nvSpPr>
        <p:spPr>
          <a:xfrm>
            <a:off x="1676400" y="304800"/>
            <a:ext cx="7010400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2800" b="1" dirty="0" smtClean="0"/>
              <a:t>Технически Университет Варна</a:t>
            </a:r>
          </a:p>
          <a:p>
            <a:pPr algn="ctr"/>
            <a:endParaRPr lang="bg-BG" sz="1050" b="1" dirty="0" smtClean="0"/>
          </a:p>
          <a:p>
            <a:pPr algn="ctr"/>
            <a:r>
              <a:rPr lang="bg-BG" dirty="0" smtClean="0"/>
              <a:t>Катедра „Електронна техника и микроелектроника“</a:t>
            </a:r>
            <a:endParaRPr lang="bg-BG" dirty="0"/>
          </a:p>
        </p:txBody>
      </p:sp>
      <p:sp>
        <p:nvSpPr>
          <p:cNvPr id="6" name="Rectangle 5"/>
          <p:cNvSpPr/>
          <p:nvPr/>
        </p:nvSpPr>
        <p:spPr>
          <a:xfrm>
            <a:off x="2209800" y="6248400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i="1" dirty="0" smtClean="0"/>
              <a:t>2016</a:t>
            </a:r>
            <a:endParaRPr lang="bg-BG" i="1" dirty="0"/>
          </a:p>
        </p:txBody>
      </p:sp>
      <p:sp>
        <p:nvSpPr>
          <p:cNvPr id="7" name="Rectangle 6"/>
          <p:cNvSpPr/>
          <p:nvPr/>
        </p:nvSpPr>
        <p:spPr>
          <a:xfrm>
            <a:off x="762000" y="3711714"/>
            <a:ext cx="990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smtClean="0">
                <a:solidFill>
                  <a:schemeClr val="bg1"/>
                </a:solidFill>
              </a:rPr>
              <a:t>IV</a:t>
            </a:r>
            <a:endParaRPr lang="bg-BG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7141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0"/>
            <a:ext cx="8029446" cy="1143000"/>
          </a:xfrm>
        </p:spPr>
        <p:txBody>
          <a:bodyPr>
            <a:normAutofit/>
          </a:bodyPr>
          <a:lstStyle/>
          <a:p>
            <a:r>
              <a:rPr lang="bg-BG" dirty="0" smtClean="0"/>
              <a:t>Обща информация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53400" cy="4873752"/>
          </a:xfrm>
        </p:spPr>
        <p:txBody>
          <a:bodyPr>
            <a:noAutofit/>
          </a:bodyPr>
          <a:lstStyle/>
          <a:p>
            <a:r>
              <a:rPr lang="bg-BG" dirty="0" smtClean="0"/>
              <a:t>Идеален ключ, две състояния: отворен и затворен</a:t>
            </a:r>
          </a:p>
          <a:p>
            <a:r>
              <a:rPr lang="bg-BG" dirty="0" smtClean="0"/>
              <a:t>Транзисторът като ключ, режими на работа</a:t>
            </a:r>
          </a:p>
          <a:p>
            <a:r>
              <a:rPr lang="en-US" dirty="0" smtClean="0"/>
              <a:t>BJT </a:t>
            </a:r>
            <a:r>
              <a:rPr lang="bg-BG" dirty="0" smtClean="0"/>
              <a:t>и </a:t>
            </a:r>
            <a:r>
              <a:rPr lang="en-US" dirty="0" smtClean="0"/>
              <a:t>JFET </a:t>
            </a:r>
            <a:r>
              <a:rPr lang="bg-BG" dirty="0" smtClean="0"/>
              <a:t>и </a:t>
            </a:r>
            <a:r>
              <a:rPr lang="en-US" dirty="0" smtClean="0"/>
              <a:t>MOSFET</a:t>
            </a:r>
            <a:r>
              <a:rPr lang="bg-BG" dirty="0" smtClean="0"/>
              <a:t> като електронни ключове</a:t>
            </a:r>
          </a:p>
        </p:txBody>
      </p:sp>
    </p:spTree>
    <p:extLst>
      <p:ext uri="{BB962C8B-B14F-4D97-AF65-F5344CB8AC3E}">
        <p14:creationId xmlns:p14="http://schemas.microsoft.com/office/powerpoint/2010/main" xmlns="" val="197819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467600" cy="11430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ru-MO" sz="3200" dirty="0" smtClean="0"/>
              <a:t>Транзисторен ключ с биполярен транзистор</a:t>
            </a:r>
            <a:r>
              <a:rPr lang="en-US" sz="3200" dirty="0" smtClean="0"/>
              <a:t> (BJT)</a:t>
            </a:r>
            <a:r>
              <a:rPr lang="bg-BG" dirty="0" smtClean="0"/>
              <a:t/>
            </a:r>
            <a:br>
              <a:rPr lang="bg-BG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bg-BG" dirty="0" smtClean="0"/>
              <a:t>Активен режим (като усилвател)</a:t>
            </a:r>
            <a:r>
              <a:rPr lang="en-US" dirty="0" smtClean="0"/>
              <a:t>:</a:t>
            </a:r>
            <a:endParaRPr lang="bg-BG" dirty="0" smtClean="0"/>
          </a:p>
          <a:p>
            <a:pPr>
              <a:buNone/>
            </a:pPr>
            <a:r>
              <a:rPr lang="en-US" i="1" dirty="0" err="1" smtClean="0"/>
              <a:t>i</a:t>
            </a:r>
            <a:r>
              <a:rPr lang="en-US" i="1" baseline="-25000" dirty="0" err="1" smtClean="0"/>
              <a:t>c</a:t>
            </a:r>
            <a:r>
              <a:rPr lang="en-US" i="1" dirty="0" smtClean="0"/>
              <a:t>=</a:t>
            </a:r>
            <a:r>
              <a:rPr lang="en-US" i="1" dirty="0" err="1" smtClean="0"/>
              <a:t>β.i</a:t>
            </a:r>
            <a:r>
              <a:rPr lang="en-US" i="1" baseline="-25000" dirty="0" err="1" smtClean="0"/>
              <a:t>b</a:t>
            </a:r>
            <a:r>
              <a:rPr lang="en-US" i="1" dirty="0" smtClean="0"/>
              <a:t> </a:t>
            </a:r>
            <a:r>
              <a:rPr lang="en-US" dirty="0" smtClean="0"/>
              <a:t>;</a:t>
            </a:r>
            <a:r>
              <a:rPr lang="en-US" i="1" dirty="0" smtClean="0"/>
              <a:t>   </a:t>
            </a:r>
            <a:endParaRPr lang="bg-BG" dirty="0" smtClean="0"/>
          </a:p>
          <a:p>
            <a:pPr>
              <a:buNone/>
            </a:pPr>
            <a:r>
              <a:rPr lang="en-US" i="1" dirty="0" smtClean="0"/>
              <a:t>β ≈ h</a:t>
            </a:r>
            <a:r>
              <a:rPr lang="en-US" i="1" baseline="-25000" dirty="0" smtClean="0"/>
              <a:t>21</a:t>
            </a:r>
            <a:r>
              <a:rPr lang="en-US" baseline="-25000" dirty="0" smtClean="0"/>
              <a:t> </a:t>
            </a:r>
            <a:r>
              <a:rPr lang="en-US" dirty="0" smtClean="0"/>
              <a:t>– </a:t>
            </a:r>
            <a:r>
              <a:rPr lang="bg-BG" dirty="0" smtClean="0"/>
              <a:t>коефициент на усилване по ток, 20…500</a:t>
            </a:r>
            <a:r>
              <a:rPr lang="en-US" dirty="0" smtClean="0"/>
              <a:t>;    </a:t>
            </a: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 lvl="0"/>
            <a:r>
              <a:rPr lang="bg-BG" dirty="0" smtClean="0"/>
              <a:t>Режим на насищане (затворен ключ </a:t>
            </a:r>
            <a:r>
              <a:rPr lang="en-US" dirty="0" smtClean="0"/>
              <a:t>CE):</a:t>
            </a:r>
            <a:endParaRPr lang="bg-BG" dirty="0" smtClean="0"/>
          </a:p>
          <a:p>
            <a:pPr>
              <a:buNone/>
            </a:pPr>
            <a:r>
              <a:rPr lang="en-US" i="1" dirty="0" smtClean="0"/>
              <a:t>v</a:t>
            </a:r>
            <a:r>
              <a:rPr lang="en-US" i="1" baseline="-25000" dirty="0" smtClean="0"/>
              <a:t>ce</a:t>
            </a:r>
            <a:r>
              <a:rPr lang="en-US" i="1" dirty="0" smtClean="0"/>
              <a:t>≈0</a:t>
            </a:r>
            <a:r>
              <a:rPr lang="en-US" dirty="0" smtClean="0"/>
              <a:t> ;</a:t>
            </a:r>
            <a:r>
              <a:rPr lang="en-US" i="1" baseline="-25000" dirty="0" smtClean="0"/>
              <a:t> </a:t>
            </a:r>
            <a:r>
              <a:rPr lang="en-US" i="1" dirty="0" smtClean="0"/>
              <a:t> </a:t>
            </a:r>
            <a:r>
              <a:rPr lang="en-US" i="1" dirty="0" err="1" smtClean="0"/>
              <a:t>i</a:t>
            </a:r>
            <a:r>
              <a:rPr lang="en-US" i="1" baseline="-25000" dirty="0" err="1" smtClean="0"/>
              <a:t>b</a:t>
            </a:r>
            <a:r>
              <a:rPr lang="en-US" i="1" dirty="0" smtClean="0"/>
              <a:t> &gt; </a:t>
            </a:r>
            <a:r>
              <a:rPr lang="en-US" i="1" dirty="0" err="1" smtClean="0"/>
              <a:t>i</a:t>
            </a:r>
            <a:r>
              <a:rPr lang="en-US" i="1" baseline="-25000" dirty="0" err="1" smtClean="0"/>
              <a:t>c</a:t>
            </a:r>
            <a:r>
              <a:rPr lang="en-US" i="1" dirty="0" smtClean="0"/>
              <a:t>/β</a:t>
            </a:r>
            <a:r>
              <a:rPr lang="en-US" dirty="0" smtClean="0"/>
              <a:t>;      </a:t>
            </a:r>
          </a:p>
          <a:p>
            <a:pPr>
              <a:buNone/>
            </a:pPr>
            <a:r>
              <a:rPr lang="bg-BG" dirty="0" smtClean="0"/>
              <a:t>много ниски загуби на мощност</a:t>
            </a:r>
          </a:p>
          <a:p>
            <a:pPr>
              <a:buNone/>
            </a:pPr>
            <a:endParaRPr lang="bg-BG" dirty="0" smtClean="0"/>
          </a:p>
          <a:p>
            <a:pPr lvl="0"/>
            <a:r>
              <a:rPr lang="bg-BG" dirty="0" smtClean="0"/>
              <a:t>Режим на отсечка</a:t>
            </a:r>
            <a:r>
              <a:rPr lang="en-US" dirty="0" smtClean="0"/>
              <a:t> </a:t>
            </a:r>
            <a:r>
              <a:rPr lang="bg-BG" dirty="0" smtClean="0"/>
              <a:t>(</a:t>
            </a:r>
            <a:r>
              <a:rPr lang="en-US" dirty="0" smtClean="0"/>
              <a:t>o</a:t>
            </a:r>
            <a:r>
              <a:rPr lang="bg-BG" dirty="0" smtClean="0"/>
              <a:t>творен ключ </a:t>
            </a:r>
            <a:r>
              <a:rPr lang="en-US" dirty="0" smtClean="0"/>
              <a:t>CE):</a:t>
            </a:r>
            <a:endParaRPr lang="bg-BG" dirty="0" smtClean="0"/>
          </a:p>
          <a:p>
            <a:pPr>
              <a:buNone/>
            </a:pPr>
            <a:r>
              <a:rPr lang="en-US" i="1" dirty="0" err="1" smtClean="0"/>
              <a:t>i</a:t>
            </a:r>
            <a:r>
              <a:rPr lang="en-US" i="1" baseline="-25000" dirty="0" err="1" smtClean="0"/>
              <a:t>c</a:t>
            </a:r>
            <a:r>
              <a:rPr lang="en-US" i="1" dirty="0" smtClean="0"/>
              <a:t> ≈ 0</a:t>
            </a:r>
            <a:r>
              <a:rPr lang="en-US" dirty="0" smtClean="0"/>
              <a:t> ;</a:t>
            </a:r>
            <a:r>
              <a:rPr lang="en-US" i="1" dirty="0" smtClean="0"/>
              <a:t>    </a:t>
            </a:r>
            <a:r>
              <a:rPr lang="en-US" i="1" dirty="0" err="1" smtClean="0"/>
              <a:t>v</a:t>
            </a:r>
            <a:r>
              <a:rPr lang="en-US" i="1" baseline="-25000" dirty="0" err="1" smtClean="0"/>
              <a:t>be</a:t>
            </a:r>
            <a:r>
              <a:rPr lang="en-US" i="1" dirty="0" smtClean="0"/>
              <a:t>&lt;0.7 V</a:t>
            </a:r>
            <a:endParaRPr lang="bg-BG" dirty="0" smtClean="0"/>
          </a:p>
          <a:p>
            <a:pPr>
              <a:buNone/>
            </a:pPr>
            <a:r>
              <a:rPr lang="bg-BG" dirty="0" smtClean="0"/>
              <a:t>няма загуби на мощност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1285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MO" sz="2800" dirty="0" smtClean="0"/>
              <a:t>Транзисторен ключ с биполярен транзистор</a:t>
            </a:r>
            <a:r>
              <a:rPr lang="en-US" sz="2800" dirty="0" smtClean="0"/>
              <a:t> (BJT)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27" name="Picture 3" descr="satregion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676401"/>
            <a:ext cx="6894919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MO" sz="2800" dirty="0" smtClean="0"/>
              <a:t>Транзисторен ключ с биполярен транзистор</a:t>
            </a:r>
            <a:r>
              <a:rPr lang="en-US" sz="2800" dirty="0" smtClean="0"/>
              <a:t> (BJT)</a:t>
            </a:r>
            <a:endParaRPr lang="bg-BG" dirty="0"/>
          </a:p>
        </p:txBody>
      </p:sp>
      <p:pic>
        <p:nvPicPr>
          <p:cNvPr id="6" name="Content Placeholder 5" descr="1.8.tif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752591" y="1676400"/>
            <a:ext cx="7108839" cy="45720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MO" sz="2800" dirty="0" smtClean="0"/>
              <a:t>Транзисторен ключ с </a:t>
            </a:r>
            <a:r>
              <a:rPr lang="en-US" sz="2800" dirty="0" smtClean="0"/>
              <a:t>JFET</a:t>
            </a:r>
            <a:r>
              <a:rPr lang="bg-BG" sz="2800" dirty="0" smtClean="0"/>
              <a:t> (полеви транзистор с управляващ </a:t>
            </a:r>
            <a:r>
              <a:rPr lang="en-US" sz="2800" dirty="0" smtClean="0"/>
              <a:t>PN</a:t>
            </a:r>
            <a:r>
              <a:rPr lang="bg-BG" sz="2800" dirty="0" smtClean="0"/>
              <a:t> преход)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Content Placeholder 4"/>
          <p:cNvPicPr>
            <a:picLocks noGrp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905000"/>
            <a:ext cx="7391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MO" sz="2800" dirty="0" smtClean="0"/>
              <a:t>Транзисторен ключ с </a:t>
            </a:r>
            <a:r>
              <a:rPr lang="en-US" sz="2800" dirty="0" smtClean="0"/>
              <a:t>MOSFET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914400" y="1828800"/>
            <a:ext cx="6172200" cy="4114800"/>
            <a:chOff x="1483" y="7341"/>
            <a:chExt cx="7572" cy="4165"/>
          </a:xfrm>
        </p:grpSpPr>
        <p:sp>
          <p:nvSpPr>
            <p:cNvPr id="2051" name="Text Box 3"/>
            <p:cNvSpPr txBox="1">
              <a:spLocks noChangeArrowheads="1"/>
            </p:cNvSpPr>
            <p:nvPr/>
          </p:nvSpPr>
          <p:spPr bwMode="auto">
            <a:xfrm>
              <a:off x="4556" y="11146"/>
              <a:ext cx="1545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P</a:t>
              </a:r>
              <a:r>
                <a:rPr kumimoji="0" lang="bg-BG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-канален</a:t>
              </a: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   MOSFET</a:t>
              </a:r>
              <a:endParaRPr kumimoji="0" lang="bg-BG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2052" name="Group 4"/>
            <p:cNvGrpSpPr>
              <a:grpSpLocks/>
            </p:cNvGrpSpPr>
            <p:nvPr/>
          </p:nvGrpSpPr>
          <p:grpSpPr bwMode="auto">
            <a:xfrm>
              <a:off x="1483" y="7341"/>
              <a:ext cx="7572" cy="3391"/>
              <a:chOff x="1483" y="7341"/>
              <a:chExt cx="7572" cy="3391"/>
            </a:xfrm>
          </p:grpSpPr>
          <p:grpSp>
            <p:nvGrpSpPr>
              <p:cNvPr id="2053" name="Group 5"/>
              <p:cNvGrpSpPr>
                <a:grpSpLocks/>
              </p:cNvGrpSpPr>
              <p:nvPr/>
            </p:nvGrpSpPr>
            <p:grpSpPr bwMode="auto">
              <a:xfrm>
                <a:off x="6096" y="7525"/>
                <a:ext cx="2959" cy="3158"/>
                <a:chOff x="5718" y="8297"/>
                <a:chExt cx="2959" cy="3158"/>
              </a:xfrm>
            </p:grpSpPr>
            <p:sp>
              <p:nvSpPr>
                <p:cNvPr id="2054" name="Freeform 6"/>
                <p:cNvSpPr>
                  <a:spLocks/>
                </p:cNvSpPr>
                <p:nvPr/>
              </p:nvSpPr>
              <p:spPr bwMode="auto">
                <a:xfrm flipH="1">
                  <a:off x="7824" y="8411"/>
                  <a:ext cx="109" cy="262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905"/>
                    </a:cxn>
                    <a:cxn ang="0">
                      <a:pos x="761" y="2905"/>
                    </a:cxn>
                  </a:cxnLst>
                  <a:rect l="0" t="0" r="r" b="b"/>
                  <a:pathLst>
                    <a:path w="761" h="2905">
                      <a:moveTo>
                        <a:pt x="0" y="0"/>
                      </a:moveTo>
                      <a:lnTo>
                        <a:pt x="0" y="2905"/>
                      </a:lnTo>
                      <a:lnTo>
                        <a:pt x="761" y="2905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bg-BG"/>
                </a:p>
              </p:txBody>
            </p:sp>
            <p:sp>
              <p:nvSpPr>
                <p:cNvPr id="2055" name="Rectangle 7"/>
                <p:cNvSpPr>
                  <a:spLocks noChangeArrowheads="1"/>
                </p:cNvSpPr>
                <p:nvPr/>
              </p:nvSpPr>
              <p:spPr bwMode="auto">
                <a:xfrm>
                  <a:off x="8265" y="8297"/>
                  <a:ext cx="170" cy="28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1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I</a:t>
                  </a:r>
                  <a:endParaRPr kumimoji="0" lang="bg-BG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056" name="Rectangle 8"/>
                <p:cNvSpPr>
                  <a:spLocks noChangeArrowheads="1"/>
                </p:cNvSpPr>
                <p:nvPr/>
              </p:nvSpPr>
              <p:spPr bwMode="auto">
                <a:xfrm>
                  <a:off x="8329" y="8395"/>
                  <a:ext cx="182" cy="19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D</a:t>
                  </a:r>
                  <a:endParaRPr kumimoji="0" lang="bg-BG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057" name="Freeform 9"/>
                <p:cNvSpPr>
                  <a:spLocks/>
                </p:cNvSpPr>
                <p:nvPr/>
              </p:nvSpPr>
              <p:spPr bwMode="auto">
                <a:xfrm>
                  <a:off x="8106" y="8734"/>
                  <a:ext cx="571" cy="246"/>
                </a:xfrm>
                <a:custGeom>
                  <a:avLst/>
                  <a:gdLst/>
                  <a:ahLst/>
                  <a:cxnLst>
                    <a:cxn ang="0">
                      <a:pos x="138" y="273"/>
                    </a:cxn>
                    <a:cxn ang="0">
                      <a:pos x="109" y="270"/>
                    </a:cxn>
                    <a:cxn ang="0">
                      <a:pos x="84" y="263"/>
                    </a:cxn>
                    <a:cxn ang="0">
                      <a:pos x="60" y="251"/>
                    </a:cxn>
                    <a:cxn ang="0">
                      <a:pos x="40" y="233"/>
                    </a:cxn>
                    <a:cxn ang="0">
                      <a:pos x="24" y="214"/>
                    </a:cxn>
                    <a:cxn ang="0">
                      <a:pos x="10" y="190"/>
                    </a:cxn>
                    <a:cxn ang="0">
                      <a:pos x="3" y="164"/>
                    </a:cxn>
                    <a:cxn ang="0">
                      <a:pos x="0" y="137"/>
                    </a:cxn>
                    <a:cxn ang="0">
                      <a:pos x="0" y="122"/>
                    </a:cxn>
                    <a:cxn ang="0">
                      <a:pos x="6" y="96"/>
                    </a:cxn>
                    <a:cxn ang="0">
                      <a:pos x="16" y="72"/>
                    </a:cxn>
                    <a:cxn ang="0">
                      <a:pos x="31" y="49"/>
                    </a:cxn>
                    <a:cxn ang="0">
                      <a:pos x="49" y="31"/>
                    </a:cxn>
                    <a:cxn ang="0">
                      <a:pos x="72" y="16"/>
                    </a:cxn>
                    <a:cxn ang="0">
                      <a:pos x="96" y="6"/>
                    </a:cxn>
                    <a:cxn ang="0">
                      <a:pos x="123" y="0"/>
                    </a:cxn>
                    <a:cxn ang="0">
                      <a:pos x="449" y="0"/>
                    </a:cxn>
                    <a:cxn ang="0">
                      <a:pos x="477" y="3"/>
                    </a:cxn>
                    <a:cxn ang="0">
                      <a:pos x="504" y="10"/>
                    </a:cxn>
                    <a:cxn ang="0">
                      <a:pos x="526" y="22"/>
                    </a:cxn>
                    <a:cxn ang="0">
                      <a:pos x="547" y="40"/>
                    </a:cxn>
                    <a:cxn ang="0">
                      <a:pos x="564" y="60"/>
                    </a:cxn>
                    <a:cxn ang="0">
                      <a:pos x="576" y="84"/>
                    </a:cxn>
                    <a:cxn ang="0">
                      <a:pos x="585" y="109"/>
                    </a:cxn>
                    <a:cxn ang="0">
                      <a:pos x="588" y="137"/>
                    </a:cxn>
                    <a:cxn ang="0">
                      <a:pos x="585" y="164"/>
                    </a:cxn>
                    <a:cxn ang="0">
                      <a:pos x="576" y="190"/>
                    </a:cxn>
                    <a:cxn ang="0">
                      <a:pos x="564" y="214"/>
                    </a:cxn>
                    <a:cxn ang="0">
                      <a:pos x="547" y="233"/>
                    </a:cxn>
                    <a:cxn ang="0">
                      <a:pos x="526" y="251"/>
                    </a:cxn>
                    <a:cxn ang="0">
                      <a:pos x="504" y="263"/>
                    </a:cxn>
                    <a:cxn ang="0">
                      <a:pos x="477" y="270"/>
                    </a:cxn>
                    <a:cxn ang="0">
                      <a:pos x="449" y="273"/>
                    </a:cxn>
                  </a:cxnLst>
                  <a:rect l="0" t="0" r="r" b="b"/>
                  <a:pathLst>
                    <a:path w="588" h="273">
                      <a:moveTo>
                        <a:pt x="449" y="273"/>
                      </a:moveTo>
                      <a:lnTo>
                        <a:pt x="138" y="273"/>
                      </a:lnTo>
                      <a:lnTo>
                        <a:pt x="123" y="273"/>
                      </a:lnTo>
                      <a:lnTo>
                        <a:pt x="109" y="270"/>
                      </a:lnTo>
                      <a:lnTo>
                        <a:pt x="96" y="267"/>
                      </a:lnTo>
                      <a:lnTo>
                        <a:pt x="84" y="263"/>
                      </a:lnTo>
                      <a:lnTo>
                        <a:pt x="72" y="257"/>
                      </a:lnTo>
                      <a:lnTo>
                        <a:pt x="60" y="251"/>
                      </a:lnTo>
                      <a:lnTo>
                        <a:pt x="49" y="242"/>
                      </a:lnTo>
                      <a:lnTo>
                        <a:pt x="40" y="233"/>
                      </a:lnTo>
                      <a:lnTo>
                        <a:pt x="31" y="224"/>
                      </a:lnTo>
                      <a:lnTo>
                        <a:pt x="24" y="214"/>
                      </a:lnTo>
                      <a:lnTo>
                        <a:pt x="16" y="202"/>
                      </a:lnTo>
                      <a:lnTo>
                        <a:pt x="10" y="190"/>
                      </a:lnTo>
                      <a:lnTo>
                        <a:pt x="6" y="178"/>
                      </a:lnTo>
                      <a:lnTo>
                        <a:pt x="3" y="164"/>
                      </a:lnTo>
                      <a:lnTo>
                        <a:pt x="0" y="151"/>
                      </a:lnTo>
                      <a:lnTo>
                        <a:pt x="0" y="137"/>
                      </a:lnTo>
                      <a:lnTo>
                        <a:pt x="0" y="137"/>
                      </a:lnTo>
                      <a:lnTo>
                        <a:pt x="0" y="122"/>
                      </a:lnTo>
                      <a:lnTo>
                        <a:pt x="3" y="109"/>
                      </a:lnTo>
                      <a:lnTo>
                        <a:pt x="6" y="96"/>
                      </a:lnTo>
                      <a:lnTo>
                        <a:pt x="10" y="84"/>
                      </a:lnTo>
                      <a:lnTo>
                        <a:pt x="16" y="72"/>
                      </a:lnTo>
                      <a:lnTo>
                        <a:pt x="24" y="60"/>
                      </a:lnTo>
                      <a:lnTo>
                        <a:pt x="31" y="49"/>
                      </a:lnTo>
                      <a:lnTo>
                        <a:pt x="40" y="40"/>
                      </a:lnTo>
                      <a:lnTo>
                        <a:pt x="49" y="31"/>
                      </a:lnTo>
                      <a:lnTo>
                        <a:pt x="60" y="22"/>
                      </a:lnTo>
                      <a:lnTo>
                        <a:pt x="72" y="16"/>
                      </a:lnTo>
                      <a:lnTo>
                        <a:pt x="84" y="10"/>
                      </a:lnTo>
                      <a:lnTo>
                        <a:pt x="96" y="6"/>
                      </a:lnTo>
                      <a:lnTo>
                        <a:pt x="109" y="3"/>
                      </a:lnTo>
                      <a:lnTo>
                        <a:pt x="123" y="0"/>
                      </a:lnTo>
                      <a:lnTo>
                        <a:pt x="138" y="0"/>
                      </a:lnTo>
                      <a:lnTo>
                        <a:pt x="449" y="0"/>
                      </a:lnTo>
                      <a:lnTo>
                        <a:pt x="463" y="0"/>
                      </a:lnTo>
                      <a:lnTo>
                        <a:pt x="477" y="3"/>
                      </a:lnTo>
                      <a:lnTo>
                        <a:pt x="490" y="6"/>
                      </a:lnTo>
                      <a:lnTo>
                        <a:pt x="504" y="10"/>
                      </a:lnTo>
                      <a:lnTo>
                        <a:pt x="516" y="16"/>
                      </a:lnTo>
                      <a:lnTo>
                        <a:pt x="526" y="22"/>
                      </a:lnTo>
                      <a:lnTo>
                        <a:pt x="537" y="31"/>
                      </a:lnTo>
                      <a:lnTo>
                        <a:pt x="547" y="40"/>
                      </a:lnTo>
                      <a:lnTo>
                        <a:pt x="556" y="49"/>
                      </a:lnTo>
                      <a:lnTo>
                        <a:pt x="564" y="60"/>
                      </a:lnTo>
                      <a:lnTo>
                        <a:pt x="570" y="72"/>
                      </a:lnTo>
                      <a:lnTo>
                        <a:pt x="576" y="84"/>
                      </a:lnTo>
                      <a:lnTo>
                        <a:pt x="580" y="96"/>
                      </a:lnTo>
                      <a:lnTo>
                        <a:pt x="585" y="109"/>
                      </a:lnTo>
                      <a:lnTo>
                        <a:pt x="586" y="122"/>
                      </a:lnTo>
                      <a:lnTo>
                        <a:pt x="588" y="137"/>
                      </a:lnTo>
                      <a:lnTo>
                        <a:pt x="586" y="151"/>
                      </a:lnTo>
                      <a:lnTo>
                        <a:pt x="585" y="164"/>
                      </a:lnTo>
                      <a:lnTo>
                        <a:pt x="580" y="178"/>
                      </a:lnTo>
                      <a:lnTo>
                        <a:pt x="576" y="190"/>
                      </a:lnTo>
                      <a:lnTo>
                        <a:pt x="570" y="202"/>
                      </a:lnTo>
                      <a:lnTo>
                        <a:pt x="564" y="214"/>
                      </a:lnTo>
                      <a:lnTo>
                        <a:pt x="556" y="224"/>
                      </a:lnTo>
                      <a:lnTo>
                        <a:pt x="547" y="233"/>
                      </a:lnTo>
                      <a:lnTo>
                        <a:pt x="537" y="242"/>
                      </a:lnTo>
                      <a:lnTo>
                        <a:pt x="526" y="251"/>
                      </a:lnTo>
                      <a:lnTo>
                        <a:pt x="516" y="257"/>
                      </a:lnTo>
                      <a:lnTo>
                        <a:pt x="504" y="263"/>
                      </a:lnTo>
                      <a:lnTo>
                        <a:pt x="490" y="267"/>
                      </a:lnTo>
                      <a:lnTo>
                        <a:pt x="477" y="270"/>
                      </a:lnTo>
                      <a:lnTo>
                        <a:pt x="463" y="273"/>
                      </a:lnTo>
                      <a:lnTo>
                        <a:pt x="449" y="273"/>
                      </a:lnTo>
                      <a:lnTo>
                        <a:pt x="449" y="27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bg-BG"/>
                </a:p>
              </p:txBody>
            </p:sp>
            <p:grpSp>
              <p:nvGrpSpPr>
                <p:cNvPr id="2058" name="Group 10"/>
                <p:cNvGrpSpPr>
                  <a:grpSpLocks/>
                </p:cNvGrpSpPr>
                <p:nvPr/>
              </p:nvGrpSpPr>
              <p:grpSpPr bwMode="auto">
                <a:xfrm>
                  <a:off x="5718" y="8322"/>
                  <a:ext cx="2499" cy="3133"/>
                  <a:chOff x="5718" y="8322"/>
                  <a:chExt cx="2499" cy="3133"/>
                </a:xfrm>
              </p:grpSpPr>
              <p:sp>
                <p:nvSpPr>
                  <p:cNvPr id="2059" name="Freeform 11"/>
                  <p:cNvSpPr>
                    <a:spLocks/>
                  </p:cNvSpPr>
                  <p:nvPr/>
                </p:nvSpPr>
                <p:spPr bwMode="auto">
                  <a:xfrm>
                    <a:off x="7869" y="8322"/>
                    <a:ext cx="127" cy="117"/>
                  </a:xfrm>
                  <a:custGeom>
                    <a:avLst/>
                    <a:gdLst/>
                    <a:ahLst/>
                    <a:cxnLst>
                      <a:cxn ang="0">
                        <a:pos x="66" y="0"/>
                      </a:cxn>
                      <a:cxn ang="0">
                        <a:pos x="131" y="129"/>
                      </a:cxn>
                      <a:cxn ang="0">
                        <a:pos x="122" y="126"/>
                      </a:cxn>
                      <a:cxn ang="0">
                        <a:pos x="114" y="123"/>
                      </a:cxn>
                      <a:cxn ang="0">
                        <a:pos x="107" y="120"/>
                      </a:cxn>
                      <a:cxn ang="0">
                        <a:pos x="98" y="117"/>
                      </a:cxn>
                      <a:cxn ang="0">
                        <a:pos x="90" y="116"/>
                      </a:cxn>
                      <a:cxn ang="0">
                        <a:pos x="83" y="116"/>
                      </a:cxn>
                      <a:cxn ang="0">
                        <a:pos x="74" y="114"/>
                      </a:cxn>
                      <a:cxn ang="0">
                        <a:pos x="65" y="114"/>
                      </a:cxn>
                      <a:cxn ang="0">
                        <a:pos x="57" y="114"/>
                      </a:cxn>
                      <a:cxn ang="0">
                        <a:pos x="48" y="116"/>
                      </a:cxn>
                      <a:cxn ang="0">
                        <a:pos x="41" y="116"/>
                      </a:cxn>
                      <a:cxn ang="0">
                        <a:pos x="32" y="117"/>
                      </a:cxn>
                      <a:cxn ang="0">
                        <a:pos x="24" y="120"/>
                      </a:cxn>
                      <a:cxn ang="0">
                        <a:pos x="16" y="123"/>
                      </a:cxn>
                      <a:cxn ang="0">
                        <a:pos x="7" y="126"/>
                      </a:cxn>
                      <a:cxn ang="0">
                        <a:pos x="0" y="129"/>
                      </a:cxn>
                      <a:cxn ang="0">
                        <a:pos x="0" y="129"/>
                      </a:cxn>
                      <a:cxn ang="0">
                        <a:pos x="66" y="0"/>
                      </a:cxn>
                      <a:cxn ang="0">
                        <a:pos x="66" y="0"/>
                      </a:cxn>
                    </a:cxnLst>
                    <a:rect l="0" t="0" r="r" b="b"/>
                    <a:pathLst>
                      <a:path w="131" h="129">
                        <a:moveTo>
                          <a:pt x="66" y="0"/>
                        </a:moveTo>
                        <a:lnTo>
                          <a:pt x="131" y="129"/>
                        </a:lnTo>
                        <a:lnTo>
                          <a:pt x="122" y="126"/>
                        </a:lnTo>
                        <a:lnTo>
                          <a:pt x="114" y="123"/>
                        </a:lnTo>
                        <a:lnTo>
                          <a:pt x="107" y="120"/>
                        </a:lnTo>
                        <a:lnTo>
                          <a:pt x="98" y="117"/>
                        </a:lnTo>
                        <a:lnTo>
                          <a:pt x="90" y="116"/>
                        </a:lnTo>
                        <a:lnTo>
                          <a:pt x="83" y="116"/>
                        </a:lnTo>
                        <a:lnTo>
                          <a:pt x="74" y="114"/>
                        </a:lnTo>
                        <a:lnTo>
                          <a:pt x="65" y="114"/>
                        </a:lnTo>
                        <a:lnTo>
                          <a:pt x="57" y="114"/>
                        </a:lnTo>
                        <a:lnTo>
                          <a:pt x="48" y="116"/>
                        </a:lnTo>
                        <a:lnTo>
                          <a:pt x="41" y="116"/>
                        </a:lnTo>
                        <a:lnTo>
                          <a:pt x="32" y="117"/>
                        </a:lnTo>
                        <a:lnTo>
                          <a:pt x="24" y="120"/>
                        </a:lnTo>
                        <a:lnTo>
                          <a:pt x="16" y="123"/>
                        </a:lnTo>
                        <a:lnTo>
                          <a:pt x="7" y="126"/>
                        </a:lnTo>
                        <a:lnTo>
                          <a:pt x="0" y="129"/>
                        </a:lnTo>
                        <a:lnTo>
                          <a:pt x="0" y="129"/>
                        </a:lnTo>
                        <a:lnTo>
                          <a:pt x="66" y="0"/>
                        </a:lnTo>
                        <a:lnTo>
                          <a:pt x="66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bg-BG"/>
                  </a:p>
                </p:txBody>
              </p:sp>
              <p:sp>
                <p:nvSpPr>
                  <p:cNvPr id="2060" name="Freeform 12"/>
                  <p:cNvSpPr>
                    <a:spLocks/>
                  </p:cNvSpPr>
                  <p:nvPr/>
                </p:nvSpPr>
                <p:spPr bwMode="auto">
                  <a:xfrm>
                    <a:off x="7110" y="11162"/>
                    <a:ext cx="554" cy="210"/>
                  </a:xfrm>
                  <a:custGeom>
                    <a:avLst/>
                    <a:gdLst/>
                    <a:ahLst/>
                    <a:cxnLst>
                      <a:cxn ang="0">
                        <a:pos x="453" y="232"/>
                      </a:cxn>
                      <a:cxn ang="0">
                        <a:pos x="477" y="229"/>
                      </a:cxn>
                      <a:cxn ang="0">
                        <a:pos x="498" y="223"/>
                      </a:cxn>
                      <a:cxn ang="0">
                        <a:pos x="518" y="212"/>
                      </a:cxn>
                      <a:cxn ang="0">
                        <a:pos x="536" y="197"/>
                      </a:cxn>
                      <a:cxn ang="0">
                        <a:pos x="549" y="181"/>
                      </a:cxn>
                      <a:cxn ang="0">
                        <a:pos x="560" y="161"/>
                      </a:cxn>
                      <a:cxn ang="0">
                        <a:pos x="567" y="139"/>
                      </a:cxn>
                      <a:cxn ang="0">
                        <a:pos x="570" y="117"/>
                      </a:cxn>
                      <a:cxn ang="0">
                        <a:pos x="569" y="105"/>
                      </a:cxn>
                      <a:cxn ang="0">
                        <a:pos x="564" y="82"/>
                      </a:cxn>
                      <a:cxn ang="0">
                        <a:pos x="555" y="61"/>
                      </a:cxn>
                      <a:cxn ang="0">
                        <a:pos x="543" y="42"/>
                      </a:cxn>
                      <a:cxn ang="0">
                        <a:pos x="527" y="27"/>
                      </a:cxn>
                      <a:cxn ang="0">
                        <a:pos x="509" y="15"/>
                      </a:cxn>
                      <a:cxn ang="0">
                        <a:pos x="488" y="6"/>
                      </a:cxn>
                      <a:cxn ang="0">
                        <a:pos x="465" y="1"/>
                      </a:cxn>
                      <a:cxn ang="0">
                        <a:pos x="116" y="0"/>
                      </a:cxn>
                      <a:cxn ang="0">
                        <a:pos x="92" y="3"/>
                      </a:cxn>
                      <a:cxn ang="0">
                        <a:pos x="71" y="9"/>
                      </a:cxn>
                      <a:cxn ang="0">
                        <a:pos x="51" y="19"/>
                      </a:cxn>
                      <a:cxn ang="0">
                        <a:pos x="33" y="34"/>
                      </a:cxn>
                      <a:cxn ang="0">
                        <a:pos x="20" y="51"/>
                      </a:cxn>
                      <a:cxn ang="0">
                        <a:pos x="9" y="70"/>
                      </a:cxn>
                      <a:cxn ang="0">
                        <a:pos x="2" y="93"/>
                      </a:cxn>
                      <a:cxn ang="0">
                        <a:pos x="0" y="117"/>
                      </a:cxn>
                      <a:cxn ang="0">
                        <a:pos x="2" y="139"/>
                      </a:cxn>
                      <a:cxn ang="0">
                        <a:pos x="9" y="161"/>
                      </a:cxn>
                      <a:cxn ang="0">
                        <a:pos x="20" y="181"/>
                      </a:cxn>
                      <a:cxn ang="0">
                        <a:pos x="33" y="197"/>
                      </a:cxn>
                      <a:cxn ang="0">
                        <a:pos x="51" y="212"/>
                      </a:cxn>
                      <a:cxn ang="0">
                        <a:pos x="71" y="223"/>
                      </a:cxn>
                      <a:cxn ang="0">
                        <a:pos x="92" y="229"/>
                      </a:cxn>
                      <a:cxn ang="0">
                        <a:pos x="116" y="232"/>
                      </a:cxn>
                    </a:cxnLst>
                    <a:rect l="0" t="0" r="r" b="b"/>
                    <a:pathLst>
                      <a:path w="570" h="232">
                        <a:moveTo>
                          <a:pt x="116" y="232"/>
                        </a:moveTo>
                        <a:lnTo>
                          <a:pt x="453" y="232"/>
                        </a:lnTo>
                        <a:lnTo>
                          <a:pt x="465" y="230"/>
                        </a:lnTo>
                        <a:lnTo>
                          <a:pt x="477" y="229"/>
                        </a:lnTo>
                        <a:lnTo>
                          <a:pt x="488" y="226"/>
                        </a:lnTo>
                        <a:lnTo>
                          <a:pt x="498" y="223"/>
                        </a:lnTo>
                        <a:lnTo>
                          <a:pt x="509" y="217"/>
                        </a:lnTo>
                        <a:lnTo>
                          <a:pt x="518" y="212"/>
                        </a:lnTo>
                        <a:lnTo>
                          <a:pt x="527" y="205"/>
                        </a:lnTo>
                        <a:lnTo>
                          <a:pt x="536" y="197"/>
                        </a:lnTo>
                        <a:lnTo>
                          <a:pt x="543" y="190"/>
                        </a:lnTo>
                        <a:lnTo>
                          <a:pt x="549" y="181"/>
                        </a:lnTo>
                        <a:lnTo>
                          <a:pt x="555" y="170"/>
                        </a:lnTo>
                        <a:lnTo>
                          <a:pt x="560" y="161"/>
                        </a:lnTo>
                        <a:lnTo>
                          <a:pt x="564" y="151"/>
                        </a:lnTo>
                        <a:lnTo>
                          <a:pt x="567" y="139"/>
                        </a:lnTo>
                        <a:lnTo>
                          <a:pt x="569" y="127"/>
                        </a:lnTo>
                        <a:lnTo>
                          <a:pt x="570" y="117"/>
                        </a:lnTo>
                        <a:lnTo>
                          <a:pt x="570" y="117"/>
                        </a:lnTo>
                        <a:lnTo>
                          <a:pt x="569" y="105"/>
                        </a:lnTo>
                        <a:lnTo>
                          <a:pt x="567" y="93"/>
                        </a:lnTo>
                        <a:lnTo>
                          <a:pt x="564" y="82"/>
                        </a:lnTo>
                        <a:lnTo>
                          <a:pt x="560" y="70"/>
                        </a:lnTo>
                        <a:lnTo>
                          <a:pt x="555" y="61"/>
                        </a:lnTo>
                        <a:lnTo>
                          <a:pt x="549" y="51"/>
                        </a:lnTo>
                        <a:lnTo>
                          <a:pt x="543" y="42"/>
                        </a:lnTo>
                        <a:lnTo>
                          <a:pt x="536" y="34"/>
                        </a:lnTo>
                        <a:lnTo>
                          <a:pt x="527" y="27"/>
                        </a:lnTo>
                        <a:lnTo>
                          <a:pt x="518" y="19"/>
                        </a:lnTo>
                        <a:lnTo>
                          <a:pt x="509" y="15"/>
                        </a:lnTo>
                        <a:lnTo>
                          <a:pt x="498" y="9"/>
                        </a:lnTo>
                        <a:lnTo>
                          <a:pt x="488" y="6"/>
                        </a:lnTo>
                        <a:lnTo>
                          <a:pt x="477" y="3"/>
                        </a:lnTo>
                        <a:lnTo>
                          <a:pt x="465" y="1"/>
                        </a:lnTo>
                        <a:lnTo>
                          <a:pt x="453" y="0"/>
                        </a:lnTo>
                        <a:lnTo>
                          <a:pt x="116" y="0"/>
                        </a:lnTo>
                        <a:lnTo>
                          <a:pt x="104" y="1"/>
                        </a:lnTo>
                        <a:lnTo>
                          <a:pt x="92" y="3"/>
                        </a:lnTo>
                        <a:lnTo>
                          <a:pt x="81" y="6"/>
                        </a:lnTo>
                        <a:lnTo>
                          <a:pt x="71" y="9"/>
                        </a:lnTo>
                        <a:lnTo>
                          <a:pt x="60" y="15"/>
                        </a:lnTo>
                        <a:lnTo>
                          <a:pt x="51" y="19"/>
                        </a:lnTo>
                        <a:lnTo>
                          <a:pt x="42" y="27"/>
                        </a:lnTo>
                        <a:lnTo>
                          <a:pt x="33" y="34"/>
                        </a:lnTo>
                        <a:lnTo>
                          <a:pt x="26" y="42"/>
                        </a:lnTo>
                        <a:lnTo>
                          <a:pt x="20" y="51"/>
                        </a:lnTo>
                        <a:lnTo>
                          <a:pt x="14" y="61"/>
                        </a:lnTo>
                        <a:lnTo>
                          <a:pt x="9" y="70"/>
                        </a:lnTo>
                        <a:lnTo>
                          <a:pt x="5" y="82"/>
                        </a:lnTo>
                        <a:lnTo>
                          <a:pt x="2" y="93"/>
                        </a:lnTo>
                        <a:lnTo>
                          <a:pt x="0" y="105"/>
                        </a:lnTo>
                        <a:lnTo>
                          <a:pt x="0" y="117"/>
                        </a:lnTo>
                        <a:lnTo>
                          <a:pt x="0" y="127"/>
                        </a:lnTo>
                        <a:lnTo>
                          <a:pt x="2" y="139"/>
                        </a:lnTo>
                        <a:lnTo>
                          <a:pt x="5" y="151"/>
                        </a:lnTo>
                        <a:lnTo>
                          <a:pt x="9" y="161"/>
                        </a:lnTo>
                        <a:lnTo>
                          <a:pt x="14" y="170"/>
                        </a:lnTo>
                        <a:lnTo>
                          <a:pt x="20" y="181"/>
                        </a:lnTo>
                        <a:lnTo>
                          <a:pt x="26" y="190"/>
                        </a:lnTo>
                        <a:lnTo>
                          <a:pt x="33" y="197"/>
                        </a:lnTo>
                        <a:lnTo>
                          <a:pt x="42" y="205"/>
                        </a:lnTo>
                        <a:lnTo>
                          <a:pt x="51" y="212"/>
                        </a:lnTo>
                        <a:lnTo>
                          <a:pt x="60" y="217"/>
                        </a:lnTo>
                        <a:lnTo>
                          <a:pt x="71" y="223"/>
                        </a:lnTo>
                        <a:lnTo>
                          <a:pt x="81" y="226"/>
                        </a:lnTo>
                        <a:lnTo>
                          <a:pt x="92" y="229"/>
                        </a:lnTo>
                        <a:lnTo>
                          <a:pt x="104" y="230"/>
                        </a:lnTo>
                        <a:lnTo>
                          <a:pt x="116" y="232"/>
                        </a:lnTo>
                        <a:lnTo>
                          <a:pt x="116" y="23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bg-BG"/>
                  </a:p>
                </p:txBody>
              </p:sp>
              <p:sp>
                <p:nvSpPr>
                  <p:cNvPr id="2061" name="Freeform 13"/>
                  <p:cNvSpPr>
                    <a:spLocks/>
                  </p:cNvSpPr>
                  <p:nvPr/>
                </p:nvSpPr>
                <p:spPr bwMode="auto">
                  <a:xfrm>
                    <a:off x="7663" y="11059"/>
                    <a:ext cx="554" cy="209"/>
                  </a:xfrm>
                  <a:custGeom>
                    <a:avLst/>
                    <a:gdLst/>
                    <a:ahLst/>
                    <a:cxnLst>
                      <a:cxn ang="0">
                        <a:pos x="116" y="232"/>
                      </a:cxn>
                      <a:cxn ang="0">
                        <a:pos x="92" y="229"/>
                      </a:cxn>
                      <a:cxn ang="0">
                        <a:pos x="71" y="221"/>
                      </a:cxn>
                      <a:cxn ang="0">
                        <a:pos x="51" y="211"/>
                      </a:cxn>
                      <a:cxn ang="0">
                        <a:pos x="33" y="197"/>
                      </a:cxn>
                      <a:cxn ang="0">
                        <a:pos x="19" y="179"/>
                      </a:cxn>
                      <a:cxn ang="0">
                        <a:pos x="9" y="160"/>
                      </a:cxn>
                      <a:cxn ang="0">
                        <a:pos x="1" y="139"/>
                      </a:cxn>
                      <a:cxn ang="0">
                        <a:pos x="0" y="115"/>
                      </a:cxn>
                      <a:cxn ang="0">
                        <a:pos x="0" y="103"/>
                      </a:cxn>
                      <a:cxn ang="0">
                        <a:pos x="4" y="81"/>
                      </a:cxn>
                      <a:cxn ang="0">
                        <a:pos x="13" y="61"/>
                      </a:cxn>
                      <a:cxn ang="0">
                        <a:pos x="25" y="42"/>
                      </a:cxn>
                      <a:cxn ang="0">
                        <a:pos x="42" y="27"/>
                      </a:cxn>
                      <a:cxn ang="0">
                        <a:pos x="60" y="13"/>
                      </a:cxn>
                      <a:cxn ang="0">
                        <a:pos x="81" y="6"/>
                      </a:cxn>
                      <a:cxn ang="0">
                        <a:pos x="104" y="0"/>
                      </a:cxn>
                      <a:cxn ang="0">
                        <a:pos x="453" y="0"/>
                      </a:cxn>
                      <a:cxn ang="0">
                        <a:pos x="477" y="3"/>
                      </a:cxn>
                      <a:cxn ang="0">
                        <a:pos x="498" y="9"/>
                      </a:cxn>
                      <a:cxn ang="0">
                        <a:pos x="517" y="19"/>
                      </a:cxn>
                      <a:cxn ang="0">
                        <a:pos x="535" y="34"/>
                      </a:cxn>
                      <a:cxn ang="0">
                        <a:pos x="549" y="51"/>
                      </a:cxn>
                      <a:cxn ang="0">
                        <a:pos x="559" y="70"/>
                      </a:cxn>
                      <a:cxn ang="0">
                        <a:pos x="567" y="93"/>
                      </a:cxn>
                      <a:cxn ang="0">
                        <a:pos x="570" y="115"/>
                      </a:cxn>
                      <a:cxn ang="0">
                        <a:pos x="567" y="139"/>
                      </a:cxn>
                      <a:cxn ang="0">
                        <a:pos x="559" y="160"/>
                      </a:cxn>
                      <a:cxn ang="0">
                        <a:pos x="549" y="179"/>
                      </a:cxn>
                      <a:cxn ang="0">
                        <a:pos x="535" y="197"/>
                      </a:cxn>
                      <a:cxn ang="0">
                        <a:pos x="517" y="211"/>
                      </a:cxn>
                      <a:cxn ang="0">
                        <a:pos x="498" y="221"/>
                      </a:cxn>
                      <a:cxn ang="0">
                        <a:pos x="477" y="229"/>
                      </a:cxn>
                      <a:cxn ang="0">
                        <a:pos x="453" y="232"/>
                      </a:cxn>
                    </a:cxnLst>
                    <a:rect l="0" t="0" r="r" b="b"/>
                    <a:pathLst>
                      <a:path w="570" h="232">
                        <a:moveTo>
                          <a:pt x="453" y="232"/>
                        </a:moveTo>
                        <a:lnTo>
                          <a:pt x="116" y="232"/>
                        </a:lnTo>
                        <a:lnTo>
                          <a:pt x="104" y="230"/>
                        </a:lnTo>
                        <a:lnTo>
                          <a:pt x="92" y="229"/>
                        </a:lnTo>
                        <a:lnTo>
                          <a:pt x="81" y="226"/>
                        </a:lnTo>
                        <a:lnTo>
                          <a:pt x="71" y="221"/>
                        </a:lnTo>
                        <a:lnTo>
                          <a:pt x="60" y="217"/>
                        </a:lnTo>
                        <a:lnTo>
                          <a:pt x="51" y="211"/>
                        </a:lnTo>
                        <a:lnTo>
                          <a:pt x="42" y="205"/>
                        </a:lnTo>
                        <a:lnTo>
                          <a:pt x="33" y="197"/>
                        </a:lnTo>
                        <a:lnTo>
                          <a:pt x="25" y="188"/>
                        </a:lnTo>
                        <a:lnTo>
                          <a:pt x="19" y="179"/>
                        </a:lnTo>
                        <a:lnTo>
                          <a:pt x="13" y="170"/>
                        </a:lnTo>
                        <a:lnTo>
                          <a:pt x="9" y="160"/>
                        </a:lnTo>
                        <a:lnTo>
                          <a:pt x="4" y="149"/>
                        </a:lnTo>
                        <a:lnTo>
                          <a:pt x="1" y="139"/>
                        </a:lnTo>
                        <a:lnTo>
                          <a:pt x="0" y="127"/>
                        </a:lnTo>
                        <a:lnTo>
                          <a:pt x="0" y="115"/>
                        </a:lnTo>
                        <a:lnTo>
                          <a:pt x="0" y="115"/>
                        </a:lnTo>
                        <a:lnTo>
                          <a:pt x="0" y="103"/>
                        </a:lnTo>
                        <a:lnTo>
                          <a:pt x="1" y="93"/>
                        </a:lnTo>
                        <a:lnTo>
                          <a:pt x="4" y="81"/>
                        </a:lnTo>
                        <a:lnTo>
                          <a:pt x="9" y="70"/>
                        </a:lnTo>
                        <a:lnTo>
                          <a:pt x="13" y="61"/>
                        </a:lnTo>
                        <a:lnTo>
                          <a:pt x="19" y="51"/>
                        </a:lnTo>
                        <a:lnTo>
                          <a:pt x="25" y="42"/>
                        </a:lnTo>
                        <a:lnTo>
                          <a:pt x="33" y="34"/>
                        </a:lnTo>
                        <a:lnTo>
                          <a:pt x="42" y="27"/>
                        </a:lnTo>
                        <a:lnTo>
                          <a:pt x="51" y="19"/>
                        </a:lnTo>
                        <a:lnTo>
                          <a:pt x="60" y="13"/>
                        </a:lnTo>
                        <a:lnTo>
                          <a:pt x="71" y="9"/>
                        </a:lnTo>
                        <a:lnTo>
                          <a:pt x="81" y="6"/>
                        </a:lnTo>
                        <a:lnTo>
                          <a:pt x="92" y="3"/>
                        </a:lnTo>
                        <a:lnTo>
                          <a:pt x="104" y="0"/>
                        </a:lnTo>
                        <a:lnTo>
                          <a:pt x="116" y="0"/>
                        </a:lnTo>
                        <a:lnTo>
                          <a:pt x="453" y="0"/>
                        </a:lnTo>
                        <a:lnTo>
                          <a:pt x="465" y="0"/>
                        </a:lnTo>
                        <a:lnTo>
                          <a:pt x="477" y="3"/>
                        </a:lnTo>
                        <a:lnTo>
                          <a:pt x="487" y="6"/>
                        </a:lnTo>
                        <a:lnTo>
                          <a:pt x="498" y="9"/>
                        </a:lnTo>
                        <a:lnTo>
                          <a:pt x="508" y="13"/>
                        </a:lnTo>
                        <a:lnTo>
                          <a:pt x="517" y="19"/>
                        </a:lnTo>
                        <a:lnTo>
                          <a:pt x="526" y="27"/>
                        </a:lnTo>
                        <a:lnTo>
                          <a:pt x="535" y="34"/>
                        </a:lnTo>
                        <a:lnTo>
                          <a:pt x="543" y="42"/>
                        </a:lnTo>
                        <a:lnTo>
                          <a:pt x="549" y="51"/>
                        </a:lnTo>
                        <a:lnTo>
                          <a:pt x="555" y="61"/>
                        </a:lnTo>
                        <a:lnTo>
                          <a:pt x="559" y="70"/>
                        </a:lnTo>
                        <a:lnTo>
                          <a:pt x="564" y="81"/>
                        </a:lnTo>
                        <a:lnTo>
                          <a:pt x="567" y="93"/>
                        </a:lnTo>
                        <a:lnTo>
                          <a:pt x="568" y="103"/>
                        </a:lnTo>
                        <a:lnTo>
                          <a:pt x="570" y="115"/>
                        </a:lnTo>
                        <a:lnTo>
                          <a:pt x="568" y="127"/>
                        </a:lnTo>
                        <a:lnTo>
                          <a:pt x="567" y="139"/>
                        </a:lnTo>
                        <a:lnTo>
                          <a:pt x="564" y="149"/>
                        </a:lnTo>
                        <a:lnTo>
                          <a:pt x="559" y="160"/>
                        </a:lnTo>
                        <a:lnTo>
                          <a:pt x="555" y="170"/>
                        </a:lnTo>
                        <a:lnTo>
                          <a:pt x="549" y="179"/>
                        </a:lnTo>
                        <a:lnTo>
                          <a:pt x="543" y="188"/>
                        </a:lnTo>
                        <a:lnTo>
                          <a:pt x="535" y="197"/>
                        </a:lnTo>
                        <a:lnTo>
                          <a:pt x="526" y="205"/>
                        </a:lnTo>
                        <a:lnTo>
                          <a:pt x="517" y="211"/>
                        </a:lnTo>
                        <a:lnTo>
                          <a:pt x="508" y="217"/>
                        </a:lnTo>
                        <a:lnTo>
                          <a:pt x="498" y="221"/>
                        </a:lnTo>
                        <a:lnTo>
                          <a:pt x="487" y="226"/>
                        </a:lnTo>
                        <a:lnTo>
                          <a:pt x="477" y="229"/>
                        </a:lnTo>
                        <a:lnTo>
                          <a:pt x="465" y="230"/>
                        </a:lnTo>
                        <a:lnTo>
                          <a:pt x="453" y="232"/>
                        </a:lnTo>
                        <a:lnTo>
                          <a:pt x="453" y="23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bg-BG"/>
                  </a:p>
                </p:txBody>
              </p:sp>
              <p:sp>
                <p:nvSpPr>
                  <p:cNvPr id="2062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5718" y="11137"/>
                    <a:ext cx="590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0" rIns="0" bIns="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rPr>
                      <a:t>-U</a:t>
                    </a:r>
                    <a:endParaRPr kumimoji="0" lang="bg-BG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2063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5963" y="11264"/>
                    <a:ext cx="293" cy="19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0" rIns="0" bIns="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rPr>
                      <a:t>DS</a:t>
                    </a:r>
                    <a:endParaRPr kumimoji="0" lang="bg-BG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2064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7313" y="11149"/>
                    <a:ext cx="273" cy="28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0" rIns="0" bIns="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rPr>
                      <a:t>U</a:t>
                    </a:r>
                    <a:endParaRPr kumimoji="0" lang="bg-BG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2065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7483" y="11248"/>
                    <a:ext cx="156" cy="19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0" rIns="0" bIns="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rPr>
                      <a:t>p</a:t>
                    </a:r>
                    <a:endParaRPr kumimoji="0" lang="bg-BG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2066" name="Line 18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6116" y="11018"/>
                    <a:ext cx="1817" cy="14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 type="none" w="sm" len="sm"/>
                    <a:tailEnd type="triangle" w="sm" len="med"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bg-BG"/>
                  </a:p>
                </p:txBody>
              </p:sp>
              <p:sp>
                <p:nvSpPr>
                  <p:cNvPr id="2067" name="Freeform 19"/>
                  <p:cNvSpPr>
                    <a:spLocks/>
                  </p:cNvSpPr>
                  <p:nvPr/>
                </p:nvSpPr>
                <p:spPr bwMode="auto">
                  <a:xfrm>
                    <a:off x="6557" y="8447"/>
                    <a:ext cx="788" cy="2585"/>
                  </a:xfrm>
                  <a:custGeom>
                    <a:avLst/>
                    <a:gdLst/>
                    <a:ahLst/>
                    <a:cxnLst>
                      <a:cxn ang="0">
                        <a:pos x="2" y="0"/>
                      </a:cxn>
                      <a:cxn ang="0">
                        <a:pos x="0" y="102"/>
                      </a:cxn>
                      <a:cxn ang="0">
                        <a:pos x="2" y="205"/>
                      </a:cxn>
                      <a:cxn ang="0">
                        <a:pos x="6" y="307"/>
                      </a:cxn>
                      <a:cxn ang="0">
                        <a:pos x="13" y="410"/>
                      </a:cxn>
                      <a:cxn ang="0">
                        <a:pos x="20" y="512"/>
                      </a:cxn>
                      <a:cxn ang="0">
                        <a:pos x="29" y="615"/>
                      </a:cxn>
                      <a:cxn ang="0">
                        <a:pos x="41" y="716"/>
                      </a:cxn>
                      <a:cxn ang="0">
                        <a:pos x="55" y="818"/>
                      </a:cxn>
                      <a:cxn ang="0">
                        <a:pos x="70" y="918"/>
                      </a:cxn>
                      <a:cxn ang="0">
                        <a:pos x="88" y="1017"/>
                      </a:cxn>
                      <a:cxn ang="0">
                        <a:pos x="106" y="1116"/>
                      </a:cxn>
                      <a:cxn ang="0">
                        <a:pos x="127" y="1213"/>
                      </a:cxn>
                      <a:cxn ang="0">
                        <a:pos x="149" y="1308"/>
                      </a:cxn>
                      <a:cxn ang="0">
                        <a:pos x="173" y="1403"/>
                      </a:cxn>
                      <a:cxn ang="0">
                        <a:pos x="198" y="1494"/>
                      </a:cxn>
                      <a:cxn ang="0">
                        <a:pos x="225" y="1585"/>
                      </a:cxn>
                      <a:cxn ang="0">
                        <a:pos x="253" y="1673"/>
                      </a:cxn>
                      <a:cxn ang="0">
                        <a:pos x="283" y="1758"/>
                      </a:cxn>
                      <a:cxn ang="0">
                        <a:pos x="313" y="1842"/>
                      </a:cxn>
                      <a:cxn ang="0">
                        <a:pos x="346" y="1923"/>
                      </a:cxn>
                      <a:cxn ang="0">
                        <a:pos x="380" y="2002"/>
                      </a:cxn>
                      <a:cxn ang="0">
                        <a:pos x="414" y="2077"/>
                      </a:cxn>
                      <a:cxn ang="0">
                        <a:pos x="449" y="2149"/>
                      </a:cxn>
                      <a:cxn ang="0">
                        <a:pos x="486" y="2217"/>
                      </a:cxn>
                      <a:cxn ang="0">
                        <a:pos x="524" y="2283"/>
                      </a:cxn>
                      <a:cxn ang="0">
                        <a:pos x="563" y="2344"/>
                      </a:cxn>
                      <a:cxn ang="0">
                        <a:pos x="602" y="2403"/>
                      </a:cxn>
                      <a:cxn ang="0">
                        <a:pos x="622" y="2431"/>
                      </a:cxn>
                      <a:cxn ang="0">
                        <a:pos x="643" y="2457"/>
                      </a:cxn>
                      <a:cxn ang="0">
                        <a:pos x="662" y="2484"/>
                      </a:cxn>
                      <a:cxn ang="0">
                        <a:pos x="683" y="2507"/>
                      </a:cxn>
                      <a:cxn ang="0">
                        <a:pos x="705" y="2531"/>
                      </a:cxn>
                      <a:cxn ang="0">
                        <a:pos x="726" y="2554"/>
                      </a:cxn>
                      <a:cxn ang="0">
                        <a:pos x="747" y="2575"/>
                      </a:cxn>
                      <a:cxn ang="0">
                        <a:pos x="769" y="2594"/>
                      </a:cxn>
                      <a:cxn ang="0">
                        <a:pos x="790" y="2614"/>
                      </a:cxn>
                      <a:cxn ang="0">
                        <a:pos x="811" y="2632"/>
                      </a:cxn>
                    </a:cxnLst>
                    <a:rect l="0" t="0" r="r" b="b"/>
                    <a:pathLst>
                      <a:path w="811" h="2632">
                        <a:moveTo>
                          <a:pt x="2" y="0"/>
                        </a:moveTo>
                        <a:lnTo>
                          <a:pt x="0" y="102"/>
                        </a:lnTo>
                        <a:lnTo>
                          <a:pt x="2" y="205"/>
                        </a:lnTo>
                        <a:lnTo>
                          <a:pt x="6" y="307"/>
                        </a:lnTo>
                        <a:lnTo>
                          <a:pt x="13" y="410"/>
                        </a:lnTo>
                        <a:lnTo>
                          <a:pt x="20" y="512"/>
                        </a:lnTo>
                        <a:lnTo>
                          <a:pt x="29" y="615"/>
                        </a:lnTo>
                        <a:lnTo>
                          <a:pt x="41" y="716"/>
                        </a:lnTo>
                        <a:lnTo>
                          <a:pt x="55" y="818"/>
                        </a:lnTo>
                        <a:lnTo>
                          <a:pt x="70" y="918"/>
                        </a:lnTo>
                        <a:lnTo>
                          <a:pt x="88" y="1017"/>
                        </a:lnTo>
                        <a:lnTo>
                          <a:pt x="106" y="1116"/>
                        </a:lnTo>
                        <a:lnTo>
                          <a:pt x="127" y="1213"/>
                        </a:lnTo>
                        <a:lnTo>
                          <a:pt x="149" y="1308"/>
                        </a:lnTo>
                        <a:lnTo>
                          <a:pt x="173" y="1403"/>
                        </a:lnTo>
                        <a:lnTo>
                          <a:pt x="198" y="1494"/>
                        </a:lnTo>
                        <a:lnTo>
                          <a:pt x="225" y="1585"/>
                        </a:lnTo>
                        <a:lnTo>
                          <a:pt x="253" y="1673"/>
                        </a:lnTo>
                        <a:lnTo>
                          <a:pt x="283" y="1758"/>
                        </a:lnTo>
                        <a:lnTo>
                          <a:pt x="313" y="1842"/>
                        </a:lnTo>
                        <a:lnTo>
                          <a:pt x="346" y="1923"/>
                        </a:lnTo>
                        <a:lnTo>
                          <a:pt x="380" y="2002"/>
                        </a:lnTo>
                        <a:lnTo>
                          <a:pt x="414" y="2077"/>
                        </a:lnTo>
                        <a:lnTo>
                          <a:pt x="449" y="2149"/>
                        </a:lnTo>
                        <a:lnTo>
                          <a:pt x="486" y="2217"/>
                        </a:lnTo>
                        <a:lnTo>
                          <a:pt x="524" y="2283"/>
                        </a:lnTo>
                        <a:lnTo>
                          <a:pt x="563" y="2344"/>
                        </a:lnTo>
                        <a:lnTo>
                          <a:pt x="602" y="2403"/>
                        </a:lnTo>
                        <a:lnTo>
                          <a:pt x="622" y="2431"/>
                        </a:lnTo>
                        <a:lnTo>
                          <a:pt x="643" y="2457"/>
                        </a:lnTo>
                        <a:lnTo>
                          <a:pt x="662" y="2484"/>
                        </a:lnTo>
                        <a:lnTo>
                          <a:pt x="683" y="2507"/>
                        </a:lnTo>
                        <a:lnTo>
                          <a:pt x="705" y="2531"/>
                        </a:lnTo>
                        <a:lnTo>
                          <a:pt x="726" y="2554"/>
                        </a:lnTo>
                        <a:lnTo>
                          <a:pt x="747" y="2575"/>
                        </a:lnTo>
                        <a:lnTo>
                          <a:pt x="769" y="2594"/>
                        </a:lnTo>
                        <a:lnTo>
                          <a:pt x="790" y="2614"/>
                        </a:lnTo>
                        <a:lnTo>
                          <a:pt x="811" y="2632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bg-BG"/>
                  </a:p>
                </p:txBody>
              </p:sp>
              <p:sp>
                <p:nvSpPr>
                  <p:cNvPr id="2068" name="Freeform 20"/>
                  <p:cNvSpPr>
                    <a:spLocks noEditPoints="1"/>
                  </p:cNvSpPr>
                  <p:nvPr/>
                </p:nvSpPr>
                <p:spPr bwMode="auto">
                  <a:xfrm>
                    <a:off x="6551" y="8753"/>
                    <a:ext cx="1388" cy="13"/>
                  </a:xfrm>
                  <a:custGeom>
                    <a:avLst/>
                    <a:gdLst/>
                    <a:ahLst/>
                    <a:cxnLst>
                      <a:cxn ang="0">
                        <a:pos x="1317" y="14"/>
                      </a:cxn>
                      <a:cxn ang="0">
                        <a:pos x="1314" y="8"/>
                      </a:cxn>
                      <a:cxn ang="0">
                        <a:pos x="1317" y="0"/>
                      </a:cxn>
                      <a:cxn ang="0">
                        <a:pos x="1424" y="0"/>
                      </a:cxn>
                      <a:cxn ang="0">
                        <a:pos x="1428" y="8"/>
                      </a:cxn>
                      <a:cxn ang="0">
                        <a:pos x="1424" y="14"/>
                      </a:cxn>
                      <a:cxn ang="0">
                        <a:pos x="1248" y="15"/>
                      </a:cxn>
                      <a:cxn ang="0">
                        <a:pos x="1142" y="12"/>
                      </a:cxn>
                      <a:cxn ang="0">
                        <a:pos x="1141" y="5"/>
                      </a:cxn>
                      <a:cxn ang="0">
                        <a:pos x="1147" y="0"/>
                      </a:cxn>
                      <a:cxn ang="0">
                        <a:pos x="1254" y="2"/>
                      </a:cxn>
                      <a:cxn ang="0">
                        <a:pos x="1255" y="9"/>
                      </a:cxn>
                      <a:cxn ang="0">
                        <a:pos x="1248" y="15"/>
                      </a:cxn>
                      <a:cxn ang="0">
                        <a:pos x="974" y="15"/>
                      </a:cxn>
                      <a:cxn ang="0">
                        <a:pos x="966" y="9"/>
                      </a:cxn>
                      <a:cxn ang="0">
                        <a:pos x="968" y="2"/>
                      </a:cxn>
                      <a:cxn ang="0">
                        <a:pos x="1075" y="0"/>
                      </a:cxn>
                      <a:cxn ang="0">
                        <a:pos x="1081" y="5"/>
                      </a:cxn>
                      <a:cxn ang="0">
                        <a:pos x="1079" y="12"/>
                      </a:cxn>
                      <a:cxn ang="0">
                        <a:pos x="1075" y="15"/>
                      </a:cxn>
                      <a:cxn ang="0">
                        <a:pos x="798" y="14"/>
                      </a:cxn>
                      <a:cxn ang="0">
                        <a:pos x="793" y="8"/>
                      </a:cxn>
                      <a:cxn ang="0">
                        <a:pos x="798" y="0"/>
                      </a:cxn>
                      <a:cxn ang="0">
                        <a:pos x="905" y="0"/>
                      </a:cxn>
                      <a:cxn ang="0">
                        <a:pos x="909" y="8"/>
                      </a:cxn>
                      <a:cxn ang="0">
                        <a:pos x="905" y="14"/>
                      </a:cxn>
                      <a:cxn ang="0">
                        <a:pos x="729" y="15"/>
                      </a:cxn>
                      <a:cxn ang="0">
                        <a:pos x="622" y="12"/>
                      </a:cxn>
                      <a:cxn ang="0">
                        <a:pos x="620" y="5"/>
                      </a:cxn>
                      <a:cxn ang="0">
                        <a:pos x="628" y="0"/>
                      </a:cxn>
                      <a:cxn ang="0">
                        <a:pos x="733" y="2"/>
                      </a:cxn>
                      <a:cxn ang="0">
                        <a:pos x="735" y="9"/>
                      </a:cxn>
                      <a:cxn ang="0">
                        <a:pos x="729" y="15"/>
                      </a:cxn>
                      <a:cxn ang="0">
                        <a:pos x="453" y="15"/>
                      </a:cxn>
                      <a:cxn ang="0">
                        <a:pos x="447" y="9"/>
                      </a:cxn>
                      <a:cxn ang="0">
                        <a:pos x="449" y="2"/>
                      </a:cxn>
                      <a:cxn ang="0">
                        <a:pos x="556" y="0"/>
                      </a:cxn>
                      <a:cxn ang="0">
                        <a:pos x="562" y="5"/>
                      </a:cxn>
                      <a:cxn ang="0">
                        <a:pos x="560" y="12"/>
                      </a:cxn>
                      <a:cxn ang="0">
                        <a:pos x="556" y="15"/>
                      </a:cxn>
                      <a:cxn ang="0">
                        <a:pos x="277" y="14"/>
                      </a:cxn>
                      <a:cxn ang="0">
                        <a:pos x="273" y="8"/>
                      </a:cxn>
                      <a:cxn ang="0">
                        <a:pos x="277" y="0"/>
                      </a:cxn>
                      <a:cxn ang="0">
                        <a:pos x="384" y="0"/>
                      </a:cxn>
                      <a:cxn ang="0">
                        <a:pos x="389" y="8"/>
                      </a:cxn>
                      <a:cxn ang="0">
                        <a:pos x="384" y="14"/>
                      </a:cxn>
                      <a:cxn ang="0">
                        <a:pos x="208" y="15"/>
                      </a:cxn>
                      <a:cxn ang="0">
                        <a:pos x="101" y="12"/>
                      </a:cxn>
                      <a:cxn ang="0">
                        <a:pos x="100" y="5"/>
                      </a:cxn>
                      <a:cxn ang="0">
                        <a:pos x="107" y="0"/>
                      </a:cxn>
                      <a:cxn ang="0">
                        <a:pos x="213" y="2"/>
                      </a:cxn>
                      <a:cxn ang="0">
                        <a:pos x="214" y="9"/>
                      </a:cxn>
                      <a:cxn ang="0">
                        <a:pos x="208" y="15"/>
                      </a:cxn>
                      <a:cxn ang="0">
                        <a:pos x="6" y="15"/>
                      </a:cxn>
                      <a:cxn ang="0">
                        <a:pos x="0" y="9"/>
                      </a:cxn>
                      <a:cxn ang="0">
                        <a:pos x="2" y="2"/>
                      </a:cxn>
                      <a:cxn ang="0">
                        <a:pos x="35" y="0"/>
                      </a:cxn>
                      <a:cxn ang="0">
                        <a:pos x="41" y="5"/>
                      </a:cxn>
                      <a:cxn ang="0">
                        <a:pos x="40" y="12"/>
                      </a:cxn>
                      <a:cxn ang="0">
                        <a:pos x="35" y="15"/>
                      </a:cxn>
                    </a:cxnLst>
                    <a:rect l="0" t="0" r="r" b="b"/>
                    <a:pathLst>
                      <a:path w="1428" h="15">
                        <a:moveTo>
                          <a:pt x="1422" y="15"/>
                        </a:moveTo>
                        <a:lnTo>
                          <a:pt x="1320" y="15"/>
                        </a:lnTo>
                        <a:lnTo>
                          <a:pt x="1317" y="14"/>
                        </a:lnTo>
                        <a:lnTo>
                          <a:pt x="1315" y="12"/>
                        </a:lnTo>
                        <a:lnTo>
                          <a:pt x="1314" y="9"/>
                        </a:lnTo>
                        <a:lnTo>
                          <a:pt x="1314" y="8"/>
                        </a:lnTo>
                        <a:lnTo>
                          <a:pt x="1314" y="5"/>
                        </a:lnTo>
                        <a:lnTo>
                          <a:pt x="1315" y="2"/>
                        </a:lnTo>
                        <a:lnTo>
                          <a:pt x="1317" y="0"/>
                        </a:lnTo>
                        <a:lnTo>
                          <a:pt x="1320" y="0"/>
                        </a:lnTo>
                        <a:lnTo>
                          <a:pt x="1422" y="0"/>
                        </a:lnTo>
                        <a:lnTo>
                          <a:pt x="1424" y="0"/>
                        </a:lnTo>
                        <a:lnTo>
                          <a:pt x="1427" y="2"/>
                        </a:lnTo>
                        <a:lnTo>
                          <a:pt x="1428" y="5"/>
                        </a:lnTo>
                        <a:lnTo>
                          <a:pt x="1428" y="8"/>
                        </a:lnTo>
                        <a:lnTo>
                          <a:pt x="1428" y="9"/>
                        </a:lnTo>
                        <a:lnTo>
                          <a:pt x="1427" y="12"/>
                        </a:lnTo>
                        <a:lnTo>
                          <a:pt x="1424" y="14"/>
                        </a:lnTo>
                        <a:lnTo>
                          <a:pt x="1422" y="15"/>
                        </a:lnTo>
                        <a:lnTo>
                          <a:pt x="1422" y="15"/>
                        </a:lnTo>
                        <a:close/>
                        <a:moveTo>
                          <a:pt x="1248" y="15"/>
                        </a:moveTo>
                        <a:lnTo>
                          <a:pt x="1147" y="15"/>
                        </a:lnTo>
                        <a:lnTo>
                          <a:pt x="1144" y="14"/>
                        </a:lnTo>
                        <a:lnTo>
                          <a:pt x="1142" y="12"/>
                        </a:lnTo>
                        <a:lnTo>
                          <a:pt x="1141" y="9"/>
                        </a:lnTo>
                        <a:lnTo>
                          <a:pt x="1139" y="8"/>
                        </a:lnTo>
                        <a:lnTo>
                          <a:pt x="1141" y="5"/>
                        </a:lnTo>
                        <a:lnTo>
                          <a:pt x="1142" y="2"/>
                        </a:lnTo>
                        <a:lnTo>
                          <a:pt x="1144" y="0"/>
                        </a:lnTo>
                        <a:lnTo>
                          <a:pt x="1147" y="0"/>
                        </a:lnTo>
                        <a:lnTo>
                          <a:pt x="1248" y="0"/>
                        </a:lnTo>
                        <a:lnTo>
                          <a:pt x="1251" y="0"/>
                        </a:lnTo>
                        <a:lnTo>
                          <a:pt x="1254" y="2"/>
                        </a:lnTo>
                        <a:lnTo>
                          <a:pt x="1255" y="5"/>
                        </a:lnTo>
                        <a:lnTo>
                          <a:pt x="1255" y="8"/>
                        </a:lnTo>
                        <a:lnTo>
                          <a:pt x="1255" y="9"/>
                        </a:lnTo>
                        <a:lnTo>
                          <a:pt x="1254" y="12"/>
                        </a:lnTo>
                        <a:lnTo>
                          <a:pt x="1251" y="14"/>
                        </a:lnTo>
                        <a:lnTo>
                          <a:pt x="1248" y="15"/>
                        </a:lnTo>
                        <a:lnTo>
                          <a:pt x="1248" y="15"/>
                        </a:lnTo>
                        <a:close/>
                        <a:moveTo>
                          <a:pt x="1075" y="15"/>
                        </a:moveTo>
                        <a:lnTo>
                          <a:pt x="974" y="15"/>
                        </a:lnTo>
                        <a:lnTo>
                          <a:pt x="971" y="14"/>
                        </a:lnTo>
                        <a:lnTo>
                          <a:pt x="968" y="12"/>
                        </a:lnTo>
                        <a:lnTo>
                          <a:pt x="966" y="9"/>
                        </a:lnTo>
                        <a:lnTo>
                          <a:pt x="966" y="8"/>
                        </a:lnTo>
                        <a:lnTo>
                          <a:pt x="966" y="5"/>
                        </a:lnTo>
                        <a:lnTo>
                          <a:pt x="968" y="2"/>
                        </a:lnTo>
                        <a:lnTo>
                          <a:pt x="971" y="0"/>
                        </a:lnTo>
                        <a:lnTo>
                          <a:pt x="974" y="0"/>
                        </a:lnTo>
                        <a:lnTo>
                          <a:pt x="1075" y="0"/>
                        </a:lnTo>
                        <a:lnTo>
                          <a:pt x="1078" y="0"/>
                        </a:lnTo>
                        <a:lnTo>
                          <a:pt x="1079" y="2"/>
                        </a:lnTo>
                        <a:lnTo>
                          <a:pt x="1081" y="5"/>
                        </a:lnTo>
                        <a:lnTo>
                          <a:pt x="1082" y="8"/>
                        </a:lnTo>
                        <a:lnTo>
                          <a:pt x="1081" y="9"/>
                        </a:lnTo>
                        <a:lnTo>
                          <a:pt x="1079" y="12"/>
                        </a:lnTo>
                        <a:lnTo>
                          <a:pt x="1078" y="14"/>
                        </a:lnTo>
                        <a:lnTo>
                          <a:pt x="1075" y="15"/>
                        </a:lnTo>
                        <a:lnTo>
                          <a:pt x="1075" y="15"/>
                        </a:lnTo>
                        <a:close/>
                        <a:moveTo>
                          <a:pt x="902" y="15"/>
                        </a:moveTo>
                        <a:lnTo>
                          <a:pt x="801" y="15"/>
                        </a:lnTo>
                        <a:lnTo>
                          <a:pt x="798" y="14"/>
                        </a:lnTo>
                        <a:lnTo>
                          <a:pt x="795" y="12"/>
                        </a:lnTo>
                        <a:lnTo>
                          <a:pt x="793" y="9"/>
                        </a:lnTo>
                        <a:lnTo>
                          <a:pt x="793" y="8"/>
                        </a:lnTo>
                        <a:lnTo>
                          <a:pt x="793" y="5"/>
                        </a:lnTo>
                        <a:lnTo>
                          <a:pt x="795" y="2"/>
                        </a:lnTo>
                        <a:lnTo>
                          <a:pt x="798" y="0"/>
                        </a:lnTo>
                        <a:lnTo>
                          <a:pt x="801" y="0"/>
                        </a:lnTo>
                        <a:lnTo>
                          <a:pt x="902" y="0"/>
                        </a:lnTo>
                        <a:lnTo>
                          <a:pt x="905" y="0"/>
                        </a:lnTo>
                        <a:lnTo>
                          <a:pt x="906" y="2"/>
                        </a:lnTo>
                        <a:lnTo>
                          <a:pt x="908" y="5"/>
                        </a:lnTo>
                        <a:lnTo>
                          <a:pt x="909" y="8"/>
                        </a:lnTo>
                        <a:lnTo>
                          <a:pt x="908" y="9"/>
                        </a:lnTo>
                        <a:lnTo>
                          <a:pt x="906" y="12"/>
                        </a:lnTo>
                        <a:lnTo>
                          <a:pt x="905" y="14"/>
                        </a:lnTo>
                        <a:lnTo>
                          <a:pt x="902" y="15"/>
                        </a:lnTo>
                        <a:lnTo>
                          <a:pt x="902" y="15"/>
                        </a:lnTo>
                        <a:close/>
                        <a:moveTo>
                          <a:pt x="729" y="15"/>
                        </a:moveTo>
                        <a:lnTo>
                          <a:pt x="628" y="15"/>
                        </a:lnTo>
                        <a:lnTo>
                          <a:pt x="625" y="14"/>
                        </a:lnTo>
                        <a:lnTo>
                          <a:pt x="622" y="12"/>
                        </a:lnTo>
                        <a:lnTo>
                          <a:pt x="620" y="9"/>
                        </a:lnTo>
                        <a:lnTo>
                          <a:pt x="620" y="8"/>
                        </a:lnTo>
                        <a:lnTo>
                          <a:pt x="620" y="5"/>
                        </a:lnTo>
                        <a:lnTo>
                          <a:pt x="622" y="2"/>
                        </a:lnTo>
                        <a:lnTo>
                          <a:pt x="625" y="0"/>
                        </a:lnTo>
                        <a:lnTo>
                          <a:pt x="628" y="0"/>
                        </a:lnTo>
                        <a:lnTo>
                          <a:pt x="729" y="0"/>
                        </a:lnTo>
                        <a:lnTo>
                          <a:pt x="730" y="0"/>
                        </a:lnTo>
                        <a:lnTo>
                          <a:pt x="733" y="2"/>
                        </a:lnTo>
                        <a:lnTo>
                          <a:pt x="735" y="5"/>
                        </a:lnTo>
                        <a:lnTo>
                          <a:pt x="736" y="8"/>
                        </a:lnTo>
                        <a:lnTo>
                          <a:pt x="735" y="9"/>
                        </a:lnTo>
                        <a:lnTo>
                          <a:pt x="733" y="12"/>
                        </a:lnTo>
                        <a:lnTo>
                          <a:pt x="730" y="14"/>
                        </a:lnTo>
                        <a:lnTo>
                          <a:pt x="729" y="15"/>
                        </a:lnTo>
                        <a:lnTo>
                          <a:pt x="729" y="15"/>
                        </a:lnTo>
                        <a:close/>
                        <a:moveTo>
                          <a:pt x="556" y="15"/>
                        </a:moveTo>
                        <a:lnTo>
                          <a:pt x="453" y="15"/>
                        </a:lnTo>
                        <a:lnTo>
                          <a:pt x="450" y="14"/>
                        </a:lnTo>
                        <a:lnTo>
                          <a:pt x="449" y="12"/>
                        </a:lnTo>
                        <a:lnTo>
                          <a:pt x="447" y="9"/>
                        </a:lnTo>
                        <a:lnTo>
                          <a:pt x="447" y="8"/>
                        </a:lnTo>
                        <a:lnTo>
                          <a:pt x="447" y="5"/>
                        </a:lnTo>
                        <a:lnTo>
                          <a:pt x="449" y="2"/>
                        </a:lnTo>
                        <a:lnTo>
                          <a:pt x="450" y="0"/>
                        </a:lnTo>
                        <a:lnTo>
                          <a:pt x="453" y="0"/>
                        </a:lnTo>
                        <a:lnTo>
                          <a:pt x="556" y="0"/>
                        </a:lnTo>
                        <a:lnTo>
                          <a:pt x="557" y="0"/>
                        </a:lnTo>
                        <a:lnTo>
                          <a:pt x="560" y="2"/>
                        </a:lnTo>
                        <a:lnTo>
                          <a:pt x="562" y="5"/>
                        </a:lnTo>
                        <a:lnTo>
                          <a:pt x="562" y="8"/>
                        </a:lnTo>
                        <a:lnTo>
                          <a:pt x="562" y="9"/>
                        </a:lnTo>
                        <a:lnTo>
                          <a:pt x="560" y="12"/>
                        </a:lnTo>
                        <a:lnTo>
                          <a:pt x="557" y="14"/>
                        </a:lnTo>
                        <a:lnTo>
                          <a:pt x="556" y="15"/>
                        </a:lnTo>
                        <a:lnTo>
                          <a:pt x="556" y="15"/>
                        </a:lnTo>
                        <a:close/>
                        <a:moveTo>
                          <a:pt x="381" y="15"/>
                        </a:moveTo>
                        <a:lnTo>
                          <a:pt x="280" y="15"/>
                        </a:lnTo>
                        <a:lnTo>
                          <a:pt x="277" y="14"/>
                        </a:lnTo>
                        <a:lnTo>
                          <a:pt x="276" y="12"/>
                        </a:lnTo>
                        <a:lnTo>
                          <a:pt x="274" y="9"/>
                        </a:lnTo>
                        <a:lnTo>
                          <a:pt x="273" y="8"/>
                        </a:lnTo>
                        <a:lnTo>
                          <a:pt x="274" y="5"/>
                        </a:lnTo>
                        <a:lnTo>
                          <a:pt x="276" y="2"/>
                        </a:lnTo>
                        <a:lnTo>
                          <a:pt x="277" y="0"/>
                        </a:lnTo>
                        <a:lnTo>
                          <a:pt x="280" y="0"/>
                        </a:lnTo>
                        <a:lnTo>
                          <a:pt x="381" y="0"/>
                        </a:lnTo>
                        <a:lnTo>
                          <a:pt x="384" y="0"/>
                        </a:lnTo>
                        <a:lnTo>
                          <a:pt x="387" y="2"/>
                        </a:lnTo>
                        <a:lnTo>
                          <a:pt x="389" y="5"/>
                        </a:lnTo>
                        <a:lnTo>
                          <a:pt x="389" y="8"/>
                        </a:lnTo>
                        <a:lnTo>
                          <a:pt x="389" y="9"/>
                        </a:lnTo>
                        <a:lnTo>
                          <a:pt x="387" y="12"/>
                        </a:lnTo>
                        <a:lnTo>
                          <a:pt x="384" y="14"/>
                        </a:lnTo>
                        <a:lnTo>
                          <a:pt x="381" y="15"/>
                        </a:lnTo>
                        <a:lnTo>
                          <a:pt x="381" y="15"/>
                        </a:lnTo>
                        <a:close/>
                        <a:moveTo>
                          <a:pt x="208" y="15"/>
                        </a:moveTo>
                        <a:lnTo>
                          <a:pt x="107" y="15"/>
                        </a:lnTo>
                        <a:lnTo>
                          <a:pt x="104" y="14"/>
                        </a:lnTo>
                        <a:lnTo>
                          <a:pt x="101" y="12"/>
                        </a:lnTo>
                        <a:lnTo>
                          <a:pt x="100" y="9"/>
                        </a:lnTo>
                        <a:lnTo>
                          <a:pt x="100" y="8"/>
                        </a:lnTo>
                        <a:lnTo>
                          <a:pt x="100" y="5"/>
                        </a:lnTo>
                        <a:lnTo>
                          <a:pt x="101" y="2"/>
                        </a:lnTo>
                        <a:lnTo>
                          <a:pt x="104" y="0"/>
                        </a:lnTo>
                        <a:lnTo>
                          <a:pt x="107" y="0"/>
                        </a:lnTo>
                        <a:lnTo>
                          <a:pt x="208" y="0"/>
                        </a:lnTo>
                        <a:lnTo>
                          <a:pt x="211" y="0"/>
                        </a:lnTo>
                        <a:lnTo>
                          <a:pt x="213" y="2"/>
                        </a:lnTo>
                        <a:lnTo>
                          <a:pt x="214" y="5"/>
                        </a:lnTo>
                        <a:lnTo>
                          <a:pt x="216" y="8"/>
                        </a:lnTo>
                        <a:lnTo>
                          <a:pt x="214" y="9"/>
                        </a:lnTo>
                        <a:lnTo>
                          <a:pt x="213" y="12"/>
                        </a:lnTo>
                        <a:lnTo>
                          <a:pt x="211" y="14"/>
                        </a:lnTo>
                        <a:lnTo>
                          <a:pt x="208" y="15"/>
                        </a:lnTo>
                        <a:lnTo>
                          <a:pt x="208" y="15"/>
                        </a:lnTo>
                        <a:close/>
                        <a:moveTo>
                          <a:pt x="35" y="15"/>
                        </a:moveTo>
                        <a:lnTo>
                          <a:pt x="6" y="15"/>
                        </a:lnTo>
                        <a:lnTo>
                          <a:pt x="3" y="14"/>
                        </a:lnTo>
                        <a:lnTo>
                          <a:pt x="2" y="12"/>
                        </a:lnTo>
                        <a:lnTo>
                          <a:pt x="0" y="9"/>
                        </a:lnTo>
                        <a:lnTo>
                          <a:pt x="0" y="8"/>
                        </a:lnTo>
                        <a:lnTo>
                          <a:pt x="0" y="5"/>
                        </a:lnTo>
                        <a:lnTo>
                          <a:pt x="2" y="2"/>
                        </a:lnTo>
                        <a:lnTo>
                          <a:pt x="3" y="0"/>
                        </a:lnTo>
                        <a:lnTo>
                          <a:pt x="6" y="0"/>
                        </a:lnTo>
                        <a:lnTo>
                          <a:pt x="35" y="0"/>
                        </a:lnTo>
                        <a:lnTo>
                          <a:pt x="38" y="0"/>
                        </a:lnTo>
                        <a:lnTo>
                          <a:pt x="40" y="2"/>
                        </a:lnTo>
                        <a:lnTo>
                          <a:pt x="41" y="5"/>
                        </a:lnTo>
                        <a:lnTo>
                          <a:pt x="43" y="8"/>
                        </a:lnTo>
                        <a:lnTo>
                          <a:pt x="41" y="9"/>
                        </a:lnTo>
                        <a:lnTo>
                          <a:pt x="40" y="12"/>
                        </a:lnTo>
                        <a:lnTo>
                          <a:pt x="38" y="14"/>
                        </a:lnTo>
                        <a:lnTo>
                          <a:pt x="35" y="15"/>
                        </a:lnTo>
                        <a:lnTo>
                          <a:pt x="35" y="15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27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bg-BG"/>
                  </a:p>
                </p:txBody>
              </p:sp>
              <p:sp>
                <p:nvSpPr>
                  <p:cNvPr id="2069" name="Freeform 21"/>
                  <p:cNvSpPr>
                    <a:spLocks/>
                  </p:cNvSpPr>
                  <p:nvPr/>
                </p:nvSpPr>
                <p:spPr bwMode="auto">
                  <a:xfrm>
                    <a:off x="7884" y="8716"/>
                    <a:ext cx="96" cy="87"/>
                  </a:xfrm>
                  <a:custGeom>
                    <a:avLst/>
                    <a:gdLst/>
                    <a:ahLst/>
                    <a:cxnLst>
                      <a:cxn ang="0">
                        <a:pos x="0" y="49"/>
                      </a:cxn>
                      <a:cxn ang="0">
                        <a:pos x="0" y="53"/>
                      </a:cxn>
                      <a:cxn ang="0">
                        <a:pos x="2" y="58"/>
                      </a:cxn>
                      <a:cxn ang="0">
                        <a:pos x="2" y="62"/>
                      </a:cxn>
                      <a:cxn ang="0">
                        <a:pos x="5" y="67"/>
                      </a:cxn>
                      <a:cxn ang="0">
                        <a:pos x="6" y="71"/>
                      </a:cxn>
                      <a:cxn ang="0">
                        <a:pos x="9" y="76"/>
                      </a:cxn>
                      <a:cxn ang="0">
                        <a:pos x="16" y="83"/>
                      </a:cxn>
                      <a:cxn ang="0">
                        <a:pos x="22" y="88"/>
                      </a:cxn>
                      <a:cxn ang="0">
                        <a:pos x="26" y="91"/>
                      </a:cxn>
                      <a:cxn ang="0">
                        <a:pos x="31" y="92"/>
                      </a:cxn>
                      <a:cxn ang="0">
                        <a:pos x="35" y="95"/>
                      </a:cxn>
                      <a:cxn ang="0">
                        <a:pos x="40" y="95"/>
                      </a:cxn>
                      <a:cxn ang="0">
                        <a:pos x="44" y="97"/>
                      </a:cxn>
                      <a:cxn ang="0">
                        <a:pos x="50" y="97"/>
                      </a:cxn>
                      <a:cxn ang="0">
                        <a:pos x="55" y="97"/>
                      </a:cxn>
                      <a:cxn ang="0">
                        <a:pos x="59" y="95"/>
                      </a:cxn>
                      <a:cxn ang="0">
                        <a:pos x="64" y="95"/>
                      </a:cxn>
                      <a:cxn ang="0">
                        <a:pos x="68" y="92"/>
                      </a:cxn>
                      <a:cxn ang="0">
                        <a:pos x="73" y="91"/>
                      </a:cxn>
                      <a:cxn ang="0">
                        <a:pos x="77" y="88"/>
                      </a:cxn>
                      <a:cxn ang="0">
                        <a:pos x="83" y="83"/>
                      </a:cxn>
                      <a:cxn ang="0">
                        <a:pos x="89" y="76"/>
                      </a:cxn>
                      <a:cxn ang="0">
                        <a:pos x="92" y="71"/>
                      </a:cxn>
                      <a:cxn ang="0">
                        <a:pos x="94" y="67"/>
                      </a:cxn>
                      <a:cxn ang="0">
                        <a:pos x="95" y="62"/>
                      </a:cxn>
                      <a:cxn ang="0">
                        <a:pos x="97" y="58"/>
                      </a:cxn>
                      <a:cxn ang="0">
                        <a:pos x="98" y="53"/>
                      </a:cxn>
                      <a:cxn ang="0">
                        <a:pos x="98" y="49"/>
                      </a:cxn>
                      <a:cxn ang="0">
                        <a:pos x="98" y="49"/>
                      </a:cxn>
                      <a:cxn ang="0">
                        <a:pos x="98" y="43"/>
                      </a:cxn>
                      <a:cxn ang="0">
                        <a:pos x="97" y="38"/>
                      </a:cxn>
                      <a:cxn ang="0">
                        <a:pos x="95" y="34"/>
                      </a:cxn>
                      <a:cxn ang="0">
                        <a:pos x="94" y="29"/>
                      </a:cxn>
                      <a:cxn ang="0">
                        <a:pos x="92" y="25"/>
                      </a:cxn>
                      <a:cxn ang="0">
                        <a:pos x="89" y="22"/>
                      </a:cxn>
                      <a:cxn ang="0">
                        <a:pos x="83" y="14"/>
                      </a:cxn>
                      <a:cxn ang="0">
                        <a:pos x="77" y="8"/>
                      </a:cxn>
                      <a:cxn ang="0">
                        <a:pos x="73" y="5"/>
                      </a:cxn>
                      <a:cxn ang="0">
                        <a:pos x="68" y="4"/>
                      </a:cxn>
                      <a:cxn ang="0">
                        <a:pos x="64" y="2"/>
                      </a:cxn>
                      <a:cxn ang="0">
                        <a:pos x="59" y="1"/>
                      </a:cxn>
                      <a:cxn ang="0">
                        <a:pos x="55" y="0"/>
                      </a:cxn>
                      <a:cxn ang="0">
                        <a:pos x="50" y="0"/>
                      </a:cxn>
                      <a:cxn ang="0">
                        <a:pos x="44" y="0"/>
                      </a:cxn>
                      <a:cxn ang="0">
                        <a:pos x="40" y="1"/>
                      </a:cxn>
                      <a:cxn ang="0">
                        <a:pos x="35" y="2"/>
                      </a:cxn>
                      <a:cxn ang="0">
                        <a:pos x="31" y="4"/>
                      </a:cxn>
                      <a:cxn ang="0">
                        <a:pos x="26" y="5"/>
                      </a:cxn>
                      <a:cxn ang="0">
                        <a:pos x="22" y="8"/>
                      </a:cxn>
                      <a:cxn ang="0">
                        <a:pos x="16" y="14"/>
                      </a:cxn>
                      <a:cxn ang="0">
                        <a:pos x="9" y="22"/>
                      </a:cxn>
                      <a:cxn ang="0">
                        <a:pos x="6" y="25"/>
                      </a:cxn>
                      <a:cxn ang="0">
                        <a:pos x="5" y="29"/>
                      </a:cxn>
                      <a:cxn ang="0">
                        <a:pos x="2" y="34"/>
                      </a:cxn>
                      <a:cxn ang="0">
                        <a:pos x="2" y="38"/>
                      </a:cxn>
                      <a:cxn ang="0">
                        <a:pos x="0" y="43"/>
                      </a:cxn>
                      <a:cxn ang="0">
                        <a:pos x="0" y="49"/>
                      </a:cxn>
                    </a:cxnLst>
                    <a:rect l="0" t="0" r="r" b="b"/>
                    <a:pathLst>
                      <a:path w="98" h="97">
                        <a:moveTo>
                          <a:pt x="0" y="49"/>
                        </a:moveTo>
                        <a:lnTo>
                          <a:pt x="0" y="53"/>
                        </a:lnTo>
                        <a:lnTo>
                          <a:pt x="2" y="58"/>
                        </a:lnTo>
                        <a:lnTo>
                          <a:pt x="2" y="62"/>
                        </a:lnTo>
                        <a:lnTo>
                          <a:pt x="5" y="67"/>
                        </a:lnTo>
                        <a:lnTo>
                          <a:pt x="6" y="71"/>
                        </a:lnTo>
                        <a:lnTo>
                          <a:pt x="9" y="76"/>
                        </a:lnTo>
                        <a:lnTo>
                          <a:pt x="16" y="83"/>
                        </a:lnTo>
                        <a:lnTo>
                          <a:pt x="22" y="88"/>
                        </a:lnTo>
                        <a:lnTo>
                          <a:pt x="26" y="91"/>
                        </a:lnTo>
                        <a:lnTo>
                          <a:pt x="31" y="92"/>
                        </a:lnTo>
                        <a:lnTo>
                          <a:pt x="35" y="95"/>
                        </a:lnTo>
                        <a:lnTo>
                          <a:pt x="40" y="95"/>
                        </a:lnTo>
                        <a:lnTo>
                          <a:pt x="44" y="97"/>
                        </a:lnTo>
                        <a:lnTo>
                          <a:pt x="50" y="97"/>
                        </a:lnTo>
                        <a:lnTo>
                          <a:pt x="55" y="97"/>
                        </a:lnTo>
                        <a:lnTo>
                          <a:pt x="59" y="95"/>
                        </a:lnTo>
                        <a:lnTo>
                          <a:pt x="64" y="95"/>
                        </a:lnTo>
                        <a:lnTo>
                          <a:pt x="68" y="92"/>
                        </a:lnTo>
                        <a:lnTo>
                          <a:pt x="73" y="91"/>
                        </a:lnTo>
                        <a:lnTo>
                          <a:pt x="77" y="88"/>
                        </a:lnTo>
                        <a:lnTo>
                          <a:pt x="83" y="83"/>
                        </a:lnTo>
                        <a:lnTo>
                          <a:pt x="89" y="76"/>
                        </a:lnTo>
                        <a:lnTo>
                          <a:pt x="92" y="71"/>
                        </a:lnTo>
                        <a:lnTo>
                          <a:pt x="94" y="67"/>
                        </a:lnTo>
                        <a:lnTo>
                          <a:pt x="95" y="62"/>
                        </a:lnTo>
                        <a:lnTo>
                          <a:pt x="97" y="58"/>
                        </a:lnTo>
                        <a:lnTo>
                          <a:pt x="98" y="53"/>
                        </a:lnTo>
                        <a:lnTo>
                          <a:pt x="98" y="49"/>
                        </a:lnTo>
                        <a:lnTo>
                          <a:pt x="98" y="49"/>
                        </a:lnTo>
                        <a:lnTo>
                          <a:pt x="98" y="43"/>
                        </a:lnTo>
                        <a:lnTo>
                          <a:pt x="97" y="38"/>
                        </a:lnTo>
                        <a:lnTo>
                          <a:pt x="95" y="34"/>
                        </a:lnTo>
                        <a:lnTo>
                          <a:pt x="94" y="29"/>
                        </a:lnTo>
                        <a:lnTo>
                          <a:pt x="92" y="25"/>
                        </a:lnTo>
                        <a:lnTo>
                          <a:pt x="89" y="22"/>
                        </a:lnTo>
                        <a:lnTo>
                          <a:pt x="83" y="14"/>
                        </a:lnTo>
                        <a:lnTo>
                          <a:pt x="77" y="8"/>
                        </a:lnTo>
                        <a:lnTo>
                          <a:pt x="73" y="5"/>
                        </a:lnTo>
                        <a:lnTo>
                          <a:pt x="68" y="4"/>
                        </a:lnTo>
                        <a:lnTo>
                          <a:pt x="64" y="2"/>
                        </a:lnTo>
                        <a:lnTo>
                          <a:pt x="59" y="1"/>
                        </a:lnTo>
                        <a:lnTo>
                          <a:pt x="55" y="0"/>
                        </a:lnTo>
                        <a:lnTo>
                          <a:pt x="50" y="0"/>
                        </a:lnTo>
                        <a:lnTo>
                          <a:pt x="44" y="0"/>
                        </a:lnTo>
                        <a:lnTo>
                          <a:pt x="40" y="1"/>
                        </a:lnTo>
                        <a:lnTo>
                          <a:pt x="35" y="2"/>
                        </a:lnTo>
                        <a:lnTo>
                          <a:pt x="31" y="4"/>
                        </a:lnTo>
                        <a:lnTo>
                          <a:pt x="26" y="5"/>
                        </a:lnTo>
                        <a:lnTo>
                          <a:pt x="22" y="8"/>
                        </a:lnTo>
                        <a:lnTo>
                          <a:pt x="16" y="14"/>
                        </a:lnTo>
                        <a:lnTo>
                          <a:pt x="9" y="22"/>
                        </a:lnTo>
                        <a:lnTo>
                          <a:pt x="6" y="25"/>
                        </a:lnTo>
                        <a:lnTo>
                          <a:pt x="5" y="29"/>
                        </a:lnTo>
                        <a:lnTo>
                          <a:pt x="2" y="34"/>
                        </a:lnTo>
                        <a:lnTo>
                          <a:pt x="2" y="38"/>
                        </a:lnTo>
                        <a:lnTo>
                          <a:pt x="0" y="43"/>
                        </a:lnTo>
                        <a:lnTo>
                          <a:pt x="0" y="4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bg-BG"/>
                  </a:p>
                </p:txBody>
              </p:sp>
              <p:sp>
                <p:nvSpPr>
                  <p:cNvPr id="2070" name="Freeform 22"/>
                  <p:cNvSpPr>
                    <a:spLocks/>
                  </p:cNvSpPr>
                  <p:nvPr/>
                </p:nvSpPr>
                <p:spPr bwMode="auto">
                  <a:xfrm>
                    <a:off x="6511" y="8716"/>
                    <a:ext cx="95" cy="87"/>
                  </a:xfrm>
                  <a:custGeom>
                    <a:avLst/>
                    <a:gdLst/>
                    <a:ahLst/>
                    <a:cxnLst>
                      <a:cxn ang="0">
                        <a:pos x="98" y="49"/>
                      </a:cxn>
                      <a:cxn ang="0">
                        <a:pos x="97" y="43"/>
                      </a:cxn>
                      <a:cxn ang="0">
                        <a:pos x="97" y="38"/>
                      </a:cxn>
                      <a:cxn ang="0">
                        <a:pos x="95" y="34"/>
                      </a:cxn>
                      <a:cxn ang="0">
                        <a:pos x="94" y="29"/>
                      </a:cxn>
                      <a:cxn ang="0">
                        <a:pos x="92" y="25"/>
                      </a:cxn>
                      <a:cxn ang="0">
                        <a:pos x="89" y="20"/>
                      </a:cxn>
                      <a:cxn ang="0">
                        <a:pos x="83" y="14"/>
                      </a:cxn>
                      <a:cxn ang="0">
                        <a:pos x="76" y="8"/>
                      </a:cxn>
                      <a:cxn ang="0">
                        <a:pos x="73" y="5"/>
                      </a:cxn>
                      <a:cxn ang="0">
                        <a:pos x="68" y="4"/>
                      </a:cxn>
                      <a:cxn ang="0">
                        <a:pos x="64" y="2"/>
                      </a:cxn>
                      <a:cxn ang="0">
                        <a:pos x="59" y="1"/>
                      </a:cxn>
                      <a:cxn ang="0">
                        <a:pos x="54" y="0"/>
                      </a:cxn>
                      <a:cxn ang="0">
                        <a:pos x="48" y="0"/>
                      </a:cxn>
                      <a:cxn ang="0">
                        <a:pos x="44" y="0"/>
                      </a:cxn>
                      <a:cxn ang="0">
                        <a:pos x="39" y="1"/>
                      </a:cxn>
                      <a:cxn ang="0">
                        <a:pos x="35" y="2"/>
                      </a:cxn>
                      <a:cxn ang="0">
                        <a:pos x="30" y="4"/>
                      </a:cxn>
                      <a:cxn ang="0">
                        <a:pos x="26" y="5"/>
                      </a:cxn>
                      <a:cxn ang="0">
                        <a:pos x="21" y="8"/>
                      </a:cxn>
                      <a:cxn ang="0">
                        <a:pos x="14" y="14"/>
                      </a:cxn>
                      <a:cxn ang="0">
                        <a:pos x="8" y="20"/>
                      </a:cxn>
                      <a:cxn ang="0">
                        <a:pos x="6" y="25"/>
                      </a:cxn>
                      <a:cxn ang="0">
                        <a:pos x="3" y="29"/>
                      </a:cxn>
                      <a:cxn ang="0">
                        <a:pos x="2" y="34"/>
                      </a:cxn>
                      <a:cxn ang="0">
                        <a:pos x="2" y="38"/>
                      </a:cxn>
                      <a:cxn ang="0">
                        <a:pos x="0" y="43"/>
                      </a:cxn>
                      <a:cxn ang="0">
                        <a:pos x="0" y="49"/>
                      </a:cxn>
                      <a:cxn ang="0">
                        <a:pos x="0" y="49"/>
                      </a:cxn>
                      <a:cxn ang="0">
                        <a:pos x="0" y="53"/>
                      </a:cxn>
                      <a:cxn ang="0">
                        <a:pos x="2" y="58"/>
                      </a:cxn>
                      <a:cxn ang="0">
                        <a:pos x="2" y="62"/>
                      </a:cxn>
                      <a:cxn ang="0">
                        <a:pos x="3" y="67"/>
                      </a:cxn>
                      <a:cxn ang="0">
                        <a:pos x="6" y="71"/>
                      </a:cxn>
                      <a:cxn ang="0">
                        <a:pos x="8" y="76"/>
                      </a:cxn>
                      <a:cxn ang="0">
                        <a:pos x="14" y="82"/>
                      </a:cxn>
                      <a:cxn ang="0">
                        <a:pos x="21" y="88"/>
                      </a:cxn>
                      <a:cxn ang="0">
                        <a:pos x="26" y="91"/>
                      </a:cxn>
                      <a:cxn ang="0">
                        <a:pos x="30" y="92"/>
                      </a:cxn>
                      <a:cxn ang="0">
                        <a:pos x="35" y="95"/>
                      </a:cxn>
                      <a:cxn ang="0">
                        <a:pos x="39" y="95"/>
                      </a:cxn>
                      <a:cxn ang="0">
                        <a:pos x="44" y="97"/>
                      </a:cxn>
                      <a:cxn ang="0">
                        <a:pos x="48" y="97"/>
                      </a:cxn>
                      <a:cxn ang="0">
                        <a:pos x="54" y="97"/>
                      </a:cxn>
                      <a:cxn ang="0">
                        <a:pos x="59" y="95"/>
                      </a:cxn>
                      <a:cxn ang="0">
                        <a:pos x="64" y="95"/>
                      </a:cxn>
                      <a:cxn ang="0">
                        <a:pos x="68" y="92"/>
                      </a:cxn>
                      <a:cxn ang="0">
                        <a:pos x="73" y="91"/>
                      </a:cxn>
                      <a:cxn ang="0">
                        <a:pos x="76" y="88"/>
                      </a:cxn>
                      <a:cxn ang="0">
                        <a:pos x="83" y="82"/>
                      </a:cxn>
                      <a:cxn ang="0">
                        <a:pos x="89" y="76"/>
                      </a:cxn>
                      <a:cxn ang="0">
                        <a:pos x="92" y="71"/>
                      </a:cxn>
                      <a:cxn ang="0">
                        <a:pos x="94" y="67"/>
                      </a:cxn>
                      <a:cxn ang="0">
                        <a:pos x="95" y="62"/>
                      </a:cxn>
                      <a:cxn ang="0">
                        <a:pos x="97" y="58"/>
                      </a:cxn>
                      <a:cxn ang="0">
                        <a:pos x="97" y="53"/>
                      </a:cxn>
                      <a:cxn ang="0">
                        <a:pos x="98" y="49"/>
                      </a:cxn>
                    </a:cxnLst>
                    <a:rect l="0" t="0" r="r" b="b"/>
                    <a:pathLst>
                      <a:path w="98" h="97">
                        <a:moveTo>
                          <a:pt x="98" y="49"/>
                        </a:moveTo>
                        <a:lnTo>
                          <a:pt x="97" y="43"/>
                        </a:lnTo>
                        <a:lnTo>
                          <a:pt x="97" y="38"/>
                        </a:lnTo>
                        <a:lnTo>
                          <a:pt x="95" y="34"/>
                        </a:lnTo>
                        <a:lnTo>
                          <a:pt x="94" y="29"/>
                        </a:lnTo>
                        <a:lnTo>
                          <a:pt x="92" y="25"/>
                        </a:lnTo>
                        <a:lnTo>
                          <a:pt x="89" y="20"/>
                        </a:lnTo>
                        <a:lnTo>
                          <a:pt x="83" y="14"/>
                        </a:lnTo>
                        <a:lnTo>
                          <a:pt x="76" y="8"/>
                        </a:lnTo>
                        <a:lnTo>
                          <a:pt x="73" y="5"/>
                        </a:lnTo>
                        <a:lnTo>
                          <a:pt x="68" y="4"/>
                        </a:lnTo>
                        <a:lnTo>
                          <a:pt x="64" y="2"/>
                        </a:lnTo>
                        <a:lnTo>
                          <a:pt x="59" y="1"/>
                        </a:lnTo>
                        <a:lnTo>
                          <a:pt x="54" y="0"/>
                        </a:lnTo>
                        <a:lnTo>
                          <a:pt x="48" y="0"/>
                        </a:lnTo>
                        <a:lnTo>
                          <a:pt x="44" y="0"/>
                        </a:lnTo>
                        <a:lnTo>
                          <a:pt x="39" y="1"/>
                        </a:lnTo>
                        <a:lnTo>
                          <a:pt x="35" y="2"/>
                        </a:lnTo>
                        <a:lnTo>
                          <a:pt x="30" y="4"/>
                        </a:lnTo>
                        <a:lnTo>
                          <a:pt x="26" y="5"/>
                        </a:lnTo>
                        <a:lnTo>
                          <a:pt x="21" y="8"/>
                        </a:lnTo>
                        <a:lnTo>
                          <a:pt x="14" y="14"/>
                        </a:lnTo>
                        <a:lnTo>
                          <a:pt x="8" y="20"/>
                        </a:lnTo>
                        <a:lnTo>
                          <a:pt x="6" y="25"/>
                        </a:lnTo>
                        <a:lnTo>
                          <a:pt x="3" y="29"/>
                        </a:lnTo>
                        <a:lnTo>
                          <a:pt x="2" y="34"/>
                        </a:lnTo>
                        <a:lnTo>
                          <a:pt x="2" y="38"/>
                        </a:lnTo>
                        <a:lnTo>
                          <a:pt x="0" y="43"/>
                        </a:lnTo>
                        <a:lnTo>
                          <a:pt x="0" y="49"/>
                        </a:lnTo>
                        <a:lnTo>
                          <a:pt x="0" y="49"/>
                        </a:lnTo>
                        <a:lnTo>
                          <a:pt x="0" y="53"/>
                        </a:lnTo>
                        <a:lnTo>
                          <a:pt x="2" y="58"/>
                        </a:lnTo>
                        <a:lnTo>
                          <a:pt x="2" y="62"/>
                        </a:lnTo>
                        <a:lnTo>
                          <a:pt x="3" y="67"/>
                        </a:lnTo>
                        <a:lnTo>
                          <a:pt x="6" y="71"/>
                        </a:lnTo>
                        <a:lnTo>
                          <a:pt x="8" y="76"/>
                        </a:lnTo>
                        <a:lnTo>
                          <a:pt x="14" y="82"/>
                        </a:lnTo>
                        <a:lnTo>
                          <a:pt x="21" y="88"/>
                        </a:lnTo>
                        <a:lnTo>
                          <a:pt x="26" y="91"/>
                        </a:lnTo>
                        <a:lnTo>
                          <a:pt x="30" y="92"/>
                        </a:lnTo>
                        <a:lnTo>
                          <a:pt x="35" y="95"/>
                        </a:lnTo>
                        <a:lnTo>
                          <a:pt x="39" y="95"/>
                        </a:lnTo>
                        <a:lnTo>
                          <a:pt x="44" y="97"/>
                        </a:lnTo>
                        <a:lnTo>
                          <a:pt x="48" y="97"/>
                        </a:lnTo>
                        <a:lnTo>
                          <a:pt x="54" y="97"/>
                        </a:lnTo>
                        <a:lnTo>
                          <a:pt x="59" y="95"/>
                        </a:lnTo>
                        <a:lnTo>
                          <a:pt x="64" y="95"/>
                        </a:lnTo>
                        <a:lnTo>
                          <a:pt x="68" y="92"/>
                        </a:lnTo>
                        <a:lnTo>
                          <a:pt x="73" y="91"/>
                        </a:lnTo>
                        <a:lnTo>
                          <a:pt x="76" y="88"/>
                        </a:lnTo>
                        <a:lnTo>
                          <a:pt x="83" y="82"/>
                        </a:lnTo>
                        <a:lnTo>
                          <a:pt x="89" y="76"/>
                        </a:lnTo>
                        <a:lnTo>
                          <a:pt x="92" y="71"/>
                        </a:lnTo>
                        <a:lnTo>
                          <a:pt x="94" y="67"/>
                        </a:lnTo>
                        <a:lnTo>
                          <a:pt x="95" y="62"/>
                        </a:lnTo>
                        <a:lnTo>
                          <a:pt x="97" y="58"/>
                        </a:lnTo>
                        <a:lnTo>
                          <a:pt x="97" y="53"/>
                        </a:lnTo>
                        <a:lnTo>
                          <a:pt x="98" y="4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bg-BG"/>
                  </a:p>
                </p:txBody>
              </p:sp>
              <p:sp>
                <p:nvSpPr>
                  <p:cNvPr id="2071" name="Freeform 23"/>
                  <p:cNvSpPr>
                    <a:spLocks/>
                  </p:cNvSpPr>
                  <p:nvPr/>
                </p:nvSpPr>
                <p:spPr bwMode="auto">
                  <a:xfrm>
                    <a:off x="6447" y="11162"/>
                    <a:ext cx="553" cy="210"/>
                  </a:xfrm>
                  <a:custGeom>
                    <a:avLst/>
                    <a:gdLst/>
                    <a:ahLst/>
                    <a:cxnLst>
                      <a:cxn ang="0">
                        <a:pos x="454" y="232"/>
                      </a:cxn>
                      <a:cxn ang="0">
                        <a:pos x="477" y="229"/>
                      </a:cxn>
                      <a:cxn ang="0">
                        <a:pos x="500" y="223"/>
                      </a:cxn>
                      <a:cxn ang="0">
                        <a:pos x="519" y="212"/>
                      </a:cxn>
                      <a:cxn ang="0">
                        <a:pos x="536" y="197"/>
                      </a:cxn>
                      <a:cxn ang="0">
                        <a:pos x="551" y="181"/>
                      </a:cxn>
                      <a:cxn ang="0">
                        <a:pos x="561" y="161"/>
                      </a:cxn>
                      <a:cxn ang="0">
                        <a:pos x="567" y="139"/>
                      </a:cxn>
                      <a:cxn ang="0">
                        <a:pos x="570" y="117"/>
                      </a:cxn>
                      <a:cxn ang="0">
                        <a:pos x="570" y="105"/>
                      </a:cxn>
                      <a:cxn ang="0">
                        <a:pos x="566" y="82"/>
                      </a:cxn>
                      <a:cxn ang="0">
                        <a:pos x="557" y="61"/>
                      </a:cxn>
                      <a:cxn ang="0">
                        <a:pos x="543" y="42"/>
                      </a:cxn>
                      <a:cxn ang="0">
                        <a:pos x="528" y="27"/>
                      </a:cxn>
                      <a:cxn ang="0">
                        <a:pos x="510" y="15"/>
                      </a:cxn>
                      <a:cxn ang="0">
                        <a:pos x="489" y="6"/>
                      </a:cxn>
                      <a:cxn ang="0">
                        <a:pos x="466" y="1"/>
                      </a:cxn>
                      <a:cxn ang="0">
                        <a:pos x="116" y="0"/>
                      </a:cxn>
                      <a:cxn ang="0">
                        <a:pos x="93" y="3"/>
                      </a:cxn>
                      <a:cxn ang="0">
                        <a:pos x="71" y="9"/>
                      </a:cxn>
                      <a:cxn ang="0">
                        <a:pos x="51" y="19"/>
                      </a:cxn>
                      <a:cxn ang="0">
                        <a:pos x="35" y="34"/>
                      </a:cxn>
                      <a:cxn ang="0">
                        <a:pos x="20" y="51"/>
                      </a:cxn>
                      <a:cxn ang="0">
                        <a:pos x="9" y="70"/>
                      </a:cxn>
                      <a:cxn ang="0">
                        <a:pos x="3" y="93"/>
                      </a:cxn>
                      <a:cxn ang="0">
                        <a:pos x="0" y="117"/>
                      </a:cxn>
                      <a:cxn ang="0">
                        <a:pos x="3" y="139"/>
                      </a:cxn>
                      <a:cxn ang="0">
                        <a:pos x="9" y="161"/>
                      </a:cxn>
                      <a:cxn ang="0">
                        <a:pos x="20" y="181"/>
                      </a:cxn>
                      <a:cxn ang="0">
                        <a:pos x="35" y="197"/>
                      </a:cxn>
                      <a:cxn ang="0">
                        <a:pos x="51" y="212"/>
                      </a:cxn>
                      <a:cxn ang="0">
                        <a:pos x="71" y="223"/>
                      </a:cxn>
                      <a:cxn ang="0">
                        <a:pos x="93" y="229"/>
                      </a:cxn>
                      <a:cxn ang="0">
                        <a:pos x="116" y="232"/>
                      </a:cxn>
                    </a:cxnLst>
                    <a:rect l="0" t="0" r="r" b="b"/>
                    <a:pathLst>
                      <a:path w="570" h="232">
                        <a:moveTo>
                          <a:pt x="116" y="232"/>
                        </a:moveTo>
                        <a:lnTo>
                          <a:pt x="454" y="232"/>
                        </a:lnTo>
                        <a:lnTo>
                          <a:pt x="466" y="230"/>
                        </a:lnTo>
                        <a:lnTo>
                          <a:pt x="477" y="229"/>
                        </a:lnTo>
                        <a:lnTo>
                          <a:pt x="489" y="226"/>
                        </a:lnTo>
                        <a:lnTo>
                          <a:pt x="500" y="223"/>
                        </a:lnTo>
                        <a:lnTo>
                          <a:pt x="510" y="217"/>
                        </a:lnTo>
                        <a:lnTo>
                          <a:pt x="519" y="212"/>
                        </a:lnTo>
                        <a:lnTo>
                          <a:pt x="528" y="205"/>
                        </a:lnTo>
                        <a:lnTo>
                          <a:pt x="536" y="197"/>
                        </a:lnTo>
                        <a:lnTo>
                          <a:pt x="543" y="190"/>
                        </a:lnTo>
                        <a:lnTo>
                          <a:pt x="551" y="181"/>
                        </a:lnTo>
                        <a:lnTo>
                          <a:pt x="557" y="170"/>
                        </a:lnTo>
                        <a:lnTo>
                          <a:pt x="561" y="161"/>
                        </a:lnTo>
                        <a:lnTo>
                          <a:pt x="566" y="151"/>
                        </a:lnTo>
                        <a:lnTo>
                          <a:pt x="567" y="139"/>
                        </a:lnTo>
                        <a:lnTo>
                          <a:pt x="570" y="127"/>
                        </a:lnTo>
                        <a:lnTo>
                          <a:pt x="570" y="117"/>
                        </a:lnTo>
                        <a:lnTo>
                          <a:pt x="570" y="117"/>
                        </a:lnTo>
                        <a:lnTo>
                          <a:pt x="570" y="105"/>
                        </a:lnTo>
                        <a:lnTo>
                          <a:pt x="567" y="93"/>
                        </a:lnTo>
                        <a:lnTo>
                          <a:pt x="566" y="82"/>
                        </a:lnTo>
                        <a:lnTo>
                          <a:pt x="561" y="70"/>
                        </a:lnTo>
                        <a:lnTo>
                          <a:pt x="557" y="61"/>
                        </a:lnTo>
                        <a:lnTo>
                          <a:pt x="551" y="51"/>
                        </a:lnTo>
                        <a:lnTo>
                          <a:pt x="543" y="42"/>
                        </a:lnTo>
                        <a:lnTo>
                          <a:pt x="536" y="34"/>
                        </a:lnTo>
                        <a:lnTo>
                          <a:pt x="528" y="27"/>
                        </a:lnTo>
                        <a:lnTo>
                          <a:pt x="519" y="19"/>
                        </a:lnTo>
                        <a:lnTo>
                          <a:pt x="510" y="15"/>
                        </a:lnTo>
                        <a:lnTo>
                          <a:pt x="500" y="9"/>
                        </a:lnTo>
                        <a:lnTo>
                          <a:pt x="489" y="6"/>
                        </a:lnTo>
                        <a:lnTo>
                          <a:pt x="477" y="3"/>
                        </a:lnTo>
                        <a:lnTo>
                          <a:pt x="466" y="1"/>
                        </a:lnTo>
                        <a:lnTo>
                          <a:pt x="454" y="0"/>
                        </a:lnTo>
                        <a:lnTo>
                          <a:pt x="116" y="0"/>
                        </a:lnTo>
                        <a:lnTo>
                          <a:pt x="104" y="1"/>
                        </a:lnTo>
                        <a:lnTo>
                          <a:pt x="93" y="3"/>
                        </a:lnTo>
                        <a:lnTo>
                          <a:pt x="81" y="6"/>
                        </a:lnTo>
                        <a:lnTo>
                          <a:pt x="71" y="9"/>
                        </a:lnTo>
                        <a:lnTo>
                          <a:pt x="62" y="15"/>
                        </a:lnTo>
                        <a:lnTo>
                          <a:pt x="51" y="19"/>
                        </a:lnTo>
                        <a:lnTo>
                          <a:pt x="42" y="27"/>
                        </a:lnTo>
                        <a:lnTo>
                          <a:pt x="35" y="34"/>
                        </a:lnTo>
                        <a:lnTo>
                          <a:pt x="27" y="42"/>
                        </a:lnTo>
                        <a:lnTo>
                          <a:pt x="20" y="51"/>
                        </a:lnTo>
                        <a:lnTo>
                          <a:pt x="14" y="61"/>
                        </a:lnTo>
                        <a:lnTo>
                          <a:pt x="9" y="70"/>
                        </a:lnTo>
                        <a:lnTo>
                          <a:pt x="6" y="82"/>
                        </a:lnTo>
                        <a:lnTo>
                          <a:pt x="3" y="93"/>
                        </a:lnTo>
                        <a:lnTo>
                          <a:pt x="2" y="105"/>
                        </a:lnTo>
                        <a:lnTo>
                          <a:pt x="0" y="117"/>
                        </a:lnTo>
                        <a:lnTo>
                          <a:pt x="2" y="127"/>
                        </a:lnTo>
                        <a:lnTo>
                          <a:pt x="3" y="139"/>
                        </a:lnTo>
                        <a:lnTo>
                          <a:pt x="6" y="151"/>
                        </a:lnTo>
                        <a:lnTo>
                          <a:pt x="9" y="161"/>
                        </a:lnTo>
                        <a:lnTo>
                          <a:pt x="14" y="170"/>
                        </a:lnTo>
                        <a:lnTo>
                          <a:pt x="20" y="181"/>
                        </a:lnTo>
                        <a:lnTo>
                          <a:pt x="27" y="190"/>
                        </a:lnTo>
                        <a:lnTo>
                          <a:pt x="35" y="197"/>
                        </a:lnTo>
                        <a:lnTo>
                          <a:pt x="42" y="205"/>
                        </a:lnTo>
                        <a:lnTo>
                          <a:pt x="51" y="212"/>
                        </a:lnTo>
                        <a:lnTo>
                          <a:pt x="62" y="217"/>
                        </a:lnTo>
                        <a:lnTo>
                          <a:pt x="71" y="223"/>
                        </a:lnTo>
                        <a:lnTo>
                          <a:pt x="81" y="226"/>
                        </a:lnTo>
                        <a:lnTo>
                          <a:pt x="93" y="229"/>
                        </a:lnTo>
                        <a:lnTo>
                          <a:pt x="104" y="230"/>
                        </a:lnTo>
                        <a:lnTo>
                          <a:pt x="116" y="232"/>
                        </a:lnTo>
                        <a:lnTo>
                          <a:pt x="116" y="232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bg-BG"/>
                  </a:p>
                </p:txBody>
              </p:sp>
              <p:sp>
                <p:nvSpPr>
                  <p:cNvPr id="2072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7407" y="8452"/>
                    <a:ext cx="170" cy="28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0" rIns="0" bIns="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rPr>
                      <a:t>I</a:t>
                    </a:r>
                    <a:endParaRPr kumimoji="0" lang="bg-BG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2073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7472" y="8551"/>
                    <a:ext cx="388" cy="19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0" rIns="0" bIns="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rPr>
                      <a:t>DSS</a:t>
                    </a:r>
                    <a:endParaRPr kumimoji="0" lang="bg-BG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</p:grpSp>
          <p:grpSp>
            <p:nvGrpSpPr>
              <p:cNvPr id="2074" name="Group 26"/>
              <p:cNvGrpSpPr>
                <a:grpSpLocks/>
              </p:cNvGrpSpPr>
              <p:nvPr/>
            </p:nvGrpSpPr>
            <p:grpSpPr bwMode="auto">
              <a:xfrm>
                <a:off x="1483" y="7341"/>
                <a:ext cx="4054" cy="3391"/>
                <a:chOff x="1483" y="7341"/>
                <a:chExt cx="4054" cy="3391"/>
              </a:xfrm>
            </p:grpSpPr>
            <p:grpSp>
              <p:nvGrpSpPr>
                <p:cNvPr id="2075" name="Group 27"/>
                <p:cNvGrpSpPr>
                  <a:grpSpLocks/>
                </p:cNvGrpSpPr>
                <p:nvPr/>
              </p:nvGrpSpPr>
              <p:grpSpPr bwMode="auto">
                <a:xfrm>
                  <a:off x="1539" y="7341"/>
                  <a:ext cx="3998" cy="3391"/>
                  <a:chOff x="1539" y="7344"/>
                  <a:chExt cx="3998" cy="3391"/>
                </a:xfrm>
              </p:grpSpPr>
              <p:sp>
                <p:nvSpPr>
                  <p:cNvPr id="2076" name="Freeform 28"/>
                  <p:cNvSpPr>
                    <a:spLocks/>
                  </p:cNvSpPr>
                  <p:nvPr/>
                </p:nvSpPr>
                <p:spPr bwMode="auto">
                  <a:xfrm>
                    <a:off x="1687" y="10312"/>
                    <a:ext cx="1914" cy="423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454"/>
                      </a:cxn>
                      <a:cxn ang="0">
                        <a:pos x="2260" y="454"/>
                      </a:cxn>
                      <a:cxn ang="0">
                        <a:pos x="2260" y="37"/>
                      </a:cxn>
                    </a:cxnLst>
                    <a:rect l="0" t="0" r="r" b="b"/>
                    <a:pathLst>
                      <a:path w="2260" h="454">
                        <a:moveTo>
                          <a:pt x="0" y="0"/>
                        </a:moveTo>
                        <a:lnTo>
                          <a:pt x="0" y="454"/>
                        </a:lnTo>
                        <a:lnTo>
                          <a:pt x="2260" y="454"/>
                        </a:lnTo>
                        <a:lnTo>
                          <a:pt x="2260" y="37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bg-BG"/>
                  </a:p>
                </p:txBody>
              </p:sp>
              <p:sp>
                <p:nvSpPr>
                  <p:cNvPr id="2077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4886" y="9142"/>
                    <a:ext cx="1" cy="159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bg-BG"/>
                  </a:p>
                </p:txBody>
              </p:sp>
              <p:sp>
                <p:nvSpPr>
                  <p:cNvPr id="2078" name="Freeform 30"/>
                  <p:cNvSpPr>
                    <a:spLocks/>
                  </p:cNvSpPr>
                  <p:nvPr/>
                </p:nvSpPr>
                <p:spPr bwMode="auto">
                  <a:xfrm>
                    <a:off x="3601" y="10312"/>
                    <a:ext cx="1294" cy="423"/>
                  </a:xfrm>
                  <a:custGeom>
                    <a:avLst/>
                    <a:gdLst/>
                    <a:ahLst/>
                    <a:cxnLst>
                      <a:cxn ang="0">
                        <a:pos x="1527" y="454"/>
                      </a:cxn>
                      <a:cxn ang="0">
                        <a:pos x="0" y="454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527" h="454">
                        <a:moveTo>
                          <a:pt x="1527" y="454"/>
                        </a:moveTo>
                        <a:lnTo>
                          <a:pt x="0" y="454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bg-BG"/>
                  </a:p>
                </p:txBody>
              </p:sp>
              <p:sp>
                <p:nvSpPr>
                  <p:cNvPr id="2079" name="Freeform 31"/>
                  <p:cNvSpPr>
                    <a:spLocks/>
                  </p:cNvSpPr>
                  <p:nvPr/>
                </p:nvSpPr>
                <p:spPr bwMode="auto">
                  <a:xfrm>
                    <a:off x="3600" y="7344"/>
                    <a:ext cx="1295" cy="1685"/>
                  </a:xfrm>
                  <a:custGeom>
                    <a:avLst/>
                    <a:gdLst/>
                    <a:ahLst/>
                    <a:cxnLst>
                      <a:cxn ang="0">
                        <a:pos x="1527" y="1675"/>
                      </a:cxn>
                      <a:cxn ang="0">
                        <a:pos x="1527" y="0"/>
                      </a:cxn>
                      <a:cxn ang="0">
                        <a:pos x="0" y="0"/>
                      </a:cxn>
                      <a:cxn ang="0">
                        <a:pos x="0" y="946"/>
                      </a:cxn>
                    </a:cxnLst>
                    <a:rect l="0" t="0" r="r" b="b"/>
                    <a:pathLst>
                      <a:path w="1527" h="1675">
                        <a:moveTo>
                          <a:pt x="1527" y="1675"/>
                        </a:moveTo>
                        <a:lnTo>
                          <a:pt x="1527" y="0"/>
                        </a:lnTo>
                        <a:lnTo>
                          <a:pt x="0" y="0"/>
                        </a:lnTo>
                        <a:lnTo>
                          <a:pt x="0" y="946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bg-BG"/>
                  </a:p>
                </p:txBody>
              </p:sp>
              <p:sp>
                <p:nvSpPr>
                  <p:cNvPr id="2080" name="Line 3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686" y="9945"/>
                    <a:ext cx="2" cy="62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bg-BG"/>
                  </a:p>
                </p:txBody>
              </p:sp>
              <p:sp>
                <p:nvSpPr>
                  <p:cNvPr id="2081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4228" y="7818"/>
                    <a:ext cx="157" cy="19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0" rIns="0" bIns="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bg-BG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D</a:t>
                    </a:r>
                    <a:endParaRPr kumimoji="0" lang="bg-BG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2082" name="Line 34"/>
                  <p:cNvSpPr>
                    <a:spLocks noChangeShapeType="1"/>
                  </p:cNvSpPr>
                  <p:nvPr/>
                </p:nvSpPr>
                <p:spPr bwMode="auto">
                  <a:xfrm>
                    <a:off x="3889" y="7561"/>
                    <a:ext cx="540" cy="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bg-BG"/>
                  </a:p>
                </p:txBody>
              </p:sp>
              <p:sp>
                <p:nvSpPr>
                  <p:cNvPr id="2083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5025" y="8673"/>
                    <a:ext cx="395" cy="41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0" rIns="0" bIns="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rPr>
                      <a:t>U</a:t>
                    </a:r>
                    <a:endParaRPr kumimoji="0" lang="bg-BG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2084" name="Rectangle 36"/>
                  <p:cNvSpPr>
                    <a:spLocks noChangeArrowheads="1"/>
                  </p:cNvSpPr>
                  <p:nvPr/>
                </p:nvSpPr>
                <p:spPr bwMode="auto">
                  <a:xfrm>
                    <a:off x="5169" y="8803"/>
                    <a:ext cx="368" cy="19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0" tIns="0" rIns="0" bIns="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bg-BG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pitchFamily="34" charset="0"/>
                      </a:rPr>
                      <a:t> DS</a:t>
                    </a:r>
                    <a:endParaRPr kumimoji="0" lang="bg-BG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2085" name="Line 3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683" y="9017"/>
                    <a:ext cx="0" cy="839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bg-BG"/>
                  </a:p>
                </p:txBody>
              </p:sp>
              <p:sp>
                <p:nvSpPr>
                  <p:cNvPr id="2086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1683" y="9008"/>
                    <a:ext cx="50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bg-BG"/>
                  </a:p>
                </p:txBody>
              </p:sp>
              <p:sp>
                <p:nvSpPr>
                  <p:cNvPr id="2087" name="Line 39"/>
                  <p:cNvSpPr>
                    <a:spLocks noChangeShapeType="1"/>
                  </p:cNvSpPr>
                  <p:nvPr/>
                </p:nvSpPr>
                <p:spPr bwMode="auto">
                  <a:xfrm>
                    <a:off x="2268" y="9436"/>
                    <a:ext cx="737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 type="triangle" w="sm" len="med"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bg-BG"/>
                  </a:p>
                </p:txBody>
              </p:sp>
              <p:sp>
                <p:nvSpPr>
                  <p:cNvPr id="2088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2124" y="9119"/>
                    <a:ext cx="135" cy="615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bg-BG"/>
                  </a:p>
                </p:txBody>
              </p:sp>
              <p:sp>
                <p:nvSpPr>
                  <p:cNvPr id="2089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2192" y="9744"/>
                    <a:ext cx="0" cy="97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 type="none" w="sm" len="sm"/>
                    <a:tailEnd type="oval" w="sm" len="sm"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bg-BG"/>
                  </a:p>
                </p:txBody>
              </p:sp>
              <p:sp>
                <p:nvSpPr>
                  <p:cNvPr id="2090" name="Line 4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92" y="9008"/>
                    <a:ext cx="0" cy="11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bg-BG"/>
                  </a:p>
                </p:txBody>
              </p:sp>
              <p:grpSp>
                <p:nvGrpSpPr>
                  <p:cNvPr id="2091" name="Group 43"/>
                  <p:cNvGrpSpPr>
                    <a:grpSpLocks/>
                  </p:cNvGrpSpPr>
                  <p:nvPr/>
                </p:nvGrpSpPr>
                <p:grpSpPr bwMode="auto">
                  <a:xfrm>
                    <a:off x="4750" y="9045"/>
                    <a:ext cx="297" cy="84"/>
                    <a:chOff x="2140" y="10330"/>
                    <a:chExt cx="350" cy="90"/>
                  </a:xfrm>
                </p:grpSpPr>
                <p:sp>
                  <p:nvSpPr>
                    <p:cNvPr id="2092" name="Line 4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40" y="10420"/>
                      <a:ext cx="350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bg-BG"/>
                    </a:p>
                  </p:txBody>
                </p:sp>
                <p:sp>
                  <p:nvSpPr>
                    <p:cNvPr id="2093" name="Line 4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20" y="10330"/>
                      <a:ext cx="190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bg-BG"/>
                    </a:p>
                  </p:txBody>
                </p:sp>
              </p:grpSp>
              <p:grpSp>
                <p:nvGrpSpPr>
                  <p:cNvPr id="2094" name="Group 46"/>
                  <p:cNvGrpSpPr>
                    <a:grpSpLocks/>
                  </p:cNvGrpSpPr>
                  <p:nvPr/>
                </p:nvGrpSpPr>
                <p:grpSpPr bwMode="auto">
                  <a:xfrm rot="10685262">
                    <a:off x="1539" y="9856"/>
                    <a:ext cx="297" cy="84"/>
                    <a:chOff x="5950" y="9430"/>
                    <a:chExt cx="350" cy="91"/>
                  </a:xfrm>
                </p:grpSpPr>
                <p:sp>
                  <p:nvSpPr>
                    <p:cNvPr id="2095" name="Line 47"/>
                    <p:cNvSpPr>
                      <a:spLocks noChangeShapeType="1"/>
                    </p:cNvSpPr>
                    <p:nvPr/>
                  </p:nvSpPr>
                  <p:spPr bwMode="auto">
                    <a:xfrm rot="19638">
                      <a:off x="5950" y="9520"/>
                      <a:ext cx="350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bg-BG"/>
                    </a:p>
                  </p:txBody>
                </p:sp>
                <p:sp>
                  <p:nvSpPr>
                    <p:cNvPr id="2096" name="Line 48"/>
                    <p:cNvSpPr>
                      <a:spLocks noChangeShapeType="1"/>
                    </p:cNvSpPr>
                    <p:nvPr/>
                  </p:nvSpPr>
                  <p:spPr bwMode="auto">
                    <a:xfrm rot="36178">
                      <a:off x="6030" y="9430"/>
                      <a:ext cx="190" cy="1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bg-BG"/>
                    </a:p>
                  </p:txBody>
                </p:sp>
              </p:grpSp>
            </p:grpSp>
            <p:sp>
              <p:nvSpPr>
                <p:cNvPr id="2097" name="Rectangle 49"/>
                <p:cNvSpPr>
                  <a:spLocks noChangeArrowheads="1"/>
                </p:cNvSpPr>
                <p:nvPr/>
              </p:nvSpPr>
              <p:spPr bwMode="auto">
                <a:xfrm>
                  <a:off x="2724" y="9197"/>
                  <a:ext cx="395" cy="3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1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G</a:t>
                  </a:r>
                  <a:endParaRPr kumimoji="0" lang="bg-BG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098" name="Rectangle 50"/>
                <p:cNvSpPr>
                  <a:spLocks noChangeArrowheads="1"/>
                </p:cNvSpPr>
                <p:nvPr/>
              </p:nvSpPr>
              <p:spPr bwMode="auto">
                <a:xfrm>
                  <a:off x="3328" y="8688"/>
                  <a:ext cx="248" cy="2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1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D</a:t>
                  </a:r>
                  <a:endParaRPr kumimoji="0" lang="bg-BG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099" name="Rectangle 51"/>
                <p:cNvSpPr>
                  <a:spLocks noChangeArrowheads="1"/>
                </p:cNvSpPr>
                <p:nvPr/>
              </p:nvSpPr>
              <p:spPr bwMode="auto">
                <a:xfrm>
                  <a:off x="3349" y="9622"/>
                  <a:ext cx="200" cy="3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1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S</a:t>
                  </a:r>
                  <a:endParaRPr kumimoji="0" lang="bg-BG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00" name="Freeform 52"/>
                <p:cNvSpPr>
                  <a:spLocks/>
                </p:cNvSpPr>
                <p:nvPr/>
              </p:nvSpPr>
              <p:spPr bwMode="auto">
                <a:xfrm>
                  <a:off x="3052" y="8986"/>
                  <a:ext cx="651" cy="597"/>
                </a:xfrm>
                <a:custGeom>
                  <a:avLst/>
                  <a:gdLst/>
                  <a:ahLst/>
                  <a:cxnLst>
                    <a:cxn ang="0">
                      <a:pos x="246" y="443"/>
                    </a:cxn>
                    <a:cxn ang="0">
                      <a:pos x="278" y="436"/>
                    </a:cxn>
                    <a:cxn ang="0">
                      <a:pos x="309" y="426"/>
                    </a:cxn>
                    <a:cxn ang="0">
                      <a:pos x="337" y="411"/>
                    </a:cxn>
                    <a:cxn ang="0">
                      <a:pos x="363" y="393"/>
                    </a:cxn>
                    <a:cxn ang="0">
                      <a:pos x="387" y="371"/>
                    </a:cxn>
                    <a:cxn ang="0">
                      <a:pos x="407" y="346"/>
                    </a:cxn>
                    <a:cxn ang="0">
                      <a:pos x="424" y="317"/>
                    </a:cxn>
                    <a:cxn ang="0">
                      <a:pos x="436" y="287"/>
                    </a:cxn>
                    <a:cxn ang="0">
                      <a:pos x="442" y="256"/>
                    </a:cxn>
                    <a:cxn ang="0">
                      <a:pos x="445" y="222"/>
                    </a:cxn>
                    <a:cxn ang="0">
                      <a:pos x="442" y="188"/>
                    </a:cxn>
                    <a:cxn ang="0">
                      <a:pos x="436" y="156"/>
                    </a:cxn>
                    <a:cxn ang="0">
                      <a:pos x="424" y="126"/>
                    </a:cxn>
                    <a:cxn ang="0">
                      <a:pos x="407" y="98"/>
                    </a:cxn>
                    <a:cxn ang="0">
                      <a:pos x="387" y="72"/>
                    </a:cxn>
                    <a:cxn ang="0">
                      <a:pos x="363" y="50"/>
                    </a:cxn>
                    <a:cxn ang="0">
                      <a:pos x="337" y="32"/>
                    </a:cxn>
                    <a:cxn ang="0">
                      <a:pos x="309" y="17"/>
                    </a:cxn>
                    <a:cxn ang="0">
                      <a:pos x="278" y="7"/>
                    </a:cxn>
                    <a:cxn ang="0">
                      <a:pos x="246" y="2"/>
                    </a:cxn>
                    <a:cxn ang="0">
                      <a:pos x="222" y="0"/>
                    </a:cxn>
                    <a:cxn ang="0">
                      <a:pos x="188" y="3"/>
                    </a:cxn>
                    <a:cxn ang="0">
                      <a:pos x="157" y="9"/>
                    </a:cxn>
                    <a:cxn ang="0">
                      <a:pos x="127" y="21"/>
                    </a:cxn>
                    <a:cxn ang="0">
                      <a:pos x="98" y="38"/>
                    </a:cxn>
                    <a:cxn ang="0">
                      <a:pos x="73" y="58"/>
                    </a:cxn>
                    <a:cxn ang="0">
                      <a:pos x="51" y="81"/>
                    </a:cxn>
                    <a:cxn ang="0">
                      <a:pos x="32" y="107"/>
                    </a:cxn>
                    <a:cxn ang="0">
                      <a:pos x="18" y="136"/>
                    </a:cxn>
                    <a:cxn ang="0">
                      <a:pos x="7" y="166"/>
                    </a:cxn>
                    <a:cxn ang="0">
                      <a:pos x="1" y="199"/>
                    </a:cxn>
                    <a:cxn ang="0">
                      <a:pos x="0" y="233"/>
                    </a:cxn>
                    <a:cxn ang="0">
                      <a:pos x="5" y="267"/>
                    </a:cxn>
                    <a:cxn ang="0">
                      <a:pos x="14" y="298"/>
                    </a:cxn>
                    <a:cxn ang="0">
                      <a:pos x="27" y="328"/>
                    </a:cxn>
                    <a:cxn ang="0">
                      <a:pos x="44" y="354"/>
                    </a:cxn>
                    <a:cxn ang="0">
                      <a:pos x="65" y="379"/>
                    </a:cxn>
                    <a:cxn ang="0">
                      <a:pos x="90" y="400"/>
                    </a:cxn>
                    <a:cxn ang="0">
                      <a:pos x="116" y="417"/>
                    </a:cxn>
                    <a:cxn ang="0">
                      <a:pos x="146" y="430"/>
                    </a:cxn>
                    <a:cxn ang="0">
                      <a:pos x="178" y="439"/>
                    </a:cxn>
                    <a:cxn ang="0">
                      <a:pos x="212" y="444"/>
                    </a:cxn>
                  </a:cxnLst>
                  <a:rect l="0" t="0" r="r" b="b"/>
                  <a:pathLst>
                    <a:path w="445" h="444">
                      <a:moveTo>
                        <a:pt x="222" y="444"/>
                      </a:moveTo>
                      <a:lnTo>
                        <a:pt x="234" y="444"/>
                      </a:lnTo>
                      <a:lnTo>
                        <a:pt x="246" y="443"/>
                      </a:lnTo>
                      <a:lnTo>
                        <a:pt x="256" y="441"/>
                      </a:lnTo>
                      <a:lnTo>
                        <a:pt x="268" y="439"/>
                      </a:lnTo>
                      <a:lnTo>
                        <a:pt x="278" y="436"/>
                      </a:lnTo>
                      <a:lnTo>
                        <a:pt x="289" y="434"/>
                      </a:lnTo>
                      <a:lnTo>
                        <a:pt x="299" y="430"/>
                      </a:lnTo>
                      <a:lnTo>
                        <a:pt x="309" y="426"/>
                      </a:lnTo>
                      <a:lnTo>
                        <a:pt x="319" y="422"/>
                      </a:lnTo>
                      <a:lnTo>
                        <a:pt x="328" y="417"/>
                      </a:lnTo>
                      <a:lnTo>
                        <a:pt x="337" y="411"/>
                      </a:lnTo>
                      <a:lnTo>
                        <a:pt x="346" y="406"/>
                      </a:lnTo>
                      <a:lnTo>
                        <a:pt x="356" y="400"/>
                      </a:lnTo>
                      <a:lnTo>
                        <a:pt x="363" y="393"/>
                      </a:lnTo>
                      <a:lnTo>
                        <a:pt x="373" y="387"/>
                      </a:lnTo>
                      <a:lnTo>
                        <a:pt x="381" y="379"/>
                      </a:lnTo>
                      <a:lnTo>
                        <a:pt x="387" y="371"/>
                      </a:lnTo>
                      <a:lnTo>
                        <a:pt x="395" y="363"/>
                      </a:lnTo>
                      <a:lnTo>
                        <a:pt x="401" y="354"/>
                      </a:lnTo>
                      <a:lnTo>
                        <a:pt x="407" y="346"/>
                      </a:lnTo>
                      <a:lnTo>
                        <a:pt x="413" y="337"/>
                      </a:lnTo>
                      <a:lnTo>
                        <a:pt x="418" y="328"/>
                      </a:lnTo>
                      <a:lnTo>
                        <a:pt x="424" y="317"/>
                      </a:lnTo>
                      <a:lnTo>
                        <a:pt x="428" y="308"/>
                      </a:lnTo>
                      <a:lnTo>
                        <a:pt x="432" y="298"/>
                      </a:lnTo>
                      <a:lnTo>
                        <a:pt x="436" y="287"/>
                      </a:lnTo>
                      <a:lnTo>
                        <a:pt x="438" y="277"/>
                      </a:lnTo>
                      <a:lnTo>
                        <a:pt x="441" y="267"/>
                      </a:lnTo>
                      <a:lnTo>
                        <a:pt x="442" y="256"/>
                      </a:lnTo>
                      <a:lnTo>
                        <a:pt x="445" y="244"/>
                      </a:lnTo>
                      <a:lnTo>
                        <a:pt x="445" y="233"/>
                      </a:lnTo>
                      <a:lnTo>
                        <a:pt x="445" y="222"/>
                      </a:lnTo>
                      <a:lnTo>
                        <a:pt x="445" y="210"/>
                      </a:lnTo>
                      <a:lnTo>
                        <a:pt x="445" y="199"/>
                      </a:lnTo>
                      <a:lnTo>
                        <a:pt x="442" y="188"/>
                      </a:lnTo>
                      <a:lnTo>
                        <a:pt x="441" y="177"/>
                      </a:lnTo>
                      <a:lnTo>
                        <a:pt x="438" y="166"/>
                      </a:lnTo>
                      <a:lnTo>
                        <a:pt x="436" y="156"/>
                      </a:lnTo>
                      <a:lnTo>
                        <a:pt x="432" y="145"/>
                      </a:lnTo>
                      <a:lnTo>
                        <a:pt x="428" y="136"/>
                      </a:lnTo>
                      <a:lnTo>
                        <a:pt x="424" y="126"/>
                      </a:lnTo>
                      <a:lnTo>
                        <a:pt x="418" y="116"/>
                      </a:lnTo>
                      <a:lnTo>
                        <a:pt x="413" y="107"/>
                      </a:lnTo>
                      <a:lnTo>
                        <a:pt x="407" y="98"/>
                      </a:lnTo>
                      <a:lnTo>
                        <a:pt x="401" y="89"/>
                      </a:lnTo>
                      <a:lnTo>
                        <a:pt x="395" y="81"/>
                      </a:lnTo>
                      <a:lnTo>
                        <a:pt x="387" y="72"/>
                      </a:lnTo>
                      <a:lnTo>
                        <a:pt x="381" y="64"/>
                      </a:lnTo>
                      <a:lnTo>
                        <a:pt x="373" y="58"/>
                      </a:lnTo>
                      <a:lnTo>
                        <a:pt x="363" y="50"/>
                      </a:lnTo>
                      <a:lnTo>
                        <a:pt x="356" y="43"/>
                      </a:lnTo>
                      <a:lnTo>
                        <a:pt x="346" y="38"/>
                      </a:lnTo>
                      <a:lnTo>
                        <a:pt x="337" y="32"/>
                      </a:lnTo>
                      <a:lnTo>
                        <a:pt x="328" y="26"/>
                      </a:lnTo>
                      <a:lnTo>
                        <a:pt x="319" y="21"/>
                      </a:lnTo>
                      <a:lnTo>
                        <a:pt x="309" y="17"/>
                      </a:lnTo>
                      <a:lnTo>
                        <a:pt x="299" y="13"/>
                      </a:lnTo>
                      <a:lnTo>
                        <a:pt x="289" y="9"/>
                      </a:lnTo>
                      <a:lnTo>
                        <a:pt x="278" y="7"/>
                      </a:lnTo>
                      <a:lnTo>
                        <a:pt x="268" y="4"/>
                      </a:lnTo>
                      <a:lnTo>
                        <a:pt x="256" y="3"/>
                      </a:lnTo>
                      <a:lnTo>
                        <a:pt x="246" y="2"/>
                      </a:lnTo>
                      <a:lnTo>
                        <a:pt x="234" y="0"/>
                      </a:lnTo>
                      <a:lnTo>
                        <a:pt x="222" y="0"/>
                      </a:lnTo>
                      <a:lnTo>
                        <a:pt x="222" y="0"/>
                      </a:lnTo>
                      <a:lnTo>
                        <a:pt x="212" y="0"/>
                      </a:lnTo>
                      <a:lnTo>
                        <a:pt x="200" y="2"/>
                      </a:lnTo>
                      <a:lnTo>
                        <a:pt x="188" y="3"/>
                      </a:lnTo>
                      <a:lnTo>
                        <a:pt x="178" y="4"/>
                      </a:lnTo>
                      <a:lnTo>
                        <a:pt x="167" y="7"/>
                      </a:lnTo>
                      <a:lnTo>
                        <a:pt x="157" y="9"/>
                      </a:lnTo>
                      <a:lnTo>
                        <a:pt x="146" y="13"/>
                      </a:lnTo>
                      <a:lnTo>
                        <a:pt x="136" y="17"/>
                      </a:lnTo>
                      <a:lnTo>
                        <a:pt x="127" y="21"/>
                      </a:lnTo>
                      <a:lnTo>
                        <a:pt x="116" y="26"/>
                      </a:lnTo>
                      <a:lnTo>
                        <a:pt x="107" y="32"/>
                      </a:lnTo>
                      <a:lnTo>
                        <a:pt x="98" y="38"/>
                      </a:lnTo>
                      <a:lnTo>
                        <a:pt x="90" y="43"/>
                      </a:lnTo>
                      <a:lnTo>
                        <a:pt x="81" y="50"/>
                      </a:lnTo>
                      <a:lnTo>
                        <a:pt x="73" y="58"/>
                      </a:lnTo>
                      <a:lnTo>
                        <a:pt x="65" y="64"/>
                      </a:lnTo>
                      <a:lnTo>
                        <a:pt x="57" y="72"/>
                      </a:lnTo>
                      <a:lnTo>
                        <a:pt x="51" y="81"/>
                      </a:lnTo>
                      <a:lnTo>
                        <a:pt x="44" y="89"/>
                      </a:lnTo>
                      <a:lnTo>
                        <a:pt x="37" y="98"/>
                      </a:lnTo>
                      <a:lnTo>
                        <a:pt x="32" y="107"/>
                      </a:lnTo>
                      <a:lnTo>
                        <a:pt x="27" y="116"/>
                      </a:lnTo>
                      <a:lnTo>
                        <a:pt x="22" y="126"/>
                      </a:lnTo>
                      <a:lnTo>
                        <a:pt x="18" y="136"/>
                      </a:lnTo>
                      <a:lnTo>
                        <a:pt x="14" y="145"/>
                      </a:lnTo>
                      <a:lnTo>
                        <a:pt x="10" y="156"/>
                      </a:lnTo>
                      <a:lnTo>
                        <a:pt x="7" y="166"/>
                      </a:lnTo>
                      <a:lnTo>
                        <a:pt x="5" y="177"/>
                      </a:lnTo>
                      <a:lnTo>
                        <a:pt x="2" y="188"/>
                      </a:lnTo>
                      <a:lnTo>
                        <a:pt x="1" y="199"/>
                      </a:lnTo>
                      <a:lnTo>
                        <a:pt x="0" y="210"/>
                      </a:lnTo>
                      <a:lnTo>
                        <a:pt x="0" y="222"/>
                      </a:lnTo>
                      <a:lnTo>
                        <a:pt x="0" y="233"/>
                      </a:lnTo>
                      <a:lnTo>
                        <a:pt x="1" y="244"/>
                      </a:lnTo>
                      <a:lnTo>
                        <a:pt x="2" y="256"/>
                      </a:lnTo>
                      <a:lnTo>
                        <a:pt x="5" y="267"/>
                      </a:lnTo>
                      <a:lnTo>
                        <a:pt x="7" y="277"/>
                      </a:lnTo>
                      <a:lnTo>
                        <a:pt x="10" y="287"/>
                      </a:lnTo>
                      <a:lnTo>
                        <a:pt x="14" y="298"/>
                      </a:lnTo>
                      <a:lnTo>
                        <a:pt x="18" y="308"/>
                      </a:lnTo>
                      <a:lnTo>
                        <a:pt x="22" y="317"/>
                      </a:lnTo>
                      <a:lnTo>
                        <a:pt x="27" y="328"/>
                      </a:lnTo>
                      <a:lnTo>
                        <a:pt x="32" y="337"/>
                      </a:lnTo>
                      <a:lnTo>
                        <a:pt x="37" y="346"/>
                      </a:lnTo>
                      <a:lnTo>
                        <a:pt x="44" y="354"/>
                      </a:lnTo>
                      <a:lnTo>
                        <a:pt x="51" y="363"/>
                      </a:lnTo>
                      <a:lnTo>
                        <a:pt x="57" y="371"/>
                      </a:lnTo>
                      <a:lnTo>
                        <a:pt x="65" y="379"/>
                      </a:lnTo>
                      <a:lnTo>
                        <a:pt x="73" y="387"/>
                      </a:lnTo>
                      <a:lnTo>
                        <a:pt x="81" y="393"/>
                      </a:lnTo>
                      <a:lnTo>
                        <a:pt x="90" y="400"/>
                      </a:lnTo>
                      <a:lnTo>
                        <a:pt x="98" y="406"/>
                      </a:lnTo>
                      <a:lnTo>
                        <a:pt x="107" y="411"/>
                      </a:lnTo>
                      <a:lnTo>
                        <a:pt x="116" y="417"/>
                      </a:lnTo>
                      <a:lnTo>
                        <a:pt x="127" y="422"/>
                      </a:lnTo>
                      <a:lnTo>
                        <a:pt x="136" y="426"/>
                      </a:lnTo>
                      <a:lnTo>
                        <a:pt x="146" y="430"/>
                      </a:lnTo>
                      <a:lnTo>
                        <a:pt x="157" y="434"/>
                      </a:lnTo>
                      <a:lnTo>
                        <a:pt x="167" y="436"/>
                      </a:lnTo>
                      <a:lnTo>
                        <a:pt x="178" y="439"/>
                      </a:lnTo>
                      <a:lnTo>
                        <a:pt x="188" y="441"/>
                      </a:lnTo>
                      <a:lnTo>
                        <a:pt x="200" y="443"/>
                      </a:lnTo>
                      <a:lnTo>
                        <a:pt x="212" y="444"/>
                      </a:lnTo>
                      <a:lnTo>
                        <a:pt x="222" y="4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bg-BG"/>
                </a:p>
              </p:txBody>
            </p:sp>
            <p:sp>
              <p:nvSpPr>
                <p:cNvPr id="2101" name="Freeform 53"/>
                <p:cNvSpPr>
                  <a:spLocks/>
                </p:cNvSpPr>
                <p:nvPr/>
              </p:nvSpPr>
              <p:spPr bwMode="auto">
                <a:xfrm>
                  <a:off x="3052" y="8986"/>
                  <a:ext cx="651" cy="597"/>
                </a:xfrm>
                <a:custGeom>
                  <a:avLst/>
                  <a:gdLst/>
                  <a:ahLst/>
                  <a:cxnLst>
                    <a:cxn ang="0">
                      <a:pos x="246" y="443"/>
                    </a:cxn>
                    <a:cxn ang="0">
                      <a:pos x="278" y="436"/>
                    </a:cxn>
                    <a:cxn ang="0">
                      <a:pos x="309" y="426"/>
                    </a:cxn>
                    <a:cxn ang="0">
                      <a:pos x="337" y="411"/>
                    </a:cxn>
                    <a:cxn ang="0">
                      <a:pos x="363" y="393"/>
                    </a:cxn>
                    <a:cxn ang="0">
                      <a:pos x="387" y="371"/>
                    </a:cxn>
                    <a:cxn ang="0">
                      <a:pos x="407" y="346"/>
                    </a:cxn>
                    <a:cxn ang="0">
                      <a:pos x="424" y="317"/>
                    </a:cxn>
                    <a:cxn ang="0">
                      <a:pos x="436" y="287"/>
                    </a:cxn>
                    <a:cxn ang="0">
                      <a:pos x="442" y="256"/>
                    </a:cxn>
                    <a:cxn ang="0">
                      <a:pos x="445" y="222"/>
                    </a:cxn>
                    <a:cxn ang="0">
                      <a:pos x="442" y="188"/>
                    </a:cxn>
                    <a:cxn ang="0">
                      <a:pos x="436" y="156"/>
                    </a:cxn>
                    <a:cxn ang="0">
                      <a:pos x="424" y="126"/>
                    </a:cxn>
                    <a:cxn ang="0">
                      <a:pos x="407" y="98"/>
                    </a:cxn>
                    <a:cxn ang="0">
                      <a:pos x="387" y="72"/>
                    </a:cxn>
                    <a:cxn ang="0">
                      <a:pos x="363" y="50"/>
                    </a:cxn>
                    <a:cxn ang="0">
                      <a:pos x="337" y="32"/>
                    </a:cxn>
                    <a:cxn ang="0">
                      <a:pos x="309" y="17"/>
                    </a:cxn>
                    <a:cxn ang="0">
                      <a:pos x="278" y="7"/>
                    </a:cxn>
                    <a:cxn ang="0">
                      <a:pos x="246" y="2"/>
                    </a:cxn>
                    <a:cxn ang="0">
                      <a:pos x="222" y="0"/>
                    </a:cxn>
                    <a:cxn ang="0">
                      <a:pos x="188" y="3"/>
                    </a:cxn>
                    <a:cxn ang="0">
                      <a:pos x="157" y="9"/>
                    </a:cxn>
                    <a:cxn ang="0">
                      <a:pos x="127" y="21"/>
                    </a:cxn>
                    <a:cxn ang="0">
                      <a:pos x="98" y="38"/>
                    </a:cxn>
                    <a:cxn ang="0">
                      <a:pos x="73" y="58"/>
                    </a:cxn>
                    <a:cxn ang="0">
                      <a:pos x="51" y="81"/>
                    </a:cxn>
                    <a:cxn ang="0">
                      <a:pos x="32" y="107"/>
                    </a:cxn>
                    <a:cxn ang="0">
                      <a:pos x="18" y="136"/>
                    </a:cxn>
                    <a:cxn ang="0">
                      <a:pos x="7" y="166"/>
                    </a:cxn>
                    <a:cxn ang="0">
                      <a:pos x="1" y="199"/>
                    </a:cxn>
                    <a:cxn ang="0">
                      <a:pos x="0" y="233"/>
                    </a:cxn>
                    <a:cxn ang="0">
                      <a:pos x="5" y="267"/>
                    </a:cxn>
                    <a:cxn ang="0">
                      <a:pos x="14" y="298"/>
                    </a:cxn>
                    <a:cxn ang="0">
                      <a:pos x="27" y="328"/>
                    </a:cxn>
                    <a:cxn ang="0">
                      <a:pos x="44" y="354"/>
                    </a:cxn>
                    <a:cxn ang="0">
                      <a:pos x="65" y="379"/>
                    </a:cxn>
                    <a:cxn ang="0">
                      <a:pos x="90" y="400"/>
                    </a:cxn>
                    <a:cxn ang="0">
                      <a:pos x="116" y="417"/>
                    </a:cxn>
                    <a:cxn ang="0">
                      <a:pos x="146" y="430"/>
                    </a:cxn>
                    <a:cxn ang="0">
                      <a:pos x="178" y="439"/>
                    </a:cxn>
                    <a:cxn ang="0">
                      <a:pos x="212" y="444"/>
                    </a:cxn>
                  </a:cxnLst>
                  <a:rect l="0" t="0" r="r" b="b"/>
                  <a:pathLst>
                    <a:path w="445" h="444">
                      <a:moveTo>
                        <a:pt x="222" y="444"/>
                      </a:moveTo>
                      <a:lnTo>
                        <a:pt x="234" y="444"/>
                      </a:lnTo>
                      <a:lnTo>
                        <a:pt x="246" y="443"/>
                      </a:lnTo>
                      <a:lnTo>
                        <a:pt x="256" y="441"/>
                      </a:lnTo>
                      <a:lnTo>
                        <a:pt x="268" y="439"/>
                      </a:lnTo>
                      <a:lnTo>
                        <a:pt x="278" y="436"/>
                      </a:lnTo>
                      <a:lnTo>
                        <a:pt x="289" y="434"/>
                      </a:lnTo>
                      <a:lnTo>
                        <a:pt x="299" y="430"/>
                      </a:lnTo>
                      <a:lnTo>
                        <a:pt x="309" y="426"/>
                      </a:lnTo>
                      <a:lnTo>
                        <a:pt x="319" y="422"/>
                      </a:lnTo>
                      <a:lnTo>
                        <a:pt x="328" y="417"/>
                      </a:lnTo>
                      <a:lnTo>
                        <a:pt x="337" y="411"/>
                      </a:lnTo>
                      <a:lnTo>
                        <a:pt x="346" y="406"/>
                      </a:lnTo>
                      <a:lnTo>
                        <a:pt x="356" y="400"/>
                      </a:lnTo>
                      <a:lnTo>
                        <a:pt x="363" y="393"/>
                      </a:lnTo>
                      <a:lnTo>
                        <a:pt x="373" y="387"/>
                      </a:lnTo>
                      <a:lnTo>
                        <a:pt x="381" y="379"/>
                      </a:lnTo>
                      <a:lnTo>
                        <a:pt x="387" y="371"/>
                      </a:lnTo>
                      <a:lnTo>
                        <a:pt x="395" y="363"/>
                      </a:lnTo>
                      <a:lnTo>
                        <a:pt x="401" y="354"/>
                      </a:lnTo>
                      <a:lnTo>
                        <a:pt x="407" y="346"/>
                      </a:lnTo>
                      <a:lnTo>
                        <a:pt x="413" y="337"/>
                      </a:lnTo>
                      <a:lnTo>
                        <a:pt x="418" y="328"/>
                      </a:lnTo>
                      <a:lnTo>
                        <a:pt x="424" y="317"/>
                      </a:lnTo>
                      <a:lnTo>
                        <a:pt x="428" y="308"/>
                      </a:lnTo>
                      <a:lnTo>
                        <a:pt x="432" y="298"/>
                      </a:lnTo>
                      <a:lnTo>
                        <a:pt x="436" y="287"/>
                      </a:lnTo>
                      <a:lnTo>
                        <a:pt x="438" y="277"/>
                      </a:lnTo>
                      <a:lnTo>
                        <a:pt x="441" y="267"/>
                      </a:lnTo>
                      <a:lnTo>
                        <a:pt x="442" y="256"/>
                      </a:lnTo>
                      <a:lnTo>
                        <a:pt x="445" y="244"/>
                      </a:lnTo>
                      <a:lnTo>
                        <a:pt x="445" y="233"/>
                      </a:lnTo>
                      <a:lnTo>
                        <a:pt x="445" y="222"/>
                      </a:lnTo>
                      <a:lnTo>
                        <a:pt x="445" y="210"/>
                      </a:lnTo>
                      <a:lnTo>
                        <a:pt x="445" y="199"/>
                      </a:lnTo>
                      <a:lnTo>
                        <a:pt x="442" y="188"/>
                      </a:lnTo>
                      <a:lnTo>
                        <a:pt x="441" y="177"/>
                      </a:lnTo>
                      <a:lnTo>
                        <a:pt x="438" y="166"/>
                      </a:lnTo>
                      <a:lnTo>
                        <a:pt x="436" y="156"/>
                      </a:lnTo>
                      <a:lnTo>
                        <a:pt x="432" y="145"/>
                      </a:lnTo>
                      <a:lnTo>
                        <a:pt x="428" y="136"/>
                      </a:lnTo>
                      <a:lnTo>
                        <a:pt x="424" y="126"/>
                      </a:lnTo>
                      <a:lnTo>
                        <a:pt x="418" y="116"/>
                      </a:lnTo>
                      <a:lnTo>
                        <a:pt x="413" y="107"/>
                      </a:lnTo>
                      <a:lnTo>
                        <a:pt x="407" y="98"/>
                      </a:lnTo>
                      <a:lnTo>
                        <a:pt x="401" y="89"/>
                      </a:lnTo>
                      <a:lnTo>
                        <a:pt x="395" y="81"/>
                      </a:lnTo>
                      <a:lnTo>
                        <a:pt x="387" y="72"/>
                      </a:lnTo>
                      <a:lnTo>
                        <a:pt x="381" y="64"/>
                      </a:lnTo>
                      <a:lnTo>
                        <a:pt x="373" y="58"/>
                      </a:lnTo>
                      <a:lnTo>
                        <a:pt x="363" y="50"/>
                      </a:lnTo>
                      <a:lnTo>
                        <a:pt x="356" y="43"/>
                      </a:lnTo>
                      <a:lnTo>
                        <a:pt x="346" y="38"/>
                      </a:lnTo>
                      <a:lnTo>
                        <a:pt x="337" y="32"/>
                      </a:lnTo>
                      <a:lnTo>
                        <a:pt x="328" y="26"/>
                      </a:lnTo>
                      <a:lnTo>
                        <a:pt x="319" y="21"/>
                      </a:lnTo>
                      <a:lnTo>
                        <a:pt x="309" y="17"/>
                      </a:lnTo>
                      <a:lnTo>
                        <a:pt x="299" y="13"/>
                      </a:lnTo>
                      <a:lnTo>
                        <a:pt x="289" y="9"/>
                      </a:lnTo>
                      <a:lnTo>
                        <a:pt x="278" y="7"/>
                      </a:lnTo>
                      <a:lnTo>
                        <a:pt x="268" y="4"/>
                      </a:lnTo>
                      <a:lnTo>
                        <a:pt x="256" y="3"/>
                      </a:lnTo>
                      <a:lnTo>
                        <a:pt x="246" y="2"/>
                      </a:lnTo>
                      <a:lnTo>
                        <a:pt x="234" y="0"/>
                      </a:lnTo>
                      <a:lnTo>
                        <a:pt x="222" y="0"/>
                      </a:lnTo>
                      <a:lnTo>
                        <a:pt x="222" y="0"/>
                      </a:lnTo>
                      <a:lnTo>
                        <a:pt x="212" y="0"/>
                      </a:lnTo>
                      <a:lnTo>
                        <a:pt x="200" y="2"/>
                      </a:lnTo>
                      <a:lnTo>
                        <a:pt x="188" y="3"/>
                      </a:lnTo>
                      <a:lnTo>
                        <a:pt x="178" y="4"/>
                      </a:lnTo>
                      <a:lnTo>
                        <a:pt x="167" y="7"/>
                      </a:lnTo>
                      <a:lnTo>
                        <a:pt x="157" y="9"/>
                      </a:lnTo>
                      <a:lnTo>
                        <a:pt x="146" y="13"/>
                      </a:lnTo>
                      <a:lnTo>
                        <a:pt x="136" y="17"/>
                      </a:lnTo>
                      <a:lnTo>
                        <a:pt x="127" y="21"/>
                      </a:lnTo>
                      <a:lnTo>
                        <a:pt x="116" y="26"/>
                      </a:lnTo>
                      <a:lnTo>
                        <a:pt x="107" y="32"/>
                      </a:lnTo>
                      <a:lnTo>
                        <a:pt x="98" y="38"/>
                      </a:lnTo>
                      <a:lnTo>
                        <a:pt x="90" y="43"/>
                      </a:lnTo>
                      <a:lnTo>
                        <a:pt x="81" y="50"/>
                      </a:lnTo>
                      <a:lnTo>
                        <a:pt x="73" y="58"/>
                      </a:lnTo>
                      <a:lnTo>
                        <a:pt x="65" y="64"/>
                      </a:lnTo>
                      <a:lnTo>
                        <a:pt x="57" y="72"/>
                      </a:lnTo>
                      <a:lnTo>
                        <a:pt x="51" y="81"/>
                      </a:lnTo>
                      <a:lnTo>
                        <a:pt x="44" y="89"/>
                      </a:lnTo>
                      <a:lnTo>
                        <a:pt x="37" y="98"/>
                      </a:lnTo>
                      <a:lnTo>
                        <a:pt x="32" y="107"/>
                      </a:lnTo>
                      <a:lnTo>
                        <a:pt x="27" y="116"/>
                      </a:lnTo>
                      <a:lnTo>
                        <a:pt x="22" y="126"/>
                      </a:lnTo>
                      <a:lnTo>
                        <a:pt x="18" y="136"/>
                      </a:lnTo>
                      <a:lnTo>
                        <a:pt x="14" y="145"/>
                      </a:lnTo>
                      <a:lnTo>
                        <a:pt x="10" y="156"/>
                      </a:lnTo>
                      <a:lnTo>
                        <a:pt x="7" y="166"/>
                      </a:lnTo>
                      <a:lnTo>
                        <a:pt x="5" y="177"/>
                      </a:lnTo>
                      <a:lnTo>
                        <a:pt x="2" y="188"/>
                      </a:lnTo>
                      <a:lnTo>
                        <a:pt x="1" y="199"/>
                      </a:lnTo>
                      <a:lnTo>
                        <a:pt x="0" y="210"/>
                      </a:lnTo>
                      <a:lnTo>
                        <a:pt x="0" y="222"/>
                      </a:lnTo>
                      <a:lnTo>
                        <a:pt x="0" y="233"/>
                      </a:lnTo>
                      <a:lnTo>
                        <a:pt x="1" y="244"/>
                      </a:lnTo>
                      <a:lnTo>
                        <a:pt x="2" y="256"/>
                      </a:lnTo>
                      <a:lnTo>
                        <a:pt x="5" y="267"/>
                      </a:lnTo>
                      <a:lnTo>
                        <a:pt x="7" y="277"/>
                      </a:lnTo>
                      <a:lnTo>
                        <a:pt x="10" y="287"/>
                      </a:lnTo>
                      <a:lnTo>
                        <a:pt x="14" y="298"/>
                      </a:lnTo>
                      <a:lnTo>
                        <a:pt x="18" y="308"/>
                      </a:lnTo>
                      <a:lnTo>
                        <a:pt x="22" y="317"/>
                      </a:lnTo>
                      <a:lnTo>
                        <a:pt x="27" y="328"/>
                      </a:lnTo>
                      <a:lnTo>
                        <a:pt x="32" y="337"/>
                      </a:lnTo>
                      <a:lnTo>
                        <a:pt x="37" y="346"/>
                      </a:lnTo>
                      <a:lnTo>
                        <a:pt x="44" y="354"/>
                      </a:lnTo>
                      <a:lnTo>
                        <a:pt x="51" y="363"/>
                      </a:lnTo>
                      <a:lnTo>
                        <a:pt x="57" y="371"/>
                      </a:lnTo>
                      <a:lnTo>
                        <a:pt x="65" y="379"/>
                      </a:lnTo>
                      <a:lnTo>
                        <a:pt x="73" y="387"/>
                      </a:lnTo>
                      <a:lnTo>
                        <a:pt x="81" y="393"/>
                      </a:lnTo>
                      <a:lnTo>
                        <a:pt x="90" y="400"/>
                      </a:lnTo>
                      <a:lnTo>
                        <a:pt x="98" y="406"/>
                      </a:lnTo>
                      <a:lnTo>
                        <a:pt x="107" y="411"/>
                      </a:lnTo>
                      <a:lnTo>
                        <a:pt x="116" y="417"/>
                      </a:lnTo>
                      <a:lnTo>
                        <a:pt x="127" y="422"/>
                      </a:lnTo>
                      <a:lnTo>
                        <a:pt x="136" y="426"/>
                      </a:lnTo>
                      <a:lnTo>
                        <a:pt x="146" y="430"/>
                      </a:lnTo>
                      <a:lnTo>
                        <a:pt x="157" y="434"/>
                      </a:lnTo>
                      <a:lnTo>
                        <a:pt x="167" y="436"/>
                      </a:lnTo>
                      <a:lnTo>
                        <a:pt x="178" y="439"/>
                      </a:lnTo>
                      <a:lnTo>
                        <a:pt x="188" y="441"/>
                      </a:lnTo>
                      <a:lnTo>
                        <a:pt x="200" y="443"/>
                      </a:lnTo>
                      <a:lnTo>
                        <a:pt x="212" y="444"/>
                      </a:lnTo>
                      <a:lnTo>
                        <a:pt x="222" y="444"/>
                      </a:lnTo>
                    </a:path>
                  </a:pathLst>
                </a:custGeom>
                <a:noFill/>
                <a:ln w="825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bg-BG"/>
                </a:p>
              </p:txBody>
            </p:sp>
            <p:sp>
              <p:nvSpPr>
                <p:cNvPr id="2102" name="Line 54"/>
                <p:cNvSpPr>
                  <a:spLocks noChangeShapeType="1"/>
                </p:cNvSpPr>
                <p:nvPr/>
              </p:nvSpPr>
              <p:spPr bwMode="auto">
                <a:xfrm flipH="1">
                  <a:off x="3397" y="9285"/>
                  <a:ext cx="414" cy="1"/>
                </a:xfrm>
                <a:prstGeom prst="line">
                  <a:avLst/>
                </a:prstGeom>
                <a:noFill/>
                <a:ln w="825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bg-BG"/>
                </a:p>
              </p:txBody>
            </p:sp>
            <p:sp>
              <p:nvSpPr>
                <p:cNvPr id="2103" name="Freeform 55"/>
                <p:cNvSpPr>
                  <a:spLocks/>
                </p:cNvSpPr>
                <p:nvPr/>
              </p:nvSpPr>
              <p:spPr bwMode="auto">
                <a:xfrm>
                  <a:off x="3407" y="8138"/>
                  <a:ext cx="198" cy="999"/>
                </a:xfrm>
                <a:custGeom>
                  <a:avLst/>
                  <a:gdLst/>
                  <a:ahLst/>
                  <a:cxnLst>
                    <a:cxn ang="0">
                      <a:pos x="0" y="185"/>
                    </a:cxn>
                    <a:cxn ang="0">
                      <a:pos x="135" y="185"/>
                    </a:cxn>
                    <a:cxn ang="0">
                      <a:pos x="135" y="0"/>
                    </a:cxn>
                  </a:cxnLst>
                  <a:rect l="0" t="0" r="r" b="b"/>
                  <a:pathLst>
                    <a:path w="135" h="185">
                      <a:moveTo>
                        <a:pt x="0" y="185"/>
                      </a:moveTo>
                      <a:lnTo>
                        <a:pt x="135" y="185"/>
                      </a:lnTo>
                      <a:lnTo>
                        <a:pt x="135" y="0"/>
                      </a:lnTo>
                    </a:path>
                  </a:pathLst>
                </a:custGeom>
                <a:noFill/>
                <a:ln w="825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bg-BG"/>
                </a:p>
              </p:txBody>
            </p:sp>
            <p:sp>
              <p:nvSpPr>
                <p:cNvPr id="2104" name="Freeform 56"/>
                <p:cNvSpPr>
                  <a:spLocks/>
                </p:cNvSpPr>
                <p:nvPr/>
              </p:nvSpPr>
              <p:spPr bwMode="auto">
                <a:xfrm>
                  <a:off x="3407" y="9434"/>
                  <a:ext cx="198" cy="89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35" y="0"/>
                    </a:cxn>
                    <a:cxn ang="0">
                      <a:pos x="135" y="184"/>
                    </a:cxn>
                  </a:cxnLst>
                  <a:rect l="0" t="0" r="r" b="b"/>
                  <a:pathLst>
                    <a:path w="135" h="184">
                      <a:moveTo>
                        <a:pt x="0" y="0"/>
                      </a:moveTo>
                      <a:lnTo>
                        <a:pt x="135" y="0"/>
                      </a:lnTo>
                      <a:lnTo>
                        <a:pt x="135" y="184"/>
                      </a:lnTo>
                    </a:path>
                  </a:pathLst>
                </a:custGeom>
                <a:noFill/>
                <a:ln w="825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bg-BG"/>
                </a:p>
              </p:txBody>
            </p:sp>
            <p:sp>
              <p:nvSpPr>
                <p:cNvPr id="2105" name="Line 57"/>
                <p:cNvSpPr>
                  <a:spLocks noChangeShapeType="1"/>
                </p:cNvSpPr>
                <p:nvPr/>
              </p:nvSpPr>
              <p:spPr bwMode="auto">
                <a:xfrm flipV="1">
                  <a:off x="3397" y="9211"/>
                  <a:ext cx="6" cy="12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bg-BG"/>
                </a:p>
              </p:txBody>
            </p:sp>
            <p:sp>
              <p:nvSpPr>
                <p:cNvPr id="2106" name="Freeform 58"/>
                <p:cNvSpPr>
                  <a:spLocks/>
                </p:cNvSpPr>
                <p:nvPr/>
              </p:nvSpPr>
              <p:spPr bwMode="auto">
                <a:xfrm rot="10561615">
                  <a:off x="3608" y="9244"/>
                  <a:ext cx="86" cy="80"/>
                </a:xfrm>
                <a:custGeom>
                  <a:avLst/>
                  <a:gdLst/>
                  <a:ahLst/>
                  <a:cxnLst>
                    <a:cxn ang="0">
                      <a:pos x="59" y="59"/>
                    </a:cxn>
                    <a:cxn ang="0">
                      <a:pos x="0" y="30"/>
                    </a:cxn>
                    <a:cxn ang="0">
                      <a:pos x="59" y="0"/>
                    </a:cxn>
                    <a:cxn ang="0">
                      <a:pos x="59" y="59"/>
                    </a:cxn>
                  </a:cxnLst>
                  <a:rect l="0" t="0" r="r" b="b"/>
                  <a:pathLst>
                    <a:path w="59" h="59">
                      <a:moveTo>
                        <a:pt x="59" y="59"/>
                      </a:moveTo>
                      <a:lnTo>
                        <a:pt x="0" y="30"/>
                      </a:lnTo>
                      <a:lnTo>
                        <a:pt x="59" y="0"/>
                      </a:lnTo>
                      <a:lnTo>
                        <a:pt x="59" y="5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bg-BG"/>
                </a:p>
              </p:txBody>
            </p:sp>
            <p:sp>
              <p:nvSpPr>
                <p:cNvPr id="2107" name="Freeform 59"/>
                <p:cNvSpPr>
                  <a:spLocks/>
                </p:cNvSpPr>
                <p:nvPr/>
              </p:nvSpPr>
              <p:spPr bwMode="auto">
                <a:xfrm rot="10561615">
                  <a:off x="3608" y="9244"/>
                  <a:ext cx="86" cy="80"/>
                </a:xfrm>
                <a:custGeom>
                  <a:avLst/>
                  <a:gdLst/>
                  <a:ahLst/>
                  <a:cxnLst>
                    <a:cxn ang="0">
                      <a:pos x="59" y="59"/>
                    </a:cxn>
                    <a:cxn ang="0">
                      <a:pos x="0" y="30"/>
                    </a:cxn>
                    <a:cxn ang="0">
                      <a:pos x="59" y="0"/>
                    </a:cxn>
                    <a:cxn ang="0">
                      <a:pos x="59" y="59"/>
                    </a:cxn>
                  </a:cxnLst>
                  <a:rect l="0" t="0" r="r" b="b"/>
                  <a:pathLst>
                    <a:path w="59" h="59">
                      <a:moveTo>
                        <a:pt x="59" y="59"/>
                      </a:moveTo>
                      <a:lnTo>
                        <a:pt x="0" y="30"/>
                      </a:lnTo>
                      <a:lnTo>
                        <a:pt x="59" y="0"/>
                      </a:lnTo>
                      <a:lnTo>
                        <a:pt x="59" y="59"/>
                      </a:lnTo>
                      <a:close/>
                    </a:path>
                  </a:pathLst>
                </a:custGeom>
                <a:noFill/>
                <a:ln w="825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bg-BG"/>
                </a:p>
              </p:txBody>
            </p:sp>
            <p:sp>
              <p:nvSpPr>
                <p:cNvPr id="2108" name="Rectangle 60"/>
                <p:cNvSpPr>
                  <a:spLocks noChangeArrowheads="1"/>
                </p:cNvSpPr>
                <p:nvPr/>
              </p:nvSpPr>
              <p:spPr bwMode="auto">
                <a:xfrm>
                  <a:off x="3873" y="8993"/>
                  <a:ext cx="360" cy="39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1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B</a:t>
                  </a:r>
                  <a:endParaRPr kumimoji="0" lang="bg-BG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09" name="Line 61"/>
                <p:cNvSpPr>
                  <a:spLocks noChangeShapeType="1"/>
                </p:cNvSpPr>
                <p:nvPr/>
              </p:nvSpPr>
              <p:spPr bwMode="auto">
                <a:xfrm flipV="1">
                  <a:off x="3397" y="9368"/>
                  <a:ext cx="6" cy="8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bg-BG"/>
                </a:p>
              </p:txBody>
            </p:sp>
            <p:sp>
              <p:nvSpPr>
                <p:cNvPr id="2110" name="Line 62"/>
                <p:cNvSpPr>
                  <a:spLocks noChangeShapeType="1"/>
                </p:cNvSpPr>
                <p:nvPr/>
              </p:nvSpPr>
              <p:spPr bwMode="auto">
                <a:xfrm flipV="1">
                  <a:off x="3397" y="9106"/>
                  <a:ext cx="6" cy="7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bg-BG"/>
                </a:p>
              </p:txBody>
            </p:sp>
            <p:sp>
              <p:nvSpPr>
                <p:cNvPr id="2111" name="Line 63"/>
                <p:cNvSpPr>
                  <a:spLocks noChangeShapeType="1"/>
                </p:cNvSpPr>
                <p:nvPr/>
              </p:nvSpPr>
              <p:spPr bwMode="auto">
                <a:xfrm flipH="1">
                  <a:off x="3290" y="9104"/>
                  <a:ext cx="0" cy="33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bg-BG"/>
                </a:p>
              </p:txBody>
            </p:sp>
            <p:sp>
              <p:nvSpPr>
                <p:cNvPr id="2112" name="Line 64"/>
                <p:cNvSpPr>
                  <a:spLocks noChangeShapeType="1"/>
                </p:cNvSpPr>
                <p:nvPr/>
              </p:nvSpPr>
              <p:spPr bwMode="auto">
                <a:xfrm>
                  <a:off x="2840" y="9434"/>
                  <a:ext cx="44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bg-BG"/>
                </a:p>
              </p:txBody>
            </p:sp>
            <p:sp>
              <p:nvSpPr>
                <p:cNvPr id="2113" name="Line 65"/>
                <p:cNvSpPr>
                  <a:spLocks noChangeShapeType="1"/>
                </p:cNvSpPr>
                <p:nvPr/>
              </p:nvSpPr>
              <p:spPr bwMode="auto">
                <a:xfrm>
                  <a:off x="3597" y="10583"/>
                  <a:ext cx="0" cy="1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oval" w="sm" len="sm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bg-BG"/>
                </a:p>
              </p:txBody>
            </p:sp>
            <p:sp>
              <p:nvSpPr>
                <p:cNvPr id="2114" name="Line 66"/>
                <p:cNvSpPr>
                  <a:spLocks noChangeShapeType="1"/>
                </p:cNvSpPr>
                <p:nvPr/>
              </p:nvSpPr>
              <p:spPr bwMode="auto">
                <a:xfrm>
                  <a:off x="3810" y="9294"/>
                  <a:ext cx="0" cy="4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bg-BG"/>
                </a:p>
              </p:txBody>
            </p:sp>
            <p:sp>
              <p:nvSpPr>
                <p:cNvPr id="2115" name="Line 67"/>
                <p:cNvSpPr>
                  <a:spLocks noChangeShapeType="1"/>
                </p:cNvSpPr>
                <p:nvPr/>
              </p:nvSpPr>
              <p:spPr bwMode="auto">
                <a:xfrm flipH="1">
                  <a:off x="3600" y="9724"/>
                  <a:ext cx="21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bg-BG"/>
                </a:p>
              </p:txBody>
            </p:sp>
            <p:sp>
              <p:nvSpPr>
                <p:cNvPr id="2116" name="Line 68"/>
                <p:cNvSpPr>
                  <a:spLocks noChangeShapeType="1"/>
                </p:cNvSpPr>
                <p:nvPr/>
              </p:nvSpPr>
              <p:spPr bwMode="auto">
                <a:xfrm>
                  <a:off x="4290" y="7556"/>
                  <a:ext cx="18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bg-BG"/>
                </a:p>
              </p:txBody>
            </p:sp>
            <p:sp>
              <p:nvSpPr>
                <p:cNvPr id="2117" name="Rectangle 69"/>
                <p:cNvSpPr>
                  <a:spLocks noChangeArrowheads="1"/>
                </p:cNvSpPr>
                <p:nvPr/>
              </p:nvSpPr>
              <p:spPr bwMode="auto">
                <a:xfrm>
                  <a:off x="4137" y="7673"/>
                  <a:ext cx="248" cy="28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100" b="0" i="0" u="none" strike="noStrike" cap="none" normalizeH="0" baseline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itchFamily="34" charset="0"/>
                      <a:cs typeface="Arial" pitchFamily="34" charset="0"/>
                    </a:rPr>
                    <a:t>I</a:t>
                  </a:r>
                  <a:endParaRPr kumimoji="0" lang="bg-BG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2118" name="Rectangle 70"/>
                <p:cNvSpPr>
                  <a:spLocks noChangeArrowheads="1"/>
                </p:cNvSpPr>
                <p:nvPr/>
              </p:nvSpPr>
              <p:spPr bwMode="auto">
                <a:xfrm>
                  <a:off x="1483" y="9800"/>
                  <a:ext cx="430" cy="2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bg-BG"/>
                </a:p>
              </p:txBody>
            </p:sp>
            <p:sp>
              <p:nvSpPr>
                <p:cNvPr id="2119" name="Line 71"/>
                <p:cNvSpPr>
                  <a:spLocks noChangeShapeType="1"/>
                </p:cNvSpPr>
                <p:nvPr/>
              </p:nvSpPr>
              <p:spPr bwMode="auto">
                <a:xfrm>
                  <a:off x="1590" y="9880"/>
                  <a:ext cx="200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bg-BG"/>
                </a:p>
              </p:txBody>
            </p:sp>
            <p:sp>
              <p:nvSpPr>
                <p:cNvPr id="2120" name="Line 72"/>
                <p:cNvSpPr>
                  <a:spLocks noChangeShapeType="1"/>
                </p:cNvSpPr>
                <p:nvPr/>
              </p:nvSpPr>
              <p:spPr bwMode="auto">
                <a:xfrm>
                  <a:off x="1510" y="9800"/>
                  <a:ext cx="35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bg-BG"/>
                </a:p>
              </p:txBody>
            </p:sp>
            <p:sp>
              <p:nvSpPr>
                <p:cNvPr id="2121" name="Line 73"/>
                <p:cNvSpPr>
                  <a:spLocks noChangeShapeType="1"/>
                </p:cNvSpPr>
                <p:nvPr/>
              </p:nvSpPr>
              <p:spPr bwMode="auto">
                <a:xfrm flipV="1">
                  <a:off x="1690" y="9880"/>
                  <a:ext cx="0" cy="17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bg-BG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CMOS </a:t>
            </a:r>
            <a:r>
              <a:rPr lang="bg-BG" dirty="0" smtClean="0"/>
              <a:t>ключ, </a:t>
            </a:r>
            <a:r>
              <a:rPr lang="bg-BG" dirty="0" err="1" smtClean="0"/>
              <a:t>комплементарна</a:t>
            </a:r>
            <a:r>
              <a:rPr lang="bg-BG" dirty="0" smtClean="0"/>
              <a:t> </a:t>
            </a:r>
            <a:r>
              <a:rPr lang="en-US" dirty="0" smtClean="0"/>
              <a:t>MOS</a:t>
            </a:r>
            <a:r>
              <a:rPr lang="bg-BG" dirty="0" smtClean="0"/>
              <a:t> технология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24750" t="34000" r="25000" b="24666"/>
          <a:stretch>
            <a:fillRect/>
          </a:stretch>
        </p:blipFill>
        <p:spPr bwMode="auto">
          <a:xfrm>
            <a:off x="762000" y="2057400"/>
            <a:ext cx="6781800" cy="3137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Управление на светодиод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bg-BG" sz="2000" dirty="0" smtClean="0"/>
          </a:p>
          <a:p>
            <a:pPr>
              <a:buNone/>
            </a:pPr>
            <a:endParaRPr lang="bg-BG" sz="2000" dirty="0" smtClean="0"/>
          </a:p>
          <a:p>
            <a:pPr>
              <a:buNone/>
            </a:pPr>
            <a:endParaRPr lang="bg-BG" sz="2000" dirty="0" smtClean="0"/>
          </a:p>
          <a:p>
            <a:pPr>
              <a:buNone/>
            </a:pPr>
            <a:endParaRPr lang="bg-BG" sz="2000" dirty="0" smtClean="0"/>
          </a:p>
          <a:p>
            <a:pPr>
              <a:buNone/>
            </a:pPr>
            <a:endParaRPr lang="bg-BG" sz="2000" dirty="0" smtClean="0"/>
          </a:p>
          <a:p>
            <a:pPr>
              <a:buNone/>
            </a:pPr>
            <a:endParaRPr lang="bg-BG" sz="2000" dirty="0" smtClean="0"/>
          </a:p>
          <a:p>
            <a:pPr>
              <a:buNone/>
            </a:pPr>
            <a:endParaRPr lang="bg-BG" sz="2000" dirty="0" smtClean="0"/>
          </a:p>
          <a:p>
            <a:pPr>
              <a:buNone/>
            </a:pPr>
            <a:endParaRPr lang="bg-BG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bg-BG" sz="2000" dirty="0" smtClean="0"/>
              <a:t> Дадено</a:t>
            </a:r>
            <a:r>
              <a:rPr lang="en-US" sz="2000" dirty="0" smtClean="0"/>
              <a:t>: </a:t>
            </a:r>
            <a:r>
              <a:rPr lang="en-US" sz="2000" i="1" dirty="0" smtClean="0"/>
              <a:t>I</a:t>
            </a:r>
            <a:r>
              <a:rPr lang="en-US" sz="2000" i="1" baseline="-25000" dirty="0" smtClean="0"/>
              <a:t>LED</a:t>
            </a:r>
            <a:r>
              <a:rPr lang="en-US" sz="2000" i="1" dirty="0" smtClean="0"/>
              <a:t>=20mA; V</a:t>
            </a:r>
            <a:r>
              <a:rPr lang="en-US" sz="2000" i="1" baseline="-25000" dirty="0" smtClean="0"/>
              <a:t>LED </a:t>
            </a:r>
            <a:r>
              <a:rPr lang="en-US" sz="2000" i="1" dirty="0" smtClean="0"/>
              <a:t>= 2V;  β=50; V</a:t>
            </a:r>
            <a:r>
              <a:rPr lang="en-US" sz="2000" i="1" baseline="-25000" dirty="0" smtClean="0"/>
              <a:t>CC</a:t>
            </a:r>
            <a:r>
              <a:rPr lang="en-US" sz="2000" i="1" dirty="0" smtClean="0"/>
              <a:t>=12V</a:t>
            </a:r>
            <a:r>
              <a:rPr lang="bg-BG" sz="2000" i="1" dirty="0" smtClean="0"/>
              <a:t>, </a:t>
            </a:r>
            <a:r>
              <a:rPr lang="en-US" sz="2000" i="1" dirty="0" smtClean="0"/>
              <a:t>V</a:t>
            </a:r>
            <a:r>
              <a:rPr lang="en-US" sz="2000" i="1" baseline="-25000" dirty="0" smtClean="0"/>
              <a:t>TTL</a:t>
            </a:r>
            <a:r>
              <a:rPr lang="en-US" sz="2000" i="1" dirty="0" smtClean="0"/>
              <a:t>=</a:t>
            </a:r>
            <a:r>
              <a:rPr lang="bg-BG" sz="2000" i="1" dirty="0" smtClean="0"/>
              <a:t>4</a:t>
            </a:r>
            <a:r>
              <a:rPr lang="en-US" sz="2000" i="1" dirty="0" smtClean="0"/>
              <a:t>V</a:t>
            </a:r>
            <a:endParaRPr lang="bg-BG" sz="2000" dirty="0" smtClean="0"/>
          </a:p>
          <a:p>
            <a:pPr>
              <a:buNone/>
            </a:pPr>
            <a:r>
              <a:rPr lang="bg-BG" sz="2000" dirty="0" smtClean="0"/>
              <a:t> Да се намерят</a:t>
            </a:r>
            <a:r>
              <a:rPr lang="en-US" sz="2000" dirty="0" smtClean="0"/>
              <a:t>: </a:t>
            </a:r>
            <a:r>
              <a:rPr lang="en-US" sz="2000" i="1" dirty="0" smtClean="0"/>
              <a:t>R</a:t>
            </a:r>
            <a:r>
              <a:rPr lang="en-US" sz="2000" i="1" baseline="-25000" dirty="0" smtClean="0"/>
              <a:t>1</a:t>
            </a:r>
            <a:r>
              <a:rPr lang="en-US" sz="2000" baseline="-25000" dirty="0" smtClean="0"/>
              <a:t> </a:t>
            </a:r>
            <a:r>
              <a:rPr lang="bg-BG" sz="2000" dirty="0" smtClean="0"/>
              <a:t>и</a:t>
            </a:r>
            <a:r>
              <a:rPr lang="en-US" sz="2000" dirty="0" smtClean="0"/>
              <a:t> </a:t>
            </a:r>
            <a:r>
              <a:rPr lang="en-US" sz="2000" i="1" dirty="0" smtClean="0"/>
              <a:t>R</a:t>
            </a:r>
            <a:r>
              <a:rPr lang="en-US" sz="2000" i="1" baseline="-25000" dirty="0" smtClean="0"/>
              <a:t>2</a:t>
            </a:r>
            <a:r>
              <a:rPr lang="en-US" sz="2000" dirty="0" smtClean="0"/>
              <a:t> </a:t>
            </a:r>
            <a:r>
              <a:rPr lang="bg-BG" sz="2000" dirty="0" smtClean="0"/>
              <a:t>, </a:t>
            </a:r>
            <a:r>
              <a:rPr lang="en-US" sz="2000" i="1" dirty="0" err="1" smtClean="0"/>
              <a:t>V</a:t>
            </a:r>
            <a:r>
              <a:rPr lang="en-US" sz="2000" i="1" baseline="-25000" dirty="0" err="1" smtClean="0"/>
              <a:t>ce,sat</a:t>
            </a:r>
            <a:r>
              <a:rPr lang="bg-BG" sz="2000" i="1" dirty="0" smtClean="0"/>
              <a:t>=0; </a:t>
            </a:r>
            <a:r>
              <a:rPr lang="en-US" sz="2000" i="1" dirty="0" err="1" smtClean="0"/>
              <a:t>V</a:t>
            </a:r>
            <a:r>
              <a:rPr lang="en-US" sz="2000" i="1" baseline="-25000" dirty="0" err="1" smtClean="0"/>
              <a:t>be,sat</a:t>
            </a:r>
            <a:r>
              <a:rPr lang="bg-BG" sz="2000" i="1" dirty="0" smtClean="0"/>
              <a:t>=0</a:t>
            </a:r>
            <a:r>
              <a:rPr lang="en-US" sz="2000" i="1" dirty="0" smtClean="0"/>
              <a:t>,7V</a:t>
            </a:r>
          </a:p>
          <a:p>
            <a:pPr>
              <a:buNone/>
            </a:pPr>
            <a:r>
              <a:rPr lang="bg-BG" sz="2000" i="1" dirty="0" smtClean="0"/>
              <a:t>(отговор, </a:t>
            </a:r>
            <a:r>
              <a:rPr lang="en-US" sz="2000" i="1" dirty="0" smtClean="0"/>
              <a:t>R</a:t>
            </a:r>
            <a:r>
              <a:rPr lang="en-US" sz="2000" i="1" baseline="-25000" dirty="0" smtClean="0"/>
              <a:t>1</a:t>
            </a:r>
            <a:r>
              <a:rPr lang="en-US" sz="2000" baseline="-25000" dirty="0" smtClean="0"/>
              <a:t> </a:t>
            </a:r>
            <a:r>
              <a:rPr lang="en-US" sz="2000" dirty="0" smtClean="0"/>
              <a:t>=8</a:t>
            </a:r>
            <a:r>
              <a:rPr lang="bg-BG" sz="2000" dirty="0" smtClean="0"/>
              <a:t>,</a:t>
            </a:r>
            <a:r>
              <a:rPr lang="en-US" sz="2000" dirty="0" smtClean="0"/>
              <a:t>2</a:t>
            </a:r>
            <a:r>
              <a:rPr lang="bg-BG" sz="2000" dirty="0" smtClean="0"/>
              <a:t>5</a:t>
            </a:r>
            <a:r>
              <a:rPr lang="en-US" sz="2000" dirty="0" smtClean="0"/>
              <a:t>k </a:t>
            </a:r>
            <a:r>
              <a:rPr lang="bg-BG" sz="2000" dirty="0" smtClean="0"/>
              <a:t>, </a:t>
            </a:r>
            <a:r>
              <a:rPr lang="en-US" sz="2000" i="1" dirty="0" smtClean="0"/>
              <a:t>R</a:t>
            </a:r>
            <a:r>
              <a:rPr lang="en-US" sz="2000" i="1" baseline="-25000" dirty="0" smtClean="0"/>
              <a:t>2</a:t>
            </a:r>
            <a:r>
              <a:rPr lang="en-US" sz="2000" i="1" dirty="0" smtClean="0"/>
              <a:t>=500</a:t>
            </a:r>
            <a:r>
              <a:rPr lang="bg-BG" sz="2000" i="1" dirty="0" smtClean="0"/>
              <a:t>)</a:t>
            </a:r>
            <a:endParaRPr lang="bg-BG" sz="20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447800"/>
            <a:ext cx="4205288" cy="3129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Управление на реле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dirty="0" smtClean="0"/>
          </a:p>
          <a:p>
            <a:pPr>
              <a:buNone/>
            </a:pPr>
            <a:endParaRPr lang="bg-BG" sz="2000" dirty="0" smtClean="0"/>
          </a:p>
          <a:p>
            <a:pPr>
              <a:buNone/>
            </a:pPr>
            <a:r>
              <a:rPr lang="bg-BG" sz="2000" dirty="0" smtClean="0"/>
              <a:t>Дадено</a:t>
            </a:r>
            <a:r>
              <a:rPr lang="en-US" sz="2000" dirty="0" smtClean="0"/>
              <a:t>: </a:t>
            </a:r>
            <a:r>
              <a:rPr lang="en-US" sz="2000" i="1" dirty="0" smtClean="0"/>
              <a:t>I</a:t>
            </a:r>
            <a:r>
              <a:rPr lang="en-US" sz="2000" i="1" baseline="-25000" dirty="0" smtClean="0"/>
              <a:t>REL</a:t>
            </a:r>
            <a:r>
              <a:rPr lang="en-US" sz="2000" i="1" dirty="0" smtClean="0"/>
              <a:t>=100mA;  β=50</a:t>
            </a:r>
            <a:r>
              <a:rPr lang="bg-BG" sz="2000" i="1" dirty="0" smtClean="0"/>
              <a:t>, </a:t>
            </a:r>
            <a:r>
              <a:rPr lang="en-US" sz="2000" i="1" dirty="0" smtClean="0"/>
              <a:t>V</a:t>
            </a:r>
            <a:r>
              <a:rPr lang="en-US" sz="2000" i="1" baseline="-25000" dirty="0" smtClean="0"/>
              <a:t>TTL</a:t>
            </a:r>
            <a:r>
              <a:rPr lang="en-US" sz="2000" i="1" dirty="0" smtClean="0"/>
              <a:t>=</a:t>
            </a:r>
            <a:r>
              <a:rPr lang="bg-BG" sz="2000" i="1" dirty="0" smtClean="0"/>
              <a:t>4</a:t>
            </a:r>
            <a:r>
              <a:rPr lang="en-US" sz="2000" i="1" dirty="0" smtClean="0"/>
              <a:t>V</a:t>
            </a:r>
            <a:r>
              <a:rPr lang="bg-BG" sz="2000" i="1" dirty="0" smtClean="0"/>
              <a:t>, </a:t>
            </a:r>
            <a:r>
              <a:rPr lang="en-US" sz="2000" i="1" dirty="0" err="1" smtClean="0"/>
              <a:t>V</a:t>
            </a:r>
            <a:r>
              <a:rPr lang="en-US" sz="2000" i="1" baseline="-25000" dirty="0" err="1" smtClean="0"/>
              <a:t>be,sat</a:t>
            </a:r>
            <a:r>
              <a:rPr lang="bg-BG" sz="2000" i="1" dirty="0" smtClean="0"/>
              <a:t>=0</a:t>
            </a:r>
            <a:r>
              <a:rPr lang="en-US" sz="2000" i="1" dirty="0" smtClean="0"/>
              <a:t>,7V</a:t>
            </a:r>
            <a:endParaRPr lang="bg-BG" sz="2000" dirty="0" smtClean="0"/>
          </a:p>
          <a:p>
            <a:pPr>
              <a:buNone/>
            </a:pPr>
            <a:r>
              <a:rPr lang="bg-BG" sz="2000" dirty="0" smtClean="0"/>
              <a:t>Да се намери</a:t>
            </a:r>
            <a:r>
              <a:rPr lang="en-US" sz="2000" dirty="0" smtClean="0"/>
              <a:t> </a:t>
            </a:r>
            <a:r>
              <a:rPr lang="en-US" sz="2000" i="1" dirty="0" smtClean="0"/>
              <a:t>R</a:t>
            </a:r>
            <a:r>
              <a:rPr lang="en-US" sz="2000" i="1" baseline="-25000" dirty="0" smtClean="0"/>
              <a:t>1</a:t>
            </a:r>
            <a:endParaRPr lang="bg-BG" sz="2000" i="1" dirty="0" smtClean="0"/>
          </a:p>
          <a:p>
            <a:pPr>
              <a:buNone/>
            </a:pPr>
            <a:r>
              <a:rPr lang="bg-BG" sz="2000" i="1" dirty="0" smtClean="0"/>
              <a:t>(отговор, </a:t>
            </a:r>
            <a:r>
              <a:rPr lang="en-US" sz="2000" i="1" dirty="0" smtClean="0"/>
              <a:t>R</a:t>
            </a:r>
            <a:r>
              <a:rPr lang="en-US" sz="2000" i="1" baseline="-25000" dirty="0" smtClean="0"/>
              <a:t>1</a:t>
            </a:r>
            <a:r>
              <a:rPr lang="en-US" sz="2000" baseline="-25000" dirty="0" smtClean="0"/>
              <a:t> </a:t>
            </a:r>
            <a:r>
              <a:rPr lang="en-US" sz="2000" dirty="0" smtClean="0"/>
              <a:t>=</a:t>
            </a:r>
            <a:r>
              <a:rPr lang="bg-BG" sz="2000" dirty="0" smtClean="0"/>
              <a:t>1,65</a:t>
            </a:r>
            <a:r>
              <a:rPr lang="en-US" sz="2000" dirty="0" smtClean="0"/>
              <a:t>k</a:t>
            </a:r>
            <a:r>
              <a:rPr lang="bg-BG" sz="2000" i="1" dirty="0" smtClean="0"/>
              <a:t>)</a:t>
            </a:r>
          </a:p>
          <a:p>
            <a:pPr>
              <a:buNone/>
            </a:pPr>
            <a:endParaRPr lang="bg-BG" sz="2000" i="1" dirty="0" smtClean="0"/>
          </a:p>
          <a:p>
            <a:pPr>
              <a:buNone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2057400"/>
            <a:ext cx="37338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 smtClean="0"/>
              <a:t>Оптрон</a:t>
            </a:r>
            <a:r>
              <a:rPr lang="bg-BG" dirty="0" smtClean="0"/>
              <a:t>, принцип на работа, управление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7288" y="2846124"/>
            <a:ext cx="2424112" cy="2289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91000" y="2590800"/>
            <a:ext cx="3449722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10400</TotalTime>
  <Words>260</Words>
  <Application>Microsoft Office PowerPoint</Application>
  <PresentationFormat>On-screen Show (4:3)</PresentationFormat>
  <Paragraphs>83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Oriel</vt:lpstr>
      <vt:lpstr> Транзисторен ключ. Приложения при управление на релета, светодиодни индикатори и оптрони.   </vt:lpstr>
      <vt:lpstr>Обща информация</vt:lpstr>
      <vt:lpstr>  Транзисторен ключ с биполярен транзистор (BJT) </vt:lpstr>
      <vt:lpstr>Транзисторен ключ с биполярен транзистор (BJT)</vt:lpstr>
      <vt:lpstr>Транзисторен ключ с биполярен транзистор (BJT)</vt:lpstr>
      <vt:lpstr>Транзисторен ключ с JFET (полеви транзистор с управляващ PN преход)</vt:lpstr>
      <vt:lpstr>Транзисторен ключ с MOSFET</vt:lpstr>
      <vt:lpstr>CMOS ключ, комплементарна MOS технология</vt:lpstr>
      <vt:lpstr>Управление на светодиод</vt:lpstr>
      <vt:lpstr>Управление на реле</vt:lpstr>
      <vt:lpstr>Оптрон, принцип на работа, управление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4: Пасивни електронни елементи и компоненти</dc:title>
  <dc:creator>Georgi</dc:creator>
  <cp:lastModifiedBy>Teacher</cp:lastModifiedBy>
  <cp:revision>277</cp:revision>
  <dcterms:created xsi:type="dcterms:W3CDTF">2006-08-16T00:00:00Z</dcterms:created>
  <dcterms:modified xsi:type="dcterms:W3CDTF">2016-11-27T15:29:24Z</dcterms:modified>
</cp:coreProperties>
</file>
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61" r:id="rId6"/>
    <p:sldId id="265" r:id="rId7"/>
    <p:sldId id="266" r:id="rId8"/>
    <p:sldId id="267" r:id="rId9"/>
    <p:sldId id="268" r:id="rId1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372" y="-2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4:58.0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153 143 24573,'910'-52'0,"-1973"-39"0,1216 234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5:07.4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1284 771 24575,'18'1'0,"0"0"0,1 1 0,-1 1 0,0 1 0,-1 1 0,28 10 0,-38-12 0,0-1 0,0 0 0,1 0 0,-1 0 0,1-1 0,13 1 0,-19-2 0,0-1 0,-1 1 0,1 0 0,0-1 0,0 1 0,0-1 0,0 1 0,-1-1 0,1 0 0,0 0 0,-1 0 0,1 0 0,-1 0 0,1 0 0,-1 0 0,1-1 0,-1 1 0,0-1 0,0 1 0,0-1 0,1 1 0,-1-1 0,-1 1 0,1-1 0,0 0 0,0 0 0,-1 1 0,1-1 0,-1 0 0,1 0 0,-1 0 0,0-3 0,3-30 0,-3 26 0,1 1 0,-1-1 0,2 1 0,3-15 0,-5 21 0,1-1 0,0 1 0,0 0 0,1 0 0,-1-1 0,0 1 0,1 0 0,-1 0 0,1 0 0,0 1 0,0-1 0,0 0 0,0 1 0,0-1 0,0 1 0,0 0 0,0-1 0,0 1 0,1 0 0,3-1 0,11-1 0,0 1 0,1 0 0,-1 1 0,0 1 0,0 1 0,33 5 0,11 7 0,-51-10 0,1 0 0,1-1 0,-1 0 0,0 0 0,0-1 0,1-1 0,-1 0 0,19-2 0,-25 1 0,-1 0 0,0 0 0,0 0 0,0 0 0,0-1 0,0 0 0,-1 0 0,1 0 0,0 0 0,-1 0 0,0-1 0,1 1 0,-1-1 0,4-4 0,-5 3 0,1 0 0,-1 0 0,1-1 0,-1 1 0,-1 0 0,1-1 0,0 0 0,-1 1 0,0-1 0,0 0 0,-1 0 0,1-7 0,-3-121 0,0 57 0,0 58 0,1 1 0,-9-30 0,6 28 0,-4-34 0,7 41 0,0 0 0,-1 0 0,0 0 0,-1 0 0,-7-18 0,9 26 0,-1 1 0,1-1 0,-1 0 0,0 1 0,-1-1 0,1 1 0,-1-1 0,1 1 0,-1 0 0,0 0 0,0 0 0,0 1 0,-1-1 0,1 1 0,-1 0 0,1 0 0,-1 0 0,0 0 0,-7-2 0,-36-6 0,-1 2 0,-74-3 0,-99 11 0,96 2 0,-3-1 0,-143-3 0,151-10 0,-55-3 0,-156 17 0,306-1 0,0 1 0,-31 8 0,29-5 0,-45 3 0,-30-8-1365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5:13.5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24575,'0'360'0,"0"-354"0,0-1 0,0 1 0,1-1 0,-1 1 0,1-1 0,1 1 0,-1-1 0,1 0 0,0 0 0,4 9 0,-4-11 0,1 0 0,-1-1 0,0 1 0,1-1 0,-1 1 0,1-1 0,-1 0 0,1 0 0,0 0 0,0 0 0,0-1 0,0 1 0,1-1 0,-1 0 0,0 0 0,1 0 0,-1 0 0,5 0 0,23 2 0,1-1 0,62-6 0,-16 1 0,-35 3 0,0 1 0,76 14 0,86 13 0,-73-12 0,-20-5 0,163-5 0,-204-6 0,-62 1 0,0 0 0,0 0 0,0 1 0,-1 0 0,1 0 0,-1 1 0,1 0 0,-1 1 0,0 0 0,-1 0 0,13 9 0,13 7 0,-24-16 0,0-1 0,0 0 0,0 0 0,0 0 0,0-1 0,0-1 0,17 2 0,72-5 0,-46 0 0,-2 2 0,-29 1 0,0 0 0,0-2 0,0-1 0,41-8 0,-47 6 0,9-3 0,0-1 0,43-20 0,-31 13 0,-26 11 0,1-1 0,-1 0 0,13-8 0,-9 4 0,-8 6 0,0 0 0,0-1 0,0 0 0,9-9 0,-15 12 0,1 1 0,0-1 0,-1 0 0,1 1 0,0-1 0,-1 0 0,1 0 0,-1 0 0,0 0 0,1 1 0,-1-1 0,0 0 0,1 0 0,-1 0 0,0 0 0,0 0 0,0 0 0,0 0 0,0 0 0,0 0 0,0 0 0,0 0 0,0 0 0,0 1 0,0-1 0,-1 0 0,1 0 0,0 0 0,-1 0 0,1 0 0,-1 0 0,1 1 0,-1-1 0,1 0 0,-1 0 0,1 1 0,-1-1 0,0 0 0,0 1 0,1-1 0,-2 0 0,-4-3 0,-1 0 0,1 0 0,-1 1 0,0 0 0,0 0 0,0 1 0,-1 0 0,-11-2 0,-8-3 0,-27-9 0,-210-65 0,222 67 0,17 6 0,1-1 0,-28-14 0,32 13 0,0 1 0,-1 2 0,-1 0 0,1 1 0,-1 0 0,0 2 0,0 1 0,0 1 0,0 1 0,-29 2 0,-16 0 0,385 0 0,-182 11 0,47 1 0,326-14-1365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5:20.4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254 6 24575,'-3'1'0,"-1"0"0,1 0 0,0 0 0,0 0 0,-1 0 0,1 1 0,0-1 0,0 1 0,1 0 0,-6 3 0,-4 4 0,-29 19 0,34-22 0,0 0 0,-1-1 0,1 0 0,-1 0 0,0-1 0,-1 0 0,1 0 0,-1-1 0,-10 3 0,13-6 0,-1 1 0,1 1 0,0-1 0,0 1 0,1 0 0,-1 1 0,-5 2 0,9-4 0,1 0 0,-1 1 0,1-1 0,0 0 0,0 1 0,-1-1 0,1 1 0,0-1 0,0 1 0,0-1 0,1 1 0,-1 0 0,0-1 0,1 1 0,-1 0 0,1 0 0,-1 0 0,1-1 0,0 1 0,0 0 0,0 0 0,0 0 0,0 0 0,0-1 0,1 1 0,-1 0 0,0 0 0,2 1 0,42 139 0,-43-139 0,0 0 0,0 0 0,0 0 0,0-1 0,1 1 0,-1 0 0,1-1 0,0 1 0,0-1 0,-1 0 0,2 1 0,-1-1 0,0 0 0,0 0 0,1-1 0,-1 1 0,1 0 0,0-1 0,-1 1 0,1-1 0,0 0 0,0 0 0,0 0 0,0 0 0,5 0 0,7 1 0,1-1 0,-1 0 0,31-3 0,-22 1 0,25-2 0,-15 1 0,61 3 0,-85 0 0,-1 1 0,0-1 0,0 1 0,0 1 0,0 0 0,0 0 0,0 1 0,-1 0 0,0 0 0,1 1 0,8 7 0,-9-6 0,-1 0 0,-1-1 0,1 0 0,0 0 0,13 6 0,-18-10 0,0 0 0,-1-1 0,1 1 0,0-1 0,0 1 0,-1-1 0,1 0 0,0 0 0,0 1 0,-1-1 0,1-1 0,0 1 0,0 0 0,0 0 0,-1-1 0,1 1 0,0-1 0,-1 1 0,1-1 0,0 0 0,-1 0 0,1 1 0,-1-1 0,1 0 0,-1 0 0,0-1 0,3-1 0,3-5 0,0-1 0,-1 1 0,7-12 0,-8 11 0,0 1 0,1 0 0,0 0 0,10-11 0,-9 13 0,-1 1 0,1 0 0,0 0 0,0 0 0,1 1 0,-1 0 0,1 0 0,0 1 0,0 0 0,0 0 0,0 1 0,1 0 0,-1 0 0,1 1 0,-1 0 0,1 1 0,10 0 0,16 0 0,111 3 0,-131 0 0,0 0 0,-1 0 0,23 10 0,22 5 0,-12-7 0,-12-3 0,1-1 0,72 5 0,-11-12 0,-17-1 0,0 4 0,89 14 0,-149-13 0,231 36 0,-178-32 0,109-2 0,-86-5 0,55-4 0,-149 3 0,1-1 0,-1 1 0,1-1 0,-1 1 0,0-1 0,0 0 0,1 0 0,-1 0 0,0 0 0,0-1 0,0 1 0,0 0 0,0-1 0,0 1 0,0-1 0,-1 0 0,1 0 0,2-3 0,1-3 0,-1 0 0,0 0 0,5-17 0,-6 17 0,0-1 0,1 1 0,7-13 0,-5 13 0,-1 0 0,0-1 0,0 1 0,-1-1 0,0 0 0,-1 0 0,3-10 0,-5 17 0,-1 0 0,0 0 0,1 0 0,-1 0 0,0 0 0,0 0 0,0 0 0,-1 0 0,1 1 0,0-1 0,-1 0 0,1 0 0,-1 0 0,1 0 0,-1 0 0,0 0 0,0 1 0,0-1 0,0 0 0,0 1 0,0-1 0,-1 1 0,1-1 0,-1 1 0,1-1 0,0 1 0,-1 0 0,0 0 0,1 0 0,-1 0 0,0 0 0,0 0 0,1 0 0,-1 1 0,0-1 0,0 1 0,0-1 0,0 1 0,0 0 0,-3 0 0,-140-38 0,71 16 0,15 8 0,33 9 0,0-2 0,1 0 0,0-2 0,-37-18 0,48 21 0,-1 0 0,0 0 0,0 2 0,0 0 0,-26-3 0,-5-2 0,29 6 114,0 1 0,-31 0-1,32 2-539,0 0-1,0-2 1,-19-3-1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5:25.5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284 190 24575,'952'0'0,"-939"1"0,-1 0 0,0 1 0,1 1 0,-1 0 0,0 1 0,0 0 0,-1 1 0,14 7 0,-6-3 0,-1-1 0,32 8 0,482 70 0,-399-69 0,-27-8 0,159-7 0,-126-4 0,194 2 0,-327 0 0,-1 0 0,0-1 0,0 0 0,0 0 0,0 0 0,0-1 0,0 1 0,-1-1 0,1 0 0,5-3 0,-9 4 0,0 0 0,1 0 0,-1 0 0,0 1 0,0-1 0,0-1 0,0 1 0,0 0 0,0 0 0,0 0 0,0 0 0,0-1 0,-1 1 0,1 0 0,0-1 0,-1 1 0,1 0 0,-1-1 0,0 1 0,1-1 0,-1 1 0,0-1 0,0 1 0,0-1 0,0 1 0,0-1 0,0 1 0,0-1 0,-1 1 0,1-1 0,0 1 0,-1 0 0,1-1 0,-1 1 0,0-1 0,1 1 0,-1 0 0,0 0 0,-1-2 0,-2-2 0,-1-1 0,1 1 0,-1 1 0,0-1 0,0 1 0,-1-1 0,0 2 0,1-1 0,-9-3 0,-1-1 0,0 1 0,-28-7 0,17 9 0,0 1 0,1 1 0,-1 2 0,0 0 0,-29 4 0,-7 0 0,28-3 0,15 2 0,0-2 0,0 0 0,0-1 0,0-1 0,1-1 0,-1-1 0,-28-8 0,38 8 0,-6-2 0,1 0 0,0-1 0,-22-14 0,18 9 0,-1 1 0,-1 1 0,-32-12 0,-14-8 0,52 24 0,1 1 0,-1 0 0,0 0 0,0 2 0,0 0 0,-1 0 0,1 1 0,-1 1 0,0 1 0,-25 1 0,-8 5 0,-89 24 0,86-18 0,33-6 0,-34 13 0,38-12 0,0-2 0,1 0 0,-2-1 0,-19 4 0,-33-3 0,-115-6 0,68-1 0,-319 2 0,405-2 0,1-1 0,-37-8 0,3 0 0,45 8 0,0-1 0,0 0 0,-19-9 0,22 7 0,0 1 0,-1 1 0,0 0 0,0 1 0,-15-2 0,12 4 0,0 0 0,0-2 0,1 0 0,-1-1 0,1 0 0,-22-9 0,21 7 40,0 1 0,-1 1 0,1 1 1,-1 0-1,0 2 0,0 0 0,-27 2 0,22-1-462,-1 0 1,1-2-1,-36-6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5:29.0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24575,'2'1'0,"1"-1"0,0 1 0,0 0 0,0 0 0,0 1 0,-1-1 0,1 0 0,-1 1 0,1 0 0,-1-1 0,1 1 0,2 3 0,17 10 0,-12-11 0,1 0 0,-1-1 0,1-1 0,17 2 0,-19-3 0,0 1 0,-1-1 0,1 1 0,0 1 0,-1-1 0,0 1 0,1 1 0,8 5 0,-6-2 0,-4-2 0,0 0 0,1 0 0,0 0 0,0-1 0,0 0 0,0-1 0,1 0 0,-1 0 0,1-1 0,0 0 0,11 1 0,194-3 0,-94-2 0,-73 3 69,94-4 180,-122 1-529,0-1-1,0 0 1,0-2-1,0 0 1,21-9-1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9:56:05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2AA6A-732F-4C89-9881-B3B9723213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22E3-3E88-4C88-9B4A-72F6AF86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0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532" y="2616873"/>
            <a:ext cx="5393435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5.xml"/><Relationship Id="rId18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customXml" Target="../ink/ink2.xml"/><Relationship Id="rId12" Type="http://schemas.openxmlformats.org/officeDocument/2006/relationships/image" Target="../media/image27.png"/><Relationship Id="rId17" Type="http://schemas.openxmlformats.org/officeDocument/2006/relationships/customXml" Target="../ink/ink7.xml"/><Relationship Id="rId2" Type="http://schemas.openxmlformats.org/officeDocument/2006/relationships/image" Target="../media/image21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3.xml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B3DC06EE-331F-E380-6152-BD0D4C4E1B6A}"/>
              </a:ext>
            </a:extLst>
          </p:cNvPr>
          <p:cNvSpPr/>
          <p:nvPr/>
        </p:nvSpPr>
        <p:spPr>
          <a:xfrm>
            <a:off x="425450" y="3746500"/>
            <a:ext cx="6705593" cy="67162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EB8CC-053D-8C2E-C0A5-7D1343421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50" y="1711067"/>
            <a:ext cx="6423025" cy="1131079"/>
          </a:xfrm>
        </p:spPr>
        <p:txBody>
          <a:bodyPr/>
          <a:lstStyle/>
          <a:p>
            <a:pPr algn="ctr"/>
            <a:r>
              <a:rPr lang="en-US" dirty="0"/>
              <a:t>TEMA </a:t>
            </a:r>
            <a:r>
              <a:rPr lang="en-US" dirty="0">
                <a:latin typeface="+mn-lt"/>
              </a:rPr>
              <a:t>2</a:t>
            </a:r>
            <a:br>
              <a:rPr lang="bg-BG" dirty="0">
                <a:latin typeface="+mn-lt"/>
              </a:rPr>
            </a:br>
            <a:r>
              <a:rPr lang="bg-BG" dirty="0">
                <a:latin typeface="+mn-lt"/>
              </a:rPr>
              <a:t>УРАВНЕНИЕ НА ОКРЪЖНОСТ.</a:t>
            </a:r>
            <a:br>
              <a:rPr lang="bg-BG" dirty="0">
                <a:latin typeface="+mn-lt"/>
              </a:rPr>
            </a:br>
            <a:r>
              <a:rPr lang="bg-BG" dirty="0">
                <a:latin typeface="+mn-lt"/>
              </a:rPr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C7775F-E3C8-6C8F-29B7-ED97950393FA}"/>
                  </a:ext>
                </a:extLst>
              </p:cNvPr>
              <p:cNvSpPr>
                <a:spLocks noGrp="1"/>
              </p:cNvSpPr>
              <p:nvPr>
                <p:ph type="subTitle" idx="4"/>
              </p:nvPr>
            </p:nvSpPr>
            <p:spPr>
              <a:xfrm>
                <a:off x="566736" y="2984501"/>
                <a:ext cx="6423025" cy="6793976"/>
              </a:xfrm>
            </p:spPr>
            <p:txBody>
              <a:bodyPr/>
              <a:lstStyle/>
              <a:p>
                <a:endParaRPr lang="bg-BG" b="1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  <a:cs typeface="Aldhabi" panose="020F0502020204030204" pitchFamily="2" charset="-78"/>
                  </a:rPr>
                  <a:t>1.Определение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</a:rPr>
                  <a:t>Геометричното място на всички точки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400" dirty="0">
                    <a:latin typeface="Comic Sans MS" panose="030F0702030302020204" pitchFamily="66" charset="0"/>
                  </a:rPr>
                  <a:t>, </a:t>
                </a:r>
                <a:r>
                  <a:rPr lang="bg-BG" sz="1400" dirty="0">
                    <a:latin typeface="Comic Sans MS" panose="030F0702030302020204" pitchFamily="66" charset="0"/>
                  </a:rPr>
                  <a:t>които са равноотдалечени от дадена точка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bg-BG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наречена център, се нарича окръжност.</a:t>
                </a:r>
              </a:p>
              <a:p>
                <a:pPr>
                  <a:lnSpc>
                    <a:spcPct val="150000"/>
                  </a:lnSpc>
                </a:pPr>
                <a:endParaRPr lang="bg-BG" sz="1400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/>
                  <a:t>В </a:t>
                </a:r>
                <a14:m>
                  <m:oMath xmlns:m="http://schemas.openxmlformats.org/officeDocument/2006/math">
                    <m:r>
                      <a:rPr lang="bg-BG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𝐴𝐶𝑀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∡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𝐴𝑀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. T</a:t>
                </a:r>
                <a:r>
                  <a:rPr lang="bg-BG" sz="1400" dirty="0"/>
                  <a:t>огава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bg-BG" sz="1400" dirty="0"/>
              </a:p>
              <a:p>
                <a:pPr>
                  <a:lnSpc>
                    <a:spcPct val="150000"/>
                  </a:lnSpc>
                </a:pPr>
                <a:r>
                  <a:rPr lang="bg-BG" sz="1400" i="1" dirty="0">
                    <a:latin typeface="Comic Sans MS" panose="030F0702030302020204" pitchFamily="66" charset="0"/>
                  </a:rPr>
                  <a:t>Уравнението</a:t>
                </a:r>
                <a:r>
                  <a:rPr lang="bg-BG" sz="14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   (2.1)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</a:rPr>
                  <a:t>е уравнение на окръжност с център т.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1400" dirty="0">
                    <a:latin typeface="Comic Sans MS" panose="030F0702030302020204" pitchFamily="66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</a:rPr>
                  <a:t>и радиус </a:t>
                </a:r>
                <a:r>
                  <a:rPr lang="en-US" sz="1400" i="1" dirty="0">
                    <a:latin typeface="Comic Sans MS" panose="030F0702030302020204" pitchFamily="66" charset="0"/>
                  </a:rPr>
                  <a:t>R.</a:t>
                </a:r>
                <a:endParaRPr lang="bg-BG" sz="1400" i="1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i="1" dirty="0">
                    <a:latin typeface="Comic Sans MS" panose="030F0702030302020204" pitchFamily="66" charset="0"/>
                  </a:rPr>
                  <a:t>Разкриваме скобите и превръщаме уравнението в каноничен вид: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endParaRPr lang="bg-BG" sz="1400" i="1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</a:rPr>
                  <a:t>Ако центъра е началото на координантната система, т.е. </a:t>
                </a:r>
                <a14:m>
                  <m:oMath xmlns:m="http://schemas.openxmlformats.org/officeDocument/2006/math">
                    <m:r>
                      <a:rPr lang="bg-BG" sz="1400" b="0" i="1" smtClean="0">
                        <a:latin typeface="Cambria Math" panose="02040503050406030204" pitchFamily="18" charset="0"/>
                      </a:rPr>
                      <m:t>О</m:t>
                    </m:r>
                    <m:r>
                      <a:rPr lang="bg-B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тогава </m:t>
                    </m:r>
                    <m:r>
                      <a:rPr lang="bg-B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bg-B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bg-B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bg-B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 и уравнението (2.1) добива вида</a:t>
                </a:r>
                <a:endParaRPr lang="en-US" sz="1400" dirty="0">
                  <a:latin typeface="Comic Sans MS" panose="030F0702030302020204" pitchFamily="66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 </a:t>
                </a:r>
                <a:endParaRPr lang="en-US" sz="1400" dirty="0">
                  <a:latin typeface="Comic Sans MS" panose="030F0702030302020204" pitchFamily="66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и се нарича централно, а</a:t>
                </a:r>
                <a:r>
                  <a:rPr lang="en-US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окръжността с това уравнение-централна.</a:t>
                </a:r>
                <a:endParaRPr lang="en-US" sz="1400" dirty="0">
                  <a:latin typeface="Comic Sans MS" panose="030F0702030302020204" pitchFamily="66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</a:rPr>
                  <a:t>Пример 2.1</a:t>
                </a:r>
                <a:r>
                  <a:rPr lang="bg-BG" sz="1400" b="0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.  </a:t>
                </a:r>
                <a:r>
                  <a:rPr lang="bg-BG" sz="1400" b="0" dirty="0">
                    <a:ea typeface="Cambria Math" panose="02040503050406030204" pitchFamily="18" charset="0"/>
                  </a:rPr>
                  <a:t>Да се запише уравнението на окръжността, ако са дадени: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ea typeface="Cambria Math" panose="02040503050406030204" pitchFamily="18" charset="0"/>
                  </a:rPr>
                  <a:t>А) </a:t>
                </a:r>
                <a14:m>
                  <m:oMath xmlns:m="http://schemas.openxmlformats.org/officeDocument/2006/math"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bg-BG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bg-BG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bg-BG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=3; </m:t>
                    </m:r>
                  </m:oMath>
                </a14:m>
                <a:r>
                  <a:rPr lang="bg-BG" sz="1400" b="0" dirty="0">
                    <a:ea typeface="Cambria Math" panose="02040503050406030204" pitchFamily="18" charset="0"/>
                  </a:rPr>
                  <a:t>                           В) </a:t>
                </a:r>
                <a14:m>
                  <m:oMath xmlns:m="http://schemas.openxmlformats.org/officeDocument/2006/math"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=−2, 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=4; </m:t>
                    </m:r>
                  </m:oMath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0" dirty="0">
                    <a:ea typeface="Cambria Math" panose="02040503050406030204" pitchFamily="18" charset="0"/>
                  </a:rPr>
                  <a:t>Б)</a:t>
                </a:r>
                <a14:m>
                  <m:oMath xmlns:m="http://schemas.openxmlformats.org/officeDocument/2006/math">
                    <m:r>
                      <a:rPr lang="bg-BG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=7, 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bg-BG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=2;</m:t>
                    </m:r>
                  </m:oMath>
                </a14:m>
                <a:endParaRPr lang="bg-BG" sz="1400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C7775F-E3C8-6C8F-29B7-ED9795039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566736" y="2984501"/>
                <a:ext cx="6423025" cy="6793976"/>
              </a:xfrm>
              <a:blipFill>
                <a:blip r:embed="rId2"/>
                <a:stretch>
                  <a:fillRect l="-2277" r="-285" b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A1B400-248C-38E1-B304-BC115F57887D}"/>
              </a:ext>
            </a:extLst>
          </p:cNvPr>
          <p:cNvCxnSpPr>
            <a:cxnSpLocks/>
          </p:cNvCxnSpPr>
          <p:nvPr/>
        </p:nvCxnSpPr>
        <p:spPr>
          <a:xfrm flipV="1">
            <a:off x="4932298" y="4664048"/>
            <a:ext cx="0" cy="1840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8ED6AA-249F-CAF9-EB43-4E8BB6111538}"/>
                  </a:ext>
                </a:extLst>
              </p:cNvPr>
              <p:cNvSpPr txBox="1"/>
              <p:nvPr/>
            </p:nvSpPr>
            <p:spPr>
              <a:xfrm>
                <a:off x="4612938" y="5083406"/>
                <a:ext cx="395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8ED6AA-249F-CAF9-EB43-4E8BB6111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938" y="5083406"/>
                <a:ext cx="395236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AA4066-682D-8A20-85E8-95A590614C48}"/>
              </a:ext>
            </a:extLst>
          </p:cNvPr>
          <p:cNvCxnSpPr/>
          <p:nvPr/>
        </p:nvCxnSpPr>
        <p:spPr>
          <a:xfrm>
            <a:off x="4475161" y="6300684"/>
            <a:ext cx="2514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726E12-1E95-2BF5-4396-922CD34A9D7D}"/>
              </a:ext>
            </a:extLst>
          </p:cNvPr>
          <p:cNvSpPr txBox="1"/>
          <p:nvPr/>
        </p:nvSpPr>
        <p:spPr>
          <a:xfrm>
            <a:off x="4688596" y="61857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о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E45B2A-9AA5-8FB9-5827-BE4ED4AA6296}"/>
                  </a:ext>
                </a:extLst>
              </p:cNvPr>
              <p:cNvSpPr txBox="1"/>
              <p:nvPr/>
            </p:nvSpPr>
            <p:spPr>
              <a:xfrm>
                <a:off x="5554563" y="6219892"/>
                <a:ext cx="39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E45B2A-9AA5-8FB9-5827-BE4ED4AA6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563" y="6219892"/>
                <a:ext cx="39363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35F9A80-7768-2E64-AF64-A29595BF9CE5}"/>
              </a:ext>
            </a:extLst>
          </p:cNvPr>
          <p:cNvGrpSpPr/>
          <p:nvPr/>
        </p:nvGrpSpPr>
        <p:grpSpPr>
          <a:xfrm>
            <a:off x="4917327" y="4666945"/>
            <a:ext cx="1485899" cy="1636636"/>
            <a:chOff x="4719337" y="3907314"/>
            <a:chExt cx="1485899" cy="163663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33FCD40-C6DA-0EC7-1921-1599D549A219}"/>
                </a:ext>
              </a:extLst>
            </p:cNvPr>
            <p:cNvSpPr/>
            <p:nvPr/>
          </p:nvSpPr>
          <p:spPr>
            <a:xfrm>
              <a:off x="4833637" y="3907314"/>
              <a:ext cx="1371599" cy="121920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1497067-38E9-6F35-2AE5-376AFC6708EF}"/>
                </a:ext>
              </a:extLst>
            </p:cNvPr>
            <p:cNvGrpSpPr/>
            <p:nvPr/>
          </p:nvGrpSpPr>
          <p:grpSpPr>
            <a:xfrm>
              <a:off x="4719337" y="4242589"/>
              <a:ext cx="1409699" cy="1301361"/>
              <a:chOff x="4719337" y="4242589"/>
              <a:chExt cx="1409699" cy="130136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8CEDD2-F04B-B141-C1C3-C0C81807FE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9337" y="4471190"/>
                <a:ext cx="800099" cy="10727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1048B50-6119-B325-572D-92E1709F3F17}"/>
                  </a:ext>
                </a:extLst>
              </p:cNvPr>
              <p:cNvCxnSpPr/>
              <p:nvPr/>
            </p:nvCxnSpPr>
            <p:spPr>
              <a:xfrm flipV="1">
                <a:off x="5519436" y="4242589"/>
                <a:ext cx="609600" cy="228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85D2F6B-D2F1-2ACD-EEBB-A0055E7CEFF0}"/>
              </a:ext>
            </a:extLst>
          </p:cNvPr>
          <p:cNvSpPr txBox="1"/>
          <p:nvPr/>
        </p:nvSpPr>
        <p:spPr>
          <a:xfrm>
            <a:off x="6198208" y="622994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n-lt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965191-73B9-6CA3-68E2-5AECEF69C1F6}"/>
                  </a:ext>
                </a:extLst>
              </p:cNvPr>
              <p:cNvSpPr txBox="1"/>
              <p:nvPr/>
            </p:nvSpPr>
            <p:spPr>
              <a:xfrm>
                <a:off x="4639624" y="4801129"/>
                <a:ext cx="382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965191-73B9-6CA3-68E2-5AECEF69C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624" y="4801129"/>
                <a:ext cx="382604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5AB6253-36F5-BBC9-504A-FFE42B985BD8}"/>
              </a:ext>
            </a:extLst>
          </p:cNvPr>
          <p:cNvSpPr txBox="1"/>
          <p:nvPr/>
        </p:nvSpPr>
        <p:spPr>
          <a:xfrm>
            <a:off x="6299843" y="473249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n-lt"/>
              </a:rPr>
              <a:t>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D0DD44-B2F3-ED40-F6BB-862D405A8BD0}"/>
              </a:ext>
            </a:extLst>
          </p:cNvPr>
          <p:cNvCxnSpPr>
            <a:cxnSpLocks/>
          </p:cNvCxnSpPr>
          <p:nvPr/>
        </p:nvCxnSpPr>
        <p:spPr>
          <a:xfrm>
            <a:off x="5705773" y="5259273"/>
            <a:ext cx="0" cy="10727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A46B9D-74A8-E9B4-CE0C-E2D650B53C31}"/>
              </a:ext>
            </a:extLst>
          </p:cNvPr>
          <p:cNvCxnSpPr>
            <a:cxnSpLocks/>
          </p:cNvCxnSpPr>
          <p:nvPr/>
        </p:nvCxnSpPr>
        <p:spPr>
          <a:xfrm>
            <a:off x="6315373" y="5042098"/>
            <a:ext cx="0" cy="128993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4A9837A-F314-34EE-8CE9-2AC3DDF568FB}"/>
              </a:ext>
            </a:extLst>
          </p:cNvPr>
          <p:cNvSpPr txBox="1"/>
          <p:nvPr/>
        </p:nvSpPr>
        <p:spPr>
          <a:xfrm>
            <a:off x="6391572" y="500808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n-lt"/>
              </a:rPr>
              <a:t>A</a:t>
            </a: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D0DDA4D2-32F1-7629-0A3F-08C6CF60C2BB}"/>
              </a:ext>
            </a:extLst>
          </p:cNvPr>
          <p:cNvSpPr/>
          <p:nvPr/>
        </p:nvSpPr>
        <p:spPr>
          <a:xfrm rot="10625716" flipV="1">
            <a:off x="5693266" y="5024889"/>
            <a:ext cx="616355" cy="242672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361363-D460-A82A-033A-D5649299B750}"/>
              </a:ext>
            </a:extLst>
          </p:cNvPr>
          <p:cNvCxnSpPr>
            <a:cxnSpLocks/>
          </p:cNvCxnSpPr>
          <p:nvPr/>
        </p:nvCxnSpPr>
        <p:spPr>
          <a:xfrm flipH="1">
            <a:off x="4861717" y="5247849"/>
            <a:ext cx="800100" cy="114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3D6950-7372-34DE-E2C3-7FEE451BFBC9}"/>
              </a:ext>
            </a:extLst>
          </p:cNvPr>
          <p:cNvCxnSpPr/>
          <p:nvPr/>
        </p:nvCxnSpPr>
        <p:spPr>
          <a:xfrm flipH="1">
            <a:off x="4932298" y="5048837"/>
            <a:ext cx="140969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542B1C-084D-6EAC-7321-55F0D3F35BD1}"/>
              </a:ext>
            </a:extLst>
          </p:cNvPr>
          <p:cNvSpPr txBox="1"/>
          <p:nvPr/>
        </p:nvSpPr>
        <p:spPr>
          <a:xfrm>
            <a:off x="5537528" y="498007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n-lt"/>
              </a:rPr>
              <a:t>C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930CA82-85E8-BB83-8DFA-0F8EE4715717}"/>
              </a:ext>
            </a:extLst>
          </p:cNvPr>
          <p:cNvCxnSpPr>
            <a:cxnSpLocks/>
          </p:cNvCxnSpPr>
          <p:nvPr/>
        </p:nvCxnSpPr>
        <p:spPr>
          <a:xfrm flipV="1">
            <a:off x="4948394" y="5042098"/>
            <a:ext cx="1411344" cy="1227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42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E7866-3264-89FB-9B8C-1262C3494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3441700"/>
            <a:ext cx="6800850" cy="707886"/>
          </a:xfrm>
        </p:spPr>
        <p:txBody>
          <a:bodyPr/>
          <a:lstStyle/>
          <a:p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Пример 2.2 </a:t>
            </a:r>
            <a:r>
              <a:rPr lang="bg-BG" sz="1400" dirty="0">
                <a:latin typeface="Comic Sans MS" panose="030F0702030302020204" pitchFamily="66" charset="0"/>
              </a:rPr>
              <a:t>Да се провери представят ли окръжности следните уравнение  и ако са, определете им координатите на центъра и дължината на радиуса.</a:t>
            </a:r>
          </a:p>
          <a:p>
            <a:endParaRPr lang="en-US" dirty="0"/>
          </a:p>
        </p:txBody>
      </p:sp>
      <p:pic>
        <p:nvPicPr>
          <p:cNvPr id="5" name="Picture 4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9ABFB466-20AA-6BC8-FE9F-6DD8DD49A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5" r="58234" b="34858"/>
          <a:stretch/>
        </p:blipFill>
        <p:spPr>
          <a:xfrm>
            <a:off x="273050" y="4051300"/>
            <a:ext cx="2840443" cy="582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271731-FA29-888A-323D-E2190916E18C}"/>
              </a:ext>
            </a:extLst>
          </p:cNvPr>
          <p:cNvSpPr txBox="1"/>
          <p:nvPr/>
        </p:nvSpPr>
        <p:spPr>
          <a:xfrm>
            <a:off x="577850" y="3937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b="1" dirty="0">
                <a:latin typeface="Comic Sans MS" panose="030F0702030302020204" pitchFamily="66" charset="0"/>
                <a:ea typeface="Cambria Math" panose="02040503050406030204" pitchFamily="18" charset="0"/>
              </a:rPr>
              <a:t>Решение</a:t>
            </a:r>
            <a:r>
              <a:rPr lang="bg-BG" sz="1800" b="1" dirty="0">
                <a:ea typeface="Cambria Math" panose="02040503050406030204" pitchFamily="18" charset="0"/>
              </a:rPr>
              <a:t>. Вупражненията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AA460-DD61-45D0-6511-4D4BFEA747D6}"/>
              </a:ext>
            </a:extLst>
          </p:cNvPr>
          <p:cNvSpPr txBox="1"/>
          <p:nvPr/>
        </p:nvSpPr>
        <p:spPr>
          <a:xfrm>
            <a:off x="1187450" y="5270500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 упражненията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6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E64381-107B-A16F-8479-4DCC70AFDA32}"/>
                  </a:ext>
                </a:extLst>
              </p:cNvPr>
              <p:cNvSpPr txBox="1"/>
              <p:nvPr/>
            </p:nvSpPr>
            <p:spPr>
              <a:xfrm>
                <a:off x="501650" y="469900"/>
                <a:ext cx="769620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2. Взаимни положения на точка и окръжност.</a:t>
                </a:r>
              </a:p>
              <a:p>
                <a:r>
                  <a:rPr lang="bg-BG" sz="1400" dirty="0">
                    <a:latin typeface="Comic Sans MS" panose="030F0702030302020204" pitchFamily="66" charset="0"/>
                  </a:rPr>
                  <a:t>2.1. при дадени произволна т.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Comic Sans MS" panose="030F0702030302020204" pitchFamily="66" charset="0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</a:rPr>
                  <a:t>, център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и радиус </a:t>
                </a:r>
                <a:r>
                  <a:rPr lang="en-US" sz="1400" dirty="0">
                    <a:latin typeface="Comic Sans MS" panose="030F0702030302020204" pitchFamily="66" charset="0"/>
                  </a:rPr>
                  <a:t>R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E64381-107B-A16F-8479-4DCC70AFD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469900"/>
                <a:ext cx="7696200" cy="630942"/>
              </a:xfrm>
              <a:prstGeom prst="rect">
                <a:avLst/>
              </a:prstGeom>
              <a:blipFill>
                <a:blip r:embed="rId2"/>
                <a:stretch>
                  <a:fillRect l="-238" b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624EA22-3C91-6D91-B79C-30DD64DAB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05323"/>
                  </p:ext>
                </p:extLst>
              </p:nvPr>
            </p:nvGraphicFramePr>
            <p:xfrm>
              <a:off x="730250" y="1612900"/>
              <a:ext cx="6172200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411583187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26687929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19850005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lang="bg-BG" dirty="0"/>
                            <a:t>т</a:t>
                          </a:r>
                          <a:r>
                            <a:rPr lang="bg-BG" sz="1400" dirty="0"/>
                            <a:t>.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bg-BG" sz="1400" dirty="0"/>
                            <a:t>- външна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400" dirty="0"/>
                            <a:t>т.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bg-BG" sz="1400" dirty="0"/>
                            <a:t>-вътрешна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400" dirty="0"/>
                            <a:t>т.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bg-BG" sz="1400" dirty="0"/>
                            <a:t> лежи на окръжността 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5307943"/>
                      </a:ext>
                    </a:extLst>
                  </a:tr>
                  <a:tr h="104775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323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624EA22-3C91-6D91-B79C-30DD64DAB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05323"/>
                  </p:ext>
                </p:extLst>
              </p:nvPr>
            </p:nvGraphicFramePr>
            <p:xfrm>
              <a:off x="730250" y="1612900"/>
              <a:ext cx="6172200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411583187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26687929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19850005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6" t="-4808" r="-201183" b="-16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96" t="-4808" r="-101183" b="-16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96" t="-4808" r="-1183" b="-16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307943"/>
                      </a:ext>
                    </a:extLst>
                  </a:tr>
                  <a:tr h="104775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323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639FBE03-AF28-47BE-E804-E35EFB9D2CB2}"/>
              </a:ext>
            </a:extLst>
          </p:cNvPr>
          <p:cNvSpPr/>
          <p:nvPr/>
        </p:nvSpPr>
        <p:spPr>
          <a:xfrm>
            <a:off x="1949450" y="2397730"/>
            <a:ext cx="609600" cy="58677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C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69EB8C-B95A-AFCC-F85A-AD7D12EE9D04}"/>
              </a:ext>
            </a:extLst>
          </p:cNvPr>
          <p:cNvSpPr/>
          <p:nvPr/>
        </p:nvSpPr>
        <p:spPr>
          <a:xfrm>
            <a:off x="5207000" y="2298700"/>
            <a:ext cx="609600" cy="58677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C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F0F0F1-B87C-1908-16FC-0700B6F11934}"/>
              </a:ext>
            </a:extLst>
          </p:cNvPr>
          <p:cNvSpPr/>
          <p:nvPr/>
        </p:nvSpPr>
        <p:spPr>
          <a:xfrm>
            <a:off x="2940050" y="2298700"/>
            <a:ext cx="609600" cy="58677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C</a:t>
            </a:r>
            <a:endParaRPr lang="en-US" sz="1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5BAEFE-CAED-9E59-FB7D-62CE4F0013CE}"/>
              </a:ext>
            </a:extLst>
          </p:cNvPr>
          <p:cNvCxnSpPr/>
          <p:nvPr/>
        </p:nvCxnSpPr>
        <p:spPr>
          <a:xfrm flipH="1" flipV="1">
            <a:off x="1720850" y="2397730"/>
            <a:ext cx="533400" cy="2933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9CC651-812A-5F7F-592F-6FA2766B45CD}"/>
              </a:ext>
            </a:extLst>
          </p:cNvPr>
          <p:cNvCxnSpPr/>
          <p:nvPr/>
        </p:nvCxnSpPr>
        <p:spPr>
          <a:xfrm>
            <a:off x="3244850" y="259208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75EDF4-62ED-CCAA-239E-C858FADF9E21}"/>
              </a:ext>
            </a:extLst>
          </p:cNvPr>
          <p:cNvCxnSpPr>
            <a:cxnSpLocks/>
            <a:endCxn id="13" idx="5"/>
          </p:cNvCxnSpPr>
          <p:nvPr/>
        </p:nvCxnSpPr>
        <p:spPr>
          <a:xfrm>
            <a:off x="5511800" y="2592085"/>
            <a:ext cx="215526" cy="207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5DABD63-64AB-A08E-8ACD-67B096BABC88}"/>
              </a:ext>
            </a:extLst>
          </p:cNvPr>
          <p:cNvSpPr txBox="1"/>
          <p:nvPr/>
        </p:nvSpPr>
        <p:spPr>
          <a:xfrm>
            <a:off x="1517837" y="2197184"/>
            <a:ext cx="1393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i="1" dirty="0"/>
              <a:t>A</a:t>
            </a:r>
            <a:endParaRPr lang="en-US" sz="105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BCA1B4-C89A-D108-D53E-0E931D54E561}"/>
              </a:ext>
            </a:extLst>
          </p:cNvPr>
          <p:cNvSpPr txBox="1"/>
          <p:nvPr/>
        </p:nvSpPr>
        <p:spPr>
          <a:xfrm>
            <a:off x="3334311" y="2397730"/>
            <a:ext cx="1393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i="1" dirty="0"/>
              <a:t>A</a:t>
            </a:r>
            <a:endParaRPr lang="en-US" sz="105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B01DD2-CBE3-C54D-7BFD-1C5647122348}"/>
              </a:ext>
            </a:extLst>
          </p:cNvPr>
          <p:cNvSpPr txBox="1"/>
          <p:nvPr/>
        </p:nvSpPr>
        <p:spPr>
          <a:xfrm>
            <a:off x="5652248" y="2758512"/>
            <a:ext cx="1393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i="1" dirty="0"/>
              <a:t>A</a:t>
            </a:r>
            <a:endParaRPr lang="en-US" sz="105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BB36D1-3D31-B5DD-3270-4C2FDCFDF611}"/>
                  </a:ext>
                </a:extLst>
              </p:cNvPr>
              <p:cNvSpPr txBox="1"/>
              <p:nvPr/>
            </p:nvSpPr>
            <p:spPr>
              <a:xfrm>
                <a:off x="778014" y="2455998"/>
                <a:ext cx="963725" cy="278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acc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BB36D1-3D31-B5DD-3270-4C2FDCFDF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14" y="2455998"/>
                <a:ext cx="963725" cy="278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1CA12F-4B43-90BF-3886-9A3FF8A10448}"/>
                  </a:ext>
                </a:extLst>
              </p:cNvPr>
              <p:cNvSpPr txBox="1"/>
              <p:nvPr/>
            </p:nvSpPr>
            <p:spPr>
              <a:xfrm>
                <a:off x="3797944" y="2451100"/>
                <a:ext cx="963725" cy="278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acc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1CA12F-4B43-90BF-3886-9A3FF8A1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944" y="2451100"/>
                <a:ext cx="963725" cy="278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36B507-915A-5D00-97A9-B77A26DBAB0B}"/>
                  </a:ext>
                </a:extLst>
              </p:cNvPr>
              <p:cNvSpPr txBox="1"/>
              <p:nvPr/>
            </p:nvSpPr>
            <p:spPr>
              <a:xfrm>
                <a:off x="5796449" y="2503494"/>
                <a:ext cx="963725" cy="278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acc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36B507-915A-5D00-97A9-B77A26DBA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449" y="2503494"/>
                <a:ext cx="963725" cy="2782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8C2196-480D-8167-7F8B-B2006EC316BA}"/>
                  </a:ext>
                </a:extLst>
              </p:cNvPr>
              <p:cNvSpPr txBox="1"/>
              <p:nvPr/>
            </p:nvSpPr>
            <p:spPr>
              <a:xfrm>
                <a:off x="778014" y="3746500"/>
                <a:ext cx="6276836" cy="661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Пример.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Определете взаимното положение на т. А  с окръжността  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: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т.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,</a:t>
                </a:r>
                <a:r>
                  <a:rPr lang="bg-BG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;−</m:t>
                            </m:r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bg-BG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; </a:t>
                </a: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б) </a:t>
                </a: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т.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,</a:t>
                </a: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bg-BG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bg-BG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;−</m:t>
                            </m:r>
                            <m:r>
                              <a:rPr lang="bg-BG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bg-BG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bg-BG" sz="1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bg-BG" sz="1400" b="1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в) т.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,</a:t>
                </a: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bg-BG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bg-BG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bg-BG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bg-BG" sz="1400" b="1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Решение.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а) Намираме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1;−3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,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и за дължината му имаме</a:t>
                </a: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bg-BG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</m:acc>
                      </m:e>
                    </m: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1+9</m:t>
                        </m:r>
                      </m:e>
                    </m:ra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bg-BG" sz="1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 </m:t>
                    </m:r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т.А е външна;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б) Намираме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,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и за дължината му имаме</a:t>
                </a: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bg-BG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</m:acc>
                      </m:e>
                    </m: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1+0</m:t>
                        </m:r>
                      </m:e>
                    </m:ra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bg-BG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bg-BG" sz="1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т.А е вътрешна;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В) Намираме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,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и за дължината му имаме</a:t>
                </a: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800"/>
                  </a:spcAft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bg-BG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</m:acc>
                      </m:e>
                    </m: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1+0</m:t>
                        </m:r>
                      </m:e>
                    </m:rad>
                    <m:r>
                      <a:rPr lang="bg-BG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bg-BG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т.А лежи на окръжността.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2.2. при дадени произволна т.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и канонично уравнение на окръжност к;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Нека е дадено каноничното уравнение на окръжността к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endParaRPr lang="bg-BG" sz="1400" i="1" dirty="0">
                  <a:latin typeface="Comic Sans MS" panose="030F0702030302020204" pitchFamily="66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bg-BG" sz="1400" i="1" dirty="0">
                    <a:latin typeface="Comic Sans MS" panose="030F0702030302020204" pitchFamily="66" charset="0"/>
                  </a:rPr>
                  <a:t>Заместваме с координатите на т.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i="1" dirty="0">
                    <a:latin typeface="Comic Sans MS" panose="030F0702030302020204" pitchFamily="66" charset="0"/>
                  </a:rPr>
                  <a:t> </a:t>
                </a:r>
                <a:r>
                  <a:rPr lang="bg-BG" sz="1400" i="1" dirty="0">
                    <a:latin typeface="Comic Sans MS" panose="030F0702030302020204" pitchFamily="66" charset="0"/>
                  </a:rPr>
                  <a:t>в лявата част на уравнението  и получаваме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bg-BG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8C2196-480D-8167-7F8B-B2006EC3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14" y="3746500"/>
                <a:ext cx="6276836" cy="6614055"/>
              </a:xfrm>
              <a:prstGeom prst="rect">
                <a:avLst/>
              </a:prstGeom>
              <a:blipFill>
                <a:blip r:embed="rId7"/>
                <a:stretch>
                  <a:fillRect l="-583" r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81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C1A4BA-911C-2438-3587-D6B6919083EC}"/>
                  </a:ext>
                </a:extLst>
              </p:cNvPr>
              <p:cNvSpPr txBox="1"/>
              <p:nvPr/>
            </p:nvSpPr>
            <p:spPr>
              <a:xfrm>
                <a:off x="806727" y="317500"/>
                <a:ext cx="40131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1800"/>
                  </a:spcAft>
                </a:pPr>
                <a:r>
                  <a:rPr lang="bg-BG" sz="1400" dirty="0">
                    <a:latin typeface="Comic Sans MS" panose="030F0702030302020204" pitchFamily="66" charset="0"/>
                  </a:rPr>
                  <a:t>Нека означим стойността му с М, т.е. </a:t>
                </a:r>
                <a:endParaRPr lang="en-US" sz="14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1400" dirty="0">
                    <a:latin typeface="Comic Sans MS" panose="030F0702030302020204" pitchFamily="66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bg-BG" sz="14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bg-BG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bg-BG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endParaRPr lang="en-US" sz="1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C1A4BA-911C-2438-3587-D6B691908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7" y="317500"/>
                <a:ext cx="4013150" cy="1077218"/>
              </a:xfrm>
              <a:prstGeom prst="rect">
                <a:avLst/>
              </a:prstGeom>
              <a:blipFill>
                <a:blip r:embed="rId2"/>
                <a:stretch>
                  <a:fillRect l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5190A9B-79FB-04FB-6ECC-99A5DC78B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235594"/>
                  </p:ext>
                </p:extLst>
              </p:nvPr>
            </p:nvGraphicFramePr>
            <p:xfrm>
              <a:off x="794027" y="1394718"/>
              <a:ext cx="5981424" cy="10391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808">
                      <a:extLst>
                        <a:ext uri="{9D8B030D-6E8A-4147-A177-3AD203B41FA5}">
                          <a16:colId xmlns:a16="http://schemas.microsoft.com/office/drawing/2014/main" val="2058866733"/>
                        </a:ext>
                      </a:extLst>
                    </a:gridCol>
                    <a:gridCol w="1993808">
                      <a:extLst>
                        <a:ext uri="{9D8B030D-6E8A-4147-A177-3AD203B41FA5}">
                          <a16:colId xmlns:a16="http://schemas.microsoft.com/office/drawing/2014/main" val="2620859353"/>
                        </a:ext>
                      </a:extLst>
                    </a:gridCol>
                    <a:gridCol w="1993808">
                      <a:extLst>
                        <a:ext uri="{9D8B030D-6E8A-4147-A177-3AD203B41FA5}">
                          <a16:colId xmlns:a16="http://schemas.microsoft.com/office/drawing/2014/main" val="2950856741"/>
                        </a:ext>
                      </a:extLst>
                    </a:gridCol>
                  </a:tblGrid>
                  <a:tr h="307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М&gt;0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М=0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М&lt;0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6083685"/>
                      </a:ext>
                    </a:extLst>
                  </a:tr>
                  <a:tr h="606791">
                    <a:tc>
                      <a:txBody>
                        <a:bodyPr/>
                        <a:lstStyle/>
                        <a:p>
                          <a:r>
                            <a:rPr lang="bg-BG" sz="1400" b="0" dirty="0"/>
                            <a:t>т.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400" b="0" dirty="0"/>
                            <a:t> e </a:t>
                          </a:r>
                          <a:r>
                            <a:rPr lang="bg-BG" sz="1400" b="0" dirty="0"/>
                            <a:t>външна за окръжността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400" b="0" dirty="0"/>
                            <a:t>т.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400" b="0" dirty="0"/>
                            <a:t> </a:t>
                          </a:r>
                          <a:r>
                            <a:rPr lang="bg-BG" sz="1400" b="0" dirty="0"/>
                            <a:t>лежи на окръжността </a:t>
                          </a:r>
                          <a:endParaRPr lang="en-US" sz="1400" b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400" b="0" dirty="0"/>
                            <a:t>т.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bg-BG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bg-BG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400" b="0" dirty="0"/>
                            <a:t> </a:t>
                          </a:r>
                          <a:r>
                            <a:rPr lang="bg-BG" sz="1400" b="0" dirty="0"/>
                            <a:t> е вътрешна за окръжността</a:t>
                          </a:r>
                          <a:endParaRPr lang="en-US" sz="1400" b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4220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5190A9B-79FB-04FB-6ECC-99A5DC78B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235594"/>
                  </p:ext>
                </p:extLst>
              </p:nvPr>
            </p:nvGraphicFramePr>
            <p:xfrm>
              <a:off x="794027" y="1394718"/>
              <a:ext cx="5981424" cy="10391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808">
                      <a:extLst>
                        <a:ext uri="{9D8B030D-6E8A-4147-A177-3AD203B41FA5}">
                          <a16:colId xmlns:a16="http://schemas.microsoft.com/office/drawing/2014/main" val="2058866733"/>
                        </a:ext>
                      </a:extLst>
                    </a:gridCol>
                    <a:gridCol w="1993808">
                      <a:extLst>
                        <a:ext uri="{9D8B030D-6E8A-4147-A177-3AD203B41FA5}">
                          <a16:colId xmlns:a16="http://schemas.microsoft.com/office/drawing/2014/main" val="2620859353"/>
                        </a:ext>
                      </a:extLst>
                    </a:gridCol>
                    <a:gridCol w="1993808">
                      <a:extLst>
                        <a:ext uri="{9D8B030D-6E8A-4147-A177-3AD203B41FA5}">
                          <a16:colId xmlns:a16="http://schemas.microsoft.com/office/drawing/2014/main" val="2950856741"/>
                        </a:ext>
                      </a:extLst>
                    </a:gridCol>
                  </a:tblGrid>
                  <a:tr h="307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М&gt;0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М=0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sz="1400" dirty="0">
                              <a:latin typeface="Comic Sans MS" panose="030F0702030302020204" pitchFamily="66" charset="0"/>
                            </a:rPr>
                            <a:t>М&lt;0</a:t>
                          </a:r>
                          <a:endParaRPr lang="en-US" sz="14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608368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6" t="-42975" r="-201529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2975" r="-100915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12" t="-42975" r="-1223" b="-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34220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F98D0-E19C-C2AD-818D-9148238550A8}"/>
                  </a:ext>
                </a:extLst>
              </p:cNvPr>
              <p:cNvSpPr txBox="1"/>
              <p:nvPr/>
            </p:nvSpPr>
            <p:spPr>
              <a:xfrm>
                <a:off x="730250" y="2832100"/>
                <a:ext cx="6172200" cy="2406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18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Пример.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Определете взаимното положение на т. А  с окръжността  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: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т.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2;2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sz="1400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; </a:t>
                </a:r>
                <a:r>
                  <a:rPr lang="bg-BG" sz="1400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б)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т.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,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в) т.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,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Решение.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А) Заместваме т. в уравнението на окръжността и получаваме,</a:t>
                </a:r>
              </a:p>
              <a:p>
                <a:pPr>
                  <a:lnSpc>
                    <a:spcPct val="150000"/>
                  </a:lnSpc>
                </a:pPr>
                <a:endParaRPr lang="bg-BG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/>
                  <a:t>В упражненията</a:t>
                </a:r>
                <a:endParaRPr lang="en-US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F98D0-E19C-C2AD-818D-914823855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2832100"/>
                <a:ext cx="6172200" cy="2406877"/>
              </a:xfrm>
              <a:prstGeom prst="rect">
                <a:avLst/>
              </a:prstGeom>
              <a:blipFill>
                <a:blip r:embed="rId4"/>
                <a:stretch>
                  <a:fillRect l="-889" b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707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E34165-1BFE-EE90-948C-9292C9002953}"/>
                  </a:ext>
                </a:extLst>
              </p:cNvPr>
              <p:cNvSpPr txBox="1"/>
              <p:nvPr/>
            </p:nvSpPr>
            <p:spPr>
              <a:xfrm>
                <a:off x="349250" y="317500"/>
                <a:ext cx="6858000" cy="7989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3. Взаимно положение на права и окръжност</a:t>
                </a:r>
              </a:p>
              <a:p>
                <a:pPr>
                  <a:lnSpc>
                    <a:spcPct val="150000"/>
                  </a:lnSpc>
                  <a:spcAft>
                    <a:spcPts val="1800"/>
                  </a:spcAft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3.1. при дадени права , център и радиус на окръжността;</a:t>
                </a: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Определение.(Разстояние от точка до права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) Разстояние от т.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bg-BG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bg-BG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bg-BG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до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Права с уравнение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e 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перпендикуляра спуснат от т. към правата и се намира по формулата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bg-BG" sz="1400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Пример.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Да се определи взаимното положение на правата </a:t>
                </a:r>
                <a:r>
                  <a:rPr lang="en-US" sz="1400" i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p</a:t>
                </a: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с окръжността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sz="1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sz="1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б)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bg-BG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bg-BG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sz="1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lang="bg-BG" sz="1400" b="1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800"/>
                  </a:spcAft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В)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sz="1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В упражненията</a:t>
                </a: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bg-BG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E34165-1BFE-EE90-948C-9292C9002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0" y="317500"/>
                <a:ext cx="6858000" cy="7989944"/>
              </a:xfrm>
              <a:prstGeom prst="rect">
                <a:avLst/>
              </a:prstGeom>
              <a:blipFill>
                <a:blip r:embed="rId2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88997D-6BA9-F136-33BC-9ACC0A8EFA50}"/>
              </a:ext>
            </a:extLst>
          </p:cNvPr>
          <p:cNvCxnSpPr>
            <a:cxnSpLocks/>
          </p:cNvCxnSpPr>
          <p:nvPr/>
        </p:nvCxnSpPr>
        <p:spPr>
          <a:xfrm>
            <a:off x="5149850" y="2908300"/>
            <a:ext cx="160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B0CBA-E11F-AE37-C952-135E0563994E}"/>
                  </a:ext>
                </a:extLst>
              </p:cNvPr>
              <p:cNvSpPr txBox="1"/>
              <p:nvPr/>
            </p:nvSpPr>
            <p:spPr>
              <a:xfrm>
                <a:off x="5710989" y="2095028"/>
                <a:ext cx="228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000" dirty="0"/>
                  <a:t> </a:t>
                </a:r>
                <a:r>
                  <a:rPr lang="en-US" sz="600" dirty="0"/>
                  <a:t>o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B0CBA-E11F-AE37-C952-135E05639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989" y="2095028"/>
                <a:ext cx="228600" cy="338554"/>
              </a:xfrm>
              <a:prstGeom prst="rect">
                <a:avLst/>
              </a:prstGeom>
              <a:blipFill>
                <a:blip r:embed="rId3"/>
                <a:stretch>
                  <a:fillRect r="-116216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CD7E1E-6F74-24DF-7041-F15E94AEF60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825289" y="2374900"/>
            <a:ext cx="0" cy="533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80E98B5-6587-5BBA-4E7C-2F2F8D3BCD0F}"/>
              </a:ext>
            </a:extLst>
          </p:cNvPr>
          <p:cNvSpPr/>
          <p:nvPr/>
        </p:nvSpPr>
        <p:spPr>
          <a:xfrm>
            <a:off x="5939589" y="2298700"/>
            <a:ext cx="114263" cy="609600"/>
          </a:xfrm>
          <a:prstGeom prst="rightBrac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8C8A9-4BDA-BA76-A71A-C0F772ABDE0F}"/>
              </a:ext>
            </a:extLst>
          </p:cNvPr>
          <p:cNvSpPr txBox="1"/>
          <p:nvPr/>
        </p:nvSpPr>
        <p:spPr>
          <a:xfrm>
            <a:off x="5710989" y="2908300"/>
            <a:ext cx="2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AA85D308-1C96-6E02-1714-61DDFB453F63}"/>
              </a:ext>
            </a:extLst>
          </p:cNvPr>
          <p:cNvSpPr/>
          <p:nvPr/>
        </p:nvSpPr>
        <p:spPr>
          <a:xfrm>
            <a:off x="5788478" y="2832099"/>
            <a:ext cx="114254" cy="15239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C9A59-4985-42D2-A768-233ABA05A071}"/>
              </a:ext>
            </a:extLst>
          </p:cNvPr>
          <p:cNvSpPr txBox="1"/>
          <p:nvPr/>
        </p:nvSpPr>
        <p:spPr>
          <a:xfrm>
            <a:off x="6037047" y="2467910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Abadi Extra Light" panose="020F0502020204030204" pitchFamily="34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6281036-8495-D07F-5436-65E441D14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943070"/>
                  </p:ext>
                </p:extLst>
              </p:nvPr>
            </p:nvGraphicFramePr>
            <p:xfrm>
              <a:off x="692150" y="3257337"/>
              <a:ext cx="61722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37522335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88344284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0661673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bg-BG" sz="1200" dirty="0">
                              <a:latin typeface="Comic Sans MS" panose="030F0702030302020204" pitchFamily="66" charset="0"/>
                            </a:rPr>
                            <a:t>Правата е секуща с окръжността</a:t>
                          </a:r>
                          <a:endParaRPr lang="en-US" sz="12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200" b="1" dirty="0">
                              <a:latin typeface="Comic Sans MS" panose="030F0702030302020204" pitchFamily="66" charset="0"/>
                            </a:rPr>
                            <a:t>Правата е допирателна към окръжността</a:t>
                          </a:r>
                          <a:endParaRPr lang="en-US" sz="1200" b="1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200" dirty="0">
                              <a:latin typeface="Comic Sans MS" panose="030F0702030302020204" pitchFamily="66" charset="0"/>
                            </a:rPr>
                            <a:t>Правата е несекуща с окръжността</a:t>
                          </a:r>
                          <a:endParaRPr lang="en-US" sz="12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088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r>
                            <a:rPr lang="en-US" b="0" i="1" dirty="0">
                              <a:latin typeface="Cambria Math" panose="02040503050406030204" pitchFamily="18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1831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6281036-8495-D07F-5436-65E441D14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943070"/>
                  </p:ext>
                </p:extLst>
              </p:nvPr>
            </p:nvGraphicFramePr>
            <p:xfrm>
              <a:off x="692150" y="3257337"/>
              <a:ext cx="61722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37522335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88344284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06616735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bg-BG" sz="1200" dirty="0">
                              <a:latin typeface="Comic Sans MS" panose="030F0702030302020204" pitchFamily="66" charset="0"/>
                            </a:rPr>
                            <a:t>Правата е секуща с окръжността</a:t>
                          </a:r>
                          <a:endParaRPr lang="en-US" sz="12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200" b="1" dirty="0">
                              <a:latin typeface="Comic Sans MS" panose="030F0702030302020204" pitchFamily="66" charset="0"/>
                            </a:rPr>
                            <a:t>Правата е допирателна към окръжността</a:t>
                          </a:r>
                          <a:endParaRPr lang="en-US" sz="1200" b="1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bg-BG" sz="1200" dirty="0">
                              <a:latin typeface="Comic Sans MS" panose="030F0702030302020204" pitchFamily="66" charset="0"/>
                            </a:rPr>
                            <a:t>Правата е несекуща с окръжността</a:t>
                          </a:r>
                          <a:endParaRPr lang="en-US" sz="1200" dirty="0">
                            <a:latin typeface="Comic Sans MS" panose="030F0702030302020204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08894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50331" r="-201183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50331" r="-101183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296" t="-50331" r="-1183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83104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A072F86-3B48-D2CF-C61F-6072F447D645}"/>
              </a:ext>
            </a:extLst>
          </p:cNvPr>
          <p:cNvGrpSpPr/>
          <p:nvPr/>
        </p:nvGrpSpPr>
        <p:grpSpPr>
          <a:xfrm>
            <a:off x="1968500" y="3779101"/>
            <a:ext cx="647700" cy="707810"/>
            <a:chOff x="1968500" y="3779101"/>
            <a:chExt cx="647700" cy="70781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381E6C0-B022-5B8D-FFAB-95E3286512AD}"/>
                </a:ext>
              </a:extLst>
            </p:cNvPr>
            <p:cNvSpPr/>
            <p:nvPr/>
          </p:nvSpPr>
          <p:spPr>
            <a:xfrm>
              <a:off x="2082800" y="3779101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C639D1-3CF2-FA94-24FC-E5B86D0379C2}"/>
                </a:ext>
              </a:extLst>
            </p:cNvPr>
            <p:cNvCxnSpPr>
              <a:cxnSpLocks/>
            </p:cNvCxnSpPr>
            <p:nvPr/>
          </p:nvCxnSpPr>
          <p:spPr>
            <a:xfrm>
              <a:off x="1968500" y="3801111"/>
              <a:ext cx="49530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C52A7A7-0EE8-D235-F614-2203FFC1D7BD}"/>
                </a:ext>
              </a:extLst>
            </p:cNvPr>
            <p:cNvCxnSpPr/>
            <p:nvPr/>
          </p:nvCxnSpPr>
          <p:spPr>
            <a:xfrm flipH="1">
              <a:off x="2254250" y="4045801"/>
              <a:ext cx="95250" cy="762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AFD41F-E221-6CFC-E367-35F2383577BF}"/>
              </a:ext>
            </a:extLst>
          </p:cNvPr>
          <p:cNvGrpSpPr/>
          <p:nvPr/>
        </p:nvGrpSpPr>
        <p:grpSpPr>
          <a:xfrm>
            <a:off x="3997325" y="3778510"/>
            <a:ext cx="838200" cy="533400"/>
            <a:chOff x="3997325" y="3778510"/>
            <a:chExt cx="838200" cy="533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4026C8-F637-7E21-666F-F4C85C206250}"/>
                </a:ext>
              </a:extLst>
            </p:cNvPr>
            <p:cNvSpPr/>
            <p:nvPr/>
          </p:nvSpPr>
          <p:spPr>
            <a:xfrm>
              <a:off x="4149725" y="377851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00BFE8-9677-FDA7-8E07-9DBADF2A399B}"/>
                </a:ext>
              </a:extLst>
            </p:cNvPr>
            <p:cNvCxnSpPr/>
            <p:nvPr/>
          </p:nvCxnSpPr>
          <p:spPr>
            <a:xfrm>
              <a:off x="3997325" y="431191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624246C-85AC-5B3E-78FC-B76627C3EF73}"/>
                </a:ext>
              </a:extLst>
            </p:cNvPr>
            <p:cNvCxnSpPr>
              <a:endCxn id="21" idx="4"/>
            </p:cNvCxnSpPr>
            <p:nvPr/>
          </p:nvCxnSpPr>
          <p:spPr>
            <a:xfrm>
              <a:off x="4416425" y="4045210"/>
              <a:ext cx="0" cy="266700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CCF0F2-A616-006D-B740-7ED669003F15}"/>
              </a:ext>
            </a:extLst>
          </p:cNvPr>
          <p:cNvGrpSpPr/>
          <p:nvPr/>
        </p:nvGrpSpPr>
        <p:grpSpPr>
          <a:xfrm>
            <a:off x="5963819" y="3797560"/>
            <a:ext cx="810461" cy="762000"/>
            <a:chOff x="5939589" y="4127500"/>
            <a:chExt cx="810461" cy="762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3ABDDBD-1B84-98BA-AC42-2526D9A49500}"/>
                </a:ext>
              </a:extLst>
            </p:cNvPr>
            <p:cNvSpPr/>
            <p:nvPr/>
          </p:nvSpPr>
          <p:spPr>
            <a:xfrm>
              <a:off x="6216650" y="41275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A1A22B-BF9C-7DE9-BEC6-19AEE1EED477}"/>
                </a:ext>
              </a:extLst>
            </p:cNvPr>
            <p:cNvCxnSpPr>
              <a:cxnSpLocks/>
            </p:cNvCxnSpPr>
            <p:nvPr/>
          </p:nvCxnSpPr>
          <p:spPr>
            <a:xfrm>
              <a:off x="5939589" y="4203700"/>
              <a:ext cx="429461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8AF5AAB-DCF8-04D2-1386-A5D461FDEBA7}"/>
                </a:ext>
              </a:extLst>
            </p:cNvPr>
            <p:cNvCxnSpPr/>
            <p:nvPr/>
          </p:nvCxnSpPr>
          <p:spPr>
            <a:xfrm flipH="1">
              <a:off x="6151347" y="4394200"/>
              <a:ext cx="332003" cy="18979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931639" y="6935787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1639" y="7117139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65E10B-6E1E-2D93-25FF-10FDF5C10A7B}"/>
                  </a:ext>
                </a:extLst>
              </p:cNvPr>
              <p:cNvSpPr txBox="1"/>
              <p:nvPr/>
            </p:nvSpPr>
            <p:spPr>
              <a:xfrm>
                <a:off x="671020" y="546100"/>
                <a:ext cx="6460030" cy="9728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14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3.2 при дадени права и канонично уравнение на окръжност;</a:t>
                </a: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	Нека са дадени уравнението на права и уравнението на окръжност. За да установим взаимното им положение, ние решаваме система от двете уравнения.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                                                   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bg-BG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bg-BG" sz="1400" dirty="0">
                                  <a:latin typeface="Comic Sans MS" panose="030F0702030302020204" pitchFamily="66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bg-BG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</m:t>
                              </m:r>
                              <m:r>
                                <m:rPr>
                                  <m:nor/>
                                </m:rPr>
                                <a:rPr lang="bg-BG" sz="1400" i="1" dirty="0">
                                  <a:latin typeface="Comic Sans MS" panose="030F0702030302020204" pitchFamily="66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В таблицата по долу са разгледани възможностите  за взаимното им положение. </a:t>
                </a: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1" i="1" dirty="0">
                    <a:solidFill>
                      <a:srgbClr val="0070C0"/>
                    </a:solidFill>
                    <a:latin typeface="Comic Sans MS" panose="030F0702030302020204" pitchFamily="66" charset="0"/>
                  </a:rPr>
                  <a:t>Пример. </a:t>
                </a:r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Определете взаимното положение на правава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bg-BG" sz="1400" b="1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с окръжността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bg-BG" sz="1400" b="1" i="1" dirty="0">
                  <a:solidFill>
                    <a:srgbClr val="0070C0"/>
                  </a:solidFill>
                  <a:latin typeface="Comic Sans MS" panose="030F0702030302020204" pitchFamily="66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bg-BG" dirty="0"/>
                  <a:t>В УПРАЖНЕНИЯТА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65E10B-6E1E-2D93-25FF-10FDF5C10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0" y="546100"/>
                <a:ext cx="6460030" cy="9728754"/>
              </a:xfrm>
              <a:prstGeom prst="rect">
                <a:avLst/>
              </a:prstGeom>
              <a:blipFill>
                <a:blip r:embed="rId2"/>
                <a:stretch>
                  <a:fillRect l="-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4BEDA57-FC64-7FB0-A9A9-CFBD9929E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277308"/>
              </p:ext>
            </p:extLst>
          </p:nvPr>
        </p:nvGraphicFramePr>
        <p:xfrm>
          <a:off x="533493" y="3305377"/>
          <a:ext cx="6553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69859060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538786535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439362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sz="1400" dirty="0">
                          <a:latin typeface="Comic Sans MS" panose="030F0702030302020204" pitchFamily="66" charset="0"/>
                        </a:rPr>
                        <a:t>Системата има две решения</a:t>
                      </a:r>
                      <a:endParaRPr lang="en-US" sz="14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>
                          <a:latin typeface="Comic Sans MS" panose="030F0702030302020204" pitchFamily="66" charset="0"/>
                        </a:rPr>
                        <a:t>Системата има едно решение</a:t>
                      </a:r>
                      <a:endParaRPr lang="en-US" sz="14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Системата няма решение</a:t>
                      </a:r>
                      <a:endParaRPr lang="en-US" sz="14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575144"/>
                  </a:ext>
                </a:extLst>
              </a:tr>
              <a:tr h="705283">
                <a:tc>
                  <a:txBody>
                    <a:bodyPr/>
                    <a:lstStyle/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Правата пресича окръжността в две 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точки</a:t>
                      </a:r>
                      <a:endParaRPr lang="en-US" sz="11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Правата се 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допира с 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окръжността</a:t>
                      </a:r>
                      <a:endParaRPr lang="en-US" sz="11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Правата и 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окръжността 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нямат общи</a:t>
                      </a:r>
                    </a:p>
                    <a:p>
                      <a:r>
                        <a:rPr lang="bg-BG" sz="1100" dirty="0">
                          <a:latin typeface="Comic Sans MS" panose="030F0702030302020204" pitchFamily="66" charset="0"/>
                        </a:rPr>
                        <a:t> точки</a:t>
                      </a:r>
                      <a:endParaRPr lang="en-US" sz="11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372916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6A8D0D3D-2013-0099-F879-9F433713B38B}"/>
              </a:ext>
            </a:extLst>
          </p:cNvPr>
          <p:cNvSpPr/>
          <p:nvPr/>
        </p:nvSpPr>
        <p:spPr>
          <a:xfrm>
            <a:off x="2101850" y="3975100"/>
            <a:ext cx="4572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9F5F549-E740-048E-D575-2C2CA9652187}"/>
              </a:ext>
            </a:extLst>
          </p:cNvPr>
          <p:cNvSpPr/>
          <p:nvPr/>
        </p:nvSpPr>
        <p:spPr>
          <a:xfrm>
            <a:off x="6400801" y="3930650"/>
            <a:ext cx="4572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8801FF-D720-D252-D37E-DE4F8D142B90}"/>
              </a:ext>
            </a:extLst>
          </p:cNvPr>
          <p:cNvSpPr/>
          <p:nvPr/>
        </p:nvSpPr>
        <p:spPr>
          <a:xfrm>
            <a:off x="4279807" y="3898900"/>
            <a:ext cx="4572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14BFB0-BBF2-F8E0-6CE5-45D8F8E6CC95}"/>
              </a:ext>
            </a:extLst>
          </p:cNvPr>
          <p:cNvCxnSpPr/>
          <p:nvPr/>
        </p:nvCxnSpPr>
        <p:spPr>
          <a:xfrm>
            <a:off x="2022557" y="4114800"/>
            <a:ext cx="501557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CFCEFB-724D-4F5F-3A0A-80435D1758F9}"/>
              </a:ext>
            </a:extLst>
          </p:cNvPr>
          <p:cNvCxnSpPr>
            <a:cxnSpLocks/>
          </p:cNvCxnSpPr>
          <p:nvPr/>
        </p:nvCxnSpPr>
        <p:spPr>
          <a:xfrm>
            <a:off x="4006850" y="4361661"/>
            <a:ext cx="746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63A09B-56D4-7FE2-D70B-D8B59B7105B1}"/>
              </a:ext>
            </a:extLst>
          </p:cNvPr>
          <p:cNvCxnSpPr/>
          <p:nvPr/>
        </p:nvCxnSpPr>
        <p:spPr>
          <a:xfrm>
            <a:off x="6054585" y="4158042"/>
            <a:ext cx="501557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0348D74-C637-E297-45C5-7DC2B88BAB77}"/>
              </a:ext>
            </a:extLst>
          </p:cNvPr>
          <p:cNvSpPr txBox="1"/>
          <p:nvPr/>
        </p:nvSpPr>
        <p:spPr>
          <a:xfrm>
            <a:off x="1930121" y="4120922"/>
            <a:ext cx="152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800" dirty="0">
                <a:latin typeface="Comic Sans MS" panose="030F0702030302020204" pitchFamily="66" charset="0"/>
              </a:rPr>
              <a:t>А</a:t>
            </a:r>
            <a:endParaRPr lang="en-US" sz="800" dirty="0">
              <a:latin typeface="Comic Sans MS" panose="030F0702030302020204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D929F-1E37-D933-3C78-D91A647F651F}"/>
              </a:ext>
            </a:extLst>
          </p:cNvPr>
          <p:cNvSpPr txBox="1"/>
          <p:nvPr/>
        </p:nvSpPr>
        <p:spPr>
          <a:xfrm>
            <a:off x="2306835" y="4402133"/>
            <a:ext cx="152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F866EF-1CAC-8D8C-D79A-CB901A9F44A6}"/>
              </a:ext>
            </a:extLst>
          </p:cNvPr>
          <p:cNvSpPr txBox="1"/>
          <p:nvPr/>
        </p:nvSpPr>
        <p:spPr>
          <a:xfrm>
            <a:off x="4384977" y="4356100"/>
            <a:ext cx="152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800" dirty="0">
                <a:latin typeface="Comic Sans MS" panose="030F0702030302020204" pitchFamily="66" charset="0"/>
              </a:rPr>
              <a:t>А</a:t>
            </a:r>
            <a:endParaRPr lang="en-US" sz="8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60855" y="1514919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0855" y="1696275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"/>
              <p:cNvSpPr txBox="1"/>
              <p:nvPr/>
            </p:nvSpPr>
            <p:spPr>
              <a:xfrm>
                <a:off x="654050" y="241300"/>
                <a:ext cx="6248400" cy="331565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30"/>
                  </a:spcBef>
                </a:pPr>
                <a:endParaRPr lang="bg-BG" sz="155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30"/>
                  </a:spcBef>
                </a:pPr>
                <a:endParaRPr sz="1550" dirty="0">
                  <a:latin typeface="Times New Roman"/>
                  <a:cs typeface="Times New Roman"/>
                </a:endParaRPr>
              </a:p>
              <a:p>
                <a:pPr marL="1270" algn="ctr">
                  <a:lnSpc>
                    <a:spcPct val="100000"/>
                  </a:lnSpc>
                </a:pPr>
                <a:r>
                  <a:rPr sz="1200" b="1" spc="155" dirty="0">
                    <a:latin typeface="Comic Sans MS" panose="030F0702030302020204" pitchFamily="66" charset="0"/>
                    <a:cs typeface="Georgia Pro Cond Semibold"/>
                  </a:rPr>
                  <a:t>ЗАДАЧИ</a:t>
                </a:r>
                <a:endParaRPr lang="bg-BG" sz="1400" spc="155" dirty="0">
                  <a:latin typeface="Comic Sans MS" panose="030F0702030302020204" pitchFamily="66" charset="0"/>
                  <a:cs typeface="Georgia Pro Cond Semibold"/>
                </a:endParaRPr>
              </a:p>
              <a:p>
                <a:pPr marL="1270" algn="l">
                  <a:lnSpc>
                    <a:spcPct val="100000"/>
                  </a:lnSpc>
                </a:pPr>
                <a:r>
                  <a:rPr sz="1200" b="1" dirty="0">
                    <a:latin typeface="Comic Sans MS" panose="030F0702030302020204" pitchFamily="66" charset="0"/>
                    <a:cs typeface="Georgia Pro Cond Semibold"/>
                  </a:rPr>
                  <a:t>2.1</a:t>
                </a:r>
                <a:r>
                  <a:rPr sz="1200" b="1" spc="204" dirty="0">
                    <a:latin typeface="Comic Sans MS" panose="030F0702030302020204" pitchFamily="66" charset="0"/>
                    <a:cs typeface="Georgia Pro Cond Semibold"/>
                  </a:rPr>
                  <a:t> 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Напишете</a:t>
                </a:r>
                <a:r>
                  <a:rPr sz="1200" spc="18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уравнението</a:t>
                </a:r>
                <a:r>
                  <a:rPr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окръжност</a:t>
                </a:r>
                <a:r>
                  <a:rPr sz="1200" spc="18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с</a:t>
                </a:r>
                <a:r>
                  <a:rPr sz="1200" spc="18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диаметър</a:t>
                </a:r>
                <a:r>
                  <a:rPr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sz="1200" b="0" i="1" dirty="0">
                    <a:latin typeface="Comic Sans MS" panose="030F0702030302020204" pitchFamily="66" charset="0"/>
                    <a:cs typeface="Bookman Old Style"/>
                  </a:rPr>
                  <a:t>AB</a:t>
                </a:r>
                <a:r>
                  <a:rPr sz="1200" b="0" i="1" spc="13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bg-BG" sz="1200" b="0" i="1" spc="60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sz="1200" spc="18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sz="1200" b="0" i="1" dirty="0">
                    <a:latin typeface="Comic Sans MS" panose="030F0702030302020204" pitchFamily="66" charset="0"/>
                    <a:cs typeface="Bookman Old Style"/>
                  </a:rPr>
                  <a:t>A</a:t>
                </a:r>
                <a:r>
                  <a:rPr sz="12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sz="1200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sz="1200" dirty="0">
                    <a:latin typeface="Comic Sans MS" panose="030F0702030302020204" pitchFamily="66" charset="0"/>
                    <a:cs typeface="Garamond"/>
                  </a:rPr>
                  <a:t>4</a:t>
                </a:r>
                <a:r>
                  <a:rPr sz="12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sz="1200" b="0" i="1" spc="-114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sz="1200" dirty="0">
                    <a:latin typeface="Comic Sans MS" panose="030F0702030302020204" pitchFamily="66" charset="0"/>
                    <a:cs typeface="Garamond"/>
                  </a:rPr>
                  <a:t>1)</a:t>
                </a:r>
                <a:r>
                  <a:rPr sz="1200" dirty="0">
                    <a:latin typeface="Comic Sans MS" panose="030F0702030302020204" pitchFamily="66" charset="0"/>
                    <a:cs typeface="Times New Roman"/>
                  </a:rPr>
                  <a:t>,</a:t>
                </a:r>
                <a:r>
                  <a:rPr sz="1200" spc="180" dirty="0">
                    <a:latin typeface="Comic Sans MS" panose="030F0702030302020204" pitchFamily="66" charset="0"/>
                    <a:cs typeface="Times New Roman"/>
                  </a:rPr>
                  <a:t>  </a:t>
                </a:r>
                <a:r>
                  <a:rPr sz="1200" b="0" i="1" dirty="0">
                    <a:latin typeface="Comic Sans MS" panose="030F0702030302020204" pitchFamily="66" charset="0"/>
                    <a:cs typeface="Bookman Old Style"/>
                  </a:rPr>
                  <a:t>B</a:t>
                </a:r>
                <a:r>
                  <a:rPr sz="1200" dirty="0">
                    <a:latin typeface="Comic Sans MS" panose="030F0702030302020204" pitchFamily="66" charset="0"/>
                    <a:cs typeface="Garamond"/>
                  </a:rPr>
                  <a:t>(2</a:t>
                </a:r>
                <a:r>
                  <a:rPr sz="12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sz="1200" b="0" i="1" spc="-11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sz="1200" spc="-25" dirty="0">
                    <a:latin typeface="Comic Sans MS" panose="030F0702030302020204" pitchFamily="66" charset="0"/>
                    <a:cs typeface="Garamond"/>
                  </a:rPr>
                  <a:t>3)</a:t>
                </a:r>
                <a:r>
                  <a:rPr sz="1200" spc="-25" dirty="0">
                    <a:latin typeface="Comic Sans MS" panose="030F0702030302020204" pitchFamily="66" charset="0"/>
                    <a:cs typeface="Times New Roman"/>
                  </a:rPr>
                  <a:t>.</a:t>
                </a:r>
                <a:endParaRPr lang="en-US" sz="1200" spc="-25" dirty="0">
                  <a:latin typeface="Comic Sans MS" panose="030F0702030302020204" pitchFamily="66" charset="0"/>
                  <a:cs typeface="Times New Roman"/>
                </a:endParaRPr>
              </a:p>
              <a:p>
                <a:pPr marL="38100" algn="r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bg-BG" sz="1200" spc="55" dirty="0">
                    <a:latin typeface="Comic Sans MS" panose="030F0702030302020204" pitchFamily="66" charset="0"/>
                    <a:cs typeface="Garamond"/>
                  </a:rPr>
                  <a:t>Отг.</a:t>
                </a:r>
                <a:r>
                  <a:rPr lang="ru-RU" sz="1200" spc="55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ru-RU" sz="1200" b="0" i="1" spc="55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ru-RU" sz="1200" b="0" i="1" spc="-9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1)</a:t>
                </a:r>
                <a:r>
                  <a:rPr lang="ru-RU" sz="12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165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-2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ru-RU" sz="1200" b="0" i="1" spc="-2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ru-RU" sz="1200" b="0" i="1" spc="-4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ru-RU" sz="1200" spc="-10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2)</a:t>
                </a:r>
                <a:r>
                  <a:rPr lang="ru-RU" sz="12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232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ru-RU" sz="1200" spc="5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10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или</a:t>
                </a:r>
                <a:r>
                  <a:rPr lang="ru-RU" sz="1200" spc="10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ru-RU" sz="12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165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b="0" i="1" spc="-1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ru-RU" sz="1200" spc="-15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150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2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ru-RU" sz="1200" b="0" i="1" spc="-9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ru-RU" sz="1200" spc="-10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ru-RU" sz="1200" spc="-75" dirty="0">
                    <a:latin typeface="Comic Sans MS" panose="030F0702030302020204" pitchFamily="66" charset="0"/>
                    <a:cs typeface="Garamond"/>
                  </a:rPr>
                  <a:t>4</a:t>
                </a:r>
                <a:r>
                  <a:rPr lang="ru-RU" sz="1200" b="0" i="1" spc="-75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ru-RU" sz="1200" b="0" i="1" spc="-4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ru-RU" sz="1200" spc="-11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5</a:t>
                </a:r>
                <a:r>
                  <a:rPr lang="ru-RU" sz="1200" spc="5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ru-RU" sz="1200" spc="3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-50" dirty="0">
                    <a:latin typeface="Comic Sans MS" panose="030F0702030302020204" pitchFamily="66" charset="0"/>
                    <a:cs typeface="Garamond"/>
                  </a:rPr>
                  <a:t>0</a:t>
                </a:r>
              </a:p>
              <a:p>
                <a:pPr algn="l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ru-RU" sz="1200" b="1" dirty="0">
                    <a:latin typeface="Comic Sans MS" panose="030F0702030302020204" pitchFamily="66" charset="0"/>
                    <a:cs typeface="Georgia Pro Cond Semibold"/>
                  </a:rPr>
                  <a:t>2.2</a:t>
                </a:r>
                <a:r>
                  <a:rPr lang="ru-RU" sz="1200" b="1" spc="155" dirty="0">
                    <a:latin typeface="Comic Sans MS" panose="030F0702030302020204" pitchFamily="66" charset="0"/>
                    <a:cs typeface="Georgia Pro Cond Semibol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Напишете</a:t>
                </a:r>
                <a:r>
                  <a:rPr lang="ru-RU" sz="1200" spc="13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уравненията</a:t>
                </a:r>
                <a:r>
                  <a:rPr lang="ru-RU" sz="1200" spc="14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lang="ru-RU" sz="1200" spc="14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допирателните</a:t>
                </a:r>
                <a:r>
                  <a:rPr lang="ru-RU" sz="1200" spc="13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spc="55" dirty="0">
                    <a:latin typeface="Comic Sans MS" panose="030F0702030302020204" pitchFamily="66" charset="0"/>
                    <a:cs typeface="Times New Roman"/>
                  </a:rPr>
                  <a:t>към</a:t>
                </a:r>
                <a:r>
                  <a:rPr lang="ru-RU" sz="1200" spc="14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окръжността</a:t>
                </a:r>
                <a:r>
                  <a:rPr lang="ru-RU" sz="1200" spc="13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k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)</a:t>
                </a:r>
                <a:r>
                  <a:rPr lang="ru-RU" sz="1200" spc="11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60" dirty="0">
                    <a:latin typeface="Comic Sans MS" panose="030F0702030302020204" pitchFamily="66" charset="0"/>
                    <a:cs typeface="Garamond"/>
                  </a:rPr>
                  <a:t>:</a:t>
                </a:r>
                <a:r>
                  <a:rPr lang="ru-RU" sz="1200" spc="114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ru-RU" sz="12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120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6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ru-RU" sz="12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ru-RU" sz="1200" spc="337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= 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5</a:t>
                </a:r>
                <a:r>
                  <a:rPr lang="ru-RU" sz="1200" b="0" i="1" spc="-25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endParaRPr lang="ru-RU" sz="1200" dirty="0">
                  <a:latin typeface="Comic Sans MS" panose="030F0702030302020204" pitchFamily="66" charset="0"/>
                  <a:cs typeface="Bookman Old Style"/>
                </a:endParaRPr>
              </a:p>
              <a:p>
                <a:pPr marL="38100">
                  <a:lnSpc>
                    <a:spcPct val="150000"/>
                  </a:lnSpc>
                  <a:spcBef>
                    <a:spcPts val="10"/>
                  </a:spcBef>
                </a:pP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които</a:t>
                </a:r>
                <a:r>
                  <a:rPr lang="ru-RU" sz="1200" spc="12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са</a:t>
                </a:r>
                <a:r>
                  <a:rPr lang="ru-RU" sz="1200" spc="13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успоредни</a:t>
                </a:r>
                <a:r>
                  <a:rPr lang="ru-RU" sz="1200" spc="15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lang="ru-RU" sz="1200" spc="12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правата</a:t>
                </a:r>
                <a:r>
                  <a:rPr lang="ru-RU" sz="1200" spc="12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b="0" i="1" spc="-120" dirty="0">
                    <a:latin typeface="Comic Sans MS" panose="030F0702030302020204" pitchFamily="66" charset="0"/>
                    <a:cs typeface="Bookman Old Style"/>
                  </a:rPr>
                  <a:t>g</a:t>
                </a:r>
                <a:r>
                  <a:rPr lang="ru-RU" sz="1200" b="0" i="1" spc="5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60" dirty="0">
                    <a:latin typeface="Comic Sans MS" panose="030F0702030302020204" pitchFamily="66" charset="0"/>
                    <a:cs typeface="Garamond"/>
                  </a:rPr>
                  <a:t>:</a:t>
                </a:r>
                <a:r>
                  <a:rPr lang="ru-RU" sz="1200" spc="7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2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ru-RU" sz="1200" b="0" i="1" spc="-8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ru-RU" sz="1200" spc="-85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ru-RU" sz="1200" b="0" i="1" spc="-16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ru-RU" sz="1200" b="0" i="1" spc="-2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ru-RU" sz="1200" spc="-1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1</a:t>
                </a:r>
                <a:r>
                  <a:rPr lang="ru-RU" sz="1200" spc="5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ru-RU" sz="1200" spc="6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0</a:t>
                </a:r>
                <a:r>
                  <a:rPr lang="ru-RU" sz="1200" b="0" i="1" spc="-25" dirty="0">
                    <a:latin typeface="Comic Sans MS" panose="030F0702030302020204" pitchFamily="66" charset="0"/>
                    <a:cs typeface="Bookman Old Style"/>
                  </a:rPr>
                  <a:t>.</a:t>
                </a:r>
                <a:endParaRPr lang="ru-RU" sz="1200" i="1" spc="-25" dirty="0">
                  <a:latin typeface="Comic Sans MS" panose="030F0702030302020204" pitchFamily="66" charset="0"/>
                  <a:cs typeface="Bookman Old Style"/>
                </a:endParaRPr>
              </a:p>
              <a:p>
                <a:pPr marL="38100">
                  <a:lnSpc>
                    <a:spcPct val="150000"/>
                  </a:lnSpc>
                  <a:spcBef>
                    <a:spcPts val="10"/>
                  </a:spcBef>
                </a:pPr>
                <a:r>
                  <a:rPr lang="ru-RU" sz="1200" b="1" dirty="0">
                    <a:latin typeface="Comic Sans MS" panose="030F0702030302020204" pitchFamily="66" charset="0"/>
                    <a:cs typeface="Georgia Pro Cond Semibold"/>
                  </a:rPr>
                  <a:t>2.3</a:t>
                </a:r>
                <a:r>
                  <a:rPr lang="ru-RU" sz="1200" b="1" spc="204" dirty="0">
                    <a:latin typeface="Comic Sans MS" panose="030F0702030302020204" pitchFamily="66" charset="0"/>
                    <a:cs typeface="Georgia Pro Cond Semibold"/>
                  </a:rPr>
                  <a:t> 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Напишете</a:t>
                </a:r>
                <a:r>
                  <a:rPr lang="ru-RU" sz="1200" spc="18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уравнението</a:t>
                </a:r>
                <a:r>
                  <a:rPr lang="ru-RU"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lang="ru-RU"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окръжност,</a:t>
                </a:r>
                <a:r>
                  <a:rPr lang="ru-RU" sz="1200" spc="18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която</a:t>
                </a:r>
                <a:r>
                  <a:rPr lang="ru-RU" sz="1200" spc="17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е</a:t>
                </a:r>
                <a:r>
                  <a:rPr lang="ru-RU" sz="1200" spc="18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описана</a:t>
                </a:r>
                <a:r>
                  <a:rPr lang="ru-RU"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около</a:t>
                </a:r>
                <a:r>
                  <a:rPr lang="ru-RU"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триъгълника</a:t>
                </a:r>
                <a:r>
                  <a:rPr lang="ru-RU" sz="1200" spc="19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spc="-50" dirty="0">
                    <a:latin typeface="Comic Sans MS" panose="030F0702030302020204" pitchFamily="66" charset="0"/>
                    <a:cs typeface="Times New Roman"/>
                  </a:rPr>
                  <a:t>с 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върхове</a:t>
                </a:r>
                <a:r>
                  <a:rPr lang="ru-RU" sz="1200" spc="215" dirty="0">
                    <a:latin typeface="Comic Sans MS" panose="030F0702030302020204" pitchFamily="66" charset="0"/>
                    <a:cs typeface="Times New Roman"/>
                  </a:rPr>
                  <a:t> 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A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(7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ru-RU" sz="1200" b="0" i="1" spc="-8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7)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,</a:t>
                </a:r>
                <a:r>
                  <a:rPr lang="ru-RU" sz="1200" spc="204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B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(0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ru-RU" sz="1200" b="0" i="1" spc="-9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8)</a:t>
                </a:r>
                <a:r>
                  <a:rPr lang="ru-RU" sz="1200" dirty="0">
                    <a:latin typeface="Comic Sans MS" panose="030F0702030302020204" pitchFamily="66" charset="0"/>
                    <a:cs typeface="Times New Roman"/>
                  </a:rPr>
                  <a:t>,</a:t>
                </a:r>
                <a:r>
                  <a:rPr lang="ru-RU" sz="1200" spc="21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C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ru-RU" sz="1200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ru-RU" sz="1200" dirty="0">
                    <a:latin typeface="Comic Sans MS" panose="030F0702030302020204" pitchFamily="66" charset="0"/>
                    <a:cs typeface="Garamond"/>
                  </a:rPr>
                  <a:t>2</a:t>
                </a:r>
                <a:r>
                  <a:rPr lang="ru-RU" sz="12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ru-RU" sz="1200" b="0" i="1" spc="-9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ru-RU" sz="1200" spc="-25" dirty="0">
                    <a:latin typeface="Comic Sans MS" panose="030F0702030302020204" pitchFamily="66" charset="0"/>
                    <a:cs typeface="Garamond"/>
                  </a:rPr>
                  <a:t>4)</a:t>
                </a:r>
                <a:r>
                  <a:rPr lang="ru-RU" sz="1200" spc="-25" dirty="0">
                    <a:latin typeface="Comic Sans MS" panose="030F0702030302020204" pitchFamily="66" charset="0"/>
                    <a:cs typeface="Times New Roman"/>
                  </a:rPr>
                  <a:t>.</a:t>
                </a:r>
                <a:endParaRPr lang="ru-RU" sz="1200" dirty="0">
                  <a:latin typeface="Comic Sans MS" panose="030F0702030302020204" pitchFamily="66" charset="0"/>
                  <a:cs typeface="Times New Roman"/>
                </a:endParaRPr>
              </a:p>
              <a:p>
                <a:pPr marL="38100">
                  <a:lnSpc>
                    <a:spcPct val="150000"/>
                  </a:lnSpc>
                  <a:spcBef>
                    <a:spcPts val="10"/>
                  </a:spcBef>
                </a:pPr>
                <a:r>
                  <a:rPr lang="en-US" sz="1200" spc="-25" dirty="0">
                    <a:latin typeface="Comic Sans MS" panose="030F0702030302020204" pitchFamily="66" charset="0"/>
                    <a:cs typeface="Times New Roman"/>
                  </a:rPr>
                  <a:t>2.4.</a:t>
                </a:r>
                <a:r>
                  <a:rPr lang="bg-BG" sz="1200" b="1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bg-BG" sz="1200" dirty="0">
                    <a:latin typeface="Comic Sans MS" panose="030F0702030302020204" pitchFamily="66" charset="0"/>
                    <a:cs typeface="Bookman Old Style"/>
                  </a:rPr>
                  <a:t>Да се напише уравнението на окръжност. На която центърър е т.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  <a:cs typeface="Bookman Old Style"/>
                      </a:rPr>
                      <m:t>𝐶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bg-BG" sz="1200" b="0" i="1" smtClean="0">
                            <a:latin typeface="Cambria Math" panose="02040503050406030204" pitchFamily="18" charset="0"/>
                          </a:rPr>
                          <m:t>;−8</m:t>
                        </m:r>
                      </m:e>
                    </m:d>
                  </m:oMath>
                </a14:m>
                <a:r>
                  <a:rPr lang="bg-BG" sz="1200" dirty="0">
                    <a:latin typeface="Comic Sans MS" panose="030F0702030302020204" pitchFamily="66" charset="0"/>
                    <a:cs typeface="Bookman Old Style"/>
                  </a:rPr>
                  <a:t> и която минава пре началото на координатната система.</a:t>
                </a:r>
              </a:p>
              <a:p>
                <a:pPr marL="195580" algn="just">
                  <a:lnSpc>
                    <a:spcPct val="150000"/>
                  </a:lnSpc>
                </a:pPr>
                <a:endParaRPr lang="bg-BG" sz="1200" spc="-25" dirty="0">
                  <a:latin typeface="Comic Sans MS" panose="030F0702030302020204" pitchFamily="66" charset="0"/>
                  <a:cs typeface="Times New Roman"/>
                </a:endParaRPr>
              </a:p>
              <a:p>
                <a:pPr marL="195580" algn="just">
                  <a:lnSpc>
                    <a:spcPct val="100000"/>
                  </a:lnSpc>
                </a:pPr>
                <a:r>
                  <a:rPr lang="bg-BG" sz="1400">
                    <a:latin typeface="Times New Roman"/>
                    <a:cs typeface="Times New Roman"/>
                  </a:rPr>
                  <a:t>В УПРАЖНЕНИЯТА</a:t>
                </a:r>
                <a:endParaRPr sz="14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" y="241300"/>
                <a:ext cx="6248400" cy="3315651"/>
              </a:xfrm>
              <a:prstGeom prst="rect">
                <a:avLst/>
              </a:prstGeom>
              <a:blipFill>
                <a:blip r:embed="rId2"/>
                <a:stretch>
                  <a:fillRect l="-1463" r="-1561" b="-2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794887" y="61938"/>
            <a:ext cx="5832475" cy="483196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290"/>
              </a:spcBef>
            </a:pPr>
            <a:endParaRPr sz="12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 dirty="0">
              <a:latin typeface="Bookman Old Style"/>
              <a:cs typeface="Bookman Old Style"/>
            </a:endParaRPr>
          </a:p>
          <a:p>
            <a:pPr marL="233679">
              <a:lnSpc>
                <a:spcPct val="100000"/>
              </a:lnSpc>
            </a:pPr>
            <a:r>
              <a:rPr b="1" spc="55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Задачи</a:t>
            </a:r>
            <a:r>
              <a:rPr b="1" spc="220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 </a:t>
            </a:r>
            <a:r>
              <a:rPr b="1" spc="50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за</a:t>
            </a:r>
            <a:r>
              <a:rPr b="1" spc="180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 </a:t>
            </a:r>
            <a:r>
              <a:rPr b="1" spc="50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самостоятелна</a:t>
            </a:r>
            <a:r>
              <a:rPr b="1" spc="204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 </a:t>
            </a:r>
            <a:r>
              <a:rPr b="1" spc="-10" dirty="0">
                <a:solidFill>
                  <a:srgbClr val="C80F11"/>
                </a:solidFill>
                <a:latin typeface="Comic Sans MS" panose="030F0702030302020204" pitchFamily="66" charset="0"/>
                <a:cs typeface="Georgia Pro Cond Semibold"/>
              </a:rPr>
              <a:t>работа:</a:t>
            </a:r>
            <a:endParaRPr dirty="0">
              <a:latin typeface="Comic Sans MS" panose="030F0702030302020204" pitchFamily="66" charset="0"/>
              <a:cs typeface="Georgia Pro Cond Semibold"/>
            </a:endParaRPr>
          </a:p>
          <a:p>
            <a:pPr>
              <a:lnSpc>
                <a:spcPct val="100000"/>
              </a:lnSpc>
            </a:pPr>
            <a:endParaRPr dirty="0">
              <a:latin typeface="Georgia Pro Cond Semibold"/>
              <a:cs typeface="Georgia Pro Cond Semibol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 dirty="0">
              <a:latin typeface="Georgia Pro Cond Semibold"/>
              <a:cs typeface="Georgia Pro Cond Semibold"/>
            </a:endParaRPr>
          </a:p>
          <a:p>
            <a:pPr marL="233045" lvl="1">
              <a:lnSpc>
                <a:spcPct val="100000"/>
              </a:lnSpc>
              <a:tabLst>
                <a:tab pos="551815" algn="l"/>
              </a:tabLst>
            </a:pPr>
            <a:r>
              <a:rPr lang="en-US" sz="1200" dirty="0">
                <a:latin typeface="Times New Roman"/>
                <a:cs typeface="Times New Roman"/>
              </a:rPr>
              <a:t>1. </a:t>
            </a:r>
            <a:r>
              <a:rPr sz="1200" dirty="0" err="1">
                <a:latin typeface="Comic Sans MS" panose="030F0702030302020204" pitchFamily="66" charset="0"/>
                <a:cs typeface="Times New Roman"/>
              </a:rPr>
              <a:t>Напишете</a:t>
            </a:r>
            <a:r>
              <a:rPr sz="1200" spc="1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уравнението</a:t>
            </a:r>
            <a:r>
              <a:rPr sz="1200" spc="1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200" spc="19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окръжност</a:t>
            </a:r>
            <a:r>
              <a:rPr sz="1200" spc="1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с</a:t>
            </a:r>
            <a:r>
              <a:rPr sz="1200" spc="1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център</a:t>
            </a:r>
            <a:r>
              <a:rPr sz="1200" spc="19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b="0" i="1" spc="22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и</a:t>
            </a:r>
            <a:r>
              <a:rPr sz="1200" spc="1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радиус</a:t>
            </a:r>
            <a:r>
              <a:rPr sz="1200" spc="1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spc="-25" dirty="0">
                <a:latin typeface="Comic Sans MS" panose="030F0702030302020204" pitchFamily="66" charset="0"/>
                <a:cs typeface="Bookman Old Style"/>
              </a:rPr>
              <a:t>R.</a:t>
            </a:r>
            <a:endParaRPr sz="1200" dirty="0">
              <a:latin typeface="Comic Sans MS" panose="030F0702030302020204" pitchFamily="66" charset="0"/>
              <a:cs typeface="Bookman Old Style"/>
            </a:endParaRPr>
          </a:p>
          <a:p>
            <a:pPr lvl="1">
              <a:lnSpc>
                <a:spcPct val="100000"/>
              </a:lnSpc>
              <a:buFont typeface="Georgia Pro Cond Semibold"/>
              <a:buAutoNum type="arabicPeriod" startAt="8"/>
            </a:pPr>
            <a:endParaRPr sz="1000" dirty="0">
              <a:latin typeface="Comic Sans MS" panose="030F0702030302020204" pitchFamily="66" charset="0"/>
              <a:cs typeface="Bookman Old Style"/>
            </a:endParaRPr>
          </a:p>
          <a:p>
            <a:pPr marL="254000">
              <a:lnSpc>
                <a:spcPct val="100000"/>
              </a:lnSpc>
              <a:tabLst>
                <a:tab pos="1303655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а)</a:t>
            </a:r>
            <a:r>
              <a:rPr sz="1200" spc="2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8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1)</a:t>
            </a:r>
            <a:r>
              <a:rPr sz="1200" b="0" i="1" spc="-25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5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4000">
              <a:lnSpc>
                <a:spcPct val="100000"/>
              </a:lnSpc>
              <a:tabLst>
                <a:tab pos="1303655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б)</a:t>
            </a:r>
            <a:r>
              <a:rPr sz="1200" spc="1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1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3)</a:t>
            </a:r>
            <a:r>
              <a:rPr sz="1200" b="0" i="1" spc="-20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2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4000">
              <a:lnSpc>
                <a:spcPct val="100000"/>
              </a:lnSpc>
              <a:spcBef>
                <a:spcPts val="15"/>
              </a:spcBef>
              <a:tabLst>
                <a:tab pos="1303655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в)</a:t>
            </a:r>
            <a:r>
              <a:rPr sz="1200" spc="1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20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0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1)</a:t>
            </a:r>
            <a:r>
              <a:rPr sz="1200" spc="-25" dirty="0">
                <a:latin typeface="Comic Sans MS" panose="030F0702030302020204" pitchFamily="66" charset="0"/>
                <a:cs typeface="Times New Roman"/>
              </a:rPr>
              <a:t>,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3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4000">
              <a:lnSpc>
                <a:spcPct val="100000"/>
              </a:lnSpc>
              <a:tabLst>
                <a:tab pos="1303655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г)</a:t>
            </a:r>
            <a:r>
              <a:rPr sz="1200" spc="19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20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1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0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5)</a:t>
            </a:r>
            <a:r>
              <a:rPr sz="1200" spc="-20" dirty="0">
                <a:latin typeface="Comic Sans MS" panose="030F0702030302020204" pitchFamily="66" charset="0"/>
                <a:cs typeface="Times New Roman"/>
              </a:rPr>
              <a:t>,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1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3684270" marR="142240" indent="-410209">
              <a:lnSpc>
                <a:spcPct val="100299"/>
              </a:lnSpc>
              <a:spcBef>
                <a:spcPts val="595"/>
              </a:spcBef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Отг.</a:t>
            </a:r>
            <a:r>
              <a:rPr sz="1200" spc="200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а)</a:t>
            </a:r>
            <a:r>
              <a:rPr sz="1200" spc="1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5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35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10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4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20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4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б)</a:t>
            </a:r>
            <a:r>
              <a:rPr sz="1200" spc="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35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2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1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10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6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9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r>
              <a:rPr sz="1200" spc="50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в)</a:t>
            </a:r>
            <a:r>
              <a:rPr sz="1200" spc="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50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2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8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9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2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8</a:t>
            </a:r>
            <a:r>
              <a:rPr sz="1200" spc="4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lang="en-US" sz="1200" spc="500" dirty="0">
              <a:latin typeface="Comic Sans MS" panose="030F0702030302020204" pitchFamily="66" charset="0"/>
              <a:cs typeface="Garamond"/>
            </a:endParaRPr>
          </a:p>
          <a:p>
            <a:pPr marL="3684270" marR="142240" indent="-410209">
              <a:lnSpc>
                <a:spcPct val="100299"/>
              </a:lnSpc>
              <a:spcBef>
                <a:spcPts val="595"/>
              </a:spcBef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г)</a:t>
            </a:r>
            <a:r>
              <a:rPr sz="1200" spc="1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50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35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10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45" dirty="0">
                <a:latin typeface="Comic Sans MS" panose="030F0702030302020204" pitchFamily="66" charset="0"/>
                <a:cs typeface="Garamond"/>
              </a:rPr>
              <a:t>10</a:t>
            </a:r>
            <a:r>
              <a:rPr sz="1200" b="0" i="1" spc="-4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25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4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177165" marR="68580" lvl="1">
              <a:lnSpc>
                <a:spcPct val="100800"/>
              </a:lnSpc>
              <a:spcBef>
                <a:spcPts val="585"/>
              </a:spcBef>
              <a:tabLst>
                <a:tab pos="522605" algn="l"/>
              </a:tabLst>
            </a:pPr>
            <a:r>
              <a:rPr lang="en-US" sz="1200" dirty="0">
                <a:latin typeface="Comic Sans MS" panose="030F0702030302020204" pitchFamily="66" charset="0"/>
                <a:cs typeface="Times New Roman"/>
              </a:rPr>
              <a:t>2. </a:t>
            </a:r>
            <a:r>
              <a:rPr sz="1200" dirty="0" err="1">
                <a:latin typeface="Comic Sans MS" panose="030F0702030302020204" pitchFamily="66" charset="0"/>
                <a:cs typeface="Times New Roman"/>
              </a:rPr>
              <a:t>Покажете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,</a:t>
            </a:r>
            <a:r>
              <a:rPr sz="1200" spc="16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че</a:t>
            </a:r>
            <a:r>
              <a:rPr sz="1200" spc="1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следните</a:t>
            </a:r>
            <a:r>
              <a:rPr sz="1200" spc="16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уравнения</a:t>
            </a:r>
            <a:r>
              <a:rPr sz="1200" spc="15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са</a:t>
            </a:r>
            <a:r>
              <a:rPr sz="1200" spc="15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уравнения</a:t>
            </a:r>
            <a:r>
              <a:rPr sz="1200" spc="15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200" spc="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окръжност.</a:t>
            </a:r>
            <a:r>
              <a:rPr sz="1200" spc="1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Намерете</a:t>
            </a:r>
            <a:r>
              <a:rPr sz="1200" spc="1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Times New Roman"/>
              </a:rPr>
              <a:t>цен- </a:t>
            </a:r>
            <a:r>
              <a:rPr sz="1200" spc="60" dirty="0">
                <a:latin typeface="Comic Sans MS" panose="030F0702030302020204" pitchFamily="66" charset="0"/>
                <a:cs typeface="Times New Roman"/>
              </a:rPr>
              <a:t>търа</a:t>
            </a:r>
            <a:r>
              <a:rPr sz="1200" spc="1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200" spc="1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окръжността</a:t>
            </a:r>
            <a:r>
              <a:rPr sz="1200" spc="1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b="0" i="1" spc="2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и</a:t>
            </a:r>
            <a:r>
              <a:rPr sz="1200" spc="1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радиуса</a:t>
            </a:r>
            <a:r>
              <a:rPr sz="1200" spc="1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spc="-25" dirty="0">
                <a:latin typeface="Comic Sans MS" panose="030F0702030302020204" pitchFamily="66" charset="0"/>
                <a:cs typeface="Bookman Old Style"/>
              </a:rPr>
              <a:t>R.</a:t>
            </a:r>
            <a:endParaRPr sz="1200" dirty="0">
              <a:latin typeface="Comic Sans MS" panose="030F0702030302020204" pitchFamily="66" charset="0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 dirty="0">
              <a:latin typeface="Comic Sans MS" panose="030F0702030302020204" pitchFamily="66" charset="0"/>
              <a:cs typeface="Bookman Old Style"/>
            </a:endParaRPr>
          </a:p>
          <a:p>
            <a:pPr marL="253365">
              <a:lnSpc>
                <a:spcPct val="100000"/>
              </a:lnSpc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а)</a:t>
            </a:r>
            <a:r>
              <a:rPr sz="1200" spc="9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50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35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2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8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14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spc="4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3365">
              <a:lnSpc>
                <a:spcPct val="100000"/>
              </a:lnSpc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б)</a:t>
            </a:r>
            <a:r>
              <a:rPr sz="1200" spc="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35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4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20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2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1</a:t>
            </a:r>
            <a:r>
              <a:rPr sz="1200" spc="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2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3365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в)</a:t>
            </a:r>
            <a:r>
              <a:rPr sz="1200" spc="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50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2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10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1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6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2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3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253365">
              <a:lnSpc>
                <a:spcPct val="100000"/>
              </a:lnSpc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г)</a:t>
            </a:r>
            <a:r>
              <a:rPr sz="1200" spc="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42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b="0" i="1" spc="-2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spc="-3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12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10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75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1</a:t>
            </a:r>
            <a:r>
              <a:rPr sz="12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200" dirty="0">
              <a:latin typeface="Comic Sans MS" panose="030F0702030302020204" pitchFamily="66" charset="0"/>
              <a:cs typeface="Garamon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1650" y="4290134"/>
            <a:ext cx="31051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Comic Sans MS" panose="030F0702030302020204" pitchFamily="66" charset="0"/>
                <a:cs typeface="Times New Roman"/>
              </a:rPr>
              <a:t>Отг.</a:t>
            </a:r>
            <a:endParaRPr sz="1200" dirty="0">
              <a:latin typeface="Comic Sans MS" panose="030F0702030302020204" pitchFamily="66" charset="0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02454" y="7598729"/>
            <a:ext cx="1397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975" dirty="0">
                <a:latin typeface="Lucida Sans Unicode"/>
                <a:cs typeface="Lucida Sans Unicode"/>
              </a:rPr>
              <a:t>√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41567" y="7760360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67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721102" y="4680024"/>
            <a:ext cx="956944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г)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(1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/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3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1</a:t>
            </a:r>
            <a:r>
              <a:rPr sz="1200" spc="-20" dirty="0">
                <a:latin typeface="Garamond"/>
                <a:cs typeface="Garamond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,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03177" y="4097093"/>
            <a:ext cx="1645285" cy="7797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094105" algn="l"/>
              </a:tabLst>
            </a:pPr>
            <a:r>
              <a:rPr sz="1200" dirty="0">
                <a:latin typeface="Times New Roman"/>
                <a:cs typeface="Times New Roman"/>
              </a:rPr>
              <a:t>а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)</a:t>
            </a:r>
            <a:r>
              <a:rPr sz="1200" spc="2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(1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8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1)</a:t>
            </a:r>
            <a:r>
              <a:rPr sz="1200" b="0" i="1" spc="-20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2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1094105" algn="l"/>
                <a:tab pos="1534795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б)</a:t>
            </a:r>
            <a:r>
              <a:rPr sz="1200" spc="18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(0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1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2)</a:t>
            </a:r>
            <a:r>
              <a:rPr sz="1200" b="0" i="1" spc="-20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5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	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5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12700">
              <a:lnSpc>
                <a:spcPct val="100000"/>
              </a:lnSpc>
              <a:tabLst>
                <a:tab pos="1094740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в)</a:t>
            </a:r>
            <a:r>
              <a:rPr sz="1200" spc="1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C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200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2</a:t>
            </a:r>
            <a:r>
              <a:rPr sz="1200" b="0" i="1" dirty="0">
                <a:latin typeface="Comic Sans MS" panose="030F0702030302020204" pitchFamily="66" charset="0"/>
                <a:cs typeface="Bookman Old Style"/>
              </a:rPr>
              <a:t>,</a:t>
            </a:r>
            <a:r>
              <a:rPr sz="1200" b="0" i="1" spc="-10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3)</a:t>
            </a:r>
            <a:r>
              <a:rPr sz="1200" spc="-25" dirty="0">
                <a:latin typeface="Comic Sans MS" panose="030F0702030302020204" pitchFamily="66" charset="0"/>
                <a:cs typeface="Times New Roman"/>
              </a:rPr>
              <a:t>,</a:t>
            </a:r>
            <a:r>
              <a:rPr sz="1200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4</a:t>
            </a:r>
            <a:endParaRPr sz="1200" dirty="0">
              <a:latin typeface="Comic Sans MS" panose="030F0702030302020204" pitchFamily="66" charset="0"/>
              <a:cs typeface="Garamond"/>
            </a:endParaRPr>
          </a:p>
          <a:p>
            <a:pPr marL="1094740">
              <a:lnSpc>
                <a:spcPct val="100000"/>
              </a:lnSpc>
              <a:spcBef>
                <a:spcPts val="15"/>
              </a:spcBef>
            </a:pPr>
            <a:r>
              <a:rPr sz="1200" b="0" i="1" spc="50" dirty="0">
                <a:latin typeface="Comic Sans MS" panose="030F0702030302020204" pitchFamily="66" charset="0"/>
                <a:cs typeface="Bookman Old Style"/>
              </a:rPr>
              <a:t>R</a:t>
            </a:r>
            <a:r>
              <a:rPr sz="1200" b="0" i="1" spc="-1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3</a:t>
            </a:r>
            <a:r>
              <a:rPr sz="1200" b="0" i="1" spc="-25" dirty="0">
                <a:latin typeface="Comic Sans MS" panose="030F0702030302020204" pitchFamily="66" charset="0"/>
                <a:cs typeface="Bookman Old Style"/>
              </a:rPr>
              <a:t>/</a:t>
            </a:r>
            <a:r>
              <a:rPr sz="1200" spc="-25" dirty="0">
                <a:latin typeface="Comic Sans MS" panose="030F0702030302020204" pitchFamily="66" charset="0"/>
                <a:cs typeface="Garamond"/>
              </a:rPr>
              <a:t>2</a:t>
            </a:r>
            <a:endParaRPr sz="1200" dirty="0">
              <a:latin typeface="Comic Sans MS" panose="030F0702030302020204" pitchFamily="66" charset="0"/>
              <a:cs typeface="Garamon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1"/>
              <p:cNvSpPr txBox="1"/>
              <p:nvPr/>
            </p:nvSpPr>
            <p:spPr>
              <a:xfrm>
                <a:off x="836518" y="5069914"/>
                <a:ext cx="5695315" cy="203530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18745" lvl="1">
                  <a:lnSpc>
                    <a:spcPct val="100000"/>
                  </a:lnSpc>
                  <a:spcBef>
                    <a:spcPts val="95"/>
                  </a:spcBef>
                  <a:tabLst>
                    <a:tab pos="522605" algn="l"/>
                  </a:tabLst>
                </a:pP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3. </a:t>
                </a:r>
                <a:r>
                  <a:rPr lang="bg-BG" sz="1400" dirty="0" err="1">
                    <a:latin typeface="Comic Sans MS" panose="030F0702030302020204" pitchFamily="66" charset="0"/>
                    <a:cs typeface="Times New Roman"/>
                  </a:rPr>
                  <a:t>Напишете</a:t>
                </a:r>
                <a:r>
                  <a:rPr lang="bg-BG" sz="1400" spc="23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уравнението</a:t>
                </a:r>
                <a:r>
                  <a:rPr lang="bg-BG" sz="1400" spc="24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lang="bg-BG" sz="1400" spc="24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окръжност</a:t>
                </a:r>
                <a:r>
                  <a:rPr lang="bg-BG" sz="1400" spc="229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с</a:t>
                </a:r>
                <a:r>
                  <a:rPr lang="bg-BG" sz="1400" spc="23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диаметър</a:t>
                </a:r>
                <a:r>
                  <a:rPr lang="bg-BG" sz="1400" spc="24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spc="-25" dirty="0">
                    <a:latin typeface="Comic Sans MS" panose="030F0702030302020204" pitchFamily="66" charset="0"/>
                    <a:cs typeface="Bookman Old Style"/>
                  </a:rPr>
                  <a:t>AB.</a:t>
                </a:r>
                <a:endParaRPr lang="en-US" sz="1400" dirty="0">
                  <a:latin typeface="Comic Sans MS" panose="030F0702030302020204" pitchFamily="66" charset="0"/>
                  <a:cs typeface="Bookman Old Style"/>
                </a:endParaRPr>
              </a:p>
              <a:p>
                <a:pPr lvl="1">
                  <a:lnSpc>
                    <a:spcPct val="100000"/>
                  </a:lnSpc>
                  <a:buFont typeface="Georgia Pro Cond Semibold"/>
                  <a:buAutoNum type="arabicPeriod" startAt="10"/>
                </a:pPr>
                <a:endParaRPr lang="en-US" sz="1400" dirty="0">
                  <a:latin typeface="Comic Sans MS" panose="030F0702030302020204" pitchFamily="66" charset="0"/>
                  <a:cs typeface="Bookman Old Style"/>
                </a:endParaRPr>
              </a:p>
              <a:p>
                <a:pPr marL="139065">
                  <a:lnSpc>
                    <a:spcPct val="100000"/>
                  </a:lnSpc>
                  <a:tabLst>
                    <a:tab pos="1192530" algn="l"/>
                  </a:tabLst>
                </a:pP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а)</a:t>
                </a:r>
                <a:r>
                  <a:rPr lang="bg-BG" sz="1400" spc="22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A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(3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spc="-8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-25" dirty="0">
                    <a:latin typeface="Comic Sans MS" panose="030F0702030302020204" pitchFamily="66" charset="0"/>
                    <a:cs typeface="Garamond"/>
                  </a:rPr>
                  <a:t>2)</a:t>
                </a:r>
                <a:r>
                  <a:rPr lang="en-US" sz="1400" b="0" i="1" spc="-25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	B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(5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spc="-1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30" dirty="0">
                    <a:latin typeface="Comic Sans MS" panose="030F0702030302020204" pitchFamily="66" charset="0"/>
                    <a:cs typeface="Garamond"/>
                  </a:rPr>
                  <a:t>6)</a:t>
                </a:r>
                <a:endParaRPr lang="en-US" sz="1400" dirty="0">
                  <a:latin typeface="Comic Sans MS" panose="030F0702030302020204" pitchFamily="66" charset="0"/>
                  <a:cs typeface="Garamond"/>
                </a:endParaRPr>
              </a:p>
              <a:p>
                <a:pPr marL="139065">
                  <a:lnSpc>
                    <a:spcPct val="100000"/>
                  </a:lnSpc>
                  <a:tabLst>
                    <a:tab pos="1192530" algn="l"/>
                  </a:tabLst>
                </a:pP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б)</a:t>
                </a:r>
                <a:r>
                  <a:rPr lang="bg-BG" sz="1400" spc="15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A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en-US" sz="1400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1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spc="-13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-20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spc="-20" dirty="0">
                    <a:latin typeface="Comic Sans MS" panose="030F0702030302020204" pitchFamily="66" charset="0"/>
                    <a:cs typeface="Garamond"/>
                  </a:rPr>
                  <a:t>3)</a:t>
                </a:r>
                <a:r>
                  <a:rPr lang="en-US" sz="1400" b="0" i="1" spc="-20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	B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en-US" sz="1400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3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,</a:t>
                </a:r>
                <a:r>
                  <a:rPr lang="en-US" sz="1400" b="0" i="1" spc="-4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30" dirty="0">
                    <a:latin typeface="Comic Sans MS" panose="030F0702030302020204" pitchFamily="66" charset="0"/>
                    <a:cs typeface="Garamond"/>
                  </a:rPr>
                  <a:t>1)                  </a:t>
                </a:r>
                <a:r>
                  <a:rPr lang="bg-BG" sz="1400" dirty="0" err="1">
                    <a:latin typeface="Comic Sans MS" panose="030F0702030302020204" pitchFamily="66" charset="0"/>
                    <a:cs typeface="Times New Roman"/>
                  </a:rPr>
                  <a:t>Отг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.</a:t>
                </a:r>
                <a:r>
                  <a:rPr lang="bg-BG" sz="1400" spc="204" dirty="0">
                    <a:latin typeface="Comic Sans MS" panose="030F0702030302020204" pitchFamily="66" charset="0"/>
                    <a:cs typeface="Times New Roman"/>
                  </a:rPr>
                  <a:t> 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а)</a:t>
                </a:r>
                <a:r>
                  <a:rPr lang="bg-BG" sz="1400" spc="11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157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b="0" i="1" spc="-2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spc="-3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112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spc="-10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8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="0" i="1" spc="-9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spc="-10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en-US" sz="1400" spc="-75" dirty="0">
                    <a:latin typeface="Comic Sans MS" panose="030F0702030302020204" pitchFamily="66" charset="0"/>
                    <a:cs typeface="Garamond"/>
                  </a:rPr>
                  <a:t>8</a:t>
                </a:r>
                <a:r>
                  <a:rPr lang="en-US" sz="1400" b="0" i="1" spc="-75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b="0" i="1" spc="-4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2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27</a:t>
                </a:r>
                <a:r>
                  <a:rPr lang="en-US" sz="1400" spc="3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en-US" sz="1400" spc="4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spc="-50" dirty="0">
                    <a:latin typeface="Comic Sans MS" panose="030F0702030302020204" pitchFamily="66" charset="0"/>
                    <a:cs typeface="Garamond"/>
                  </a:rPr>
                  <a:t>0</a:t>
                </a:r>
                <a:endParaRPr lang="en-US" sz="1400" dirty="0">
                  <a:latin typeface="Comic Sans MS" panose="030F0702030302020204" pitchFamily="66" charset="0"/>
                  <a:cs typeface="Garamond"/>
                </a:endParaRPr>
              </a:p>
              <a:p>
                <a:pPr marL="3630929">
                  <a:lnSpc>
                    <a:spcPct val="100000"/>
                  </a:lnSpc>
                  <a:spcBef>
                    <a:spcPts val="10"/>
                  </a:spcBef>
                </a:pP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б)</a:t>
                </a:r>
                <a:r>
                  <a:rPr lang="bg-BG" sz="1400" spc="7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127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4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b="0" i="1" spc="-2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spc="-3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89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4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4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="0" i="1" spc="-9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45" dirty="0">
                    <a:latin typeface="Comic Sans MS" panose="030F0702030302020204" pitchFamily="66" charset="0"/>
                    <a:cs typeface="Garamond"/>
                  </a:rPr>
                  <a:t> 2</a:t>
                </a:r>
                <a:r>
                  <a:rPr lang="en-US" sz="1400" b="0" i="1" spc="-45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b="0" i="1" spc="-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en-US" sz="1400" spc="3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spc="-50" dirty="0">
                    <a:latin typeface="Comic Sans MS" panose="030F0702030302020204" pitchFamily="66" charset="0"/>
                    <a:cs typeface="Garamond"/>
                  </a:rPr>
                  <a:t>0</a:t>
                </a:r>
                <a:endParaRPr lang="en-US" sz="1400" dirty="0">
                  <a:latin typeface="Comic Sans MS" panose="030F0702030302020204" pitchFamily="66" charset="0"/>
                  <a:cs typeface="Garamond"/>
                </a:endParaRPr>
              </a:p>
              <a:p>
                <a:pPr marL="63500" marR="43180" lvl="1">
                  <a:lnSpc>
                    <a:spcPct val="100000"/>
                  </a:lnSpc>
                  <a:spcBef>
                    <a:spcPts val="600"/>
                  </a:spcBef>
                  <a:tabLst>
                    <a:tab pos="533400" algn="l"/>
                  </a:tabLst>
                </a:pPr>
                <a:r>
                  <a:rPr lang="en-US" sz="1400" dirty="0">
                    <a:latin typeface="Comic Sans MS" panose="030F0702030302020204" pitchFamily="66" charset="0"/>
                    <a:cs typeface="Times New Roman"/>
                  </a:rPr>
                  <a:t>4. </a:t>
                </a:r>
                <a:r>
                  <a:rPr lang="bg-BG" sz="1400" dirty="0" err="1">
                    <a:latin typeface="Comic Sans MS" panose="030F0702030302020204" pitchFamily="66" charset="0"/>
                    <a:cs typeface="Times New Roman"/>
                  </a:rPr>
                  <a:t>Намерете</a:t>
                </a:r>
                <a:r>
                  <a:rPr lang="bg-BG" sz="1400" spc="16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spc="45" dirty="0">
                    <a:latin typeface="Comic Sans MS" panose="030F0702030302020204" pitchFamily="66" charset="0"/>
                    <a:cs typeface="Times New Roman"/>
                  </a:rPr>
                  <a:t>дължината</a:t>
                </a:r>
                <a:r>
                  <a:rPr lang="bg-BG" sz="1400" spc="17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на</a:t>
                </a:r>
                <a:r>
                  <a:rPr lang="bg-BG" sz="1400" spc="16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хордата,</a:t>
                </a:r>
                <a:r>
                  <a:rPr lang="bg-BG" sz="1400" spc="18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която</a:t>
                </a:r>
                <a:r>
                  <a:rPr lang="bg-BG" sz="1400" spc="16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правата</a:t>
                </a:r>
                <a:r>
                  <a:rPr lang="bg-BG" sz="1400" spc="16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с</a:t>
                </a:r>
                <a:r>
                  <a:rPr lang="bg-BG" sz="1400" spc="17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уравнение</a:t>
                </a:r>
                <a:r>
                  <a:rPr lang="bg-BG" sz="1400" spc="18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spc="-1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b="0" i="1" spc="12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en-US" sz="1400" spc="114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="0" i="1" spc="-4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spc="-70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4</a:t>
                </a:r>
                <a:r>
                  <a:rPr lang="en-US" sz="1400" spc="160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bg-BG" sz="1400" spc="-25" dirty="0" err="1">
                    <a:latin typeface="Comic Sans MS" panose="030F0702030302020204" pitchFamily="66" charset="0"/>
                    <a:cs typeface="Times New Roman"/>
                  </a:rPr>
                  <a:t>от</a:t>
                </a:r>
                <a:r>
                  <a:rPr lang="bg-BG" sz="1400" spc="-25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сича</a:t>
                </a:r>
                <a:r>
                  <a:rPr lang="bg-BG" sz="1400" spc="14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от</a:t>
                </a:r>
                <a:r>
                  <a:rPr lang="bg-BG" sz="1400" spc="13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окръжността</a:t>
                </a:r>
                <a:r>
                  <a:rPr lang="bg-BG" sz="1400" spc="14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bg-BG" sz="1400" dirty="0">
                    <a:latin typeface="Comic Sans MS" panose="030F0702030302020204" pitchFamily="66" charset="0"/>
                    <a:cs typeface="Garamond"/>
                  </a:rPr>
                  <a:t>(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k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)</a:t>
                </a:r>
                <a:r>
                  <a:rPr lang="en-US" sz="1400" spc="7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spc="60" dirty="0">
                    <a:latin typeface="Comic Sans MS" panose="030F0702030302020204" pitchFamily="66" charset="0"/>
                    <a:cs typeface="Garamond"/>
                  </a:rPr>
                  <a:t>:</a:t>
                </a:r>
                <a:r>
                  <a:rPr lang="en-US" sz="1400" spc="7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202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b="0" i="1" spc="-2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spc="-30" baseline="31250" dirty="0">
                    <a:latin typeface="Comic Sans MS" panose="030F0702030302020204" pitchFamily="66" charset="0"/>
                    <a:cs typeface="Century"/>
                  </a:rPr>
                  <a:t>2</a:t>
                </a:r>
                <a:r>
                  <a:rPr lang="en-US" sz="1400" spc="157" baseline="31250" dirty="0">
                    <a:latin typeface="Comic Sans MS" panose="030F0702030302020204" pitchFamily="66" charset="0"/>
                    <a:cs typeface="Century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+</a:t>
                </a:r>
                <a:r>
                  <a:rPr lang="en-US" sz="1400" spc="-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dirty="0">
                    <a:latin typeface="Comic Sans MS" panose="030F0702030302020204" pitchFamily="66" charset="0"/>
                    <a:cs typeface="Garamond"/>
                  </a:rPr>
                  <a:t>2</a:t>
                </a:r>
                <a:r>
                  <a:rPr lang="en-US" sz="1400" b="0" i="1" dirty="0">
                    <a:latin typeface="Comic Sans MS" panose="030F0702030302020204" pitchFamily="66" charset="0"/>
                    <a:cs typeface="Bookman Old Style"/>
                  </a:rPr>
                  <a:t>x</a:t>
                </a:r>
                <a:r>
                  <a:rPr lang="en-US" sz="1400" b="0" i="1" spc="-55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-35" dirty="0">
                    <a:latin typeface="Comic Sans MS" panose="030F0702030302020204" pitchFamily="66" charset="0"/>
                    <a:cs typeface="Lucida Sans Unicode"/>
                  </a:rPr>
                  <a:t>−</a:t>
                </a:r>
                <a:r>
                  <a:rPr lang="en-US" sz="1400" spc="-95" dirty="0">
                    <a:latin typeface="Comic Sans MS" panose="030F0702030302020204" pitchFamily="66" charset="0"/>
                    <a:cs typeface="Lucida Sans Unicode"/>
                  </a:rPr>
                  <a:t> </a:t>
                </a:r>
                <a:r>
                  <a:rPr lang="en-US" sz="1400" spc="-30" dirty="0">
                    <a:latin typeface="Comic Sans MS" panose="030F0702030302020204" pitchFamily="66" charset="0"/>
                    <a:cs typeface="Garamond"/>
                  </a:rPr>
                  <a:t>4</a:t>
                </a:r>
                <a:r>
                  <a:rPr lang="en-US" sz="1400" b="0" i="1" spc="-30" dirty="0">
                    <a:latin typeface="Comic Sans MS" panose="030F0702030302020204" pitchFamily="66" charset="0"/>
                    <a:cs typeface="Bookman Old Style"/>
                  </a:rPr>
                  <a:t>y</a:t>
                </a:r>
                <a:r>
                  <a:rPr lang="en-US" sz="1400" b="0" i="1" spc="6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:r>
                  <a:rPr lang="en-US" sz="1400" spc="100" dirty="0">
                    <a:latin typeface="Comic Sans MS" panose="030F0702030302020204" pitchFamily="66" charset="0"/>
                    <a:cs typeface="Garamond"/>
                  </a:rPr>
                  <a:t>=</a:t>
                </a:r>
                <a:r>
                  <a:rPr lang="en-US" sz="1400" spc="75" dirty="0">
                    <a:latin typeface="Comic Sans MS" panose="030F0702030302020204" pitchFamily="66" charset="0"/>
                    <a:cs typeface="Garamond"/>
                  </a:rPr>
                  <a:t> </a:t>
                </a:r>
                <a:r>
                  <a:rPr lang="en-US" sz="1400" spc="-25" dirty="0">
                    <a:latin typeface="Comic Sans MS" panose="030F0702030302020204" pitchFamily="66" charset="0"/>
                    <a:cs typeface="Garamond"/>
                  </a:rPr>
                  <a:t>20</a:t>
                </a:r>
                <a:r>
                  <a:rPr lang="en-US" sz="1400" b="0" i="1" spc="-25" dirty="0">
                    <a:latin typeface="Comic Sans MS" panose="030F0702030302020204" pitchFamily="66" charset="0"/>
                    <a:cs typeface="Bookman Old Style"/>
                  </a:rPr>
                  <a:t>.</a:t>
                </a:r>
                <a:endParaRPr lang="en-US" sz="1400" dirty="0">
                  <a:latin typeface="Comic Sans MS" panose="030F0702030302020204" pitchFamily="66" charset="0"/>
                  <a:cs typeface="Bookman Old Style"/>
                </a:endParaRPr>
              </a:p>
              <a:p>
                <a:pPr marR="43180" algn="r">
                  <a:lnSpc>
                    <a:spcPct val="100000"/>
                  </a:lnSpc>
                  <a:spcBef>
                    <a:spcPts val="1515"/>
                  </a:spcBef>
                </a:pPr>
                <a:r>
                  <a:rPr lang="bg-BG" sz="1400" dirty="0">
                    <a:latin typeface="Comic Sans MS" panose="030F0702030302020204" pitchFamily="66" charset="0"/>
                    <a:cs typeface="Times New Roman"/>
                  </a:rPr>
                  <a:t>Отг.</a:t>
                </a:r>
                <a:r>
                  <a:rPr lang="bg-BG" sz="1400" spc="110" dirty="0">
                    <a:latin typeface="Comic Sans MS" panose="030F0702030302020204" pitchFamily="66" charset="0"/>
                    <a:cs typeface="Times New Roman"/>
                  </a:rPr>
                  <a:t> </a:t>
                </a:r>
                <a:r>
                  <a:rPr lang="en-US" sz="1400" b="0" i="1" spc="-170" dirty="0">
                    <a:latin typeface="Comic Sans MS" panose="030F0702030302020204" pitchFamily="66" charset="0"/>
                    <a:cs typeface="Bookman Old Style"/>
                  </a:rPr>
                  <a:t>d</a:t>
                </a:r>
                <a:r>
                  <a:rPr lang="en-US" sz="1400" b="0" i="1" spc="-20" dirty="0">
                    <a:latin typeface="Comic Sans MS" panose="030F0702030302020204" pitchFamily="66" charset="0"/>
                    <a:cs typeface="Bookman Old Styl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pc="100" dirty="0" smtClean="0">
                        <a:latin typeface="Cambria Math" panose="02040503050406030204" pitchFamily="18" charset="0"/>
                        <a:cs typeface="Garamond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1400" i="1" spc="100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400" b="0" i="1" spc="1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ar-AE" sz="1400" i="1" spc="50" dirty="0">
                        <a:latin typeface="Cambria Math" panose="02040503050406030204" pitchFamily="18" charset="0"/>
                        <a:cs typeface="Garamond"/>
                      </a:rPr>
                      <m:t> </m:t>
                    </m:r>
                  </m:oMath>
                </a14:m>
                <a:endParaRPr sz="1400" dirty="0">
                  <a:latin typeface="Comic Sans MS" panose="030F0702030302020204" pitchFamily="66" charset="0"/>
                  <a:cs typeface="Garamond"/>
                </a:endParaRPr>
              </a:p>
            </p:txBody>
          </p:sp>
        </mc:Choice>
        <mc:Fallback xmlns="">
          <p:sp>
            <p:nvSpPr>
              <p:cNvPr id="3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18" y="5069914"/>
                <a:ext cx="5695315" cy="2035301"/>
              </a:xfrm>
              <a:prstGeom prst="rect">
                <a:avLst/>
              </a:prstGeom>
              <a:blipFill>
                <a:blip r:embed="rId2"/>
                <a:stretch>
                  <a:fillRect l="-857" t="-2395" r="-107" b="-3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2">
            <a:extLst>
              <a:ext uri="{FF2B5EF4-FFF2-40B4-BE49-F238E27FC236}">
                <a16:creationId xmlns:a16="http://schemas.microsoft.com/office/drawing/2014/main" id="{87C92384-A8A6-DD6A-4190-226469DE0467}"/>
              </a:ext>
            </a:extLst>
          </p:cNvPr>
          <p:cNvSpPr txBox="1"/>
          <p:nvPr/>
        </p:nvSpPr>
        <p:spPr>
          <a:xfrm>
            <a:off x="628123" y="7322906"/>
            <a:ext cx="5911215" cy="2309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7480" algn="r">
              <a:lnSpc>
                <a:spcPct val="100000"/>
              </a:lnSpc>
              <a:spcBef>
                <a:spcPts val="95"/>
              </a:spcBef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 marL="212725" lvl="1">
              <a:lnSpc>
                <a:spcPct val="100000"/>
              </a:lnSpc>
              <a:tabLst>
                <a:tab pos="602615" algn="l"/>
              </a:tabLst>
            </a:pPr>
            <a:r>
              <a:rPr lang="en-US" sz="1400" dirty="0">
                <a:latin typeface="Comic Sans MS" panose="030F0702030302020204" pitchFamily="66" charset="0"/>
                <a:cs typeface="Times New Roman"/>
              </a:rPr>
              <a:t>5. </a:t>
            </a:r>
            <a:r>
              <a:rPr sz="1400" dirty="0" err="1">
                <a:latin typeface="Comic Sans MS" panose="030F0702030302020204" pitchFamily="66" charset="0"/>
                <a:cs typeface="Times New Roman"/>
              </a:rPr>
              <a:t>Напишете</a:t>
            </a:r>
            <a:r>
              <a:rPr sz="1400" spc="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уравнението</a:t>
            </a:r>
            <a:r>
              <a:rPr sz="1400" spc="1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400" spc="1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общата</a:t>
            </a:r>
            <a:r>
              <a:rPr sz="1400" spc="9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хорда</a:t>
            </a:r>
            <a:r>
              <a:rPr sz="1400" spc="1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400" spc="1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окръжностите</a:t>
            </a:r>
            <a:r>
              <a:rPr sz="1400" spc="1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k</a:t>
            </a:r>
            <a:r>
              <a:rPr sz="1400" baseline="-13888" dirty="0">
                <a:latin typeface="Comic Sans MS" panose="030F0702030302020204" pitchFamily="66" charset="0"/>
                <a:cs typeface="Century"/>
              </a:rPr>
              <a:t>1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)</a:t>
            </a:r>
            <a:r>
              <a:rPr sz="1400" spc="10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60" dirty="0">
                <a:latin typeface="Comic Sans MS" panose="030F0702030302020204" pitchFamily="66" charset="0"/>
                <a:cs typeface="Garamond"/>
              </a:rPr>
              <a:t>:</a:t>
            </a:r>
            <a:r>
              <a:rPr sz="1400" spc="10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4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400" spc="22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400" spc="-114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4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400" spc="322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= </a:t>
            </a:r>
            <a:r>
              <a:rPr sz="1400" spc="-25" dirty="0">
                <a:latin typeface="Comic Sans MS" panose="030F0702030302020204" pitchFamily="66" charset="0"/>
                <a:cs typeface="Garamond"/>
              </a:rPr>
              <a:t>10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и</a:t>
            </a:r>
            <a:r>
              <a:rPr sz="1400" spc="1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k</a:t>
            </a:r>
            <a:r>
              <a:rPr sz="1400" baseline="-13888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)</a:t>
            </a:r>
            <a:r>
              <a:rPr sz="1400" spc="4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60" dirty="0">
                <a:latin typeface="Comic Sans MS" panose="030F0702030302020204" pitchFamily="66" charset="0"/>
                <a:cs typeface="Garamond"/>
              </a:rPr>
              <a:t>:</a:t>
            </a:r>
            <a:r>
              <a:rPr sz="1400" spc="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4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400" spc="15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400" spc="-3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b="0" i="1" spc="-1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400" spc="-15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400" spc="142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4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400" spc="-10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10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400" b="0" i="1" spc="-10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400" spc="-114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400" spc="-45" dirty="0">
                <a:latin typeface="Comic Sans MS" panose="030F0702030302020204" pitchFamily="66" charset="0"/>
                <a:cs typeface="Garamond"/>
              </a:rPr>
              <a:t>10</a:t>
            </a:r>
            <a:r>
              <a:rPr sz="1400" b="0" i="1" spc="-4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4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400" spc="-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30</a:t>
            </a:r>
            <a:r>
              <a:rPr sz="1400" spc="3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400" spc="4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-25" dirty="0">
                <a:latin typeface="Comic Sans MS" panose="030F0702030302020204" pitchFamily="66" charset="0"/>
                <a:cs typeface="Garamond"/>
              </a:rPr>
              <a:t>0</a:t>
            </a:r>
            <a:r>
              <a:rPr sz="1400" b="0" i="1" spc="-25" dirty="0">
                <a:latin typeface="Comic Sans MS" panose="030F0702030302020204" pitchFamily="66" charset="0"/>
                <a:cs typeface="Bookman Old Style"/>
              </a:rPr>
              <a:t>.</a:t>
            </a:r>
            <a:endParaRPr sz="1400" dirty="0">
              <a:latin typeface="Comic Sans MS" panose="030F0702030302020204" pitchFamily="66" charset="0"/>
              <a:cs typeface="Bookman Old Style"/>
            </a:endParaRPr>
          </a:p>
          <a:p>
            <a:pPr marR="158115" algn="r">
              <a:lnSpc>
                <a:spcPct val="100000"/>
              </a:lnSpc>
              <a:spcBef>
                <a:spcPts val="1510"/>
              </a:spcBef>
            </a:pPr>
            <a:r>
              <a:rPr sz="1400" dirty="0">
                <a:latin typeface="Comic Sans MS" panose="030F0702030302020204" pitchFamily="66" charset="0"/>
                <a:cs typeface="Times New Roman"/>
              </a:rPr>
              <a:t>Отг.</a:t>
            </a:r>
            <a:r>
              <a:rPr sz="1400" spc="9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400" b="0" i="1" spc="-8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400" spc="-2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b="0" i="1" spc="-16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400" b="0" i="1" spc="-4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400" spc="-10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400" spc="4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400" spc="4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-50" dirty="0">
                <a:latin typeface="Comic Sans MS" panose="030F0702030302020204" pitchFamily="66" charset="0"/>
                <a:cs typeface="Garamond"/>
              </a:rPr>
              <a:t>0</a:t>
            </a:r>
            <a:endParaRPr sz="1400" dirty="0">
              <a:latin typeface="Comic Sans MS" panose="030F0702030302020204" pitchFamily="66" charset="0"/>
              <a:cs typeface="Garamond"/>
            </a:endParaRPr>
          </a:p>
          <a:p>
            <a:pPr marL="164465" marR="157480" lvl="1">
              <a:lnSpc>
                <a:spcPct val="100800"/>
              </a:lnSpc>
              <a:spcBef>
                <a:spcPts val="50"/>
              </a:spcBef>
              <a:tabLst>
                <a:tab pos="636270" algn="l"/>
              </a:tabLst>
            </a:pPr>
            <a:r>
              <a:rPr lang="en-US" sz="1400" dirty="0">
                <a:latin typeface="Comic Sans MS" panose="030F0702030302020204" pitchFamily="66" charset="0"/>
                <a:cs typeface="Times New Roman"/>
              </a:rPr>
              <a:t>6. </a:t>
            </a:r>
            <a:r>
              <a:rPr sz="1400" dirty="0" err="1">
                <a:latin typeface="Comic Sans MS" panose="030F0702030302020204" pitchFamily="66" charset="0"/>
                <a:cs typeface="Times New Roman"/>
              </a:rPr>
              <a:t>Напишете</a:t>
            </a:r>
            <a:r>
              <a:rPr sz="1400" spc="2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уравнението</a:t>
            </a:r>
            <a:r>
              <a:rPr sz="1400" spc="2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на</a:t>
            </a:r>
            <a:r>
              <a:rPr sz="1400" spc="25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окръжност,</a:t>
            </a:r>
            <a:r>
              <a:rPr sz="1400" spc="2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която</a:t>
            </a:r>
            <a:r>
              <a:rPr sz="1400" spc="2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е</a:t>
            </a:r>
            <a:r>
              <a:rPr sz="1400" spc="26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вписана</a:t>
            </a:r>
            <a:r>
              <a:rPr sz="1400" spc="25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в</a:t>
            </a:r>
            <a:r>
              <a:rPr sz="1400" spc="2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триъгълника,</a:t>
            </a:r>
            <a:r>
              <a:rPr sz="1400" spc="2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spc="-25" dirty="0" err="1">
                <a:latin typeface="Comic Sans MS" panose="030F0702030302020204" pitchFamily="66" charset="0"/>
                <a:cs typeface="Times New Roman"/>
              </a:rPr>
              <a:t>ог</a:t>
            </a:r>
            <a:r>
              <a:rPr sz="1400" dirty="0" err="1">
                <a:latin typeface="Comic Sans MS" panose="030F0702030302020204" pitchFamily="66" charset="0"/>
                <a:cs typeface="Times New Roman"/>
              </a:rPr>
              <a:t>раничен</a:t>
            </a:r>
            <a:r>
              <a:rPr sz="1400" spc="16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 err="1">
                <a:latin typeface="Comic Sans MS" panose="030F0702030302020204" pitchFamily="66" charset="0"/>
                <a:cs typeface="Times New Roman"/>
              </a:rPr>
              <a:t>от</a:t>
            </a:r>
            <a:r>
              <a:rPr lang="en-US" sz="1400" spc="1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lang="bg-BG" sz="1400" dirty="0">
                <a:latin typeface="Comic Sans MS" panose="030F0702030302020204" pitchFamily="66" charset="0"/>
                <a:cs typeface="Times New Roman"/>
              </a:rPr>
              <a:t>к</a:t>
            </a:r>
            <a:r>
              <a:rPr sz="1400" dirty="0" err="1">
                <a:latin typeface="Comic Sans MS" panose="030F0702030302020204" pitchFamily="66" charset="0"/>
                <a:cs typeface="Times New Roman"/>
              </a:rPr>
              <a:t>оординатните</a:t>
            </a:r>
            <a:r>
              <a:rPr sz="1400" spc="1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оси</a:t>
            </a:r>
            <a:r>
              <a:rPr sz="1400" spc="1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и</a:t>
            </a:r>
            <a:r>
              <a:rPr sz="1400" spc="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правата</a:t>
            </a:r>
            <a:r>
              <a:rPr sz="1400" spc="1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с</a:t>
            </a:r>
            <a:r>
              <a:rPr sz="1400" spc="1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Times New Roman"/>
              </a:rPr>
              <a:t>уравнение</a:t>
            </a:r>
            <a:r>
              <a:rPr sz="1400" spc="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3</a:t>
            </a:r>
            <a:r>
              <a:rPr sz="1400" b="0" i="1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400" b="0" i="1" spc="-5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 </a:t>
            </a:r>
            <a:r>
              <a:rPr lang="en-US" sz="1400" spc="-75" dirty="0">
                <a:latin typeface="Comic Sans MS" panose="030F0702030302020204" pitchFamily="66" charset="0"/>
                <a:cs typeface="Garamond"/>
              </a:rPr>
              <a:t>4</a:t>
            </a:r>
            <a:r>
              <a:rPr sz="1400" b="0" i="1" spc="-75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400" b="0" i="1" spc="-1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4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400" spc="-8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400" dirty="0">
                <a:latin typeface="Comic Sans MS" panose="030F0702030302020204" pitchFamily="66" charset="0"/>
                <a:cs typeface="Garamond"/>
              </a:rPr>
              <a:t>12</a:t>
            </a:r>
            <a:r>
              <a:rPr sz="1400" spc="8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400" spc="7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400" spc="-25" dirty="0">
                <a:latin typeface="Comic Sans MS" panose="030F0702030302020204" pitchFamily="66" charset="0"/>
                <a:cs typeface="Garamond"/>
              </a:rPr>
              <a:t>0</a:t>
            </a:r>
            <a:r>
              <a:rPr sz="1400" b="0" i="1" spc="-25" dirty="0">
                <a:latin typeface="Comic Sans MS" panose="030F0702030302020204" pitchFamily="66" charset="0"/>
                <a:cs typeface="Bookman Old Style"/>
              </a:rPr>
              <a:t>.</a:t>
            </a:r>
            <a:endParaRPr sz="1400" dirty="0">
              <a:latin typeface="Comic Sans MS" panose="030F0702030302020204" pitchFamily="66" charset="0"/>
              <a:cs typeface="Bookman Old Style"/>
            </a:endParaRPr>
          </a:p>
          <a:p>
            <a:pPr marR="157480" algn="r">
              <a:lnSpc>
                <a:spcPct val="100000"/>
              </a:lnSpc>
              <a:spcBef>
                <a:spcPts val="1510"/>
              </a:spcBef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Отг.</a:t>
            </a:r>
            <a:r>
              <a:rPr sz="1200" spc="1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1200" spc="55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200" b="0" i="1" spc="55" dirty="0">
                <a:latin typeface="Comic Sans MS" panose="030F0702030302020204" pitchFamily="66" charset="0"/>
                <a:cs typeface="Bookman Old Style"/>
              </a:rPr>
              <a:t>x</a:t>
            </a:r>
            <a:r>
              <a:rPr sz="1200" b="0" i="1" spc="-65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5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1)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18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+</a:t>
            </a:r>
            <a:r>
              <a:rPr sz="1200" spc="-10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20" dirty="0">
                <a:latin typeface="Comic Sans MS" panose="030F0702030302020204" pitchFamily="66" charset="0"/>
                <a:cs typeface="Garamond"/>
              </a:rPr>
              <a:t>(</a:t>
            </a:r>
            <a:r>
              <a:rPr sz="1200" b="0" i="1" spc="-20" dirty="0">
                <a:latin typeface="Comic Sans MS" panose="030F0702030302020204" pitchFamily="66" charset="0"/>
                <a:cs typeface="Bookman Old Style"/>
              </a:rPr>
              <a:t>y</a:t>
            </a:r>
            <a:r>
              <a:rPr sz="1200" b="0" i="1" spc="-30" dirty="0">
                <a:latin typeface="Comic Sans MS" panose="030F0702030302020204" pitchFamily="66" charset="0"/>
                <a:cs typeface="Bookman Old Style"/>
              </a:rPr>
              <a:t> </a:t>
            </a:r>
            <a:r>
              <a:rPr sz="1200" spc="-35" dirty="0">
                <a:latin typeface="Comic Sans MS" panose="030F0702030302020204" pitchFamily="66" charset="0"/>
                <a:cs typeface="Lucida Sans Unicode"/>
              </a:rPr>
              <a:t>−</a:t>
            </a:r>
            <a:r>
              <a:rPr sz="1200" spc="-100" dirty="0">
                <a:latin typeface="Comic Sans MS" panose="030F0702030302020204" pitchFamily="66" charset="0"/>
                <a:cs typeface="Lucida Sans Unicode"/>
              </a:rPr>
              <a:t> </a:t>
            </a:r>
            <a:r>
              <a:rPr sz="1200" dirty="0">
                <a:latin typeface="Comic Sans MS" panose="030F0702030302020204" pitchFamily="66" charset="0"/>
                <a:cs typeface="Garamond"/>
              </a:rPr>
              <a:t>1)</a:t>
            </a:r>
            <a:r>
              <a:rPr sz="1200" baseline="31250" dirty="0">
                <a:latin typeface="Comic Sans MS" panose="030F0702030302020204" pitchFamily="66" charset="0"/>
                <a:cs typeface="Century"/>
              </a:rPr>
              <a:t>2</a:t>
            </a:r>
            <a:r>
              <a:rPr sz="1200" spc="277" baseline="31250" dirty="0">
                <a:latin typeface="Comic Sans MS" panose="030F0702030302020204" pitchFamily="66" charset="0"/>
                <a:cs typeface="Century"/>
              </a:rPr>
              <a:t> </a:t>
            </a:r>
            <a:r>
              <a:rPr sz="1200" spc="100" dirty="0">
                <a:latin typeface="Comic Sans MS" panose="030F0702030302020204" pitchFamily="66" charset="0"/>
                <a:cs typeface="Garamond"/>
              </a:rPr>
              <a:t>=</a:t>
            </a:r>
            <a:r>
              <a:rPr sz="1200" spc="65" dirty="0">
                <a:latin typeface="Comic Sans MS" panose="030F0702030302020204" pitchFamily="66" charset="0"/>
                <a:cs typeface="Garamond"/>
              </a:rPr>
              <a:t> </a:t>
            </a:r>
            <a:r>
              <a:rPr sz="1200" spc="-50" dirty="0">
                <a:latin typeface="Comic Sans MS" panose="030F0702030302020204" pitchFamily="66" charset="0"/>
                <a:cs typeface="Garamond"/>
              </a:rPr>
              <a:t>1</a:t>
            </a:r>
            <a:endParaRPr sz="1200" dirty="0">
              <a:latin typeface="Comic Sans MS" panose="030F0702030302020204" pitchFamily="66" charset="0"/>
              <a:cs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92AE8EC5-EC48-61CD-D3EB-9530C06F3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55" y="748710"/>
            <a:ext cx="5911215" cy="742976"/>
          </a:xfrm>
          <a:prstGeom prst="rect">
            <a:avLst/>
          </a:prstGeom>
        </p:spPr>
      </p:pic>
      <p:pic>
        <p:nvPicPr>
          <p:cNvPr id="59" name="Picture 5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BDCE173-EC03-55A1-3A7E-19C803049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77" y="1514212"/>
            <a:ext cx="5980759" cy="939069"/>
          </a:xfrm>
          <a:prstGeom prst="rect">
            <a:avLst/>
          </a:prstGeom>
        </p:spPr>
      </p:pic>
      <p:pic>
        <p:nvPicPr>
          <p:cNvPr id="60" name="Picture 59" descr="A close up of text&#10;&#10;AI-generated content may be incorrect.">
            <a:extLst>
              <a:ext uri="{FF2B5EF4-FFF2-40B4-BE49-F238E27FC236}">
                <a16:creationId xmlns:a16="http://schemas.microsoft.com/office/drawing/2014/main" id="{7E67C979-592C-90BF-0493-52134248C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01" y="2257188"/>
            <a:ext cx="5980759" cy="8406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062721-675C-E367-9F1A-60858AB0E8C0}"/>
                  </a:ext>
                </a:extLst>
              </p14:cNvPr>
              <p14:cNvContentPartPr/>
              <p14:nvPr/>
            </p14:nvContentPartPr>
            <p14:xfrm rot="-268801">
              <a:off x="969114" y="835225"/>
              <a:ext cx="382740" cy="51608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062721-675C-E367-9F1A-60858AB0E8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-268801">
                <a:off x="906163" y="772507"/>
                <a:ext cx="508282" cy="176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5E31D9-C3D2-6B39-BC73-22BB6FC196D7}"/>
                  </a:ext>
                </a:extLst>
              </p14:cNvPr>
              <p14:cNvContentPartPr/>
              <p14:nvPr/>
            </p14:nvContentPartPr>
            <p14:xfrm>
              <a:off x="1015404" y="738269"/>
              <a:ext cx="722520" cy="293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5E31D9-C3D2-6B39-BC73-22BB6FC196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2764" y="675269"/>
                <a:ext cx="8481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6C8C915-A417-82E3-E105-A0CDDB75E435}"/>
                  </a:ext>
                </a:extLst>
              </p14:cNvPr>
              <p14:cNvContentPartPr/>
              <p14:nvPr/>
            </p14:nvContentPartPr>
            <p14:xfrm>
              <a:off x="877164" y="831149"/>
              <a:ext cx="869040" cy="22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6C8C915-A417-82E3-E105-A0CDDB75E4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4524" y="768509"/>
                <a:ext cx="99468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AEC31B6-51B8-D56E-8027-A806F0112817}"/>
                  </a:ext>
                </a:extLst>
              </p14:cNvPr>
              <p14:cNvContentPartPr/>
              <p14:nvPr/>
            </p14:nvContentPartPr>
            <p14:xfrm>
              <a:off x="758364" y="1632509"/>
              <a:ext cx="977040" cy="162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AEC31B6-51B8-D56E-8027-A806F011281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5724" y="1569869"/>
                <a:ext cx="11026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EC9758-A84A-F1A2-BF0F-9D111D7E7885}"/>
                  </a:ext>
                </a:extLst>
              </p14:cNvPr>
              <p14:cNvContentPartPr/>
              <p14:nvPr/>
            </p14:nvContentPartPr>
            <p14:xfrm>
              <a:off x="627684" y="2379149"/>
              <a:ext cx="1091520" cy="134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EC9758-A84A-F1A2-BF0F-9D111D7E78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4684" y="2316149"/>
                <a:ext cx="121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5DCCD40-9A80-A501-CA98-43025A3346B2}"/>
                  </a:ext>
                </a:extLst>
              </p14:cNvPr>
              <p14:cNvContentPartPr/>
              <p14:nvPr/>
            </p14:nvContentPartPr>
            <p14:xfrm>
              <a:off x="738564" y="2493989"/>
              <a:ext cx="357840" cy="47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5DCCD40-9A80-A501-CA98-43025A3346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5924" y="2430989"/>
                <a:ext cx="4834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DEEF75-3F1C-CBDF-FC72-FCED28865D84}"/>
                  </a:ext>
                </a:extLst>
              </p14:cNvPr>
              <p14:cNvContentPartPr/>
              <p14:nvPr/>
            </p14:nvContentPartPr>
            <p14:xfrm>
              <a:off x="9171204" y="4340789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DEEF75-3F1C-CBDF-FC72-FCED28865D8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08564" y="4277789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B79E27-BB80-02F8-EC0B-312307AF43EB}"/>
              </a:ext>
            </a:extLst>
          </p:cNvPr>
          <p:cNvSpPr txBox="1"/>
          <p:nvPr/>
        </p:nvSpPr>
        <p:spPr>
          <a:xfrm>
            <a:off x="717732" y="778836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Задача 7.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99320A-E10C-2039-21AC-0BD6F4797C92}"/>
              </a:ext>
            </a:extLst>
          </p:cNvPr>
          <p:cNvSpPr txBox="1"/>
          <p:nvPr/>
        </p:nvSpPr>
        <p:spPr>
          <a:xfrm>
            <a:off x="627684" y="1589189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Задача 8.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1E723-386B-4AFA-04B5-E49A65EB3A84}"/>
              </a:ext>
            </a:extLst>
          </p:cNvPr>
          <p:cNvSpPr txBox="1"/>
          <p:nvPr/>
        </p:nvSpPr>
        <p:spPr>
          <a:xfrm>
            <a:off x="644292" y="2313912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Задача 9.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029B83A6C60E4E8E76FBB39EFC46EF" ma:contentTypeVersion="4" ma:contentTypeDescription="Create a new document." ma:contentTypeScope="" ma:versionID="bc2eaa56c01af471e2e6dbf0244e9c0c">
  <xsd:schema xmlns:xsd="http://www.w3.org/2001/XMLSchema" xmlns:xs="http://www.w3.org/2001/XMLSchema" xmlns:p="http://schemas.microsoft.com/office/2006/metadata/properties" xmlns:ns2="965eb245-00d1-4304-8ecd-44747c24bd45" targetNamespace="http://schemas.microsoft.com/office/2006/metadata/properties" ma:root="true" ma:fieldsID="303d0e769250d69d6f66a6256d2943e5" ns2:_="">
    <xsd:import namespace="965eb245-00d1-4304-8ecd-44747c24b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eb245-00d1-4304-8ecd-44747c24b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586DF3-6516-4678-945C-031640929A46}"/>
</file>

<file path=customXml/itemProps2.xml><?xml version="1.0" encoding="utf-8"?>
<ds:datastoreItem xmlns:ds="http://schemas.openxmlformats.org/officeDocument/2006/customXml" ds:itemID="{6068D6A8-8765-4962-9282-76C5E4F361CD}"/>
</file>

<file path=customXml/itemProps3.xml><?xml version="1.0" encoding="utf-8"?>
<ds:datastoreItem xmlns:ds="http://schemas.openxmlformats.org/officeDocument/2006/customXml" ds:itemID="{B25B0042-E4C1-46CF-BF4D-374A803A3B4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</TotalTime>
  <Words>1500</Words>
  <Application>Microsoft Office PowerPoint</Application>
  <PresentationFormat>Custom</PresentationFormat>
  <Paragraphs>204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Abadi Extra Light</vt:lpstr>
      <vt:lpstr>Aptos</vt:lpstr>
      <vt:lpstr>Arial</vt:lpstr>
      <vt:lpstr>Bookman Old Style</vt:lpstr>
      <vt:lpstr>Cambria Math</vt:lpstr>
      <vt:lpstr>Comic Sans MS</vt:lpstr>
      <vt:lpstr>Constantia</vt:lpstr>
      <vt:lpstr>Garamond</vt:lpstr>
      <vt:lpstr>Georgia Pro Cond Semibold</vt:lpstr>
      <vt:lpstr>Lucida Sans Unicode</vt:lpstr>
      <vt:lpstr>Times New Roman</vt:lpstr>
      <vt:lpstr>Office Theme</vt:lpstr>
      <vt:lpstr>TEMA 2 УРАВНЕНИЕ НА ОКРЪЖНОСТ. 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BMI_2012_AG.dvi</dc:title>
  <cp:lastModifiedBy>Гергана Цветкова</cp:lastModifiedBy>
  <cp:revision>16</cp:revision>
  <dcterms:created xsi:type="dcterms:W3CDTF">2025-02-08T18:26:36Z</dcterms:created>
  <dcterms:modified xsi:type="dcterms:W3CDTF">2025-02-23T07:23:19Z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2013-03-26T00:00:00Z</vt:filetime>
  </property>
  <property fmtid="{D5CDD505-2E9C-101B-9397-08002B2CF9AE}" pid="3" name="Creator">
    <vt:lpwstr>dvips(k) 5.99 Copyright 2010 Radical Eye Software</vt:lpwstr>
  </property>
  <property fmtid="{D5CDD505-2E9C-101B-9397-08002B2CF9AE}" pid="4" name="LastSaved">
    <vt:filetime>2025-02-08T00:00:00Z</vt:filetime>
  </property>
  <property fmtid="{D5CDD505-2E9C-101B-9397-08002B2CF9AE}" pid="5" name="ContentTypeId">
    <vt:lpwstr>0x01010086029B83A6C60E4E8E76FBB39EFC46EF</vt:lpwstr>
  </property>
</Properties>
</file>
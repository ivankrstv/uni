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7" r:id="rId8"/>
    <p:sldId id="268" r:id="rId9"/>
    <p:sldId id="269" r:id="rId10"/>
    <p:sldId id="270" r:id="rId11"/>
    <p:sldId id="271" r:id="rId1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F38CEC-8C22-4A88-BBD8-4D7A531DF165}" v="1303" dt="2025-02-19T19:51:03.87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49" d="100"/>
          <a:sy n="49" d="100"/>
        </p:scale>
        <p:origin x="1348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Гергана Цветкова" userId="7485cc2c5299ee27" providerId="LiveId" clId="{28F38CEC-8C22-4A88-BBD8-4D7A531DF165}"/>
    <pc:docChg chg="undo custSel modSld">
      <pc:chgData name="Гергана Цветкова" userId="7485cc2c5299ee27" providerId="LiveId" clId="{28F38CEC-8C22-4A88-BBD8-4D7A531DF165}" dt="2025-02-19T19:51:03.870" v="2902" actId="20577"/>
      <pc:docMkLst>
        <pc:docMk/>
      </pc:docMkLst>
      <pc:sldChg chg="addSp delSp modSp mod chgLayout">
        <pc:chgData name="Гергана Цветкова" userId="7485cc2c5299ee27" providerId="LiveId" clId="{28F38CEC-8C22-4A88-BBD8-4D7A531DF165}" dt="2025-02-19T19:01:52.056" v="2705" actId="20577"/>
        <pc:sldMkLst>
          <pc:docMk/>
          <pc:sldMk cId="0" sldId="256"/>
        </pc:sldMkLst>
        <pc:spChg chg="mod ord">
          <ac:chgData name="Гергана Цветкова" userId="7485cc2c5299ee27" providerId="LiveId" clId="{28F38CEC-8C22-4A88-BBD8-4D7A531DF165}" dt="2025-02-19T18:57:07.894" v="2601" actId="16037"/>
          <ac:spMkLst>
            <pc:docMk/>
            <pc:sldMk cId="0" sldId="256"/>
            <ac:spMk id="2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8:57:39.091" v="2607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4:50:02.116" v="381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4:50:46.834" v="383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4:50:07.419" v="382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4:49:42.627" v="379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4:49:21.835" v="376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4:49:30.269" v="377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4:49:50.171" v="380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8:58:07.594" v="2615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8:58:22.846" v="2616" actId="2711"/>
          <ac:spMkLst>
            <pc:docMk/>
            <pc:sldMk cId="0" sldId="256"/>
            <ac:spMk id="19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8:50:56.696" v="1571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8:51:09.134" v="1572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9:01:52.056" v="2705" actId="20577"/>
          <ac:spMkLst>
            <pc:docMk/>
            <pc:sldMk cId="0" sldId="256"/>
            <ac:spMk id="22" creationId="{00000000-0000-0000-0000-000000000000}"/>
          </ac:spMkLst>
        </pc:spChg>
        <pc:grpChg chg="mod">
          <ac:chgData name="Гергана Цветкова" userId="7485cc2c5299ee27" providerId="LiveId" clId="{28F38CEC-8C22-4A88-BBD8-4D7A531DF165}" dt="2025-02-07T14:49:08.070" v="375" actId="1076"/>
          <ac:grpSpMkLst>
            <pc:docMk/>
            <pc:sldMk cId="0" sldId="256"/>
            <ac:grpSpMk id="4" creationId="{00000000-0000-0000-0000-000000000000}"/>
          </ac:grpSpMkLst>
        </pc:grpChg>
        <pc:cxnChg chg="add mod">
          <ac:chgData name="Гергана Цветкова" userId="7485cc2c5299ee27" providerId="LiveId" clId="{28F38CEC-8C22-4A88-BBD8-4D7A531DF165}" dt="2025-02-07T14:49:34.545" v="378" actId="1076"/>
          <ac:cxnSpMkLst>
            <pc:docMk/>
            <pc:sldMk cId="0" sldId="256"/>
            <ac:cxnSpMk id="26" creationId="{6C0BABF5-565C-BA43-B276-BFA56C85100D}"/>
          </ac:cxnSpMkLst>
        </pc:cxnChg>
      </pc:sldChg>
      <pc:sldChg chg="addSp delSp modSp mod">
        <pc:chgData name="Гергана Цветкова" userId="7485cc2c5299ee27" providerId="LiveId" clId="{28F38CEC-8C22-4A88-BBD8-4D7A531DF165}" dt="2025-02-19T19:42:40.936" v="2852" actId="20577"/>
        <pc:sldMkLst>
          <pc:docMk/>
          <pc:sldMk cId="0" sldId="257"/>
        </pc:sldMkLst>
        <pc:spChg chg="mod">
          <ac:chgData name="Гергана Цветкова" userId="7485cc2c5299ee27" providerId="LiveId" clId="{28F38CEC-8C22-4A88-BBD8-4D7A531DF165}" dt="2025-02-19T19:39:33.061" v="2848" actId="255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Гергана Цветкова" userId="7485cc2c5299ee27" providerId="LiveId" clId="{28F38CEC-8C22-4A88-BBD8-4D7A531DF165}" dt="2025-02-19T19:26:18.761" v="2835" actId="20577"/>
          <ac:spMkLst>
            <pc:docMk/>
            <pc:sldMk cId="0" sldId="257"/>
            <ac:spMk id="6" creationId="{7A6D29DD-127A-07C7-31A5-520DE5DDEDC0}"/>
          </ac:spMkLst>
        </pc:spChg>
        <pc:spChg chg="mod">
          <ac:chgData name="Гергана Цветкова" userId="7485cc2c5299ee27" providerId="LiveId" clId="{28F38CEC-8C22-4A88-BBD8-4D7A531DF165}" dt="2025-02-07T16:16:58.900" v="443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17:06.209" v="444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16:53.222" v="442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16:22.799" v="440" actId="1076"/>
          <ac:spMkLst>
            <pc:docMk/>
            <pc:sldMk cId="0" sldId="257"/>
            <ac:spMk id="13" creationId="{00000000-0000-0000-0000-000000000000}"/>
          </ac:spMkLst>
        </pc:spChg>
        <pc:spChg chg="del mod">
          <ac:chgData name="Гергана Цветкова" userId="7485cc2c5299ee27" providerId="LiveId" clId="{28F38CEC-8C22-4A88-BBD8-4D7A531DF165}" dt="2025-02-19T19:07:05.321" v="2721" actId="478"/>
          <ac:spMkLst>
            <pc:docMk/>
            <pc:sldMk cId="0" sldId="257"/>
            <ac:spMk id="14" creationId="{00000000-0000-0000-0000-000000000000}"/>
          </ac:spMkLst>
        </pc:spChg>
        <pc:spChg chg="del mod">
          <ac:chgData name="Гергана Цветкова" userId="7485cc2c5299ee27" providerId="LiveId" clId="{28F38CEC-8C22-4A88-BBD8-4D7A531DF165}" dt="2025-02-19T19:21:03.231" v="2742" actId="478"/>
          <ac:spMkLst>
            <pc:docMk/>
            <pc:sldMk cId="0" sldId="257"/>
            <ac:spMk id="15" creationId="{00000000-0000-0000-0000-000000000000}"/>
          </ac:spMkLst>
        </pc:spChg>
        <pc:spChg chg="del mod">
          <ac:chgData name="Гергана Цветкова" userId="7485cc2c5299ee27" providerId="LiveId" clId="{28F38CEC-8C22-4A88-BBD8-4D7A531DF165}" dt="2025-02-19T19:25:27.354" v="2828"/>
          <ac:spMkLst>
            <pc:docMk/>
            <pc:sldMk cId="0" sldId="257"/>
            <ac:spMk id="16" creationId="{00000000-0000-0000-0000-000000000000}"/>
          </ac:spMkLst>
        </pc:spChg>
        <pc:spChg chg="del mod">
          <ac:chgData name="Гергана Цветкова" userId="7485cc2c5299ee27" providerId="LiveId" clId="{28F38CEC-8C22-4A88-BBD8-4D7A531DF165}" dt="2025-02-19T19:25:27.354" v="2826" actId="478"/>
          <ac:spMkLst>
            <pc:docMk/>
            <pc:sldMk cId="0" sldId="257"/>
            <ac:spMk id="17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6T10:20:08.409" v="213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9:42:40.936" v="2852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6T10:23:39.655" v="225" actId="14100"/>
          <ac:spMkLst>
            <pc:docMk/>
            <pc:sldMk cId="0" sldId="257"/>
            <ac:spMk id="25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6T10:24:38.426" v="228" actId="14100"/>
          <ac:spMkLst>
            <pc:docMk/>
            <pc:sldMk cId="0" sldId="257"/>
            <ac:spMk id="27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6T10:24:06.902" v="227" actId="14100"/>
          <ac:spMkLst>
            <pc:docMk/>
            <pc:sldMk cId="0" sldId="257"/>
            <ac:spMk id="28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9:15.949" v="634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9:08.173" v="633" actId="107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9:21.845" v="635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31:08.209" v="645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9:36.005" v="636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31:26.698" v="647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8:53.869" v="631" actId="1076"/>
          <ac:spMkLst>
            <pc:docMk/>
            <pc:sldMk cId="0" sldId="257"/>
            <ac:spMk id="35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9:02.512" v="632" actId="1076"/>
          <ac:spMkLst>
            <pc:docMk/>
            <pc:sldMk cId="0" sldId="257"/>
            <ac:spMk id="36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9:49.582" v="638" actId="1076"/>
          <ac:spMkLst>
            <pc:docMk/>
            <pc:sldMk cId="0" sldId="257"/>
            <ac:spMk id="37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30:42.101" v="642" actId="107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31:33.103" v="648" actId="107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8:27.275" v="627" actId="107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8:34.220" v="628" actId="1076"/>
          <ac:spMkLst>
            <pc:docMk/>
            <pc:sldMk cId="0" sldId="257"/>
            <ac:spMk id="41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8:38.492" v="629" actId="1076"/>
          <ac:spMkLst>
            <pc:docMk/>
            <pc:sldMk cId="0" sldId="257"/>
            <ac:spMk id="42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38:57.962" v="70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7:49.954" v="622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8:06.529" v="624" actId="1076"/>
          <ac:spMkLst>
            <pc:docMk/>
            <pc:sldMk cId="0" sldId="257"/>
            <ac:spMk id="45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7:57.027" v="623" actId="1076"/>
          <ac:spMkLst>
            <pc:docMk/>
            <pc:sldMk cId="0" sldId="257"/>
            <ac:spMk id="46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8:13.618" v="625" actId="107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7:33.599" v="621" actId="1076"/>
          <ac:spMkLst>
            <pc:docMk/>
            <pc:sldMk cId="0" sldId="257"/>
            <ac:spMk id="48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7:22.441" v="619" actId="107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6:27:26.807" v="620" actId="1076"/>
          <ac:spMkLst>
            <pc:docMk/>
            <pc:sldMk cId="0" sldId="257"/>
            <ac:spMk id="50" creationId="{00000000-0000-0000-0000-000000000000}"/>
          </ac:spMkLst>
        </pc:spChg>
        <pc:spChg chg="add mod">
          <ac:chgData name="Гергана Цветкова" userId="7485cc2c5299ee27" providerId="LiveId" clId="{28F38CEC-8C22-4A88-BBD8-4D7A531DF165}" dt="2025-02-07T16:29:42.610" v="637" actId="1076"/>
          <ac:spMkLst>
            <pc:docMk/>
            <pc:sldMk cId="0" sldId="257"/>
            <ac:spMk id="51" creationId="{66607100-7CF2-4DF1-E805-00C6C89C0748}"/>
          </ac:spMkLst>
        </pc:spChg>
        <pc:spChg chg="add mod">
          <ac:chgData name="Гергана Цветкова" userId="7485cc2c5299ee27" providerId="LiveId" clId="{28F38CEC-8C22-4A88-BBD8-4D7A531DF165}" dt="2025-02-07T16:30:58.757" v="644" actId="1076"/>
          <ac:spMkLst>
            <pc:docMk/>
            <pc:sldMk cId="0" sldId="257"/>
            <ac:spMk id="52" creationId="{977119B0-EC26-C025-9480-C0C466B63328}"/>
          </ac:spMkLst>
        </pc:spChg>
        <pc:grpChg chg="mod">
          <ac:chgData name="Гергана Цветкова" userId="7485cc2c5299ee27" providerId="LiveId" clId="{28F38CEC-8C22-4A88-BBD8-4D7A531DF165}" dt="2025-02-07T16:28:44.217" v="630" actId="1076"/>
          <ac:grpSpMkLst>
            <pc:docMk/>
            <pc:sldMk cId="0" sldId="257"/>
            <ac:grpSpMk id="23" creationId="{00000000-0000-0000-0000-000000000000}"/>
          </ac:grpSpMkLst>
        </pc:grpChg>
        <pc:cxnChg chg="add mod">
          <ac:chgData name="Гергана Цветкова" userId="7485cc2c5299ee27" providerId="LiveId" clId="{28F38CEC-8C22-4A88-BBD8-4D7A531DF165}" dt="2025-02-07T16:30:34.399" v="641" actId="1076"/>
          <ac:cxnSpMkLst>
            <pc:docMk/>
            <pc:sldMk cId="0" sldId="257"/>
            <ac:cxnSpMk id="54" creationId="{533FB789-762D-5340-30F6-147A20C4B3F8}"/>
          </ac:cxnSpMkLst>
        </pc:cxnChg>
        <pc:cxnChg chg="add">
          <ac:chgData name="Гергана Цветкова" userId="7485cc2c5299ee27" providerId="LiveId" clId="{28F38CEC-8C22-4A88-BBD8-4D7A531DF165}" dt="2025-02-07T16:16:46.717" v="441" actId="11529"/>
          <ac:cxnSpMkLst>
            <pc:docMk/>
            <pc:sldMk cId="0" sldId="257"/>
            <ac:cxnSpMk id="55" creationId="{5CE30C6A-1C75-4F66-E3B3-C584CDA7B238}"/>
          </ac:cxnSpMkLst>
        </pc:cxnChg>
      </pc:sldChg>
      <pc:sldChg chg="addSp delSp modSp mod">
        <pc:chgData name="Гергана Цветкова" userId="7485cc2c5299ee27" providerId="LiveId" clId="{28F38CEC-8C22-4A88-BBD8-4D7A531DF165}" dt="2025-02-19T18:53:13.381" v="2583" actId="20577"/>
        <pc:sldMkLst>
          <pc:docMk/>
          <pc:sldMk cId="0" sldId="258"/>
        </pc:sldMkLst>
        <pc:spChg chg="mod">
          <ac:chgData name="Гергана Цветкова" userId="7485cc2c5299ee27" providerId="LiveId" clId="{28F38CEC-8C22-4A88-BBD8-4D7A531DF165}" dt="2025-02-07T20:19:36.356" v="2102" actId="2710"/>
          <ac:spMkLst>
            <pc:docMk/>
            <pc:sldMk cId="0" sldId="258"/>
            <ac:spMk id="2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0:19:55.079" v="2105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0:20:15.629" v="2108" actId="1410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0:35:50.410" v="2153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0:16:00.774" v="2041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0:44:01.568" v="2186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8:41:51.689" v="2519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8:53:13.381" v="2583" actId="20577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Гергана Цветкова" userId="7485cc2c5299ee27" providerId="LiveId" clId="{28F38CEC-8C22-4A88-BBD8-4D7A531DF165}" dt="2025-02-07T20:20:03.605" v="2106" actId="1076"/>
          <ac:spMkLst>
            <pc:docMk/>
            <pc:sldMk cId="0" sldId="258"/>
            <ac:spMk id="39" creationId="{5A0869EA-6E57-59C1-50E5-24C0E7AE5B1A}"/>
          </ac:spMkLst>
        </pc:spChg>
        <pc:spChg chg="mod">
          <ac:chgData name="Гергана Цветкова" userId="7485cc2c5299ee27" providerId="LiveId" clId="{28F38CEC-8C22-4A88-BBD8-4D7A531DF165}" dt="2025-02-07T21:07:44.317" v="2328"/>
          <ac:spMkLst>
            <pc:docMk/>
            <pc:sldMk cId="0" sldId="258"/>
            <ac:spMk id="45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1:16:40.170" v="2394" actId="20577"/>
          <ac:spMkLst>
            <pc:docMk/>
            <pc:sldMk cId="0" sldId="258"/>
            <ac:spMk id="48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1:16:48.443" v="2395" actId="20577"/>
          <ac:spMkLst>
            <pc:docMk/>
            <pc:sldMk cId="0" sldId="258"/>
            <ac:spMk id="49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1:07:44.317" v="2328"/>
          <ac:spMkLst>
            <pc:docMk/>
            <pc:sldMk cId="0" sldId="258"/>
            <ac:spMk id="50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1:07:44.317" v="2328"/>
          <ac:spMkLst>
            <pc:docMk/>
            <pc:sldMk cId="0" sldId="258"/>
            <ac:spMk id="51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1:07:44.317" v="2328"/>
          <ac:spMkLst>
            <pc:docMk/>
            <pc:sldMk cId="0" sldId="258"/>
            <ac:spMk id="52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1:07:44.317" v="2328"/>
          <ac:spMkLst>
            <pc:docMk/>
            <pc:sldMk cId="0" sldId="258"/>
            <ac:spMk id="53" creationId="{00000000-0000-0000-0000-000000000000}"/>
          </ac:spMkLst>
        </pc:spChg>
        <pc:spChg chg="add mod">
          <ac:chgData name="Гергана Цветкова" userId="7485cc2c5299ee27" providerId="LiveId" clId="{28F38CEC-8C22-4A88-BBD8-4D7A531DF165}" dt="2025-02-07T21:08:39.042" v="2339" actId="1076"/>
          <ac:spMkLst>
            <pc:docMk/>
            <pc:sldMk cId="0" sldId="258"/>
            <ac:spMk id="54" creationId="{CCC5D2BA-BE68-ABE0-ADDB-EEB0F07A7686}"/>
          </ac:spMkLst>
        </pc:spChg>
        <pc:spChg chg="add mod">
          <ac:chgData name="Гергана Цветкова" userId="7485cc2c5299ee27" providerId="LiveId" clId="{28F38CEC-8C22-4A88-BBD8-4D7A531DF165}" dt="2025-02-19T18:52:32.626" v="2577" actId="20577"/>
          <ac:spMkLst>
            <pc:docMk/>
            <pc:sldMk cId="0" sldId="258"/>
            <ac:spMk id="55" creationId="{1C5878EA-09D3-B8D3-2E35-B390C1178E91}"/>
          </ac:spMkLst>
        </pc:spChg>
        <pc:spChg chg="add mod">
          <ac:chgData name="Гергана Цветкова" userId="7485cc2c5299ee27" providerId="LiveId" clId="{28F38CEC-8C22-4A88-BBD8-4D7A531DF165}" dt="2025-02-19T18:52:37.595" v="2578" actId="1076"/>
          <ac:spMkLst>
            <pc:docMk/>
            <pc:sldMk cId="0" sldId="258"/>
            <ac:spMk id="57" creationId="{14377481-4BC2-BC50-9407-F946465FFBA2}"/>
          </ac:spMkLst>
        </pc:spChg>
        <pc:spChg chg="add mod">
          <ac:chgData name="Гергана Цветкова" userId="7485cc2c5299ee27" providerId="LiveId" clId="{28F38CEC-8C22-4A88-BBD8-4D7A531DF165}" dt="2025-02-19T18:52:43.682" v="2579" actId="1076"/>
          <ac:spMkLst>
            <pc:docMk/>
            <pc:sldMk cId="0" sldId="258"/>
            <ac:spMk id="58" creationId="{C61C1CAA-22A4-6905-EEAC-E54F1FF56B95}"/>
          </ac:spMkLst>
        </pc:spChg>
        <pc:spChg chg="add mod">
          <ac:chgData name="Гергана Цветкова" userId="7485cc2c5299ee27" providerId="LiveId" clId="{28F38CEC-8C22-4A88-BBD8-4D7A531DF165}" dt="2025-02-07T21:11:53.198" v="2357" actId="1076"/>
          <ac:spMkLst>
            <pc:docMk/>
            <pc:sldMk cId="0" sldId="258"/>
            <ac:spMk id="59" creationId="{8D1C2234-A25A-1482-146C-1C5E2D14FD64}"/>
          </ac:spMkLst>
        </pc:spChg>
        <pc:spChg chg="add mod">
          <ac:chgData name="Гергана Цветкова" userId="7485cc2c5299ee27" providerId="LiveId" clId="{28F38CEC-8C22-4A88-BBD8-4D7A531DF165}" dt="2025-02-07T21:18:11.111" v="2418" actId="255"/>
          <ac:spMkLst>
            <pc:docMk/>
            <pc:sldMk cId="0" sldId="258"/>
            <ac:spMk id="60" creationId="{94D62FC9-5CE5-4EC5-AD38-B6110639752A}"/>
          </ac:spMkLst>
        </pc:spChg>
        <pc:spChg chg="add mod ord">
          <ac:chgData name="Гергана Цветкова" userId="7485cc2c5299ee27" providerId="LiveId" clId="{28F38CEC-8C22-4A88-BBD8-4D7A531DF165}" dt="2025-02-19T18:50:02.905" v="2564" actId="1076"/>
          <ac:spMkLst>
            <pc:docMk/>
            <pc:sldMk cId="0" sldId="258"/>
            <ac:spMk id="61" creationId="{FFFB59C9-AF55-8A89-4AC1-C4BEA211BAEC}"/>
          </ac:spMkLst>
        </pc:spChg>
        <pc:grpChg chg="add mod">
          <ac:chgData name="Гергана Цветкова" userId="7485cc2c5299ee27" providerId="LiveId" clId="{28F38CEC-8C22-4A88-BBD8-4D7A531DF165}" dt="2025-02-07T21:07:51.593" v="2329" actId="1076"/>
          <ac:grpSpMkLst>
            <pc:docMk/>
            <pc:sldMk cId="0" sldId="258"/>
            <ac:grpSpMk id="44" creationId="{39F2190C-AC11-FD18-1ED8-50E0E3D33539}"/>
          </ac:grpSpMkLst>
        </pc:grpChg>
        <pc:grpChg chg="mod">
          <ac:chgData name="Гергана Цветкова" userId="7485cc2c5299ee27" providerId="LiveId" clId="{28F38CEC-8C22-4A88-BBD8-4D7A531DF165}" dt="2025-02-07T21:07:44.317" v="2328"/>
          <ac:grpSpMkLst>
            <pc:docMk/>
            <pc:sldMk cId="0" sldId="258"/>
            <ac:grpSpMk id="46" creationId="{C17CFD22-B0FB-E097-4A54-ED7E671307F9}"/>
          </ac:grpSpMkLst>
        </pc:grpChg>
        <pc:grpChg chg="mod">
          <ac:chgData name="Гергана Цветкова" userId="7485cc2c5299ee27" providerId="LiveId" clId="{28F38CEC-8C22-4A88-BBD8-4D7A531DF165}" dt="2025-02-07T21:07:44.317" v="2328"/>
          <ac:grpSpMkLst>
            <pc:docMk/>
            <pc:sldMk cId="0" sldId="258"/>
            <ac:grpSpMk id="47" creationId="{00000000-0000-0000-0000-000000000000}"/>
          </ac:grpSpMkLst>
        </pc:grpChg>
      </pc:sldChg>
      <pc:sldChg chg="addSp delSp modSp mod">
        <pc:chgData name="Гергана Цветкова" userId="7485cc2c5299ee27" providerId="LiveId" clId="{28F38CEC-8C22-4A88-BBD8-4D7A531DF165}" dt="2025-02-19T18:55:29.246" v="2600" actId="20577"/>
        <pc:sldMkLst>
          <pc:docMk/>
          <pc:sldMk cId="0" sldId="259"/>
        </pc:sldMkLst>
        <pc:spChg chg="mod">
          <ac:chgData name="Гергана Цветкова" userId="7485cc2c5299ee27" providerId="LiveId" clId="{28F38CEC-8C22-4A88-BBD8-4D7A531DF165}" dt="2025-02-19T18:54:39.822" v="2589" actId="21"/>
          <ac:spMkLst>
            <pc:docMk/>
            <pc:sldMk cId="0" sldId="259"/>
            <ac:spMk id="2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8:55:29.246" v="2600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8:21:23.730" v="1483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8:43:17.395" v="2544" actId="255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Гергана Цветкова" userId="7485cc2c5299ee27" providerId="LiveId" clId="{28F38CEC-8C22-4A88-BBD8-4D7A531DF165}" dt="2025-02-19T18:46:52.163" v="2554" actId="478"/>
          <ac:spMkLst>
            <pc:docMk/>
            <pc:sldMk cId="0" sldId="259"/>
            <ac:spMk id="10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8:44:21.762" v="2549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8:44:25.197" v="2550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8:44:15.219" v="2548" actId="1076"/>
          <ac:spMkLst>
            <pc:docMk/>
            <pc:sldMk cId="0" sldId="259"/>
            <ac:spMk id="15" creationId="{00000000-0000-0000-0000-000000000000}"/>
          </ac:spMkLst>
        </pc:spChg>
        <pc:spChg chg="del">
          <ac:chgData name="Гергана Цветкова" userId="7485cc2c5299ee27" providerId="LiveId" clId="{28F38CEC-8C22-4A88-BBD8-4D7A531DF165}" dt="2025-02-19T18:47:09.844" v="2557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Гергана Цветкова" userId="7485cc2c5299ee27" providerId="LiveId" clId="{28F38CEC-8C22-4A88-BBD8-4D7A531DF165}" dt="2025-02-19T18:47:09.844" v="2557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Гергана Цветкова" userId="7485cc2c5299ee27" providerId="LiveId" clId="{28F38CEC-8C22-4A88-BBD8-4D7A531DF165}" dt="2025-02-19T18:47:09.844" v="2557" actId="478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Гергана Цветкова" userId="7485cc2c5299ee27" providerId="LiveId" clId="{28F38CEC-8C22-4A88-BBD8-4D7A531DF165}" dt="2025-02-19T18:47:09.844" v="2557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Гергана Цветкова" userId="7485cc2c5299ee27" providerId="LiveId" clId="{28F38CEC-8C22-4A88-BBD8-4D7A531DF165}" dt="2025-02-19T18:47:09.844" v="2557" actId="478"/>
          <ac:spMkLst>
            <pc:docMk/>
            <pc:sldMk cId="0" sldId="259"/>
            <ac:spMk id="20" creationId="{00000000-0000-0000-0000-000000000000}"/>
          </ac:spMkLst>
        </pc:spChg>
        <pc:spChg chg="del mod">
          <ac:chgData name="Гергана Цветкова" userId="7485cc2c5299ee27" providerId="LiveId" clId="{28F38CEC-8C22-4A88-BBD8-4D7A531DF165}" dt="2025-02-19T18:47:24.938" v="2559" actId="21"/>
          <ac:spMkLst>
            <pc:docMk/>
            <pc:sldMk cId="0" sldId="259"/>
            <ac:spMk id="21" creationId="{00000000-0000-0000-0000-000000000000}"/>
          </ac:spMkLst>
        </pc:spChg>
        <pc:spChg chg="del">
          <ac:chgData name="Гергана Цветкова" userId="7485cc2c5299ee27" providerId="LiveId" clId="{28F38CEC-8C22-4A88-BBD8-4D7A531DF165}" dt="2025-02-19T18:47:09.844" v="2557" actId="478"/>
          <ac:spMkLst>
            <pc:docMk/>
            <pc:sldMk cId="0" sldId="259"/>
            <ac:spMk id="22" creationId="{00000000-0000-0000-0000-000000000000}"/>
          </ac:spMkLst>
        </pc:spChg>
        <pc:spChg chg="del mod">
          <ac:chgData name="Гергана Цветкова" userId="7485cc2c5299ee27" providerId="LiveId" clId="{28F38CEC-8C22-4A88-BBD8-4D7A531DF165}" dt="2025-02-19T18:44:49.511" v="2552" actId="478"/>
          <ac:spMkLst>
            <pc:docMk/>
            <pc:sldMk cId="0" sldId="259"/>
            <ac:spMk id="23" creationId="{00000000-0000-0000-0000-000000000000}"/>
          </ac:spMkLst>
        </pc:spChg>
        <pc:spChg chg="del mod">
          <ac:chgData name="Гергана Цветкова" userId="7485cc2c5299ee27" providerId="LiveId" clId="{28F38CEC-8C22-4A88-BBD8-4D7A531DF165}" dt="2025-02-19T18:47:09.844" v="2557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Гергана Цветкова" userId="7485cc2c5299ee27" providerId="LiveId" clId="{28F38CEC-8C22-4A88-BBD8-4D7A531DF165}" dt="2025-02-19T18:47:24.938" v="2559" actId="21"/>
          <ac:spMkLst>
            <pc:docMk/>
            <pc:sldMk cId="0" sldId="259"/>
            <ac:spMk id="25" creationId="{00000000-0000-0000-0000-000000000000}"/>
          </ac:spMkLst>
        </pc:spChg>
        <pc:spChg chg="add mod">
          <ac:chgData name="Гергана Цветкова" userId="7485cc2c5299ee27" providerId="LiveId" clId="{28F38CEC-8C22-4A88-BBD8-4D7A531DF165}" dt="2025-02-07T17:41:22.907" v="1354" actId="20577"/>
          <ac:spMkLst>
            <pc:docMk/>
            <pc:sldMk cId="0" sldId="259"/>
            <ac:spMk id="27" creationId="{065712B8-2728-416F-FDFA-5A4B02BA0D3F}"/>
          </ac:spMkLst>
        </pc:spChg>
        <pc:spChg chg="add mod">
          <ac:chgData name="Гергана Цветкова" userId="7485cc2c5299ee27" providerId="LiveId" clId="{28F38CEC-8C22-4A88-BBD8-4D7A531DF165}" dt="2025-02-07T18:14:56.885" v="1425" actId="1076"/>
          <ac:spMkLst>
            <pc:docMk/>
            <pc:sldMk cId="0" sldId="259"/>
            <ac:spMk id="30" creationId="{B25CB87D-B52C-DBE6-CD33-648CB87E4012}"/>
          </ac:spMkLst>
        </pc:spChg>
        <pc:spChg chg="add mod">
          <ac:chgData name="Гергана Цветкова" userId="7485cc2c5299ee27" providerId="LiveId" clId="{28F38CEC-8C22-4A88-BBD8-4D7A531DF165}" dt="2025-02-07T18:14:48.400" v="1424" actId="255"/>
          <ac:spMkLst>
            <pc:docMk/>
            <pc:sldMk cId="0" sldId="259"/>
            <ac:spMk id="31" creationId="{F9393696-C8B2-D03F-86DA-B5A5F14F5F0A}"/>
          </ac:spMkLst>
        </pc:spChg>
        <pc:spChg chg="add mod">
          <ac:chgData name="Гергана Цветкова" userId="7485cc2c5299ee27" providerId="LiveId" clId="{28F38CEC-8C22-4A88-BBD8-4D7A531DF165}" dt="2025-02-07T18:19:39.062" v="1464" actId="14100"/>
          <ac:spMkLst>
            <pc:docMk/>
            <pc:sldMk cId="0" sldId="259"/>
            <ac:spMk id="36" creationId="{DE27EC79-A9AD-CB3C-BE15-8B5CD43B3A38}"/>
          </ac:spMkLst>
        </pc:spChg>
        <pc:spChg chg="add mod">
          <ac:chgData name="Гергана Цветкова" userId="7485cc2c5299ee27" providerId="LiveId" clId="{28F38CEC-8C22-4A88-BBD8-4D7A531DF165}" dt="2025-02-07T17:36:26.709" v="1299" actId="255"/>
          <ac:spMkLst>
            <pc:docMk/>
            <pc:sldMk cId="0" sldId="259"/>
            <ac:spMk id="38" creationId="{00000000-0000-0000-0000-000000000000}"/>
          </ac:spMkLst>
        </pc:spChg>
        <pc:spChg chg="add mod">
          <ac:chgData name="Гергана Цветкова" userId="7485cc2c5299ee27" providerId="LiveId" clId="{28F38CEC-8C22-4A88-BBD8-4D7A531DF165}" dt="2025-02-07T18:19:42.844" v="1465" actId="1076"/>
          <ac:spMkLst>
            <pc:docMk/>
            <pc:sldMk cId="0" sldId="259"/>
            <ac:spMk id="40" creationId="{1811D0DA-CB16-3042-BC13-8F74F51C2896}"/>
          </ac:spMkLst>
        </pc:spChg>
        <pc:spChg chg="add mod">
          <ac:chgData name="Гергана Цветкова" userId="7485cc2c5299ee27" providerId="LiveId" clId="{28F38CEC-8C22-4A88-BBD8-4D7A531DF165}" dt="2025-02-07T18:20:27.228" v="1479" actId="20577"/>
          <ac:spMkLst>
            <pc:docMk/>
            <pc:sldMk cId="0" sldId="259"/>
            <ac:spMk id="41" creationId="{32F3C560-2DAF-BD35-8544-19E0DA028C97}"/>
          </ac:spMkLst>
        </pc:spChg>
        <pc:spChg chg="add mod">
          <ac:chgData name="Гергана Цветкова" userId="7485cc2c5299ee27" providerId="LiveId" clId="{28F38CEC-8C22-4A88-BBD8-4D7A531DF165}" dt="2025-02-07T18:20:58.491" v="1481" actId="1076"/>
          <ac:spMkLst>
            <pc:docMk/>
            <pc:sldMk cId="0" sldId="259"/>
            <ac:spMk id="42" creationId="{8A4FB4D9-FB9E-DC8D-0F1A-15D16CDAA064}"/>
          </ac:spMkLst>
        </pc:spChg>
        <pc:grpChg chg="del mod">
          <ac:chgData name="Гергана Цветкова" userId="7485cc2c5299ee27" providerId="LiveId" clId="{28F38CEC-8C22-4A88-BBD8-4D7A531DF165}" dt="2025-02-19T18:46:58.600" v="2555" actId="478"/>
          <ac:grpSpMkLst>
            <pc:docMk/>
            <pc:sldMk cId="0" sldId="259"/>
            <ac:grpSpMk id="11" creationId="{00000000-0000-0000-0000-000000000000}"/>
          </ac:grpSpMkLst>
        </pc:grpChg>
        <pc:cxnChg chg="add mod">
          <ac:chgData name="Гергана Цветкова" userId="7485cc2c5299ee27" providerId="LiveId" clId="{28F38CEC-8C22-4A88-BBD8-4D7A531DF165}" dt="2025-02-07T17:49:18.676" v="1395" actId="1582"/>
          <ac:cxnSpMkLst>
            <pc:docMk/>
            <pc:sldMk cId="0" sldId="259"/>
            <ac:cxnSpMk id="29" creationId="{F4AC4549-5518-38B0-34D7-689F08130561}"/>
          </ac:cxnSpMkLst>
        </pc:cxnChg>
        <pc:cxnChg chg="add mod">
          <ac:chgData name="Гергана Цветкова" userId="7485cc2c5299ee27" providerId="LiveId" clId="{28F38CEC-8C22-4A88-BBD8-4D7A531DF165}" dt="2025-02-07T18:21:12.223" v="1482" actId="208"/>
          <ac:cxnSpMkLst>
            <pc:docMk/>
            <pc:sldMk cId="0" sldId="259"/>
            <ac:cxnSpMk id="33" creationId="{7EB8235A-CE6C-AD64-64FB-0048C4AF783A}"/>
          </ac:cxnSpMkLst>
        </pc:cxnChg>
      </pc:sldChg>
      <pc:sldChg chg="delSp modSp mod">
        <pc:chgData name="Гергана Цветкова" userId="7485cc2c5299ee27" providerId="LiveId" clId="{28F38CEC-8C22-4A88-BBD8-4D7A531DF165}" dt="2025-02-07T21:25:55.420" v="2518" actId="478"/>
        <pc:sldMkLst>
          <pc:docMk/>
          <pc:sldMk cId="0" sldId="260"/>
        </pc:sldMkLst>
        <pc:spChg chg="mod">
          <ac:chgData name="Гергана Цветкова" userId="7485cc2c5299ee27" providerId="LiveId" clId="{28F38CEC-8C22-4A88-BBD8-4D7A531DF165}" dt="2025-02-07T21:21:32.555" v="2436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1:22:26.538" v="2448" actId="107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21:22:52.193" v="2460" actId="1076"/>
          <ac:spMkLst>
            <pc:docMk/>
            <pc:sldMk cId="0" sldId="260"/>
            <ac:spMk id="51" creationId="{00000000-0000-0000-0000-000000000000}"/>
          </ac:spMkLst>
        </pc:spChg>
      </pc:sldChg>
      <pc:sldChg chg="modSp mod">
        <pc:chgData name="Гергана Цветкова" userId="7485cc2c5299ee27" providerId="LiveId" clId="{28F38CEC-8C22-4A88-BBD8-4D7A531DF165}" dt="2025-02-06T10:09:17.881" v="113" actId="20577"/>
        <pc:sldMkLst>
          <pc:docMk/>
          <pc:sldMk cId="0" sldId="261"/>
        </pc:sldMkLst>
        <pc:spChg chg="mod">
          <ac:chgData name="Гергана Цветкова" userId="7485cc2c5299ee27" providerId="LiveId" clId="{28F38CEC-8C22-4A88-BBD8-4D7A531DF165}" dt="2025-02-06T10:09:17.881" v="113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Гергана Цветкова" userId="7485cc2c5299ee27" providerId="LiveId" clId="{28F38CEC-8C22-4A88-BBD8-4D7A531DF165}" dt="2025-02-06T10:09:08.722" v="96" actId="20577"/>
        <pc:sldMkLst>
          <pc:docMk/>
          <pc:sldMk cId="0" sldId="262"/>
        </pc:sldMkLst>
        <pc:spChg chg="mod">
          <ac:chgData name="Гергана Цветкова" userId="7485cc2c5299ee27" providerId="LiveId" clId="{28F38CEC-8C22-4A88-BBD8-4D7A531DF165}" dt="2025-02-06T10:09:08.722" v="96" actId="20577"/>
          <ac:spMkLst>
            <pc:docMk/>
            <pc:sldMk cId="0" sldId="262"/>
            <ac:spMk id="2" creationId="{00000000-0000-0000-0000-000000000000}"/>
          </ac:spMkLst>
        </pc:spChg>
      </pc:sldChg>
      <pc:sldChg chg="delSp modSp mod">
        <pc:chgData name="Гергана Цветкова" userId="7485cc2c5299ee27" providerId="LiveId" clId="{28F38CEC-8C22-4A88-BBD8-4D7A531DF165}" dt="2025-02-06T10:08:48.377" v="88" actId="478"/>
        <pc:sldMkLst>
          <pc:docMk/>
          <pc:sldMk cId="0" sldId="263"/>
        </pc:sldMkLst>
      </pc:sldChg>
      <pc:sldChg chg="delSp modSp mod">
        <pc:chgData name="Гергана Цветкова" userId="7485cc2c5299ee27" providerId="LiveId" clId="{28F38CEC-8C22-4A88-BBD8-4D7A531DF165}" dt="2025-02-06T10:06:51.713" v="73" actId="478"/>
        <pc:sldMkLst>
          <pc:docMk/>
          <pc:sldMk cId="0" sldId="265"/>
        </pc:sldMkLst>
      </pc:sldChg>
      <pc:sldChg chg="delSp mod">
        <pc:chgData name="Гергана Цветкова" userId="7485cc2c5299ee27" providerId="LiveId" clId="{28F38CEC-8C22-4A88-BBD8-4D7A531DF165}" dt="2025-02-06T10:07:04.931" v="74" actId="478"/>
        <pc:sldMkLst>
          <pc:docMk/>
          <pc:sldMk cId="0" sldId="266"/>
        </pc:sldMkLst>
      </pc:sldChg>
      <pc:sldChg chg="modSp mod">
        <pc:chgData name="Гергана Цветкова" userId="7485cc2c5299ee27" providerId="LiveId" clId="{28F38CEC-8C22-4A88-BBD8-4D7A531DF165}" dt="2025-02-19T19:48:34.885" v="2891" actId="20577"/>
        <pc:sldMkLst>
          <pc:docMk/>
          <pc:sldMk cId="0" sldId="267"/>
        </pc:sldMkLst>
        <pc:spChg chg="mod">
          <ac:chgData name="Гергана Цветкова" userId="7485cc2c5299ee27" providerId="LiveId" clId="{28F38CEC-8C22-4A88-BBD8-4D7A531DF165}" dt="2025-02-06T10:07:22.470" v="78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9:48:26.069" v="2889" actId="2057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9:48:31.377" v="2890" actId="20577"/>
          <ac:spMkLst>
            <pc:docMk/>
            <pc:sldMk cId="0" sldId="267"/>
            <ac:spMk id="17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9:48:34.885" v="2891" actId="20577"/>
          <ac:spMkLst>
            <pc:docMk/>
            <pc:sldMk cId="0" sldId="267"/>
            <ac:spMk id="19" creationId="{00000000-0000-0000-0000-000000000000}"/>
          </ac:spMkLst>
        </pc:spChg>
      </pc:sldChg>
      <pc:sldChg chg="modSp mod">
        <pc:chgData name="Гергана Цветкова" userId="7485cc2c5299ee27" providerId="LiveId" clId="{28F38CEC-8C22-4A88-BBD8-4D7A531DF165}" dt="2025-02-06T10:07:43.528" v="83" actId="20577"/>
        <pc:sldMkLst>
          <pc:docMk/>
          <pc:sldMk cId="0" sldId="268"/>
        </pc:sldMkLst>
        <pc:spChg chg="mod">
          <ac:chgData name="Гергана Цветкова" userId="7485cc2c5299ee27" providerId="LiveId" clId="{28F38CEC-8C22-4A88-BBD8-4D7A531DF165}" dt="2025-02-06T10:07:43.528" v="83" actId="20577"/>
          <ac:spMkLst>
            <pc:docMk/>
            <pc:sldMk cId="0" sldId="268"/>
            <ac:spMk id="2" creationId="{00000000-0000-0000-0000-000000000000}"/>
          </ac:spMkLst>
        </pc:spChg>
      </pc:sldChg>
      <pc:sldChg chg="modSp mod">
        <pc:chgData name="Гергана Цветкова" userId="7485cc2c5299ee27" providerId="LiveId" clId="{28F38CEC-8C22-4A88-BBD8-4D7A531DF165}" dt="2025-02-06T10:08:13.433" v="86" actId="6549"/>
        <pc:sldMkLst>
          <pc:docMk/>
          <pc:sldMk cId="0" sldId="269"/>
        </pc:sldMkLst>
        <pc:spChg chg="mod">
          <ac:chgData name="Гергана Цветкова" userId="7485cc2c5299ee27" providerId="LiveId" clId="{28F38CEC-8C22-4A88-BBD8-4D7A531DF165}" dt="2025-02-06T10:08:13.433" v="86" actId="6549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Гергана Цветкова" userId="7485cc2c5299ee27" providerId="LiveId" clId="{28F38CEC-8C22-4A88-BBD8-4D7A531DF165}" dt="2025-02-06T10:08:02.894" v="85" actId="6549"/>
        <pc:sldMkLst>
          <pc:docMk/>
          <pc:sldMk cId="0" sldId="270"/>
        </pc:sldMkLst>
        <pc:spChg chg="mod">
          <ac:chgData name="Гергана Цветкова" userId="7485cc2c5299ee27" providerId="LiveId" clId="{28F38CEC-8C22-4A88-BBD8-4D7A531DF165}" dt="2025-02-06T10:08:02.894" v="85" actId="6549"/>
          <ac:spMkLst>
            <pc:docMk/>
            <pc:sldMk cId="0" sldId="270"/>
            <ac:spMk id="2" creationId="{00000000-0000-0000-0000-000000000000}"/>
          </ac:spMkLst>
        </pc:spChg>
      </pc:sldChg>
      <pc:sldChg chg="modSp mod">
        <pc:chgData name="Гергана Цветкова" userId="7485cc2c5299ee27" providerId="LiveId" clId="{28F38CEC-8C22-4A88-BBD8-4D7A531DF165}" dt="2025-02-06T10:07:52.537" v="84" actId="6549"/>
        <pc:sldMkLst>
          <pc:docMk/>
          <pc:sldMk cId="0" sldId="271"/>
        </pc:sldMkLst>
        <pc:spChg chg="mod">
          <ac:chgData name="Гергана Цветкова" userId="7485cc2c5299ee27" providerId="LiveId" clId="{28F38CEC-8C22-4A88-BBD8-4D7A531DF165}" dt="2025-02-06T10:07:52.537" v="84" actId="6549"/>
          <ac:spMkLst>
            <pc:docMk/>
            <pc:sldMk cId="0" sldId="271"/>
            <ac:spMk id="2" creationId="{00000000-0000-0000-0000-000000000000}"/>
          </ac:spMkLst>
        </pc:spChg>
      </pc:sldChg>
      <pc:sldChg chg="addSp delSp modSp mod">
        <pc:chgData name="Гергана Цветкова" userId="7485cc2c5299ee27" providerId="LiveId" clId="{28F38CEC-8C22-4A88-BBD8-4D7A531DF165}" dt="2025-02-19T19:51:03.870" v="2902" actId="20577"/>
        <pc:sldMkLst>
          <pc:docMk/>
          <pc:sldMk cId="0" sldId="272"/>
        </pc:sldMkLst>
        <pc:spChg chg="mod">
          <ac:chgData name="Гергана Цветкова" userId="7485cc2c5299ee27" providerId="LiveId" clId="{28F38CEC-8C22-4A88-BBD8-4D7A531DF165}" dt="2025-02-07T17:13:16.348" v="902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07T17:13:10.321" v="901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Гергана Цветкова" userId="7485cc2c5299ee27" providerId="LiveId" clId="{28F38CEC-8C22-4A88-BBD8-4D7A531DF165}" dt="2025-02-19T19:50:09.833" v="2898" actId="2711"/>
          <ac:spMkLst>
            <pc:docMk/>
            <pc:sldMk cId="0" sldId="272"/>
            <ac:spMk id="14" creationId="{00000000-0000-0000-0000-000000000000}"/>
          </ac:spMkLst>
        </pc:spChg>
        <pc:spChg chg="add mod">
          <ac:chgData name="Гергана Цветкова" userId="7485cc2c5299ee27" providerId="LiveId" clId="{28F38CEC-8C22-4A88-BBD8-4D7A531DF165}" dt="2025-02-19T19:50:18.233" v="2899" actId="2711"/>
          <ac:spMkLst>
            <pc:docMk/>
            <pc:sldMk cId="0" sldId="272"/>
            <ac:spMk id="23" creationId="{95FB1B62-32DC-455D-43D1-E273A5212A8E}"/>
          </ac:spMkLst>
        </pc:spChg>
        <pc:spChg chg="add mod">
          <ac:chgData name="Гергана Цветкова" userId="7485cc2c5299ee27" providerId="LiveId" clId="{28F38CEC-8C22-4A88-BBD8-4D7A531DF165}" dt="2025-02-07T17:20:00.817" v="1027" actId="339"/>
          <ac:spMkLst>
            <pc:docMk/>
            <pc:sldMk cId="0" sldId="272"/>
            <ac:spMk id="24" creationId="{20C65083-1174-5C26-541A-CF89AEBF067B}"/>
          </ac:spMkLst>
        </pc:spChg>
        <pc:spChg chg="add mod">
          <ac:chgData name="Гергана Цветкова" userId="7485cc2c5299ee27" providerId="LiveId" clId="{28F38CEC-8C22-4A88-BBD8-4D7A531DF165}" dt="2025-02-07T17:48:02.032" v="1393" actId="1076"/>
          <ac:spMkLst>
            <pc:docMk/>
            <pc:sldMk cId="0" sldId="272"/>
            <ac:spMk id="28" creationId="{987C393F-892E-0773-85DB-87CFECDC4AAD}"/>
          </ac:spMkLst>
        </pc:spChg>
        <pc:spChg chg="add mod">
          <ac:chgData name="Гергана Цветкова" userId="7485cc2c5299ee27" providerId="LiveId" clId="{28F38CEC-8C22-4A88-BBD8-4D7A531DF165}" dt="2025-02-07T19:25:58.875" v="1659" actId="1076"/>
          <ac:spMkLst>
            <pc:docMk/>
            <pc:sldMk cId="0" sldId="272"/>
            <ac:spMk id="33" creationId="{4E8015E3-D3AF-11E5-9680-F889CB0DC929}"/>
          </ac:spMkLst>
        </pc:spChg>
        <pc:spChg chg="add mod">
          <ac:chgData name="Гергана Цветкова" userId="7485cc2c5299ee27" providerId="LiveId" clId="{28F38CEC-8C22-4A88-BBD8-4D7A531DF165}" dt="2025-02-07T19:25:20.965" v="1655" actId="164"/>
          <ac:spMkLst>
            <pc:docMk/>
            <pc:sldMk cId="0" sldId="272"/>
            <ac:spMk id="34" creationId="{5D4A040F-4EB9-AF97-2763-C230530B57B0}"/>
          </ac:spMkLst>
        </pc:spChg>
        <pc:spChg chg="add mod">
          <ac:chgData name="Гергана Цветкова" userId="7485cc2c5299ee27" providerId="LiveId" clId="{28F38CEC-8C22-4A88-BBD8-4D7A531DF165}" dt="2025-02-07T19:26:04.922" v="1660" actId="1076"/>
          <ac:spMkLst>
            <pc:docMk/>
            <pc:sldMk cId="0" sldId="272"/>
            <ac:spMk id="38" creationId="{F7CD768B-927A-3EBE-4B54-CB8D84F11A32}"/>
          </ac:spMkLst>
        </pc:spChg>
        <pc:spChg chg="add mod">
          <ac:chgData name="Гергана Цветкова" userId="7485cc2c5299ee27" providerId="LiveId" clId="{28F38CEC-8C22-4A88-BBD8-4D7A531DF165}" dt="2025-02-07T19:25:20.965" v="1655" actId="164"/>
          <ac:spMkLst>
            <pc:docMk/>
            <pc:sldMk cId="0" sldId="272"/>
            <ac:spMk id="42" creationId="{2E730506-7AE5-CE10-EBBB-5188E7D4F3B5}"/>
          </ac:spMkLst>
        </pc:spChg>
        <pc:spChg chg="add mod">
          <ac:chgData name="Гергана Цветкова" userId="7485cc2c5299ee27" providerId="LiveId" clId="{28F38CEC-8C22-4A88-BBD8-4D7A531DF165}" dt="2025-02-07T19:25:20.965" v="1655" actId="164"/>
          <ac:spMkLst>
            <pc:docMk/>
            <pc:sldMk cId="0" sldId="272"/>
            <ac:spMk id="43" creationId="{979CD61C-684A-D72A-908C-F5E5C25BD6CA}"/>
          </ac:spMkLst>
        </pc:spChg>
        <pc:spChg chg="add mod">
          <ac:chgData name="Гергана Цветкова" userId="7485cc2c5299ee27" providerId="LiveId" clId="{28F38CEC-8C22-4A88-BBD8-4D7A531DF165}" dt="2025-02-07T19:25:20.965" v="1655" actId="164"/>
          <ac:spMkLst>
            <pc:docMk/>
            <pc:sldMk cId="0" sldId="272"/>
            <ac:spMk id="44" creationId="{E86B6C85-7901-2452-527C-DFCA2B5500BE}"/>
          </ac:spMkLst>
        </pc:spChg>
        <pc:spChg chg="add mod">
          <ac:chgData name="Гергана Цветкова" userId="7485cc2c5299ee27" providerId="LiveId" clId="{28F38CEC-8C22-4A88-BBD8-4D7A531DF165}" dt="2025-02-07T19:25:20.965" v="1655" actId="164"/>
          <ac:spMkLst>
            <pc:docMk/>
            <pc:sldMk cId="0" sldId="272"/>
            <ac:spMk id="45" creationId="{BF0CE75D-7EAF-27AC-F348-88657A3F4DF6}"/>
          </ac:spMkLst>
        </pc:spChg>
        <pc:spChg chg="add mod">
          <ac:chgData name="Гергана Цветкова" userId="7485cc2c5299ee27" providerId="LiveId" clId="{28F38CEC-8C22-4A88-BBD8-4D7A531DF165}" dt="2025-02-07T19:25:20.965" v="1655" actId="164"/>
          <ac:spMkLst>
            <pc:docMk/>
            <pc:sldMk cId="0" sldId="272"/>
            <ac:spMk id="46" creationId="{DE80DBFB-5739-08ED-DF95-C3CFADC7510A}"/>
          </ac:spMkLst>
        </pc:spChg>
        <pc:spChg chg="add mod">
          <ac:chgData name="Гергана Цветкова" userId="7485cc2c5299ee27" providerId="LiveId" clId="{28F38CEC-8C22-4A88-BBD8-4D7A531DF165}" dt="2025-02-19T19:50:33.500" v="2900" actId="1076"/>
          <ac:spMkLst>
            <pc:docMk/>
            <pc:sldMk cId="0" sldId="272"/>
            <ac:spMk id="49" creationId="{56BB0C83-CB03-3929-6C3B-6FFA1E886092}"/>
          </ac:spMkLst>
        </pc:spChg>
        <pc:spChg chg="add mod">
          <ac:chgData name="Гергана Цветкова" userId="7485cc2c5299ee27" providerId="LiveId" clId="{28F38CEC-8C22-4A88-BBD8-4D7A531DF165}" dt="2025-02-07T20:03:16.200" v="1814" actId="207"/>
          <ac:spMkLst>
            <pc:docMk/>
            <pc:sldMk cId="0" sldId="272"/>
            <ac:spMk id="50" creationId="{B83F0614-73AC-B1B6-8F44-C08550A197B4}"/>
          </ac:spMkLst>
        </pc:spChg>
        <pc:spChg chg="add mod">
          <ac:chgData name="Гергана Цветкова" userId="7485cc2c5299ee27" providerId="LiveId" clId="{28F38CEC-8C22-4A88-BBD8-4D7A531DF165}" dt="2025-02-07T19:39:21.625" v="1732" actId="1076"/>
          <ac:spMkLst>
            <pc:docMk/>
            <pc:sldMk cId="0" sldId="272"/>
            <ac:spMk id="53" creationId="{A5DB525E-BDFF-3527-E6C1-B9A3D064795D}"/>
          </ac:spMkLst>
        </pc:spChg>
        <pc:spChg chg="add mod">
          <ac:chgData name="Гергана Цветкова" userId="7485cc2c5299ee27" providerId="LiveId" clId="{28F38CEC-8C22-4A88-BBD8-4D7A531DF165}" dt="2025-02-07T19:40:54.562" v="1734" actId="1076"/>
          <ac:spMkLst>
            <pc:docMk/>
            <pc:sldMk cId="0" sldId="272"/>
            <ac:spMk id="54" creationId="{2B887BBC-2685-E00B-3A90-359E0FDC3FBD}"/>
          </ac:spMkLst>
        </pc:spChg>
        <pc:spChg chg="add mod">
          <ac:chgData name="Гергана Цветкова" userId="7485cc2c5299ee27" providerId="LiveId" clId="{28F38CEC-8C22-4A88-BBD8-4D7A531DF165}" dt="2025-02-07T20:02:55.267" v="1812" actId="207"/>
          <ac:spMkLst>
            <pc:docMk/>
            <pc:sldMk cId="0" sldId="272"/>
            <ac:spMk id="55" creationId="{623F9BD5-E1D7-3145-50A8-5CCDE97329A1}"/>
          </ac:spMkLst>
        </pc:spChg>
        <pc:spChg chg="add mod">
          <ac:chgData name="Гергана Цветкова" userId="7485cc2c5299ee27" providerId="LiveId" clId="{28F38CEC-8C22-4A88-BBD8-4D7A531DF165}" dt="2025-02-07T20:01:40.156" v="1806" actId="207"/>
          <ac:spMkLst>
            <pc:docMk/>
            <pc:sldMk cId="0" sldId="272"/>
            <ac:spMk id="56" creationId="{698364E6-FC3A-EE28-1E36-8D4D94449966}"/>
          </ac:spMkLst>
        </pc:spChg>
        <pc:spChg chg="add mod">
          <ac:chgData name="Гергана Цветкова" userId="7485cc2c5299ee27" providerId="LiveId" clId="{28F38CEC-8C22-4A88-BBD8-4D7A531DF165}" dt="2025-02-19T19:51:03.870" v="2902" actId="20577"/>
          <ac:spMkLst>
            <pc:docMk/>
            <pc:sldMk cId="0" sldId="272"/>
            <ac:spMk id="57" creationId="{27DDB19A-60EB-CC10-1773-F7B812B5F42B}"/>
          </ac:spMkLst>
        </pc:spChg>
        <pc:spChg chg="add mod">
          <ac:chgData name="Гергана Цветкова" userId="7485cc2c5299ee27" providerId="LiveId" clId="{28F38CEC-8C22-4A88-BBD8-4D7A531DF165}" dt="2025-02-07T20:06:25.626" v="1869"/>
          <ac:spMkLst>
            <pc:docMk/>
            <pc:sldMk cId="0" sldId="272"/>
            <ac:spMk id="75" creationId="{CA62D919-9E44-5190-46CC-20407A7770DB}"/>
          </ac:spMkLst>
        </pc:spChg>
        <pc:spChg chg="add mod">
          <ac:chgData name="Гергана Цветкова" userId="7485cc2c5299ee27" providerId="LiveId" clId="{28F38CEC-8C22-4A88-BBD8-4D7A531DF165}" dt="2025-02-07T20:09:55.775" v="1962" actId="20577"/>
          <ac:spMkLst>
            <pc:docMk/>
            <pc:sldMk cId="0" sldId="272"/>
            <ac:spMk id="76" creationId="{DCB5FAB4-4D7F-5C28-1AF1-90F92D47D2F7}"/>
          </ac:spMkLst>
        </pc:spChg>
        <pc:grpChg chg="add mod">
          <ac:chgData name="Гергана Цветкова" userId="7485cc2c5299ee27" providerId="LiveId" clId="{28F38CEC-8C22-4A88-BBD8-4D7A531DF165}" dt="2025-02-07T19:25:27.672" v="1656" actId="1076"/>
          <ac:grpSpMkLst>
            <pc:docMk/>
            <pc:sldMk cId="0" sldId="272"/>
            <ac:grpSpMk id="48" creationId="{E7CDA7E1-EC28-AB1B-F7FF-F9A793E8B7B5}"/>
          </ac:grpSpMkLst>
        </pc:grpChg>
        <pc:cxnChg chg="add mod">
          <ac:chgData name="Гергана Цветкова" userId="7485cc2c5299ee27" providerId="LiveId" clId="{28F38CEC-8C22-4A88-BBD8-4D7A531DF165}" dt="2025-02-07T19:25:20.965" v="1655" actId="164"/>
          <ac:cxnSpMkLst>
            <pc:docMk/>
            <pc:sldMk cId="0" sldId="272"/>
            <ac:cxnSpMk id="30" creationId="{99971BD7-B745-FDD7-7562-7C2C7FA7922E}"/>
          </ac:cxnSpMkLst>
        </pc:cxnChg>
        <pc:cxnChg chg="add mod">
          <ac:chgData name="Гергана Цветкова" userId="7485cc2c5299ee27" providerId="LiveId" clId="{28F38CEC-8C22-4A88-BBD8-4D7A531DF165}" dt="2025-02-07T19:25:20.965" v="1655" actId="164"/>
          <ac:cxnSpMkLst>
            <pc:docMk/>
            <pc:sldMk cId="0" sldId="272"/>
            <ac:cxnSpMk id="32" creationId="{F591AF5E-05E0-81D4-E275-7A99A52B2C4D}"/>
          </ac:cxnSpMkLst>
        </pc:cxnChg>
        <pc:cxnChg chg="add mod">
          <ac:chgData name="Гергана Цветкова" userId="7485cc2c5299ee27" providerId="LiveId" clId="{28F38CEC-8C22-4A88-BBD8-4D7A531DF165}" dt="2025-02-07T19:25:20.965" v="1655" actId="164"/>
          <ac:cxnSpMkLst>
            <pc:docMk/>
            <pc:sldMk cId="0" sldId="272"/>
            <ac:cxnSpMk id="36" creationId="{FBD217E2-0174-EBC9-A790-A354B7982F74}"/>
          </ac:cxnSpMkLst>
        </pc:cxnChg>
        <pc:cxnChg chg="add">
          <ac:chgData name="Гергана Цветкова" userId="7485cc2c5299ee27" providerId="LiveId" clId="{28F38CEC-8C22-4A88-BBD8-4D7A531DF165}" dt="2025-02-07T19:37:48.493" v="1725" actId="11529"/>
          <ac:cxnSpMkLst>
            <pc:docMk/>
            <pc:sldMk cId="0" sldId="272"/>
            <ac:cxnSpMk id="52" creationId="{DE257F7C-382A-C845-DC39-2169B37752D9}"/>
          </ac:cxnSpMkLst>
        </pc:cxnChg>
        <pc:cxnChg chg="add mod">
          <ac:chgData name="Гергана Цветкова" userId="7485cc2c5299ee27" providerId="LiveId" clId="{28F38CEC-8C22-4A88-BBD8-4D7A531DF165}" dt="2025-02-07T19:56:51.496" v="1798" actId="14100"/>
          <ac:cxnSpMkLst>
            <pc:docMk/>
            <pc:sldMk cId="0" sldId="272"/>
            <ac:cxnSpMk id="59" creationId="{5B8C1153-6328-6AFA-A5FB-5F79A820B0BA}"/>
          </ac:cxnSpMkLst>
        </pc:cxnChg>
        <pc:cxnChg chg="add mod">
          <ac:chgData name="Гергана Цветкова" userId="7485cc2c5299ee27" providerId="LiveId" clId="{28F38CEC-8C22-4A88-BBD8-4D7A531DF165}" dt="2025-02-07T20:01:19.992" v="1805" actId="208"/>
          <ac:cxnSpMkLst>
            <pc:docMk/>
            <pc:sldMk cId="0" sldId="272"/>
            <ac:cxnSpMk id="63" creationId="{94B2DCF7-3244-F898-3182-1793CB3227AB}"/>
          </ac:cxnSpMkLst>
        </pc:cxnChg>
        <pc:cxnChg chg="add mod">
          <ac:chgData name="Гергана Цветкова" userId="7485cc2c5299ee27" providerId="LiveId" clId="{28F38CEC-8C22-4A88-BBD8-4D7A531DF165}" dt="2025-02-07T19:56:39.771" v="1797" actId="14100"/>
          <ac:cxnSpMkLst>
            <pc:docMk/>
            <pc:sldMk cId="0" sldId="272"/>
            <ac:cxnSpMk id="65" creationId="{EF03159C-7435-AF7D-8292-CA1B37E07B13}"/>
          </ac:cxnSpMkLst>
        </pc:cxnChg>
        <pc:cxnChg chg="add mod">
          <ac:chgData name="Гергана Цветкова" userId="7485cc2c5299ee27" providerId="LiveId" clId="{28F38CEC-8C22-4A88-BBD8-4D7A531DF165}" dt="2025-02-07T19:58:33.630" v="1802" actId="208"/>
          <ac:cxnSpMkLst>
            <pc:docMk/>
            <pc:sldMk cId="0" sldId="272"/>
            <ac:cxnSpMk id="70" creationId="{52E0E90E-5103-1057-4EBE-F073CFB417D5}"/>
          </ac:cxnSpMkLst>
        </pc:cxnChg>
        <pc:cxnChg chg="add">
          <ac:chgData name="Гергана Цветкова" userId="7485cc2c5299ee27" providerId="LiveId" clId="{28F38CEC-8C22-4A88-BBD8-4D7A531DF165}" dt="2025-02-07T19:58:02.108" v="1800" actId="11529"/>
          <ac:cxnSpMkLst>
            <pc:docMk/>
            <pc:sldMk cId="0" sldId="272"/>
            <ac:cxnSpMk id="72" creationId="{E4B80698-C2C3-DAA4-6429-834660775F94}"/>
          </ac:cxnSpMkLst>
        </pc:cxnChg>
        <pc:cxnChg chg="add">
          <ac:chgData name="Гергана Цветкова" userId="7485cc2c5299ee27" providerId="LiveId" clId="{28F38CEC-8C22-4A88-BBD8-4D7A531DF165}" dt="2025-02-07T19:58:19.785" v="1801" actId="11529"/>
          <ac:cxnSpMkLst>
            <pc:docMk/>
            <pc:sldMk cId="0" sldId="272"/>
            <ac:cxnSpMk id="74" creationId="{64D29736-BB9C-4AED-4802-88DD32C2A83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1532" y="2619921"/>
            <a:ext cx="5393435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0.png"/><Relationship Id="rId7" Type="http://schemas.openxmlformats.org/officeDocument/2006/relationships/image" Target="../media/image4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0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0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5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7873" y="795529"/>
            <a:ext cx="5394325" cy="403225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ru-RU" dirty="0"/>
              <a:t>TEMA 1 : Права в равнината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374" y="1906501"/>
            <a:ext cx="6072506" cy="10047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1.</a:t>
            </a:r>
            <a:r>
              <a:rPr sz="1400" b="1" spc="21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Уравнение</a:t>
            </a:r>
            <a:r>
              <a:rPr sz="1400" b="1" spc="229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на</a:t>
            </a:r>
            <a:r>
              <a:rPr sz="1400" b="1" spc="21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права,</a:t>
            </a:r>
            <a:r>
              <a:rPr sz="1400" b="1" spc="229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определена</a:t>
            </a:r>
            <a:r>
              <a:rPr sz="1400" b="1" spc="22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от</a:t>
            </a:r>
            <a:r>
              <a:rPr sz="1400" b="1" spc="21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точка</a:t>
            </a:r>
            <a:r>
              <a:rPr sz="1400" b="1" spc="21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и</a:t>
            </a:r>
            <a:r>
              <a:rPr sz="1400" b="1" spc="204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нормален</a:t>
            </a:r>
            <a:r>
              <a:rPr sz="1400" b="1" spc="22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вектор</a:t>
            </a:r>
            <a:endParaRPr sz="14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 dirty="0">
              <a:latin typeface="+mn-lt"/>
              <a:cs typeface="Cambria"/>
            </a:endParaRPr>
          </a:p>
          <a:p>
            <a:pPr marL="50800">
              <a:lnSpc>
                <a:spcPct val="100000"/>
              </a:lnSpc>
            </a:pPr>
            <a:r>
              <a:rPr sz="1200" dirty="0">
                <a:latin typeface="+mn-lt"/>
                <a:cs typeface="Times New Roman"/>
              </a:rPr>
              <a:t>Нека</a:t>
            </a:r>
            <a:r>
              <a:rPr sz="1200" spc="215" dirty="0">
                <a:latin typeface="+mn-lt"/>
                <a:cs typeface="Times New Roman"/>
              </a:rPr>
              <a:t> </a:t>
            </a:r>
            <a:r>
              <a:rPr sz="1200" dirty="0">
                <a:latin typeface="+mn-lt"/>
                <a:cs typeface="Times New Roman"/>
              </a:rPr>
              <a:t>точката</a:t>
            </a:r>
            <a:r>
              <a:rPr sz="1200" spc="215" dirty="0">
                <a:latin typeface="+mn-lt"/>
                <a:cs typeface="Times New Roman"/>
              </a:rPr>
              <a:t>  </a:t>
            </a:r>
            <a:r>
              <a:rPr sz="1200" b="0" i="1" dirty="0">
                <a:latin typeface="+mn-lt"/>
                <a:cs typeface="Bookman Old Style"/>
              </a:rPr>
              <a:t>M</a:t>
            </a:r>
            <a:r>
              <a:rPr sz="1200" baseline="-13888" dirty="0">
                <a:latin typeface="+mn-lt"/>
                <a:cs typeface="Trebuchet MS"/>
              </a:rPr>
              <a:t>0</a:t>
            </a:r>
            <a:r>
              <a:rPr sz="1200" dirty="0">
                <a:latin typeface="+mn-lt"/>
                <a:cs typeface="Book Antiqua"/>
              </a:rPr>
              <a:t>(</a:t>
            </a:r>
            <a:r>
              <a:rPr sz="1200" b="0" i="1" dirty="0">
                <a:latin typeface="+mn-lt"/>
                <a:cs typeface="Bookman Old Style"/>
              </a:rPr>
              <a:t>x</a:t>
            </a:r>
            <a:r>
              <a:rPr sz="1200" baseline="-13888" dirty="0">
                <a:latin typeface="+mn-lt"/>
                <a:cs typeface="Trebuchet MS"/>
              </a:rPr>
              <a:t>0</a:t>
            </a:r>
            <a:r>
              <a:rPr sz="1200" b="0" i="1" dirty="0">
                <a:latin typeface="+mn-lt"/>
                <a:cs typeface="Bookman Old Style"/>
              </a:rPr>
              <a:t>,</a:t>
            </a:r>
            <a:r>
              <a:rPr sz="1200" b="0" i="1" spc="-135" dirty="0">
                <a:latin typeface="+mn-lt"/>
                <a:cs typeface="Bookman Old Style"/>
              </a:rPr>
              <a:t> </a:t>
            </a:r>
            <a:r>
              <a:rPr sz="1200" b="0" i="1" dirty="0">
                <a:latin typeface="+mn-lt"/>
                <a:cs typeface="Bookman Old Style"/>
              </a:rPr>
              <a:t>y</a:t>
            </a:r>
            <a:r>
              <a:rPr sz="1200" baseline="-13888" dirty="0">
                <a:latin typeface="+mn-lt"/>
                <a:cs typeface="Trebuchet MS"/>
              </a:rPr>
              <a:t>0</a:t>
            </a:r>
            <a:r>
              <a:rPr sz="1200" dirty="0">
                <a:latin typeface="+mn-lt"/>
                <a:cs typeface="Book Antiqua"/>
              </a:rPr>
              <a:t>)</a:t>
            </a:r>
            <a:r>
              <a:rPr sz="1200" spc="210" dirty="0">
                <a:latin typeface="+mn-lt"/>
                <a:cs typeface="Book Antiqua"/>
              </a:rPr>
              <a:t>  </a:t>
            </a:r>
            <a:r>
              <a:rPr sz="1200" dirty="0">
                <a:latin typeface="+mn-lt"/>
                <a:cs typeface="Times New Roman"/>
              </a:rPr>
              <a:t>лежи</a:t>
            </a:r>
            <a:r>
              <a:rPr sz="1200" spc="235" dirty="0">
                <a:latin typeface="+mn-lt"/>
                <a:cs typeface="Times New Roman"/>
              </a:rPr>
              <a:t> </a:t>
            </a:r>
            <a:r>
              <a:rPr sz="1200" dirty="0">
                <a:latin typeface="+mn-lt"/>
                <a:cs typeface="Times New Roman"/>
              </a:rPr>
              <a:t>на</a:t>
            </a:r>
            <a:r>
              <a:rPr sz="1200" spc="210" dirty="0">
                <a:latin typeface="+mn-lt"/>
                <a:cs typeface="Times New Roman"/>
              </a:rPr>
              <a:t>  </a:t>
            </a:r>
            <a:r>
              <a:rPr sz="1200" b="0" i="1" dirty="0">
                <a:latin typeface="+mn-lt"/>
                <a:cs typeface="Bookman Old Style"/>
              </a:rPr>
              <a:t>p</a:t>
            </a:r>
            <a:r>
              <a:rPr sz="1200" dirty="0">
                <a:latin typeface="+mn-lt"/>
                <a:cs typeface="Times New Roman"/>
              </a:rPr>
              <a:t>,</a:t>
            </a:r>
            <a:r>
              <a:rPr sz="1200" spc="190" dirty="0">
                <a:latin typeface="+mn-lt"/>
                <a:cs typeface="Times New Roman"/>
              </a:rPr>
              <a:t> </a:t>
            </a:r>
            <a:r>
              <a:rPr sz="1200" dirty="0">
                <a:latin typeface="+mn-lt"/>
                <a:cs typeface="Times New Roman"/>
              </a:rPr>
              <a:t>а</a:t>
            </a:r>
            <a:r>
              <a:rPr sz="1200" spc="220" dirty="0">
                <a:latin typeface="+mn-lt"/>
                <a:cs typeface="Times New Roman"/>
              </a:rPr>
              <a:t> </a:t>
            </a:r>
            <a:r>
              <a:rPr sz="1200" dirty="0">
                <a:latin typeface="+mn-lt"/>
                <a:cs typeface="Times New Roman"/>
              </a:rPr>
              <a:t>векторът</a:t>
            </a:r>
            <a:r>
              <a:rPr sz="1200" spc="204" dirty="0">
                <a:latin typeface="+mn-lt"/>
                <a:cs typeface="Times New Roman"/>
              </a:rPr>
              <a:t> </a:t>
            </a:r>
            <a:r>
              <a:rPr sz="1800" spc="-1470" baseline="23148" dirty="0">
                <a:latin typeface="+mn-lt"/>
                <a:cs typeface="Lucida Sans Unicode"/>
              </a:rPr>
              <a:t>−</a:t>
            </a:r>
            <a:r>
              <a:rPr sz="1800" spc="-1372" baseline="23148" dirty="0">
                <a:latin typeface="+mn-lt"/>
                <a:cs typeface="Lucida Sans Unicode"/>
              </a:rPr>
              <a:t>→</a:t>
            </a:r>
            <a:r>
              <a:rPr sz="1200" b="0" i="1" spc="-20" dirty="0">
                <a:latin typeface="+mn-lt"/>
                <a:cs typeface="Bookman Old Style"/>
              </a:rPr>
              <a:t>n</a:t>
            </a:r>
            <a:r>
              <a:rPr sz="1200" b="0" i="1" spc="-75" dirty="0">
                <a:latin typeface="+mn-lt"/>
                <a:cs typeface="Bookman Old Style"/>
              </a:rPr>
              <a:t> </a:t>
            </a:r>
            <a:r>
              <a:rPr sz="1200" i="1" spc="-30" baseline="-13888" dirty="0">
                <a:latin typeface="+mn-lt"/>
                <a:cs typeface="Book Antiqua"/>
              </a:rPr>
              <a:t>p</a:t>
            </a:r>
            <a:r>
              <a:rPr lang="en-US" sz="1200" i="1" spc="-30" baseline="-13888" dirty="0">
                <a:latin typeface="+mn-lt"/>
                <a:cs typeface="Book Antiqua"/>
              </a:rPr>
              <a:t> </a:t>
            </a:r>
            <a:r>
              <a:rPr sz="1200" spc="-20" dirty="0">
                <a:latin typeface="+mn-lt"/>
                <a:cs typeface="Book Antiqua"/>
              </a:rPr>
              <a:t>(</a:t>
            </a:r>
            <a:r>
              <a:rPr sz="1200" b="0" i="1" spc="-20" dirty="0">
                <a:latin typeface="+mn-lt"/>
                <a:cs typeface="Bookman Old Style"/>
              </a:rPr>
              <a:t>a,</a:t>
            </a:r>
            <a:r>
              <a:rPr sz="1200" b="0" i="1" spc="-135" dirty="0">
                <a:latin typeface="+mn-lt"/>
                <a:cs typeface="Bookman Old Style"/>
              </a:rPr>
              <a:t> </a:t>
            </a:r>
            <a:r>
              <a:rPr sz="1200" b="0" i="1" spc="-20" dirty="0">
                <a:latin typeface="+mn-lt"/>
                <a:cs typeface="Bookman Old Style"/>
              </a:rPr>
              <a:t>b</a:t>
            </a:r>
            <a:r>
              <a:rPr sz="1200" spc="-20" dirty="0">
                <a:latin typeface="+mn-lt"/>
                <a:cs typeface="Book Antiqua"/>
              </a:rPr>
              <a:t>)</a:t>
            </a:r>
            <a:r>
              <a:rPr sz="1200" spc="210" dirty="0">
                <a:latin typeface="+mn-lt"/>
                <a:cs typeface="Book Antiqua"/>
              </a:rPr>
              <a:t> </a:t>
            </a:r>
            <a:r>
              <a:rPr sz="1200" dirty="0">
                <a:latin typeface="+mn-lt"/>
                <a:cs typeface="Times New Roman"/>
              </a:rPr>
              <a:t>е</a:t>
            </a:r>
            <a:r>
              <a:rPr sz="1200" spc="210" dirty="0">
                <a:latin typeface="+mn-lt"/>
                <a:cs typeface="Times New Roman"/>
              </a:rPr>
              <a:t> </a:t>
            </a:r>
            <a:r>
              <a:rPr sz="1200" dirty="0" err="1">
                <a:latin typeface="+mn-lt"/>
                <a:cs typeface="Times New Roman"/>
              </a:rPr>
              <a:t>перпендикулярен</a:t>
            </a:r>
            <a:r>
              <a:rPr sz="1200" spc="250" dirty="0">
                <a:latin typeface="+mn-lt"/>
                <a:cs typeface="Times New Roman"/>
              </a:rPr>
              <a:t> </a:t>
            </a:r>
            <a:r>
              <a:rPr sz="1200" spc="-25" dirty="0" err="1">
                <a:latin typeface="+mn-lt"/>
                <a:cs typeface="Times New Roman"/>
              </a:rPr>
              <a:t>на</a:t>
            </a:r>
            <a:r>
              <a:rPr lang="en-US" sz="1200" dirty="0">
                <a:latin typeface="+mn-lt"/>
                <a:cs typeface="Times New Roman"/>
              </a:rPr>
              <a:t> </a:t>
            </a:r>
            <a:r>
              <a:rPr lang="en-US" sz="1200" i="1" spc="-25" dirty="0">
                <a:latin typeface="+mn-lt"/>
                <a:cs typeface="Times New Roman"/>
              </a:rPr>
              <a:t>p</a:t>
            </a:r>
            <a:r>
              <a:rPr sz="1200" spc="-25" dirty="0">
                <a:latin typeface="+mn-lt"/>
                <a:cs typeface="Times New Roman"/>
              </a:rPr>
              <a:t>.</a:t>
            </a:r>
            <a:endParaRPr sz="1200" dirty="0">
              <a:latin typeface="+mn-lt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64668" y="3961112"/>
            <a:ext cx="2703195" cy="1620520"/>
            <a:chOff x="2624175" y="5642000"/>
            <a:chExt cx="2703195" cy="1620520"/>
          </a:xfrm>
        </p:grpSpPr>
        <p:sp>
          <p:nvSpPr>
            <p:cNvPr id="5" name="object 5"/>
            <p:cNvSpPr/>
            <p:nvPr/>
          </p:nvSpPr>
          <p:spPr>
            <a:xfrm>
              <a:off x="2624175" y="5642000"/>
              <a:ext cx="2700655" cy="1620520"/>
            </a:xfrm>
            <a:custGeom>
              <a:avLst/>
              <a:gdLst/>
              <a:ahLst/>
              <a:cxnLst/>
              <a:rect l="l" t="t" r="r" b="b"/>
              <a:pathLst>
                <a:path w="2700654" h="1620520">
                  <a:moveTo>
                    <a:pt x="0" y="1259586"/>
                  </a:moveTo>
                  <a:lnTo>
                    <a:pt x="2700528" y="1259586"/>
                  </a:lnTo>
                </a:path>
                <a:path w="2700654" h="1620520">
                  <a:moveTo>
                    <a:pt x="360426" y="1620012"/>
                  </a:moveTo>
                  <a:lnTo>
                    <a:pt x="360426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43656" y="6109728"/>
              <a:ext cx="1981200" cy="431800"/>
            </a:xfrm>
            <a:custGeom>
              <a:avLst/>
              <a:gdLst/>
              <a:ahLst/>
              <a:cxnLst/>
              <a:rect l="l" t="t" r="r" b="b"/>
              <a:pathLst>
                <a:path w="1981200" h="431800">
                  <a:moveTo>
                    <a:pt x="0" y="431279"/>
                  </a:moveTo>
                  <a:lnTo>
                    <a:pt x="1981187" y="0"/>
                  </a:lnTo>
                </a:path>
              </a:pathLst>
            </a:custGeom>
            <a:ln w="50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35250" y="5241892"/>
            <a:ext cx="1390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spc="-20" dirty="0">
                <a:latin typeface="Bookman Old Style"/>
                <a:cs typeface="Bookman Old Style"/>
              </a:rPr>
              <a:t>O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9278" y="5089644"/>
            <a:ext cx="1733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spc="-37" baseline="-16666" dirty="0">
                <a:latin typeface="Century"/>
                <a:cs typeface="Century"/>
              </a:rPr>
              <a:t>)</a:t>
            </a:r>
            <a:r>
              <a:rPr sz="1200" b="0" i="1" spc="-25" dirty="0">
                <a:latin typeface="Bookman Old Style"/>
                <a:cs typeface="Bookman Old Style"/>
              </a:rPr>
              <a:t>x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63995" y="3857289"/>
            <a:ext cx="3143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500" spc="900" baseline="-16666" dirty="0">
                <a:latin typeface="Century"/>
                <a:cs typeface="Century"/>
              </a:rPr>
              <a:t>ˆ</a:t>
            </a:r>
            <a:endParaRPr sz="1500" baseline="-16666" dirty="0">
              <a:latin typeface="Century"/>
              <a:cs typeface="Century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20719" y="4212322"/>
            <a:ext cx="1003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spc="-135" dirty="0">
                <a:latin typeface="Bookman Old Style"/>
                <a:cs typeface="Bookman Old Style"/>
              </a:rPr>
              <a:t>p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90327" y="4655794"/>
            <a:ext cx="695325" cy="327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640">
              <a:lnSpc>
                <a:spcPts val="1070"/>
              </a:lnSpc>
              <a:spcBef>
                <a:spcPts val="95"/>
              </a:spcBef>
            </a:pPr>
            <a:r>
              <a:rPr sz="1000" spc="-705" dirty="0">
                <a:latin typeface="SimSun"/>
                <a:cs typeface="SimSun"/>
              </a:rPr>
              <a:t>。</a:t>
            </a:r>
            <a:endParaRPr sz="1000" dirty="0">
              <a:latin typeface="SimSun"/>
              <a:cs typeface="SimSun"/>
            </a:endParaRPr>
          </a:p>
          <a:p>
            <a:pPr marL="38100">
              <a:lnSpc>
                <a:spcPts val="1310"/>
              </a:lnSpc>
            </a:pP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-22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aseline="-13888" dirty="0">
                <a:latin typeface="Trebuchet MS"/>
                <a:cs typeface="Trebuchet MS"/>
              </a:rPr>
              <a:t>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y</a:t>
            </a:r>
            <a:r>
              <a:rPr sz="1200" spc="-37" baseline="-13888" dirty="0">
                <a:latin typeface="Trebuchet MS"/>
                <a:cs typeface="Trebuchet MS"/>
              </a:rPr>
              <a:t>0</a:t>
            </a:r>
            <a:r>
              <a:rPr sz="1200" spc="-25" dirty="0">
                <a:latin typeface="Book Antiqua"/>
                <a:cs typeface="Book Antiqua"/>
              </a:rPr>
              <a:t>)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28035" y="4394197"/>
            <a:ext cx="556260" cy="47370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500"/>
              </a:spcBef>
            </a:pPr>
            <a:r>
              <a:rPr sz="1000" spc="-760" dirty="0">
                <a:latin typeface="SimSun"/>
                <a:cs typeface="SimSun"/>
              </a:rPr>
              <a:t>。</a:t>
            </a:r>
            <a:endParaRPr sz="1000" dirty="0">
              <a:latin typeface="SimSun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484"/>
              </a:spcBef>
            </a:pPr>
            <a:r>
              <a:rPr sz="1200" b="0" i="1" spc="65" dirty="0">
                <a:latin typeface="Bookman Old Style"/>
                <a:cs typeface="Bookman Old Style"/>
              </a:rPr>
              <a:t>N</a:t>
            </a:r>
            <a:r>
              <a:rPr sz="1200" b="0" i="1" spc="-23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b="0" i="1" dirty="0">
                <a:latin typeface="Bookman Old Style"/>
                <a:cs typeface="Bookman Old Style"/>
              </a:rPr>
              <a:t>x,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b="0" i="1" spc="-35" dirty="0">
                <a:latin typeface="Bookman Old Style"/>
                <a:cs typeface="Bookman Old Style"/>
              </a:rPr>
              <a:t>y</a:t>
            </a:r>
            <a:r>
              <a:rPr sz="1200" spc="-35" dirty="0">
                <a:latin typeface="Book Antiqua"/>
                <a:cs typeface="Book Antiqua"/>
              </a:rPr>
              <a:t>)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55411" y="3578063"/>
            <a:ext cx="5505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462" baseline="23148" dirty="0">
                <a:latin typeface="Lucida Sans Unicode"/>
                <a:cs typeface="Lucida Sans Unicode"/>
              </a:rPr>
              <a:t>−</a:t>
            </a:r>
            <a:r>
              <a:rPr sz="1200" b="0" i="1" spc="-770" dirty="0">
                <a:latin typeface="Bookman Old Style"/>
                <a:cs typeface="Bookman Old Style"/>
              </a:rPr>
              <a:t>n</a:t>
            </a:r>
            <a:r>
              <a:rPr sz="1800" spc="-735" baseline="23148" dirty="0">
                <a:latin typeface="Lucida Sans Unicode"/>
                <a:cs typeface="Lucida Sans Unicode"/>
              </a:rPr>
              <a:t>→</a:t>
            </a:r>
            <a:r>
              <a:rPr sz="1200" i="1" spc="75" baseline="-13888" dirty="0">
                <a:latin typeface="Book Antiqua"/>
                <a:cs typeface="Book Antiqua"/>
              </a:rPr>
              <a:t>p</a:t>
            </a:r>
            <a:r>
              <a:rPr sz="1200" spc="-15" dirty="0">
                <a:latin typeface="Book Antiqua"/>
                <a:cs typeface="Book Antiqua"/>
              </a:rPr>
              <a:t>(</a:t>
            </a:r>
            <a:r>
              <a:rPr sz="1200" b="0" i="1" spc="-25" dirty="0">
                <a:latin typeface="Bookman Old Style"/>
                <a:cs typeface="Bookman Old Style"/>
              </a:rPr>
              <a:t>a</a:t>
            </a:r>
            <a:r>
              <a:rPr sz="1200" b="0" i="1" spc="-15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b</a:t>
            </a:r>
            <a:r>
              <a:rPr sz="1200" spc="-25" dirty="0">
                <a:latin typeface="Book Antiqua"/>
                <a:cs typeface="Book Antiqua"/>
              </a:rPr>
              <a:t>)</a:t>
            </a:r>
            <a:endParaRPr sz="1200" dirty="0">
              <a:latin typeface="Book Antiqua"/>
              <a:cs typeface="Book Antiqu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18"/>
              <p:cNvSpPr txBox="1"/>
              <p:nvPr/>
            </p:nvSpPr>
            <p:spPr>
              <a:xfrm>
                <a:off x="1029495" y="6287420"/>
                <a:ext cx="5620385" cy="99873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bg-BG" sz="1200" dirty="0">
                    <a:latin typeface="+mn-lt"/>
                    <a:cs typeface="Times New Roman"/>
                  </a:rPr>
                  <a:t>Нека</a:t>
                </a:r>
                <a:r>
                  <a:rPr lang="bg-BG" sz="1200" spc="130" dirty="0">
                    <a:latin typeface="+mn-lt"/>
                    <a:cs typeface="Times New Roman"/>
                  </a:rPr>
                  <a:t> </a:t>
                </a:r>
                <a:r>
                  <a:rPr lang="en-US" sz="1200" b="0" i="1" spc="65" dirty="0">
                    <a:latin typeface="+mn-lt"/>
                    <a:cs typeface="Bookman Old Style"/>
                  </a:rPr>
                  <a:t>N</a:t>
                </a:r>
                <a:r>
                  <a:rPr lang="en-US" sz="1200" b="0" i="1" spc="-229" dirty="0">
                    <a:latin typeface="+mn-lt"/>
                    <a:cs typeface="Bookman Old Style"/>
                  </a:rPr>
                  <a:t> </a:t>
                </a:r>
                <a:r>
                  <a:rPr lang="en-US" sz="1200" dirty="0">
                    <a:latin typeface="+mn-lt"/>
                    <a:cs typeface="Book Antiqua"/>
                  </a:rPr>
                  <a:t>(</a:t>
                </a:r>
                <a:r>
                  <a:rPr lang="en-US" sz="1200" b="0" i="1" dirty="0">
                    <a:latin typeface="+mn-lt"/>
                    <a:cs typeface="Bookman Old Style"/>
                  </a:rPr>
                  <a:t>x,</a:t>
                </a:r>
                <a:r>
                  <a:rPr lang="en-US" sz="1200" b="0" i="1" spc="-140" dirty="0">
                    <a:latin typeface="+mn-lt"/>
                    <a:cs typeface="Bookman Old Style"/>
                  </a:rPr>
                  <a:t> </a:t>
                </a:r>
                <a:r>
                  <a:rPr lang="en-US" sz="1200" b="0" i="1" dirty="0">
                    <a:latin typeface="+mn-lt"/>
                    <a:cs typeface="Bookman Old Style"/>
                  </a:rPr>
                  <a:t>y</a:t>
                </a:r>
                <a:r>
                  <a:rPr lang="en-US" sz="1200" dirty="0">
                    <a:latin typeface="+mn-lt"/>
                    <a:cs typeface="Book Antiqua"/>
                  </a:rPr>
                  <a:t>)</a:t>
                </a:r>
                <a:r>
                  <a:rPr lang="en-US" sz="1200" spc="125" dirty="0">
                    <a:latin typeface="+mn-lt"/>
                    <a:cs typeface="Book Antiqua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е</a:t>
                </a:r>
                <a:r>
                  <a:rPr lang="bg-BG" sz="1200" spc="125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произволна</a:t>
                </a:r>
                <a:r>
                  <a:rPr lang="bg-BG" sz="1200" spc="135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точка</a:t>
                </a:r>
                <a:r>
                  <a:rPr lang="bg-BG" sz="1200" spc="125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от</a:t>
                </a:r>
                <a:r>
                  <a:rPr lang="bg-BG" sz="1200" spc="130" dirty="0">
                    <a:latin typeface="+mn-lt"/>
                    <a:cs typeface="Times New Roman"/>
                  </a:rPr>
                  <a:t> </a:t>
                </a:r>
                <a:r>
                  <a:rPr lang="en-US" sz="1200" b="0" i="1" dirty="0">
                    <a:latin typeface="+mn-lt"/>
                    <a:cs typeface="Bookman Old Style"/>
                  </a:rPr>
                  <a:t>p</a:t>
                </a:r>
                <a:r>
                  <a:rPr lang="en-US" sz="1200" dirty="0">
                    <a:latin typeface="+mn-lt"/>
                    <a:cs typeface="Times New Roman"/>
                  </a:rPr>
                  <a:t>.</a:t>
                </a:r>
                <a:r>
                  <a:rPr lang="en-US" sz="1200" spc="120" dirty="0">
                    <a:latin typeface="+mn-lt"/>
                    <a:cs typeface="Times New Roman"/>
                  </a:rPr>
                  <a:t> </a:t>
                </a:r>
                <a:r>
                  <a:rPr lang="bg-BG" sz="1200" spc="-10" dirty="0">
                    <a:latin typeface="+mn-lt"/>
                    <a:cs typeface="Times New Roman"/>
                  </a:rPr>
                  <a:t>Тогава</a:t>
                </a:r>
                <a:endParaRPr lang="bg-BG" sz="1200" dirty="0">
                  <a:latin typeface="+mn-lt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5"/>
                  </a:spcBef>
                </a:pPr>
                <a:endParaRPr lang="bg-BG" sz="1350" dirty="0">
                  <a:latin typeface="+mn-lt"/>
                  <a:cs typeface="Times New Roman"/>
                </a:endParaRPr>
              </a:p>
              <a:p>
                <a:pPr marL="74295">
                  <a:lnSpc>
                    <a:spcPct val="100000"/>
                  </a:lnSpc>
                </a:pPr>
                <a:r>
                  <a:rPr lang="en-US" sz="1200" b="0" i="1" spc="65" dirty="0">
                    <a:latin typeface="+mn-lt"/>
                    <a:cs typeface="Bookman Old Style"/>
                  </a:rPr>
                  <a:t>N</a:t>
                </a:r>
                <a:r>
                  <a:rPr lang="en-US" sz="1200" b="0" i="1" spc="-245" dirty="0">
                    <a:latin typeface="+mn-lt"/>
                    <a:cs typeface="Bookman Old Style"/>
                  </a:rPr>
                  <a:t> </a:t>
                </a:r>
                <a:r>
                  <a:rPr lang="en-US" sz="1200" dirty="0">
                    <a:latin typeface="+mn-lt"/>
                    <a:cs typeface="Book Antiqua"/>
                  </a:rPr>
                  <a:t>(</a:t>
                </a:r>
                <a:r>
                  <a:rPr lang="en-US" sz="1200" b="0" i="1" dirty="0">
                    <a:latin typeface="+mn-lt"/>
                    <a:cs typeface="Bookman Old Style"/>
                  </a:rPr>
                  <a:t>x,</a:t>
                </a:r>
                <a:r>
                  <a:rPr lang="en-US" sz="1200" b="0" i="1" spc="-155" dirty="0">
                    <a:latin typeface="+mn-lt"/>
                    <a:cs typeface="Bookman Old Style"/>
                  </a:rPr>
                  <a:t> </a:t>
                </a:r>
                <a:r>
                  <a:rPr lang="en-US" sz="1200" b="0" i="1" dirty="0">
                    <a:latin typeface="+mn-lt"/>
                    <a:cs typeface="Bookman Old Style"/>
                  </a:rPr>
                  <a:t>y</a:t>
                </a:r>
                <a:r>
                  <a:rPr lang="en-US" sz="1200" dirty="0">
                    <a:latin typeface="+mn-lt"/>
                    <a:cs typeface="Book Antiqua"/>
                  </a:rPr>
                  <a:t>)</a:t>
                </a:r>
                <a:r>
                  <a:rPr lang="en-US" sz="1200" spc="35" dirty="0">
                    <a:latin typeface="+mn-lt"/>
                    <a:cs typeface="Book Antiqua"/>
                  </a:rPr>
                  <a:t> </a:t>
                </a:r>
                <a:r>
                  <a:rPr lang="en-US" sz="1200" spc="-170" dirty="0">
                    <a:latin typeface="+mn-lt"/>
                    <a:cs typeface="Lucida Sans Unicode"/>
                  </a:rPr>
                  <a:t>∈</a:t>
                </a:r>
                <a:r>
                  <a:rPr lang="en-US" sz="1200" spc="-40" dirty="0">
                    <a:latin typeface="+mn-lt"/>
                    <a:cs typeface="Lucida Sans Unicode"/>
                  </a:rPr>
                  <a:t> </a:t>
                </a:r>
                <a:r>
                  <a:rPr lang="en-US" sz="1200" b="0" i="1" spc="-145" dirty="0">
                    <a:latin typeface="+mn-lt"/>
                    <a:cs typeface="Bookman Old Style"/>
                  </a:rPr>
                  <a:t>p</a:t>
                </a:r>
                <a:r>
                  <a:rPr lang="en-US" sz="1200" b="0" i="1" spc="-10" dirty="0">
                    <a:latin typeface="+mn-lt"/>
                    <a:cs typeface="Bookman Old Style"/>
                  </a:rPr>
                  <a:t>  </a:t>
                </a:r>
                <a:r>
                  <a:rPr lang="en-US" sz="1200" spc="-265" dirty="0">
                    <a:latin typeface="+mn-lt"/>
                    <a:cs typeface="Lucida Sans Unicode"/>
                  </a:rPr>
                  <a:t>⇔</a:t>
                </a:r>
                <a:r>
                  <a:rPr lang="en-US" sz="1200" spc="-45" dirty="0">
                    <a:latin typeface="+mn-lt"/>
                    <a:cs typeface="Lucida Sans Unicode"/>
                  </a:rPr>
                  <a:t>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sz="1200" i="1" spc="-45" smtClean="0"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sz="1200" i="1" spc="-45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ar-AE" sz="1200" b="0" i="1" spc="-45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200" b="0" i="1" spc="-45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  <m:t>𝑝</m:t>
                            </m:r>
                          </m:sub>
                        </m:sSub>
                      </m:e>
                    </m:acc>
                    <m:r>
                      <a:rPr lang="en-US" sz="1200" b="0" i="0" spc="-45" smtClean="0">
                        <a:latin typeface="Cambria Math" panose="02040503050406030204" pitchFamily="18" charset="0"/>
                        <a:cs typeface="Lucida Sans Unicode"/>
                      </a:rPr>
                      <m:t>(</m:t>
                    </m:r>
                  </m:oMath>
                </a14:m>
                <a:r>
                  <a:rPr lang="en-US" sz="1200" b="0" i="1" spc="-40" dirty="0">
                    <a:latin typeface="+mn-lt"/>
                    <a:cs typeface="Bookman Old Style"/>
                  </a:rPr>
                  <a:t>a</a:t>
                </a:r>
                <a:r>
                  <a:rPr lang="en-US" sz="1200" b="0" i="1" spc="-30" dirty="0">
                    <a:latin typeface="+mn-lt"/>
                    <a:cs typeface="Bookman Old Style"/>
                  </a:rPr>
                  <a:t>,</a:t>
                </a:r>
                <a:r>
                  <a:rPr lang="en-US" sz="1200" b="0" i="1" spc="-155" dirty="0">
                    <a:latin typeface="+mn-lt"/>
                    <a:cs typeface="Bookman Old Style"/>
                  </a:rPr>
                  <a:t> </a:t>
                </a:r>
                <a:r>
                  <a:rPr lang="en-US" sz="1200" b="0" i="1" spc="-80" dirty="0">
                    <a:latin typeface="+mn-lt"/>
                    <a:cs typeface="Bookman Old Style"/>
                  </a:rPr>
                  <a:t>b</a:t>
                </a:r>
                <a:r>
                  <a:rPr lang="en-US" sz="1200" spc="-80" dirty="0">
                    <a:latin typeface="+mn-lt"/>
                    <a:cs typeface="Book Antiqua"/>
                  </a:rPr>
                  <a:t>)</a:t>
                </a:r>
                <a:r>
                  <a:rPr lang="en-US" sz="1200" spc="45" dirty="0">
                    <a:latin typeface="+mn-lt"/>
                    <a:cs typeface="Book Antiqua"/>
                  </a:rPr>
                  <a:t> </a:t>
                </a:r>
                <a:r>
                  <a:rPr lang="en-US" sz="1200" dirty="0">
                    <a:latin typeface="+mn-lt"/>
                    <a:cs typeface="Lucida Sans Unicode"/>
                  </a:rPr>
                  <a:t>⊥</a:t>
                </a:r>
                <a:r>
                  <a:rPr lang="en-US" sz="1200" spc="-40" dirty="0">
                    <a:latin typeface="+mn-lt"/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200" i="1" spc="-40" smtClean="0"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accPr>
                      <m:e>
                        <m:r>
                          <a:rPr lang="en-US" sz="1200" b="0" i="1" spc="-40" smtClean="0">
                            <a:latin typeface="Cambria Math" panose="02040503050406030204" pitchFamily="18" charset="0"/>
                            <a:cs typeface="Lucida Sans Unicode"/>
                          </a:rPr>
                          <m:t>𝑀𝑁</m:t>
                        </m:r>
                      </m:e>
                    </m:acc>
                  </m:oMath>
                </a14:m>
                <a:r>
                  <a:rPr lang="en-US" sz="1200" b="0" i="1" spc="-220" dirty="0">
                    <a:latin typeface="+mn-lt"/>
                    <a:cs typeface="Bookman Old Style"/>
                  </a:rPr>
                  <a:t> </a:t>
                </a:r>
                <a:r>
                  <a:rPr lang="en-US" sz="1200" dirty="0">
                    <a:latin typeface="+mn-lt"/>
                    <a:cs typeface="Book Antiqua"/>
                  </a:rPr>
                  <a:t>(</a:t>
                </a:r>
                <a:r>
                  <a:rPr lang="en-US" sz="1200" b="0" i="1" dirty="0">
                    <a:latin typeface="+mn-lt"/>
                    <a:cs typeface="Bookman Old Style"/>
                  </a:rPr>
                  <a:t>x</a:t>
                </a:r>
                <a:r>
                  <a:rPr lang="en-US" sz="1200" b="0" i="1" spc="-95" dirty="0">
                    <a:latin typeface="+mn-lt"/>
                    <a:cs typeface="Bookman Old Style"/>
                  </a:rPr>
                  <a:t> </a:t>
                </a:r>
                <a:r>
                  <a:rPr lang="en-US" sz="1200" spc="-35" dirty="0">
                    <a:latin typeface="+mn-lt"/>
                    <a:cs typeface="Lucida Sans Unicode"/>
                  </a:rPr>
                  <a:t>−</a:t>
                </a:r>
                <a:r>
                  <a:rPr lang="en-US" sz="1200" spc="-105" dirty="0">
                    <a:latin typeface="+mn-lt"/>
                    <a:cs typeface="Lucida Sans Unicode"/>
                  </a:rPr>
                  <a:t> </a:t>
                </a:r>
                <a:r>
                  <a:rPr lang="en-US" sz="1200" b="0" i="1" dirty="0">
                    <a:latin typeface="+mn-lt"/>
                    <a:cs typeface="Bookman Old Style"/>
                  </a:rPr>
                  <a:t>x</a:t>
                </a:r>
                <a:r>
                  <a:rPr lang="en-US" sz="1200" baseline="-13888" dirty="0">
                    <a:latin typeface="+mn-lt"/>
                    <a:cs typeface="Trebuchet MS"/>
                  </a:rPr>
                  <a:t>0</a:t>
                </a:r>
                <a:r>
                  <a:rPr lang="en-US" sz="1200" b="0" i="1" dirty="0">
                    <a:latin typeface="+mn-lt"/>
                    <a:cs typeface="Bookman Old Style"/>
                  </a:rPr>
                  <a:t>,</a:t>
                </a:r>
                <a:r>
                  <a:rPr lang="en-US" sz="1200" b="0" i="1" spc="-155" dirty="0">
                    <a:latin typeface="+mn-lt"/>
                    <a:cs typeface="Bookman Old Style"/>
                  </a:rPr>
                  <a:t> </a:t>
                </a:r>
                <a:r>
                  <a:rPr lang="en-US" sz="1200" b="0" i="1" spc="-160" dirty="0">
                    <a:latin typeface="+mn-lt"/>
                    <a:cs typeface="Bookman Old Style"/>
                  </a:rPr>
                  <a:t>y</a:t>
                </a:r>
                <a:r>
                  <a:rPr lang="en-US" sz="1200" b="0" i="1" spc="-45" dirty="0">
                    <a:latin typeface="+mn-lt"/>
                    <a:cs typeface="Bookman Old Style"/>
                  </a:rPr>
                  <a:t> </a:t>
                </a:r>
                <a:r>
                  <a:rPr lang="en-US" sz="1200" spc="-35" dirty="0">
                    <a:latin typeface="+mn-lt"/>
                    <a:cs typeface="Lucida Sans Unicode"/>
                  </a:rPr>
                  <a:t>−</a:t>
                </a:r>
                <a:r>
                  <a:rPr lang="en-US" sz="1200" spc="-120" dirty="0">
                    <a:latin typeface="+mn-lt"/>
                    <a:cs typeface="Lucida Sans Unicode"/>
                  </a:rPr>
                  <a:t> </a:t>
                </a:r>
                <a:r>
                  <a:rPr lang="en-US" sz="1200" b="0" i="1" dirty="0">
                    <a:latin typeface="+mn-lt"/>
                    <a:cs typeface="Bookman Old Style"/>
                  </a:rPr>
                  <a:t>y</a:t>
                </a:r>
                <a:r>
                  <a:rPr lang="en-US" sz="1200" baseline="-13888" dirty="0">
                    <a:latin typeface="+mn-lt"/>
                    <a:cs typeface="Trebuchet MS"/>
                  </a:rPr>
                  <a:t>0</a:t>
                </a:r>
                <a:r>
                  <a:rPr lang="en-US" sz="1200" dirty="0">
                    <a:latin typeface="+mn-lt"/>
                    <a:cs typeface="Book Antiqua"/>
                  </a:rPr>
                  <a:t>)  </a:t>
                </a:r>
                <a:r>
                  <a:rPr lang="en-US" sz="1200" spc="45" dirty="0">
                    <a:latin typeface="+mn-lt"/>
                    <a:cs typeface="Book Antiqua"/>
                  </a:rPr>
                  <a:t> </a:t>
                </a:r>
                <a:r>
                  <a:rPr lang="en-US" sz="1200" spc="-265" dirty="0">
                    <a:latin typeface="+mn-lt"/>
                    <a:cs typeface="Lucida Sans Unicode"/>
                  </a:rPr>
                  <a:t>⇔  </a:t>
                </a:r>
                <a:r>
                  <a:rPr lang="en-US" sz="1200" spc="-45" dirty="0">
                    <a:latin typeface="+mn-lt"/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200" i="1" spc="-45" smtClean="0"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i="1" spc="-45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en-US" sz="1200" b="0" i="1" spc="-45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200" b="0" i="1" spc="-45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  <m:t>𝑝</m:t>
                            </m:r>
                          </m:sub>
                        </m:sSub>
                      </m:e>
                    </m:acc>
                    <m:r>
                      <a:rPr lang="en-US" sz="1200" b="0" i="1" spc="-45" smtClean="0">
                        <a:latin typeface="Cambria Math" panose="02040503050406030204" pitchFamily="18" charset="0"/>
                        <a:cs typeface="Lucida Sans Unicode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1200" b="0" i="1" spc="-45" smtClean="0"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accPr>
                      <m:e>
                        <m:r>
                          <a:rPr lang="en-US" sz="1200" b="0" i="1" spc="-45" smtClean="0">
                            <a:latin typeface="Cambria Math" panose="02040503050406030204" pitchFamily="18" charset="0"/>
                            <a:cs typeface="Lucida Sans Unicode"/>
                          </a:rPr>
                          <m:t>𝑀𝑁</m:t>
                        </m:r>
                      </m:e>
                    </m:acc>
                  </m:oMath>
                </a14:m>
                <a:r>
                  <a:rPr lang="en-US" sz="1200" b="0" i="1" spc="114" dirty="0">
                    <a:latin typeface="+mn-lt"/>
                    <a:cs typeface="Bookman Old Style"/>
                  </a:rPr>
                  <a:t> </a:t>
                </a:r>
                <a:r>
                  <a:rPr lang="en-US" sz="1200" spc="180" dirty="0">
                    <a:latin typeface="+mn-lt"/>
                    <a:cs typeface="Book Antiqua"/>
                  </a:rPr>
                  <a:t>=</a:t>
                </a:r>
                <a:r>
                  <a:rPr lang="en-US" sz="1200" spc="35" dirty="0">
                    <a:latin typeface="+mn-lt"/>
                    <a:cs typeface="Book Antiqua"/>
                  </a:rPr>
                  <a:t> </a:t>
                </a:r>
                <a:r>
                  <a:rPr lang="en-US" sz="1200" b="0" i="1" spc="-30" dirty="0">
                    <a:latin typeface="+mn-lt"/>
                    <a:cs typeface="Bookman Old Style"/>
                  </a:rPr>
                  <a:t>a</a:t>
                </a:r>
                <a:r>
                  <a:rPr lang="en-US" sz="1200" spc="-30" dirty="0">
                    <a:latin typeface="+mn-lt"/>
                    <a:cs typeface="Book Antiqua"/>
                  </a:rPr>
                  <a:t>(</a:t>
                </a:r>
                <a:r>
                  <a:rPr lang="en-US" sz="1200" b="0" i="1" spc="-30" dirty="0">
                    <a:latin typeface="+mn-lt"/>
                    <a:cs typeface="Bookman Old Style"/>
                  </a:rPr>
                  <a:t>x</a:t>
                </a:r>
                <a:r>
                  <a:rPr lang="en-US" sz="1200" b="0" i="1" spc="-85" dirty="0">
                    <a:latin typeface="+mn-lt"/>
                    <a:cs typeface="Bookman Old Style"/>
                  </a:rPr>
                  <a:t> </a:t>
                </a:r>
                <a:r>
                  <a:rPr lang="en-US" sz="1200" spc="-35" dirty="0">
                    <a:latin typeface="+mn-lt"/>
                    <a:cs typeface="Lucida Sans Unicode"/>
                  </a:rPr>
                  <a:t>−</a:t>
                </a:r>
                <a:r>
                  <a:rPr lang="en-US" sz="1200" spc="-100" dirty="0">
                    <a:latin typeface="+mn-lt"/>
                    <a:cs typeface="Lucida Sans Unicode"/>
                  </a:rPr>
                  <a:t> </a:t>
                </a:r>
                <a:r>
                  <a:rPr lang="en-US" sz="1200" b="0" i="1" dirty="0">
                    <a:latin typeface="+mn-lt"/>
                    <a:cs typeface="Bookman Old Style"/>
                  </a:rPr>
                  <a:t>x</a:t>
                </a:r>
                <a:r>
                  <a:rPr lang="en-US" sz="1200" baseline="-13888" dirty="0">
                    <a:latin typeface="+mn-lt"/>
                    <a:cs typeface="Trebuchet MS"/>
                  </a:rPr>
                  <a:t>0</a:t>
                </a:r>
                <a:r>
                  <a:rPr lang="en-US" sz="1200" dirty="0">
                    <a:latin typeface="+mn-lt"/>
                    <a:cs typeface="Book Antiqua"/>
                  </a:rPr>
                  <a:t>)</a:t>
                </a:r>
                <a:r>
                  <a:rPr lang="en-US" sz="1200" spc="-20" dirty="0">
                    <a:latin typeface="+mn-lt"/>
                    <a:cs typeface="Book Antiqua"/>
                  </a:rPr>
                  <a:t> </a:t>
                </a:r>
                <a:r>
                  <a:rPr lang="en-US" sz="1200" spc="180" dirty="0">
                    <a:latin typeface="+mn-lt"/>
                    <a:cs typeface="Book Antiqua"/>
                  </a:rPr>
                  <a:t>+</a:t>
                </a:r>
                <a:r>
                  <a:rPr lang="en-US" sz="1200" spc="-30" dirty="0">
                    <a:latin typeface="+mn-lt"/>
                    <a:cs typeface="Book Antiqua"/>
                  </a:rPr>
                  <a:t> </a:t>
                </a:r>
                <a:r>
                  <a:rPr lang="en-US" sz="1200" b="0" i="1" spc="-120" dirty="0">
                    <a:latin typeface="+mn-lt"/>
                    <a:cs typeface="Bookman Old Style"/>
                  </a:rPr>
                  <a:t>b</a:t>
                </a:r>
                <a:r>
                  <a:rPr lang="en-US" sz="1200" spc="-120" dirty="0">
                    <a:latin typeface="+mn-lt"/>
                    <a:cs typeface="Book Antiqua"/>
                  </a:rPr>
                  <a:t>(</a:t>
                </a:r>
                <a:r>
                  <a:rPr lang="en-US" sz="1200" b="0" i="1" spc="-120" dirty="0">
                    <a:latin typeface="+mn-lt"/>
                    <a:cs typeface="Bookman Old Style"/>
                  </a:rPr>
                  <a:t>y</a:t>
                </a:r>
                <a:r>
                  <a:rPr lang="en-US" sz="1200" b="0" i="1" spc="-45" dirty="0">
                    <a:latin typeface="+mn-lt"/>
                    <a:cs typeface="Bookman Old Style"/>
                  </a:rPr>
                  <a:t> </a:t>
                </a:r>
                <a:r>
                  <a:rPr lang="en-US" sz="1200" spc="-35" dirty="0">
                    <a:latin typeface="+mn-lt"/>
                    <a:cs typeface="Lucida Sans Unicode"/>
                  </a:rPr>
                  <a:t>−</a:t>
                </a:r>
                <a:r>
                  <a:rPr lang="en-US" sz="1200" spc="-105" dirty="0">
                    <a:latin typeface="+mn-lt"/>
                    <a:cs typeface="Lucida Sans Unicode"/>
                  </a:rPr>
                  <a:t> </a:t>
                </a:r>
                <a:r>
                  <a:rPr lang="en-US" sz="1200" b="0" i="1" dirty="0">
                    <a:latin typeface="+mn-lt"/>
                    <a:cs typeface="Bookman Old Style"/>
                  </a:rPr>
                  <a:t>y</a:t>
                </a:r>
                <a:r>
                  <a:rPr lang="en-US" sz="1200" baseline="-13888" dirty="0">
                    <a:latin typeface="+mn-lt"/>
                    <a:cs typeface="Trebuchet MS"/>
                  </a:rPr>
                  <a:t>0</a:t>
                </a:r>
                <a:r>
                  <a:rPr lang="en-US" sz="1200" dirty="0">
                    <a:latin typeface="+mn-lt"/>
                    <a:cs typeface="Book Antiqua"/>
                  </a:rPr>
                  <a:t>)</a:t>
                </a:r>
                <a:r>
                  <a:rPr lang="en-US" sz="1200" spc="45" dirty="0">
                    <a:latin typeface="+mn-lt"/>
                    <a:cs typeface="Book Antiqua"/>
                  </a:rPr>
                  <a:t> </a:t>
                </a:r>
                <a:r>
                  <a:rPr lang="en-US" sz="1200" spc="180" dirty="0">
                    <a:latin typeface="+mn-lt"/>
                    <a:cs typeface="Book Antiqua"/>
                  </a:rPr>
                  <a:t>=</a:t>
                </a:r>
                <a:r>
                  <a:rPr lang="en-US" sz="1200" spc="35" dirty="0">
                    <a:latin typeface="+mn-lt"/>
                    <a:cs typeface="Book Antiqua"/>
                  </a:rPr>
                  <a:t> </a:t>
                </a:r>
                <a:r>
                  <a:rPr lang="en-US" sz="1200" spc="-50" dirty="0">
                    <a:latin typeface="+mn-lt"/>
                    <a:cs typeface="Book Antiqua"/>
                  </a:rPr>
                  <a:t>0</a:t>
                </a:r>
                <a:endParaRPr lang="en-US" sz="1200" dirty="0">
                  <a:latin typeface="+mn-lt"/>
                  <a:cs typeface="Book Antiqu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1345"/>
                  </a:spcBef>
                </a:pPr>
                <a:r>
                  <a:rPr lang="bg-BG" sz="1200" dirty="0">
                    <a:latin typeface="+mn-lt"/>
                    <a:cs typeface="Times New Roman"/>
                  </a:rPr>
                  <a:t>Следователно</a:t>
                </a:r>
                <a:r>
                  <a:rPr lang="bg-BG" sz="1200" spc="155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уравнението</a:t>
                </a:r>
                <a:r>
                  <a:rPr lang="bg-BG" sz="1200" spc="180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на</a:t>
                </a:r>
                <a:r>
                  <a:rPr lang="bg-BG" sz="1200" spc="145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правата</a:t>
                </a:r>
                <a:r>
                  <a:rPr lang="bg-BG" sz="1200" spc="155" dirty="0">
                    <a:latin typeface="+mn-lt"/>
                    <a:cs typeface="Times New Roman"/>
                  </a:rPr>
                  <a:t>  </a:t>
                </a:r>
                <a:r>
                  <a:rPr lang="en-US" sz="1200" b="0" i="1" dirty="0">
                    <a:latin typeface="+mn-lt"/>
                    <a:cs typeface="Bookman Old Style"/>
                  </a:rPr>
                  <a:t>p</a:t>
                </a:r>
                <a:r>
                  <a:rPr lang="en-US" sz="1200" b="0" i="1" spc="100" dirty="0">
                    <a:latin typeface="+mn-lt"/>
                    <a:cs typeface="Bookman Old Style"/>
                  </a:rPr>
                  <a:t>  </a:t>
                </a:r>
                <a:r>
                  <a:rPr lang="bg-BG" sz="1200" spc="-50" dirty="0">
                    <a:latin typeface="+mn-lt"/>
                    <a:cs typeface="Times New Roman"/>
                  </a:rPr>
                  <a:t>е</a:t>
                </a:r>
                <a:endParaRPr sz="1200" dirty="0">
                  <a:latin typeface="+mn-lt"/>
                  <a:cs typeface="Times New Roman"/>
                </a:endParaRPr>
              </a:p>
            </p:txBody>
          </p:sp>
        </mc:Choice>
        <mc:Fallback>
          <p:sp>
            <p:nvSpPr>
              <p:cNvPr id="1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495" y="6287420"/>
                <a:ext cx="5620385" cy="998735"/>
              </a:xfrm>
              <a:prstGeom prst="rect">
                <a:avLst/>
              </a:prstGeom>
              <a:blipFill>
                <a:blip r:embed="rId2"/>
                <a:stretch>
                  <a:fillRect l="-1085" t="-3659" b="-6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bject 19"/>
          <p:cNvSpPr txBox="1"/>
          <p:nvPr/>
        </p:nvSpPr>
        <p:spPr>
          <a:xfrm>
            <a:off x="1029495" y="7630562"/>
            <a:ext cx="4778375" cy="13997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8205" algn="ctr">
              <a:lnSpc>
                <a:spcPct val="100000"/>
              </a:lnSpc>
              <a:spcBef>
                <a:spcPts val="95"/>
              </a:spcBef>
              <a:tabLst>
                <a:tab pos="1178560" algn="l"/>
              </a:tabLst>
            </a:pPr>
            <a:r>
              <a:rPr sz="1200" b="0" i="1" spc="-145" dirty="0">
                <a:latin typeface="Bookman Old Style"/>
                <a:cs typeface="Bookman Old Style"/>
              </a:rPr>
              <a:t>p</a:t>
            </a:r>
            <a:r>
              <a:rPr sz="1200" b="0" i="1" spc="-10" dirty="0">
                <a:latin typeface="Bookman Old Style"/>
                <a:cs typeface="Bookman Old Style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: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b="0" i="1" spc="-30" dirty="0">
                <a:latin typeface="Bookman Old Style"/>
                <a:cs typeface="Bookman Old Style"/>
              </a:rPr>
              <a:t>a</a:t>
            </a:r>
            <a:r>
              <a:rPr sz="1200" spc="-30" dirty="0">
                <a:latin typeface="Book Antiqua"/>
                <a:cs typeface="Book Antiqua"/>
              </a:rPr>
              <a:t>(</a:t>
            </a:r>
            <a:r>
              <a:rPr sz="1200" b="0" i="1" spc="-30" dirty="0">
                <a:latin typeface="Bookman Old Style"/>
                <a:cs typeface="Bookman Old Style"/>
              </a:rPr>
              <a:t>x</a:t>
            </a:r>
            <a:r>
              <a:rPr sz="1200" b="0" i="1" spc="-8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95" dirty="0">
                <a:latin typeface="Lucida Sans Unicode"/>
                <a:cs typeface="Lucida Sans Unicod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aseline="-13888" dirty="0">
                <a:latin typeface="Trebuchet MS"/>
                <a:cs typeface="Trebuchet MS"/>
              </a:rPr>
              <a:t>0</a:t>
            </a:r>
            <a:r>
              <a:rPr sz="1200" dirty="0">
                <a:latin typeface="Book Antiqua"/>
                <a:cs typeface="Book Antiqua"/>
              </a:rPr>
              <a:t>)</a:t>
            </a:r>
            <a:r>
              <a:rPr sz="1200" spc="-2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0" dirty="0">
                <a:latin typeface="Book Antiqua"/>
                <a:cs typeface="Book Antiqua"/>
              </a:rPr>
              <a:t> </a:t>
            </a:r>
            <a:r>
              <a:rPr sz="1200" b="0" i="1" spc="-120" dirty="0">
                <a:latin typeface="Bookman Old Style"/>
                <a:cs typeface="Bookman Old Style"/>
              </a:rPr>
              <a:t>b</a:t>
            </a:r>
            <a:r>
              <a:rPr sz="1200" spc="-120" dirty="0">
                <a:latin typeface="Book Antiqua"/>
                <a:cs typeface="Book Antiqua"/>
              </a:rPr>
              <a:t>(</a:t>
            </a:r>
            <a:r>
              <a:rPr sz="1200" b="0" i="1" spc="-120" dirty="0">
                <a:latin typeface="Bookman Old Style"/>
                <a:cs typeface="Bookman Old Style"/>
              </a:rPr>
              <a:t>y</a:t>
            </a:r>
            <a:r>
              <a:rPr sz="1200" b="0" i="1" spc="-4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95" dirty="0">
                <a:latin typeface="Lucida Sans Unicode"/>
                <a:cs typeface="Lucida Sans Unicod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y</a:t>
            </a:r>
            <a:r>
              <a:rPr sz="1200" baseline="-13888" dirty="0">
                <a:latin typeface="Trebuchet MS"/>
                <a:cs typeface="Trebuchet MS"/>
              </a:rPr>
              <a:t>0</a:t>
            </a:r>
            <a:r>
              <a:rPr sz="1200" dirty="0">
                <a:latin typeface="Book Antiqua"/>
                <a:cs typeface="Book Antiqua"/>
              </a:rPr>
              <a:t>)</a:t>
            </a:r>
            <a:r>
              <a:rPr sz="1200" spc="5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  <a:p>
            <a:pPr marL="38100">
              <a:lnSpc>
                <a:spcPct val="200000"/>
              </a:lnSpc>
              <a:spcBef>
                <a:spcPts val="1405"/>
              </a:spcBef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Cambria"/>
              </a:rPr>
              <a:t>2.</a:t>
            </a:r>
            <a:r>
              <a:rPr sz="1400" b="1" spc="225" dirty="0">
                <a:solidFill>
                  <a:schemeClr val="accent1">
                    <a:lumMod val="75000"/>
                  </a:schemeClr>
                </a:solidFill>
                <a:latin typeface="+mn-lt"/>
                <a:cs typeface="Cambria"/>
              </a:rPr>
              <a:t>  </a:t>
            </a: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Cambria"/>
              </a:rPr>
              <a:t>Общо</a:t>
            </a:r>
            <a:r>
              <a:rPr sz="1400" b="1" spc="215" dirty="0">
                <a:solidFill>
                  <a:schemeClr val="accent1">
                    <a:lumMod val="75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Cambria"/>
              </a:rPr>
              <a:t>уравнение</a:t>
            </a:r>
            <a:r>
              <a:rPr sz="1400" b="1" spc="254" dirty="0">
                <a:solidFill>
                  <a:schemeClr val="accent1">
                    <a:lumMod val="75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Cambria"/>
              </a:rPr>
              <a:t>на</a:t>
            </a:r>
            <a:r>
              <a:rPr sz="1400" b="1" spc="220" dirty="0">
                <a:solidFill>
                  <a:schemeClr val="accent1">
                    <a:lumMod val="75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spc="-20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Cambria"/>
              </a:rPr>
              <a:t>права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+mn-lt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+mn-lt"/>
                <a:cs typeface="Times New Roman"/>
              </a:rPr>
              <a:t>Разкриваме</a:t>
            </a:r>
            <a:r>
              <a:rPr sz="1200" spc="130" dirty="0">
                <a:latin typeface="+mn-lt"/>
                <a:cs typeface="Times New Roman"/>
              </a:rPr>
              <a:t> </a:t>
            </a:r>
            <a:r>
              <a:rPr sz="1200" dirty="0">
                <a:latin typeface="+mn-lt"/>
                <a:cs typeface="Times New Roman"/>
              </a:rPr>
              <a:t>скобите</a:t>
            </a:r>
            <a:r>
              <a:rPr sz="1200" spc="125" dirty="0">
                <a:latin typeface="+mn-lt"/>
                <a:cs typeface="Times New Roman"/>
              </a:rPr>
              <a:t> </a:t>
            </a:r>
            <a:r>
              <a:rPr sz="1200" dirty="0">
                <a:latin typeface="+mn-lt"/>
                <a:cs typeface="Times New Roman"/>
              </a:rPr>
              <a:t>в</a:t>
            </a:r>
            <a:r>
              <a:rPr sz="1200" spc="120" dirty="0">
                <a:latin typeface="+mn-lt"/>
                <a:cs typeface="Times New Roman"/>
              </a:rPr>
              <a:t> </a:t>
            </a:r>
            <a:r>
              <a:rPr sz="1200" dirty="0">
                <a:latin typeface="+mn-lt"/>
                <a:cs typeface="Times New Roman"/>
              </a:rPr>
              <a:t>(1.1)</a:t>
            </a:r>
            <a:r>
              <a:rPr sz="1200" spc="114" dirty="0">
                <a:latin typeface="+mn-lt"/>
                <a:cs typeface="Times New Roman"/>
              </a:rPr>
              <a:t> </a:t>
            </a:r>
            <a:r>
              <a:rPr sz="1200" dirty="0">
                <a:latin typeface="+mn-lt"/>
                <a:cs typeface="Times New Roman"/>
              </a:rPr>
              <a:t>и</a:t>
            </a:r>
            <a:r>
              <a:rPr sz="1200" spc="120" dirty="0">
                <a:latin typeface="+mn-lt"/>
                <a:cs typeface="Times New Roman"/>
              </a:rPr>
              <a:t> </a:t>
            </a:r>
            <a:r>
              <a:rPr sz="1200" dirty="0">
                <a:latin typeface="+mn-lt"/>
                <a:cs typeface="Times New Roman"/>
              </a:rPr>
              <a:t>полагаме</a:t>
            </a:r>
            <a:r>
              <a:rPr sz="1200" spc="130" dirty="0">
                <a:latin typeface="+mn-lt"/>
                <a:cs typeface="Times New Roman"/>
              </a:rPr>
              <a:t> </a:t>
            </a:r>
            <a:r>
              <a:rPr sz="1200" b="0" i="1" spc="-80" dirty="0">
                <a:latin typeface="+mn-lt"/>
                <a:cs typeface="Bookman Old Style"/>
              </a:rPr>
              <a:t>c</a:t>
            </a:r>
            <a:r>
              <a:rPr sz="1200" b="0" i="1" spc="5" dirty="0">
                <a:latin typeface="+mn-lt"/>
                <a:cs typeface="Bookman Old Style"/>
              </a:rPr>
              <a:t> </a:t>
            </a:r>
            <a:r>
              <a:rPr sz="1200" spc="180" dirty="0">
                <a:latin typeface="+mn-lt"/>
                <a:cs typeface="Book Antiqua"/>
              </a:rPr>
              <a:t>=</a:t>
            </a:r>
            <a:r>
              <a:rPr sz="1200" spc="55" dirty="0">
                <a:latin typeface="+mn-lt"/>
                <a:cs typeface="Book Antiqua"/>
              </a:rPr>
              <a:t> </a:t>
            </a:r>
            <a:r>
              <a:rPr sz="1200" dirty="0">
                <a:latin typeface="+mn-lt"/>
                <a:cs typeface="Lucida Sans Unicode"/>
              </a:rPr>
              <a:t>−</a:t>
            </a:r>
            <a:r>
              <a:rPr sz="1200" dirty="0">
                <a:latin typeface="+mn-lt"/>
                <a:cs typeface="Book Antiqua"/>
              </a:rPr>
              <a:t>(</a:t>
            </a:r>
            <a:r>
              <a:rPr sz="1200" b="0" i="1" dirty="0">
                <a:latin typeface="+mn-lt"/>
                <a:cs typeface="Bookman Old Style"/>
              </a:rPr>
              <a:t>ax</a:t>
            </a:r>
            <a:r>
              <a:rPr sz="1200" baseline="-13888" dirty="0">
                <a:latin typeface="+mn-lt"/>
                <a:cs typeface="Trebuchet MS"/>
              </a:rPr>
              <a:t>0</a:t>
            </a:r>
            <a:r>
              <a:rPr sz="1200" spc="179" baseline="-13888" dirty="0">
                <a:latin typeface="+mn-lt"/>
                <a:cs typeface="Trebuchet MS"/>
              </a:rPr>
              <a:t> </a:t>
            </a:r>
            <a:r>
              <a:rPr sz="1200" spc="180" dirty="0">
                <a:latin typeface="+mn-lt"/>
                <a:cs typeface="Book Antiqua"/>
              </a:rPr>
              <a:t>+</a:t>
            </a:r>
            <a:r>
              <a:rPr sz="1200" spc="-15" dirty="0">
                <a:latin typeface="+mn-lt"/>
                <a:cs typeface="Book Antiqua"/>
              </a:rPr>
              <a:t> </a:t>
            </a:r>
            <a:r>
              <a:rPr sz="1200" b="0" i="1" spc="-35" dirty="0">
                <a:latin typeface="+mn-lt"/>
                <a:cs typeface="Bookman Old Style"/>
              </a:rPr>
              <a:t>by</a:t>
            </a:r>
            <a:r>
              <a:rPr sz="1200" spc="-52" baseline="-13888" dirty="0">
                <a:latin typeface="+mn-lt"/>
                <a:cs typeface="Trebuchet MS"/>
              </a:rPr>
              <a:t>0</a:t>
            </a:r>
            <a:r>
              <a:rPr sz="1200" spc="-35" dirty="0">
                <a:latin typeface="+mn-lt"/>
                <a:cs typeface="Book Antiqua"/>
              </a:rPr>
              <a:t>)</a:t>
            </a:r>
            <a:r>
              <a:rPr sz="1200" spc="-35" dirty="0">
                <a:latin typeface="+mn-lt"/>
                <a:cs typeface="Times New Roman"/>
              </a:rPr>
              <a:t>.</a:t>
            </a:r>
            <a:r>
              <a:rPr sz="1200" spc="125" dirty="0">
                <a:latin typeface="+mn-lt"/>
                <a:cs typeface="Times New Roman"/>
              </a:rPr>
              <a:t> </a:t>
            </a:r>
            <a:endParaRPr lang="bg-BG" sz="1200" spc="125" dirty="0">
              <a:latin typeface="+mn-lt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z="1200" spc="-10" dirty="0" err="1">
                <a:latin typeface="+mn-lt"/>
                <a:cs typeface="Times New Roman"/>
              </a:rPr>
              <a:t>Получаваме</a:t>
            </a:r>
            <a:r>
              <a:rPr lang="bg-BG" sz="1200" dirty="0">
                <a:latin typeface="+mn-lt"/>
                <a:cs typeface="Times New Roman"/>
              </a:rPr>
              <a:t>                        </a:t>
            </a:r>
          </a:p>
          <a:p>
            <a:pPr marL="38100" algn="ctr">
              <a:lnSpc>
                <a:spcPct val="100000"/>
              </a:lnSpc>
              <a:spcBef>
                <a:spcPts val="60"/>
              </a:spcBef>
            </a:pPr>
            <a:r>
              <a:rPr sz="1200" b="0" i="1" spc="-145" dirty="0">
                <a:latin typeface="+mn-lt"/>
                <a:cs typeface="Bookman Old Style"/>
              </a:rPr>
              <a:t>p</a:t>
            </a:r>
            <a:r>
              <a:rPr sz="1200" b="0" i="1" spc="-10" dirty="0">
                <a:latin typeface="+mn-lt"/>
                <a:cs typeface="Bookman Old Style"/>
              </a:rPr>
              <a:t> </a:t>
            </a:r>
            <a:r>
              <a:rPr sz="1200" dirty="0">
                <a:latin typeface="+mn-lt"/>
                <a:cs typeface="Book Antiqua"/>
              </a:rPr>
              <a:t>:</a:t>
            </a:r>
            <a:r>
              <a:rPr sz="1200" spc="45" dirty="0">
                <a:latin typeface="+mn-lt"/>
                <a:cs typeface="Book Antiqua"/>
              </a:rPr>
              <a:t> </a:t>
            </a:r>
            <a:r>
              <a:rPr sz="1200" b="0" i="1" spc="-70" dirty="0">
                <a:latin typeface="+mn-lt"/>
                <a:cs typeface="Bookman Old Style"/>
              </a:rPr>
              <a:t>ax</a:t>
            </a:r>
            <a:r>
              <a:rPr sz="1200" b="0" i="1" spc="-80" dirty="0">
                <a:latin typeface="+mn-lt"/>
                <a:cs typeface="Bookman Old Style"/>
              </a:rPr>
              <a:t> </a:t>
            </a:r>
            <a:r>
              <a:rPr sz="1200" spc="180" dirty="0">
                <a:latin typeface="+mn-lt"/>
                <a:cs typeface="Book Antiqua"/>
              </a:rPr>
              <a:t>+</a:t>
            </a:r>
            <a:r>
              <a:rPr sz="1200" spc="-30" dirty="0">
                <a:latin typeface="+mn-lt"/>
                <a:cs typeface="Book Antiqua"/>
              </a:rPr>
              <a:t> </a:t>
            </a:r>
            <a:r>
              <a:rPr sz="1200" b="0" i="1" spc="-200" dirty="0">
                <a:latin typeface="+mn-lt"/>
                <a:cs typeface="Bookman Old Style"/>
              </a:rPr>
              <a:t>by</a:t>
            </a:r>
            <a:r>
              <a:rPr sz="1200" b="0" i="1" spc="-45" dirty="0">
                <a:latin typeface="+mn-lt"/>
                <a:cs typeface="Bookman Old Style"/>
              </a:rPr>
              <a:t> </a:t>
            </a:r>
            <a:r>
              <a:rPr sz="1200" spc="180" dirty="0">
                <a:latin typeface="+mn-lt"/>
                <a:cs typeface="Book Antiqua"/>
              </a:rPr>
              <a:t>+</a:t>
            </a:r>
            <a:r>
              <a:rPr sz="1200" spc="-25" dirty="0">
                <a:latin typeface="+mn-lt"/>
                <a:cs typeface="Book Antiqua"/>
              </a:rPr>
              <a:t> </a:t>
            </a:r>
            <a:r>
              <a:rPr sz="1200" b="0" i="1" spc="-80" dirty="0">
                <a:latin typeface="+mn-lt"/>
                <a:cs typeface="Bookman Old Style"/>
              </a:rPr>
              <a:t>c</a:t>
            </a:r>
            <a:r>
              <a:rPr sz="1200" b="0" i="1" spc="-20" dirty="0">
                <a:latin typeface="+mn-lt"/>
                <a:cs typeface="Bookman Old Style"/>
              </a:rPr>
              <a:t> </a:t>
            </a:r>
            <a:r>
              <a:rPr sz="1200" spc="180" dirty="0">
                <a:latin typeface="+mn-lt"/>
                <a:cs typeface="Book Antiqua"/>
              </a:rPr>
              <a:t>=</a:t>
            </a:r>
            <a:r>
              <a:rPr sz="1200" spc="45" dirty="0">
                <a:latin typeface="+mn-lt"/>
                <a:cs typeface="Book Antiqua"/>
              </a:rPr>
              <a:t> </a:t>
            </a:r>
            <a:r>
              <a:rPr sz="1200" spc="-25" dirty="0">
                <a:latin typeface="+mn-lt"/>
                <a:cs typeface="Book Antiqua"/>
              </a:rPr>
              <a:t>0</a:t>
            </a:r>
            <a:r>
              <a:rPr sz="1200" b="0" i="1" spc="-25" dirty="0">
                <a:latin typeface="+mn-lt"/>
                <a:cs typeface="Bookman Old Style"/>
              </a:rPr>
              <a:t>,</a:t>
            </a:r>
            <a:endParaRPr sz="1200" dirty="0">
              <a:latin typeface="+mn-lt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18410" y="7679995"/>
            <a:ext cx="331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Times New Roman"/>
                <a:cs typeface="Times New Roman"/>
              </a:rPr>
              <a:t>(1.1)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18410" y="8854852"/>
            <a:ext cx="331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Times New Roman"/>
                <a:cs typeface="Times New Roman"/>
              </a:rPr>
              <a:t>(1.2)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83347" y="9317695"/>
            <a:ext cx="5363732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64380" algn="l"/>
              </a:tabLst>
            </a:pPr>
            <a:r>
              <a:rPr sz="1200" dirty="0">
                <a:latin typeface="Comic Sans MS" panose="030F0702030302020204" pitchFamily="66" charset="0"/>
                <a:cs typeface="Times New Roman"/>
              </a:rPr>
              <a:t>където</a:t>
            </a:r>
            <a:r>
              <a:rPr sz="1200" spc="150" dirty="0">
                <a:latin typeface="+mn-lt"/>
                <a:cs typeface="Times New Roman"/>
              </a:rPr>
              <a:t>  </a:t>
            </a:r>
            <a:r>
              <a:rPr sz="1200" b="0" i="1" dirty="0">
                <a:latin typeface="+mn-lt"/>
                <a:cs typeface="Bookman Old Style"/>
              </a:rPr>
              <a:t>a</a:t>
            </a:r>
            <a:r>
              <a:rPr sz="1200" b="0" i="1" spc="90" dirty="0">
                <a:latin typeface="+mn-lt"/>
                <a:cs typeface="Bookman Old Style"/>
              </a:rPr>
              <a:t>  </a:t>
            </a:r>
            <a:r>
              <a:rPr sz="1200" dirty="0">
                <a:latin typeface="+mn-lt"/>
                <a:cs typeface="Times New Roman"/>
              </a:rPr>
              <a:t>и</a:t>
            </a:r>
            <a:r>
              <a:rPr sz="1200" spc="150" dirty="0">
                <a:latin typeface="+mn-lt"/>
                <a:cs typeface="Times New Roman"/>
              </a:rPr>
              <a:t>  </a:t>
            </a:r>
            <a:r>
              <a:rPr sz="1200" b="0" i="1" dirty="0">
                <a:latin typeface="+mn-lt"/>
                <a:cs typeface="Bookman Old Style"/>
              </a:rPr>
              <a:t>b</a:t>
            </a:r>
            <a:r>
              <a:rPr lang="bg-BG" sz="1200" i="1" spc="305" dirty="0">
                <a:latin typeface="+mn-lt"/>
                <a:cs typeface="Bookman Old Style"/>
              </a:rPr>
              <a:t> </a:t>
            </a:r>
            <a:r>
              <a:rPr lang="bg-BG" sz="1200" i="1" dirty="0">
                <a:latin typeface="+mn-lt"/>
                <a:cs typeface="Bookman Old Style"/>
              </a:rPr>
              <a:t>не са едновременно нули</a:t>
            </a:r>
            <a:r>
              <a:rPr sz="1200" baseline="2314" dirty="0">
                <a:latin typeface="+mn-lt"/>
                <a:cs typeface="Times New Roman"/>
              </a:rPr>
              <a:t>.</a:t>
            </a:r>
            <a:r>
              <a:rPr sz="1200" spc="187" baseline="2314" dirty="0">
                <a:latin typeface="+mn-lt"/>
                <a:cs typeface="Times New Roman"/>
              </a:rPr>
              <a:t>  </a:t>
            </a:r>
            <a:r>
              <a:rPr sz="1200" dirty="0">
                <a:latin typeface="+mn-lt"/>
                <a:cs typeface="Times New Roman"/>
              </a:rPr>
              <a:t>Уравнението</a:t>
            </a:r>
            <a:r>
              <a:rPr sz="1200" spc="150" dirty="0">
                <a:latin typeface="+mn-lt"/>
                <a:cs typeface="Times New Roman"/>
              </a:rPr>
              <a:t> </a:t>
            </a:r>
            <a:r>
              <a:rPr sz="1200" dirty="0">
                <a:latin typeface="+mn-lt"/>
                <a:cs typeface="Times New Roman"/>
              </a:rPr>
              <a:t>(1.2)</a:t>
            </a:r>
            <a:r>
              <a:rPr sz="1200" spc="150" dirty="0">
                <a:latin typeface="+mn-lt"/>
                <a:cs typeface="Times New Roman"/>
              </a:rPr>
              <a:t> </a:t>
            </a:r>
            <a:r>
              <a:rPr sz="1200" spc="-25" dirty="0" err="1">
                <a:latin typeface="+mn-lt"/>
                <a:cs typeface="Times New Roman"/>
              </a:rPr>
              <a:t>се</a:t>
            </a:r>
            <a:r>
              <a:rPr lang="bg-BG" sz="1200" spc="-25" dirty="0">
                <a:latin typeface="+mn-lt"/>
                <a:cs typeface="Times New Roman"/>
              </a:rPr>
              <a:t> нарича общо уравнение на правата </a:t>
            </a:r>
            <a:r>
              <a:rPr lang="de-DE" sz="1200" i="1" spc="-25" dirty="0">
                <a:latin typeface="+mn-lt"/>
                <a:cs typeface="Times New Roman"/>
              </a:rPr>
              <a:t>p.</a:t>
            </a:r>
            <a:endParaRPr lang="bg-BG" sz="1200" i="1" baseline="4629" dirty="0">
              <a:latin typeface="+mn-lt"/>
              <a:cs typeface="Times New Roman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C0BABF5-565C-BA43-B276-BFA56C85100D}"/>
              </a:ext>
            </a:extLst>
          </p:cNvPr>
          <p:cNvCxnSpPr/>
          <p:nvPr/>
        </p:nvCxnSpPr>
        <p:spPr>
          <a:xfrm flipH="1" flipV="1">
            <a:off x="4612820" y="3569952"/>
            <a:ext cx="186690" cy="882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/>
              <p:nvPr/>
            </p:nvSpPr>
            <p:spPr>
              <a:xfrm>
                <a:off x="311150" y="318775"/>
                <a:ext cx="6934200" cy="181267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263900">
                  <a:lnSpc>
                    <a:spcPct val="100000"/>
                  </a:lnSpc>
                  <a:spcBef>
                    <a:spcPts val="95"/>
                  </a:spcBef>
                </a:pPr>
                <a:endParaRPr sz="1200" dirty="0">
                  <a:latin typeface="Verdana Pro Cond Light"/>
                  <a:cs typeface="Verdana Pro Cond Light"/>
                </a:endParaRPr>
              </a:p>
              <a:p>
                <a:pPr>
                  <a:lnSpc>
                    <a:spcPct val="100000"/>
                  </a:lnSpc>
                  <a:spcBef>
                    <a:spcPts val="20"/>
                  </a:spcBef>
                </a:pPr>
                <a:endParaRPr sz="1400" dirty="0">
                  <a:latin typeface="Verdana Pro Cond Light"/>
                  <a:cs typeface="Verdana Pro Cond Light"/>
                </a:endParaRPr>
              </a:p>
              <a:p>
                <a:pPr marL="75565" marR="68580" indent="-635" algn="just">
                  <a:lnSpc>
                    <a:spcPct val="150000"/>
                  </a:lnSpc>
                </a:pPr>
                <a:r>
                  <a:rPr sz="1400" b="1" u="sng" dirty="0" err="1">
                    <a:latin typeface="+mn-lt"/>
                    <a:cs typeface="Cambria"/>
                  </a:rPr>
                  <a:t>Теорема</a:t>
                </a:r>
                <a:r>
                  <a:rPr lang="en-US" sz="1400" b="1" u="sng" dirty="0">
                    <a:latin typeface="+mn-lt"/>
                    <a:cs typeface="Cambria"/>
                  </a:rPr>
                  <a:t> </a:t>
                </a:r>
                <a:r>
                  <a:rPr sz="1400" b="1" dirty="0">
                    <a:latin typeface="+mn-lt"/>
                    <a:cs typeface="Cambria"/>
                  </a:rPr>
                  <a:t>1.1</a:t>
                </a:r>
                <a:r>
                  <a:rPr lang="de-DE" sz="1400" b="1" spc="760" dirty="0">
                    <a:latin typeface="+mn-lt"/>
                    <a:cs typeface="Cambria"/>
                  </a:rPr>
                  <a:t> </a:t>
                </a:r>
                <a:r>
                  <a:rPr sz="1400" b="1" i="1" spc="100" dirty="0" err="1">
                    <a:latin typeface="+mn-lt"/>
                    <a:cs typeface="Times New Roman" panose="02020603050405020304" pitchFamily="18" charset="0"/>
                  </a:rPr>
                  <a:t>Всяка</a:t>
                </a:r>
                <a:r>
                  <a:rPr sz="1400" b="0" i="1" spc="100" dirty="0">
                    <a:latin typeface="+mn-lt"/>
                    <a:cs typeface="Times New Roman" panose="02020603050405020304" pitchFamily="18" charset="0"/>
                  </a:rPr>
                  <a:t> права в равнината има уравнение от </a:t>
                </a:r>
                <a:r>
                  <a:rPr sz="1400" b="0" i="1" spc="100" dirty="0" err="1">
                    <a:latin typeface="+mn-lt"/>
                    <a:cs typeface="Times New Roman" panose="02020603050405020304" pitchFamily="18" charset="0"/>
                  </a:rPr>
                  <a:t>вида</a:t>
                </a:r>
                <a:r>
                  <a:rPr sz="1400" b="0" i="1" spc="100" dirty="0">
                    <a:latin typeface="+mn-lt"/>
                    <a:cs typeface="Times New Roman" panose="02020603050405020304" pitchFamily="18" charset="0"/>
                  </a:rPr>
                  <a:t> </a:t>
                </a:r>
                <a:endParaRPr lang="de-DE" sz="1400" b="0" i="1" spc="100" dirty="0">
                  <a:latin typeface="+mn-lt"/>
                  <a:cs typeface="Times New Roman" panose="02020603050405020304" pitchFamily="18" charset="0"/>
                </a:endParaRPr>
              </a:p>
              <a:p>
                <a:pPr marL="75565" marR="68580" indent="-635" algn="just">
                  <a:lnSpc>
                    <a:spcPct val="150000"/>
                  </a:lnSpc>
                </a:pPr>
                <a:r>
                  <a:rPr lang="en-US" sz="1400" b="0" i="1" spc="100" dirty="0">
                    <a:latin typeface="+mn-lt"/>
                    <a:cs typeface="Times New Roman" panose="02020603050405020304" pitchFamily="18" charset="0"/>
                  </a:rPr>
                  <a:t>ax </a:t>
                </a:r>
                <a:r>
                  <a:rPr lang="en-US" sz="1400" spc="100" dirty="0">
                    <a:latin typeface="+mn-lt"/>
                    <a:cs typeface="Times New Roman" panose="02020603050405020304" pitchFamily="18" charset="0"/>
                  </a:rPr>
                  <a:t>+ </a:t>
                </a:r>
                <a:r>
                  <a:rPr lang="en-US" sz="1400" b="0" i="1" spc="100" dirty="0">
                    <a:latin typeface="+mn-lt"/>
                    <a:cs typeface="Times New Roman" panose="02020603050405020304" pitchFamily="18" charset="0"/>
                  </a:rPr>
                  <a:t>by </a:t>
                </a:r>
                <a:r>
                  <a:rPr lang="en-US" sz="1400" spc="100" dirty="0">
                    <a:latin typeface="+mn-lt"/>
                    <a:cs typeface="Times New Roman" panose="02020603050405020304" pitchFamily="18" charset="0"/>
                  </a:rPr>
                  <a:t>+ </a:t>
                </a:r>
                <a:r>
                  <a:rPr lang="en-US" sz="1400" b="0" i="1" spc="100" dirty="0">
                    <a:latin typeface="+mn-lt"/>
                    <a:cs typeface="Times New Roman" panose="02020603050405020304" pitchFamily="18" charset="0"/>
                  </a:rPr>
                  <a:t>c </a:t>
                </a:r>
                <a:r>
                  <a:rPr lang="en-US" sz="1400" spc="100" dirty="0">
                    <a:latin typeface="+mn-lt"/>
                    <a:cs typeface="Times New Roman" panose="02020603050405020304" pitchFamily="18" charset="0"/>
                  </a:rPr>
                  <a:t>= 0</a:t>
                </a:r>
                <a:r>
                  <a:rPr lang="en-US" sz="1400" b="0" i="1" spc="100" dirty="0">
                    <a:latin typeface="+mn-lt"/>
                    <a:cs typeface="Times New Roman" panose="02020603050405020304" pitchFamily="18" charset="0"/>
                  </a:rPr>
                  <a:t>, </a:t>
                </a:r>
                <a:r>
                  <a:rPr sz="1400" b="0" i="1" spc="100" dirty="0">
                    <a:latin typeface="+mn-lt"/>
                    <a:cs typeface="Times New Roman" panose="02020603050405020304" pitchFamily="18" charset="0"/>
                  </a:rPr>
                  <a:t>и </a:t>
                </a:r>
                <a:r>
                  <a:rPr sz="1400" b="0" i="1" spc="100" dirty="0" err="1">
                    <a:latin typeface="+mn-lt"/>
                    <a:cs typeface="Times New Roman" panose="02020603050405020304" pitchFamily="18" charset="0"/>
                  </a:rPr>
                  <a:t>всяко</a:t>
                </a:r>
                <a:r>
                  <a:rPr sz="1400" b="0" i="1" spc="100" dirty="0"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1400" b="0" i="1" spc="100" dirty="0" err="1">
                    <a:latin typeface="+mn-lt"/>
                    <a:cs typeface="Times New Roman" panose="02020603050405020304" pitchFamily="18" charset="0"/>
                  </a:rPr>
                  <a:t>уравнение</a:t>
                </a:r>
                <a:r>
                  <a:rPr sz="1400" b="0" i="1" spc="100" dirty="0">
                    <a:latin typeface="+mn-lt"/>
                    <a:cs typeface="Times New Roman" panose="02020603050405020304" pitchFamily="18" charset="0"/>
                  </a:rPr>
                  <a:t> от вида (1.2), при допълнителното условие a</a:t>
                </a:r>
                <a:r>
                  <a:rPr sz="1400" spc="100" baseline="31250" dirty="0">
                    <a:latin typeface="+mn-lt"/>
                    <a:cs typeface="Times New Roman" panose="02020603050405020304" pitchFamily="18" charset="0"/>
                  </a:rPr>
                  <a:t>2 </a:t>
                </a:r>
                <a:r>
                  <a:rPr sz="1400" spc="100" dirty="0">
                    <a:latin typeface="+mn-lt"/>
                    <a:cs typeface="Times New Roman" panose="02020603050405020304" pitchFamily="18" charset="0"/>
                  </a:rPr>
                  <a:t>+ </a:t>
                </a:r>
                <a:r>
                  <a:rPr sz="1400" b="0" i="1" spc="100" dirty="0">
                    <a:latin typeface="+mn-lt"/>
                    <a:cs typeface="Times New Roman" panose="02020603050405020304" pitchFamily="18" charset="0"/>
                  </a:rPr>
                  <a:t>b</a:t>
                </a:r>
                <a:r>
                  <a:rPr sz="1400" spc="100" baseline="31250" dirty="0">
                    <a:latin typeface="+mn-lt"/>
                    <a:cs typeface="Times New Roman" panose="02020603050405020304" pitchFamily="18" charset="0"/>
                  </a:rPr>
                  <a:t>2</a:t>
                </a:r>
                <a:r>
                  <a:rPr sz="1400" spc="100" dirty="0">
                    <a:latin typeface="+mn-lt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spc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ook Antiqua"/>
                      </a:rPr>
                      <m:t>≠</m:t>
                    </m:r>
                  </m:oMath>
                </a14:m>
                <a:r>
                  <a:rPr sz="1400" spc="100" dirty="0">
                    <a:latin typeface="+mn-lt"/>
                    <a:cs typeface="Times New Roman" panose="02020603050405020304" pitchFamily="18" charset="0"/>
                  </a:rPr>
                  <a:t>0</a:t>
                </a:r>
                <a:r>
                  <a:rPr sz="1400" b="0" i="1" spc="100" dirty="0">
                    <a:latin typeface="+mn-lt"/>
                    <a:cs typeface="Times New Roman" panose="02020603050405020304" pitchFamily="18" charset="0"/>
                  </a:rPr>
                  <a:t>, е уравнение на права в равнината.</a:t>
                </a:r>
                <a:endParaRPr sz="1400" spc="100" dirty="0">
                  <a:latin typeface="+mn-lt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45"/>
                  </a:spcBef>
                </a:pPr>
                <a:endParaRPr sz="1400" dirty="0">
                  <a:latin typeface="+mn-lt"/>
                  <a:cs typeface="Bookman Old Style"/>
                </a:endParaRPr>
              </a:p>
              <a:p>
                <a:pPr marL="75565">
                  <a:lnSpc>
                    <a:spcPct val="100000"/>
                  </a:lnSpc>
                </a:pPr>
                <a:r>
                  <a:rPr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3.</a:t>
                </a:r>
                <a:r>
                  <a:rPr sz="1400" b="1" spc="225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  </a:t>
                </a:r>
                <a:r>
                  <a:rPr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Уравнения</a:t>
                </a:r>
                <a:r>
                  <a:rPr sz="1400" b="1" spc="235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на</a:t>
                </a:r>
                <a:r>
                  <a:rPr sz="1400" b="1" spc="225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права,</a:t>
                </a:r>
                <a:r>
                  <a:rPr sz="1400" b="1" spc="24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определена</a:t>
                </a:r>
                <a:r>
                  <a:rPr sz="1400" b="1" spc="229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от</a:t>
                </a:r>
                <a:r>
                  <a:rPr sz="1400" b="1" spc="22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точка</a:t>
                </a:r>
                <a:r>
                  <a:rPr sz="1400" b="1" spc="229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и</a:t>
                </a:r>
                <a:r>
                  <a:rPr sz="1400" b="1" spc="215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направляващ</a:t>
                </a:r>
                <a:r>
                  <a:rPr sz="1400" b="1" spc="254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 </a:t>
                </a:r>
                <a:r>
                  <a:rPr sz="1400" b="1" spc="-1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Times New Roman" panose="02020603050405020304" pitchFamily="18" charset="0"/>
                  </a:rPr>
                  <a:t>вектор</a:t>
                </a:r>
                <a:endParaRPr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+mn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50" y="318775"/>
                <a:ext cx="6934200" cy="1812676"/>
              </a:xfrm>
              <a:prstGeom prst="rect">
                <a:avLst/>
              </a:prstGeom>
              <a:blipFill>
                <a:blip r:embed="rId2"/>
                <a:stretch>
                  <a:fillRect l="-527" r="-527" b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object 3"/>
          <p:cNvGrpSpPr/>
          <p:nvPr/>
        </p:nvGrpSpPr>
        <p:grpSpPr>
          <a:xfrm>
            <a:off x="2444343" y="2284628"/>
            <a:ext cx="2703195" cy="1620520"/>
            <a:chOff x="2444343" y="2284628"/>
            <a:chExt cx="2703195" cy="1620520"/>
          </a:xfrm>
        </p:grpSpPr>
        <p:sp>
          <p:nvSpPr>
            <p:cNvPr id="4" name="object 4"/>
            <p:cNvSpPr/>
            <p:nvPr/>
          </p:nvSpPr>
          <p:spPr>
            <a:xfrm>
              <a:off x="2444343" y="2284628"/>
              <a:ext cx="2341245" cy="1620520"/>
            </a:xfrm>
            <a:custGeom>
              <a:avLst/>
              <a:gdLst/>
              <a:ahLst/>
              <a:cxnLst/>
              <a:rect l="l" t="t" r="r" b="b"/>
              <a:pathLst>
                <a:path w="2341245" h="1620520">
                  <a:moveTo>
                    <a:pt x="0" y="1259586"/>
                  </a:moveTo>
                  <a:lnTo>
                    <a:pt x="2340864" y="1259586"/>
                  </a:lnTo>
                </a:path>
                <a:path w="2341245" h="1620520">
                  <a:moveTo>
                    <a:pt x="360426" y="1620011"/>
                  </a:moveTo>
                  <a:lnTo>
                    <a:pt x="360426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63824" y="2391168"/>
              <a:ext cx="1981200" cy="433070"/>
            </a:xfrm>
            <a:custGeom>
              <a:avLst/>
              <a:gdLst/>
              <a:ahLst/>
              <a:cxnLst/>
              <a:rect l="l" t="t" r="r" b="b"/>
              <a:pathLst>
                <a:path w="1981200" h="433069">
                  <a:moveTo>
                    <a:pt x="0" y="432803"/>
                  </a:moveTo>
                  <a:lnTo>
                    <a:pt x="1981200" y="0"/>
                  </a:lnTo>
                </a:path>
              </a:pathLst>
            </a:custGeom>
            <a:ln w="50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25345" y="3358958"/>
            <a:ext cx="1390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spc="-20" dirty="0">
                <a:latin typeface="Bookman Old Style"/>
                <a:cs typeface="Bookman Old Style"/>
              </a:rPr>
              <a:t>O</a:t>
            </a:r>
            <a:endParaRPr sz="12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47643" y="3414750"/>
            <a:ext cx="1714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spc="-37" baseline="-16666" dirty="0">
                <a:latin typeface="Century"/>
                <a:cs typeface="Century"/>
              </a:rPr>
              <a:t>)</a:t>
            </a:r>
            <a:r>
              <a:rPr sz="1200" b="0" i="1" spc="-25" dirty="0">
                <a:latin typeface="Bookman Old Style"/>
                <a:cs typeface="Bookman Old Style"/>
              </a:rPr>
              <a:t>x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3963" y="2181336"/>
            <a:ext cx="3143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500" spc="900" baseline="-16666" dirty="0">
                <a:latin typeface="Century"/>
                <a:cs typeface="Century"/>
              </a:rPr>
              <a:t>ˆ</a:t>
            </a:r>
            <a:endParaRPr sz="1500" baseline="-16666" dirty="0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92701" y="2101654"/>
            <a:ext cx="1003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spc="-135" dirty="0">
                <a:latin typeface="Bookman Old Style"/>
                <a:cs typeface="Bookman Old Style"/>
              </a:rPr>
              <a:t>p</a:t>
            </a:r>
            <a:endParaRPr sz="12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5445" y="2777693"/>
            <a:ext cx="812165" cy="47942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0"/>
              </a:spcBef>
            </a:pPr>
            <a:endParaRPr sz="1500" baseline="2777" dirty="0">
              <a:latin typeface="Century"/>
              <a:cs typeface="Century"/>
            </a:endParaRPr>
          </a:p>
          <a:p>
            <a:pPr marL="162560">
              <a:lnSpc>
                <a:spcPct val="100000"/>
              </a:lnSpc>
              <a:spcBef>
                <a:spcPts val="509"/>
              </a:spcBef>
            </a:pPr>
            <a:r>
              <a:rPr sz="1800" spc="-1589" baseline="23148" dirty="0">
                <a:latin typeface="Lucida Sans Unicode"/>
                <a:cs typeface="Lucida Sans Unicode"/>
              </a:rPr>
              <a:t>−</a:t>
            </a:r>
            <a:r>
              <a:rPr sz="1800" spc="-1777" baseline="23148" dirty="0">
                <a:latin typeface="Lucida Sans Unicode"/>
                <a:cs typeface="Lucida Sans Unicode"/>
              </a:rPr>
              <a:t>→</a:t>
            </a:r>
            <a:r>
              <a:rPr sz="1200" b="0" i="1" spc="-100" dirty="0">
                <a:latin typeface="Bookman Old Style"/>
                <a:cs typeface="Bookman Old Style"/>
              </a:rPr>
              <a:t>p</a:t>
            </a:r>
            <a:r>
              <a:rPr sz="1200" b="0" i="1" spc="225" dirty="0">
                <a:latin typeface="Bookman Old Style"/>
                <a:cs typeface="Bookman Old Style"/>
              </a:rPr>
              <a:t> </a:t>
            </a:r>
            <a:r>
              <a:rPr sz="1200" spc="-45" dirty="0">
                <a:latin typeface="Book Antiqua"/>
                <a:cs typeface="Book Antiqua"/>
              </a:rPr>
              <a:t>(</a:t>
            </a:r>
            <a:r>
              <a:rPr sz="1200" b="0" i="1" spc="-45" dirty="0">
                <a:latin typeface="Bookman Old Style"/>
                <a:cs typeface="Bookman Old Style"/>
              </a:rPr>
              <a:t>p</a:t>
            </a:r>
            <a:r>
              <a:rPr sz="1200" spc="-67" baseline="-13888" dirty="0">
                <a:latin typeface="Trebuchet MS"/>
                <a:cs typeface="Trebuchet MS"/>
              </a:rPr>
              <a:t>1</a:t>
            </a:r>
            <a:r>
              <a:rPr sz="1200" b="0" i="1" spc="-45" dirty="0">
                <a:latin typeface="Bookman Old Style"/>
                <a:cs typeface="Bookman Old Style"/>
              </a:rPr>
              <a:t>,p</a:t>
            </a:r>
            <a:r>
              <a:rPr sz="1200" b="0" i="1" spc="-120" dirty="0">
                <a:latin typeface="Bookman Old Style"/>
                <a:cs typeface="Bookman Old Style"/>
              </a:rPr>
              <a:t> </a:t>
            </a:r>
            <a:r>
              <a:rPr sz="1200" spc="37" baseline="-13888" dirty="0">
                <a:latin typeface="Trebuchet MS"/>
                <a:cs typeface="Trebuchet MS"/>
              </a:rPr>
              <a:t>2</a:t>
            </a:r>
            <a:r>
              <a:rPr sz="1200" spc="25" dirty="0">
                <a:latin typeface="Book Antiqua"/>
                <a:cs typeface="Book Antiqua"/>
              </a:rPr>
              <a:t>)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76018" y="2341745"/>
            <a:ext cx="696595" cy="48387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30"/>
              </a:spcBef>
            </a:pP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-21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aseline="-13888" dirty="0">
                <a:latin typeface="Trebuchet MS"/>
                <a:cs typeface="Trebuchet MS"/>
              </a:rPr>
              <a:t>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y</a:t>
            </a:r>
            <a:r>
              <a:rPr sz="1200" spc="-37" baseline="-13888" dirty="0">
                <a:latin typeface="Trebuchet MS"/>
                <a:cs typeface="Trebuchet MS"/>
              </a:rPr>
              <a:t>0</a:t>
            </a:r>
            <a:r>
              <a:rPr sz="1200" spc="-25" dirty="0">
                <a:latin typeface="Book Antiqua"/>
                <a:cs typeface="Book Antiqua"/>
              </a:rPr>
              <a:t>)</a:t>
            </a:r>
            <a:endParaRPr sz="1200">
              <a:latin typeface="Book Antiqua"/>
              <a:cs typeface="Book Antiqua"/>
            </a:endParaRPr>
          </a:p>
          <a:p>
            <a:pPr marL="167640">
              <a:lnSpc>
                <a:spcPct val="100000"/>
              </a:lnSpc>
              <a:spcBef>
                <a:spcPts val="439"/>
              </a:spcBef>
            </a:pPr>
            <a:r>
              <a:rPr sz="1000" spc="-705" dirty="0">
                <a:latin typeface="SimSun"/>
                <a:cs typeface="SimSun"/>
              </a:rPr>
              <a:t>。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95415" y="2257982"/>
            <a:ext cx="556260" cy="323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295"/>
              </a:lnSpc>
              <a:spcBef>
                <a:spcPts val="95"/>
              </a:spcBef>
            </a:pPr>
            <a:r>
              <a:rPr sz="1200" b="0" i="1" spc="65" dirty="0">
                <a:latin typeface="Bookman Old Style"/>
                <a:cs typeface="Bookman Old Style"/>
              </a:rPr>
              <a:t>N</a:t>
            </a:r>
            <a:r>
              <a:rPr sz="1200" b="0" i="1" spc="-23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b="0" i="1" dirty="0">
                <a:latin typeface="Bookman Old Style"/>
                <a:cs typeface="Bookman Old Style"/>
              </a:rPr>
              <a:t>x,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b="0" i="1" spc="-35" dirty="0">
                <a:latin typeface="Bookman Old Style"/>
                <a:cs typeface="Bookman Old Style"/>
              </a:rPr>
              <a:t>y</a:t>
            </a:r>
            <a:r>
              <a:rPr sz="1200" spc="-35" dirty="0">
                <a:latin typeface="Book Antiqua"/>
                <a:cs typeface="Book Antiqua"/>
              </a:rPr>
              <a:t>)</a:t>
            </a:r>
            <a:endParaRPr sz="1200" dirty="0">
              <a:latin typeface="Book Antiqua"/>
              <a:cs typeface="Book Antiqua"/>
            </a:endParaRPr>
          </a:p>
          <a:p>
            <a:pPr marL="42545">
              <a:lnSpc>
                <a:spcPts val="1055"/>
              </a:lnSpc>
            </a:pPr>
            <a:r>
              <a:rPr lang="en-US" sz="1000" spc="-760" dirty="0">
                <a:latin typeface="SimSun"/>
                <a:cs typeface="SimSun"/>
              </a:rPr>
              <a:t>。</a:t>
            </a:r>
            <a:endParaRPr sz="1000" dirty="0">
              <a:latin typeface="SimSun"/>
              <a:cs typeface="SimSu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99430" y="4817426"/>
            <a:ext cx="1854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spc="-145" dirty="0">
                <a:latin typeface="Bookman Old Style"/>
                <a:cs typeface="Bookman Old Style"/>
              </a:rPr>
              <a:t>p</a:t>
            </a:r>
            <a:r>
              <a:rPr sz="1200" b="0" i="1" spc="-10" dirty="0">
                <a:latin typeface="Bookman Old Style"/>
                <a:cs typeface="Bookman Old Style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: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1184" y="4604066"/>
            <a:ext cx="1397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560" dirty="0"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0"/>
              <p:cNvSpPr txBox="1"/>
              <p:nvPr/>
            </p:nvSpPr>
            <p:spPr>
              <a:xfrm>
                <a:off x="2719580" y="4712194"/>
                <a:ext cx="1192530" cy="425245"/>
              </a:xfrm>
              <a:prstGeom prst="rect">
                <a:avLst/>
              </a:prstGeom>
            </p:spPr>
            <p:txBody>
              <a:bodyPr vert="horz" wrap="square" lIns="0" tIns="10160" rIns="0" bIns="0" rtlCol="0">
                <a:spAutoFit/>
              </a:bodyPr>
              <a:lstStyle/>
              <a:p>
                <a:pPr marL="40640" marR="30480" indent="-3175">
                  <a:lnSpc>
                    <a:spcPct val="100800"/>
                  </a:lnSpc>
                  <a:spcBef>
                    <a:spcPts val="80"/>
                  </a:spcBef>
                  <a:tabLst>
                    <a:tab pos="412750" algn="l"/>
                    <a:tab pos="67754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sz="1200" dirty="0">
                  <a:latin typeface="Bookman Old Style"/>
                  <a:cs typeface="Bookman Old Style"/>
                </a:endParaRPr>
              </a:p>
            </p:txBody>
          </p:sp>
        </mc:Choice>
        <mc:Fallback xmlns="">
          <p:sp>
            <p:nvSpPr>
              <p:cNvPr id="2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580" y="4712194"/>
                <a:ext cx="1192530" cy="425245"/>
              </a:xfrm>
              <a:prstGeom prst="rect">
                <a:avLst/>
              </a:prstGeom>
              <a:blipFill>
                <a:blip r:embed="rId3"/>
                <a:stretch>
                  <a:fillRect l="-53061" t="-215714" b="-31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bject 21"/>
          <p:cNvSpPr txBox="1"/>
          <p:nvPr/>
        </p:nvSpPr>
        <p:spPr>
          <a:xfrm>
            <a:off x="5996422" y="4817427"/>
            <a:ext cx="331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Times New Roman"/>
                <a:cs typeface="Times New Roman"/>
              </a:rPr>
              <a:t>(1.3)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2"/>
              <p:cNvSpPr txBox="1"/>
              <p:nvPr/>
            </p:nvSpPr>
            <p:spPr>
              <a:xfrm>
                <a:off x="499810" y="5205381"/>
                <a:ext cx="5489575" cy="101867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ru-RU" sz="1200" dirty="0">
                    <a:latin typeface="+mn-lt"/>
                    <a:cs typeface="Times New Roman"/>
                  </a:rPr>
                  <a:t>Уравненията</a:t>
                </a:r>
                <a:r>
                  <a:rPr lang="ru-RU" sz="1200" spc="254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(1.3)</a:t>
                </a:r>
                <a:r>
                  <a:rPr lang="ru-RU" sz="1200" spc="235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се</a:t>
                </a:r>
                <a:r>
                  <a:rPr lang="ru-RU" sz="1200" spc="254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наричат</a:t>
                </a:r>
                <a:r>
                  <a:rPr lang="ru-RU" sz="1200" spc="240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скаларно-параметрични</a:t>
                </a:r>
                <a:r>
                  <a:rPr lang="ru-RU" sz="1200" spc="275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уравнения</a:t>
                </a:r>
                <a:r>
                  <a:rPr lang="ru-RU" sz="1200" spc="254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на</a:t>
                </a:r>
                <a:r>
                  <a:rPr lang="ru-RU" sz="1200" spc="260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правата</a:t>
                </a:r>
                <a:r>
                  <a:rPr lang="ru-RU" sz="1200" spc="240" dirty="0">
                    <a:latin typeface="+mn-lt"/>
                    <a:cs typeface="Times New Roman"/>
                  </a:rPr>
                  <a:t>  </a:t>
                </a:r>
                <a:r>
                  <a:rPr lang="ru-RU" sz="1200" b="0" i="1" spc="-25" dirty="0">
                    <a:latin typeface="+mn-lt"/>
                    <a:cs typeface="Bookman Old Style"/>
                  </a:rPr>
                  <a:t>p.</a:t>
                </a:r>
              </a:p>
              <a:p>
                <a:pPr marL="12700">
                  <a:lnSpc>
                    <a:spcPct val="150000"/>
                  </a:lnSpc>
                  <a:spcBef>
                    <a:spcPts val="95"/>
                  </a:spcBef>
                </a:pPr>
                <a:r>
                  <a:rPr lang="ru-RU" sz="1200" spc="-25" dirty="0">
                    <a:latin typeface="+mn-lt"/>
                    <a:cs typeface="Bookman Old Style"/>
                  </a:rPr>
                  <a:t> (1.3)</a:t>
                </a:r>
                <a:r>
                  <a:rPr lang="en-US" sz="1200" spc="-25" dirty="0">
                    <a:latin typeface="+mn-lt"/>
                    <a:cs typeface="Bookman Old Style"/>
                  </a:rPr>
                  <a:t> </a:t>
                </a:r>
                <a:r>
                  <a:rPr lang="ru-RU" sz="1200" spc="-25" dirty="0">
                    <a:latin typeface="+mn-lt"/>
                    <a:cs typeface="Bookman Old Style"/>
                  </a:rPr>
                  <a:t> може да се запише и така  </a:t>
                </a:r>
              </a:p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cs typeface="Bookman Old Style"/>
                        </a:rPr>
                        <m:t>𝑝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Bookman Old Style"/>
                        </a:rPr>
                        <m:t>: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Bookman Old Style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Bookman Old Style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1200" dirty="0">
                  <a:latin typeface="+mn-lt"/>
                  <a:cs typeface="Bookman Old Style"/>
                </a:endParaRPr>
              </a:p>
            </p:txBody>
          </p:sp>
        </mc:Choice>
        <mc:Fallback xmlns="">
          <p:sp>
            <p:nvSpPr>
              <p:cNvPr id="2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10" y="5205381"/>
                <a:ext cx="5489575" cy="1018677"/>
              </a:xfrm>
              <a:prstGeom prst="rect">
                <a:avLst/>
              </a:prstGeom>
              <a:blipFill>
                <a:blip r:embed="rId4"/>
                <a:stretch>
                  <a:fillRect l="-1554" t="-3593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object 23"/>
          <p:cNvGrpSpPr/>
          <p:nvPr/>
        </p:nvGrpSpPr>
        <p:grpSpPr>
          <a:xfrm>
            <a:off x="1968425" y="6415110"/>
            <a:ext cx="3421379" cy="1620520"/>
            <a:chOff x="2084679" y="6056528"/>
            <a:chExt cx="3421379" cy="1620520"/>
          </a:xfrm>
        </p:grpSpPr>
        <p:sp>
          <p:nvSpPr>
            <p:cNvPr id="24" name="object 24"/>
            <p:cNvSpPr/>
            <p:nvPr/>
          </p:nvSpPr>
          <p:spPr>
            <a:xfrm>
              <a:off x="2084679" y="6056528"/>
              <a:ext cx="3421379" cy="1620520"/>
            </a:xfrm>
            <a:custGeom>
              <a:avLst/>
              <a:gdLst/>
              <a:ahLst/>
              <a:cxnLst/>
              <a:rect l="l" t="t" r="r" b="b"/>
              <a:pathLst>
                <a:path w="3421379" h="1620520">
                  <a:moveTo>
                    <a:pt x="0" y="1259586"/>
                  </a:moveTo>
                  <a:lnTo>
                    <a:pt x="3421379" y="1259586"/>
                  </a:lnTo>
                </a:path>
                <a:path w="3421379" h="1620520">
                  <a:moveTo>
                    <a:pt x="360426" y="1620012"/>
                  </a:moveTo>
                  <a:lnTo>
                    <a:pt x="360426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04159" y="6125397"/>
              <a:ext cx="1988058" cy="1371425"/>
            </a:xfrm>
            <a:custGeom>
              <a:avLst/>
              <a:gdLst/>
              <a:ahLst/>
              <a:cxnLst/>
              <a:rect l="l" t="t" r="r" b="b"/>
              <a:pathLst>
                <a:path w="1979929" h="1332229">
                  <a:moveTo>
                    <a:pt x="0" y="1331963"/>
                  </a:moveTo>
                  <a:lnTo>
                    <a:pt x="1979663" y="0"/>
                  </a:lnTo>
                </a:path>
              </a:pathLst>
            </a:custGeom>
            <a:ln w="50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13047" y="6812279"/>
              <a:ext cx="0" cy="502920"/>
            </a:xfrm>
            <a:custGeom>
              <a:avLst/>
              <a:gdLst/>
              <a:ahLst/>
              <a:cxnLst/>
              <a:rect l="l" t="t" r="r" b="b"/>
              <a:pathLst>
                <a:path h="502920">
                  <a:moveTo>
                    <a:pt x="0" y="0"/>
                  </a:moveTo>
                  <a:lnTo>
                    <a:pt x="0" y="502920"/>
                  </a:lnTo>
                </a:path>
              </a:pathLst>
            </a:custGeom>
            <a:ln w="50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78453" y="6382957"/>
              <a:ext cx="45719" cy="932242"/>
            </a:xfrm>
            <a:custGeom>
              <a:avLst/>
              <a:gdLst/>
              <a:ahLst/>
              <a:cxnLst/>
              <a:rect l="l" t="t" r="r" b="b"/>
              <a:pathLst>
                <a:path h="899159">
                  <a:moveTo>
                    <a:pt x="0" y="0"/>
                  </a:moveTo>
                  <a:lnTo>
                    <a:pt x="0" y="899160"/>
                  </a:lnTo>
                </a:path>
              </a:pathLst>
            </a:custGeom>
            <a:ln w="50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28"/>
            <p:cNvSpPr/>
            <p:nvPr/>
          </p:nvSpPr>
          <p:spPr>
            <a:xfrm flipV="1">
              <a:off x="3813048" y="6766560"/>
              <a:ext cx="565406" cy="45719"/>
            </a:xfrm>
            <a:custGeom>
              <a:avLst/>
              <a:gdLst/>
              <a:ahLst/>
              <a:cxnLst/>
              <a:rect l="l" t="t" r="r" b="b"/>
              <a:pathLst>
                <a:path w="611504">
                  <a:moveTo>
                    <a:pt x="0" y="0"/>
                  </a:moveTo>
                  <a:lnTo>
                    <a:pt x="611111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103617" y="7684101"/>
            <a:ext cx="1390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spc="-20" dirty="0">
                <a:latin typeface="Bookman Old Style"/>
                <a:cs typeface="Bookman Old Style"/>
              </a:rPr>
              <a:t>O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23907" y="7548357"/>
            <a:ext cx="1714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spc="-37" baseline="-16666" dirty="0">
                <a:latin typeface="Century"/>
                <a:cs typeface="Century"/>
              </a:rPr>
              <a:t>)</a:t>
            </a:r>
            <a:r>
              <a:rPr sz="1200" b="0" i="1" spc="-25" dirty="0">
                <a:latin typeface="Bookman Old Style"/>
                <a:cs typeface="Bookman Old Style"/>
              </a:rPr>
              <a:t>x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71003" y="6350496"/>
            <a:ext cx="3143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500" spc="900" baseline="-16666" dirty="0">
                <a:latin typeface="Century"/>
                <a:cs typeface="Century"/>
              </a:rPr>
              <a:t>ˆ</a:t>
            </a:r>
            <a:endParaRPr sz="1500" baseline="-16666" dirty="0">
              <a:latin typeface="Century"/>
              <a:cs typeface="Century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55923" y="6290773"/>
            <a:ext cx="1003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spc="-135" dirty="0">
                <a:latin typeface="Bookman Old Style"/>
                <a:cs typeface="Bookman Old Style"/>
              </a:rPr>
              <a:t>p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63659" y="7461462"/>
            <a:ext cx="1212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latin typeface="Symbol"/>
                <a:cs typeface="Symbol"/>
              </a:rPr>
              <a:t></a:t>
            </a:r>
            <a:endParaRPr sz="1200" dirty="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62358" y="6947991"/>
            <a:ext cx="1022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55" dirty="0">
                <a:latin typeface="Symbol"/>
                <a:cs typeface="Symbol"/>
              </a:rPr>
              <a:t></a:t>
            </a:r>
            <a:endParaRPr sz="1200" dirty="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89795" y="7700386"/>
            <a:ext cx="2139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="0" i="1" spc="-25" dirty="0">
                <a:latin typeface="Bookman Old Style"/>
                <a:cs typeface="Bookman Old Style"/>
              </a:rPr>
              <a:t>x</a:t>
            </a:r>
            <a:r>
              <a:rPr sz="1200" spc="-37" baseline="-13888" dirty="0">
                <a:latin typeface="Trebuchet MS"/>
                <a:cs typeface="Trebuchet MS"/>
              </a:rPr>
              <a:t>1</a:t>
            </a:r>
            <a:endParaRPr sz="1200" baseline="-13888" dirty="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66748" y="7679797"/>
            <a:ext cx="2139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="0" i="1" spc="-25" dirty="0">
                <a:latin typeface="Bookman Old Style"/>
                <a:cs typeface="Bookman Old Style"/>
              </a:rPr>
              <a:t>x</a:t>
            </a:r>
            <a:r>
              <a:rPr sz="1200" spc="-37" baseline="-13888" dirty="0">
                <a:latin typeface="Trebuchet MS"/>
                <a:cs typeface="Trebuchet MS"/>
              </a:rPr>
              <a:t>2</a:t>
            </a:r>
            <a:endParaRPr sz="1200" baseline="-13888" dirty="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43144" y="7209592"/>
            <a:ext cx="5448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spc="120" baseline="-13888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x</a:t>
            </a:r>
            <a:r>
              <a:rPr sz="1200" spc="-37" baseline="-13888" dirty="0">
                <a:latin typeface="Trebuchet MS"/>
                <a:cs typeface="Trebuchet MS"/>
              </a:rPr>
              <a:t>1</a:t>
            </a:r>
            <a:endParaRPr sz="1200" baseline="-13888" dirty="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04638" y="7011297"/>
            <a:ext cx="7385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800" baseline="2314" dirty="0">
                <a:latin typeface="Book Antiqua"/>
                <a:cs typeface="Book Antiqua"/>
              </a:rPr>
              <a:t>(</a:t>
            </a:r>
            <a:r>
              <a:rPr sz="1800" b="0" i="1" baseline="2314" dirty="0">
                <a:latin typeface="Bookman Old Style"/>
                <a:cs typeface="Bookman Old Style"/>
              </a:rPr>
              <a:t>x</a:t>
            </a:r>
            <a:r>
              <a:rPr sz="1200" baseline="-6944" dirty="0">
                <a:latin typeface="Trebuchet MS"/>
                <a:cs typeface="Trebuchet MS"/>
              </a:rPr>
              <a:t>1</a:t>
            </a:r>
            <a:r>
              <a:rPr sz="1800" b="0" i="1" spc="-89" baseline="2314" dirty="0">
                <a:latin typeface="Bookman Old Style"/>
                <a:cs typeface="Bookman Old Style"/>
              </a:rPr>
              <a:t>, </a:t>
            </a:r>
            <a:r>
              <a:rPr sz="1800" b="0" i="1" spc="-37" baseline="2314" dirty="0">
                <a:latin typeface="Bookman Old Style"/>
                <a:cs typeface="Bookman Old Style"/>
              </a:rPr>
              <a:t>y</a:t>
            </a:r>
            <a:r>
              <a:rPr sz="1200" spc="-37" baseline="-6944" dirty="0">
                <a:latin typeface="Trebuchet MS"/>
                <a:cs typeface="Trebuchet MS"/>
              </a:rPr>
              <a:t>1</a:t>
            </a:r>
            <a:r>
              <a:rPr sz="1800" spc="-44" baseline="2314" dirty="0">
                <a:latin typeface="Book Antiqua"/>
                <a:cs typeface="Book Antiqua"/>
              </a:rPr>
              <a:t>) </a:t>
            </a:r>
            <a:r>
              <a:rPr sz="1500" spc="-1139" baseline="-11111" dirty="0">
                <a:latin typeface="SimSun"/>
                <a:cs typeface="SimSun"/>
              </a:rPr>
              <a:t>。</a:t>
            </a:r>
            <a:endParaRPr sz="1500" baseline="-11111" dirty="0">
              <a:latin typeface="SimSun"/>
              <a:cs typeface="SimSu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37522" y="6524517"/>
            <a:ext cx="1233804" cy="4789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095"/>
              </a:lnSpc>
              <a:spcBef>
                <a:spcPts val="95"/>
              </a:spcBef>
            </a:pPr>
            <a:r>
              <a:rPr sz="1800" b="0" i="1" baseline="2314" dirty="0">
                <a:latin typeface="Bookman Old Style"/>
                <a:cs typeface="Bookman Old Style"/>
              </a:rPr>
              <a:t>B</a:t>
            </a:r>
            <a:r>
              <a:rPr sz="1800" b="0" i="1" spc="-202" baseline="2314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0" dirty="0">
                <a:latin typeface="Bookman Old Style"/>
                <a:cs typeface="Bookman Old Style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y</a:t>
            </a:r>
            <a:r>
              <a:rPr sz="1200" spc="-37" baseline="-13888" dirty="0">
                <a:latin typeface="Trebuchet MS"/>
                <a:cs typeface="Trebuchet MS"/>
              </a:rPr>
              <a:t>2</a:t>
            </a:r>
            <a:r>
              <a:rPr sz="1200" spc="-25" dirty="0">
                <a:latin typeface="Book Antiqua"/>
                <a:cs typeface="Book Antiqua"/>
              </a:rPr>
              <a:t>)</a:t>
            </a:r>
            <a:endParaRPr sz="1200" dirty="0">
              <a:latin typeface="Book Antiqua"/>
              <a:cs typeface="Book Antiqua"/>
            </a:endParaRPr>
          </a:p>
          <a:p>
            <a:pPr marL="674370">
              <a:lnSpc>
                <a:spcPts val="855"/>
              </a:lnSpc>
            </a:pPr>
            <a:r>
              <a:rPr sz="1000" spc="-705" dirty="0">
                <a:latin typeface="SimSun"/>
                <a:cs typeface="SimSun"/>
              </a:rPr>
              <a:t>。</a:t>
            </a:r>
            <a:endParaRPr sz="1000" dirty="0">
              <a:latin typeface="SimSun"/>
              <a:cs typeface="SimSun"/>
            </a:endParaRPr>
          </a:p>
          <a:p>
            <a:pPr marL="736600">
              <a:lnSpc>
                <a:spcPct val="100000"/>
              </a:lnSpc>
              <a:spcBef>
                <a:spcPts val="244"/>
              </a:spcBef>
            </a:pPr>
            <a:r>
              <a:rPr sz="1200" b="0" i="1" spc="-25" dirty="0">
                <a:latin typeface="Bookman Old Style"/>
                <a:cs typeface="Bookman Old Style"/>
              </a:rPr>
              <a:t>y</a:t>
            </a:r>
            <a:r>
              <a:rPr sz="1200" spc="-37" baseline="-13888" dirty="0">
                <a:latin typeface="Trebuchet MS"/>
                <a:cs typeface="Trebuchet MS"/>
              </a:rPr>
              <a:t>2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y</a:t>
            </a:r>
            <a:r>
              <a:rPr sz="1200" spc="-37" baseline="-13888" dirty="0">
                <a:latin typeface="Trebuchet MS"/>
                <a:cs typeface="Trebuchet MS"/>
              </a:rPr>
              <a:t>1</a:t>
            </a:r>
            <a:endParaRPr sz="1200" baseline="-13888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object 40"/>
              <p:cNvSpPr txBox="1"/>
              <p:nvPr/>
            </p:nvSpPr>
            <p:spPr>
              <a:xfrm>
                <a:off x="500608" y="7894509"/>
                <a:ext cx="5983876" cy="6405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spcBef>
                    <a:spcPts val="95"/>
                  </a:spcBef>
                </a:pPr>
                <a:r>
                  <a:rPr sz="1200" dirty="0">
                    <a:latin typeface="+mn-lt"/>
                    <a:cs typeface="Times New Roman"/>
                  </a:rPr>
                  <a:t>От</a:t>
                </a:r>
                <a:r>
                  <a:rPr sz="1200" spc="80" dirty="0">
                    <a:latin typeface="+mn-lt"/>
                    <a:cs typeface="Times New Roman"/>
                  </a:rPr>
                  <a:t> </a:t>
                </a:r>
                <a:r>
                  <a:rPr sz="1200" dirty="0">
                    <a:latin typeface="+mn-lt"/>
                    <a:cs typeface="Times New Roman"/>
                  </a:rPr>
                  <a:t>(1.3)</a:t>
                </a:r>
                <a:r>
                  <a:rPr sz="1200" spc="60" dirty="0">
                    <a:latin typeface="+mn-lt"/>
                    <a:cs typeface="Times New Roman"/>
                  </a:rPr>
                  <a:t> </a:t>
                </a:r>
                <a:r>
                  <a:rPr sz="1200" dirty="0">
                    <a:latin typeface="+mn-lt"/>
                    <a:cs typeface="Times New Roman"/>
                  </a:rPr>
                  <a:t>следва,</a:t>
                </a:r>
                <a:r>
                  <a:rPr sz="1200" spc="95" dirty="0">
                    <a:latin typeface="+mn-lt"/>
                    <a:cs typeface="Times New Roman"/>
                  </a:rPr>
                  <a:t> </a:t>
                </a:r>
                <a:r>
                  <a:rPr sz="1200" dirty="0">
                    <a:latin typeface="+mn-lt"/>
                    <a:cs typeface="Times New Roman"/>
                  </a:rPr>
                  <a:t>че</a:t>
                </a:r>
                <a:r>
                  <a:rPr sz="1200" spc="75" dirty="0">
                    <a:latin typeface="+mn-lt"/>
                    <a:cs typeface="Times New Roman"/>
                  </a:rPr>
                  <a:t> </a:t>
                </a:r>
                <a:r>
                  <a:rPr sz="1200" dirty="0">
                    <a:latin typeface="+mn-lt"/>
                    <a:cs typeface="Times New Roman"/>
                  </a:rPr>
                  <a:t>правата</a:t>
                </a:r>
                <a:r>
                  <a:rPr sz="1200" spc="470" dirty="0">
                    <a:latin typeface="+mn-lt"/>
                    <a:cs typeface="Times New Roman"/>
                  </a:rPr>
                  <a:t> </a:t>
                </a:r>
                <a:r>
                  <a:rPr sz="1200" b="0" i="1" spc="-30" dirty="0">
                    <a:latin typeface="+mn-lt"/>
                    <a:cs typeface="Bookman Old Style"/>
                  </a:rPr>
                  <a:t>p</a:t>
                </a:r>
                <a:r>
                  <a:rPr sz="1200" spc="-30" dirty="0">
                    <a:latin typeface="+mn-lt"/>
                    <a:cs typeface="Times New Roman"/>
                  </a:rPr>
                  <a:t>,</a:t>
                </a:r>
                <a:r>
                  <a:rPr sz="1200" spc="60" dirty="0">
                    <a:latin typeface="+mn-lt"/>
                    <a:cs typeface="Times New Roman"/>
                  </a:rPr>
                  <a:t> </a:t>
                </a:r>
                <a:r>
                  <a:rPr sz="1200" dirty="0">
                    <a:latin typeface="+mn-lt"/>
                    <a:cs typeface="Times New Roman"/>
                  </a:rPr>
                  <a:t>която</a:t>
                </a:r>
                <a:r>
                  <a:rPr sz="1200" spc="80" dirty="0">
                    <a:latin typeface="+mn-lt"/>
                    <a:cs typeface="Times New Roman"/>
                  </a:rPr>
                  <a:t> </a:t>
                </a:r>
                <a:r>
                  <a:rPr sz="1200" dirty="0">
                    <a:latin typeface="+mn-lt"/>
                    <a:cs typeface="Times New Roman"/>
                  </a:rPr>
                  <a:t>минава</a:t>
                </a:r>
                <a:r>
                  <a:rPr sz="1200" spc="85" dirty="0">
                    <a:latin typeface="+mn-lt"/>
                    <a:cs typeface="Times New Roman"/>
                  </a:rPr>
                  <a:t> </a:t>
                </a:r>
                <a:r>
                  <a:rPr sz="1200" dirty="0" err="1">
                    <a:latin typeface="+mn-lt"/>
                    <a:cs typeface="Times New Roman"/>
                  </a:rPr>
                  <a:t>през</a:t>
                </a:r>
                <a:r>
                  <a:rPr sz="1200" spc="85" dirty="0">
                    <a:latin typeface="+mn-lt"/>
                    <a:cs typeface="Times New Roman"/>
                  </a:rPr>
                  <a:t> </a:t>
                </a:r>
                <a:r>
                  <a:rPr sz="1200" spc="-10" dirty="0" err="1">
                    <a:latin typeface="+mn-lt"/>
                    <a:cs typeface="Times New Roman"/>
                  </a:rPr>
                  <a:t>точките</a:t>
                </a:r>
                <a:r>
                  <a:rPr lang="en-US" sz="1200" spc="-10" dirty="0">
                    <a:latin typeface="+mn-lt"/>
                    <a:cs typeface="Times New Roman"/>
                  </a:rPr>
                  <a:t> </a:t>
                </a:r>
                <a:r>
                  <a:rPr lang="en-US" sz="1400" b="0" i="1" dirty="0">
                    <a:latin typeface="+mn-lt"/>
                    <a:cs typeface="Bookman Old Style"/>
                  </a:rPr>
                  <a:t>A</a:t>
                </a:r>
                <a:r>
                  <a:rPr lang="en-US" sz="1400" baseline="2314" dirty="0">
                    <a:latin typeface="+mn-lt"/>
                    <a:cs typeface="Book Antiqua"/>
                  </a:rPr>
                  <a:t>(</a:t>
                </a:r>
                <a:r>
                  <a:rPr lang="en-US" sz="1400" b="0" i="1" baseline="2314" dirty="0">
                    <a:latin typeface="+mn-lt"/>
                    <a:cs typeface="Bookman Old Style"/>
                  </a:rPr>
                  <a:t>x</a:t>
                </a:r>
                <a:r>
                  <a:rPr lang="en-US" sz="1400" baseline="-10416" dirty="0">
                    <a:latin typeface="+mn-lt"/>
                    <a:cs typeface="Trebuchet MS"/>
                  </a:rPr>
                  <a:t>1</a:t>
                </a:r>
                <a:r>
                  <a:rPr lang="en-US" sz="1400" b="0" i="1" baseline="2314" dirty="0">
                    <a:latin typeface="+mn-lt"/>
                    <a:cs typeface="Bookman Old Style"/>
                  </a:rPr>
                  <a:t>,</a:t>
                </a:r>
                <a:r>
                  <a:rPr lang="en-US" sz="1400" b="0" i="1" spc="-225" baseline="2314" dirty="0">
                    <a:latin typeface="+mn-lt"/>
                    <a:cs typeface="Bookman Old Style"/>
                  </a:rPr>
                  <a:t> </a:t>
                </a:r>
                <a:r>
                  <a:rPr lang="en-US" sz="1400" b="0" i="1" baseline="2314" dirty="0">
                    <a:latin typeface="+mn-lt"/>
                    <a:cs typeface="Bookman Old Style"/>
                  </a:rPr>
                  <a:t>y</a:t>
                </a:r>
                <a:r>
                  <a:rPr lang="en-US" sz="1400" baseline="-10416" dirty="0">
                    <a:latin typeface="+mn-lt"/>
                    <a:cs typeface="Trebuchet MS"/>
                  </a:rPr>
                  <a:t>1</a:t>
                </a:r>
                <a:r>
                  <a:rPr lang="en-US" sz="1400" baseline="2314" dirty="0">
                    <a:latin typeface="+mn-lt"/>
                    <a:cs typeface="Book Antiqua"/>
                  </a:rPr>
                  <a:t>)</a:t>
                </a:r>
                <a:r>
                  <a:rPr lang="en-US" sz="1400" spc="502" baseline="2314" dirty="0">
                    <a:latin typeface="+mn-lt"/>
                    <a:cs typeface="Book Antiqua"/>
                  </a:rPr>
                  <a:t> </a:t>
                </a:r>
                <a:r>
                  <a:rPr lang="bg-BG" sz="1400" spc="-75" baseline="2314" dirty="0">
                    <a:latin typeface="+mn-lt"/>
                    <a:cs typeface="Times New Roman"/>
                  </a:rPr>
                  <a:t>и</a:t>
                </a:r>
                <a:r>
                  <a:rPr lang="en-US" sz="1400" spc="-75" baseline="2314" dirty="0">
                    <a:latin typeface="+mn-lt"/>
                    <a:cs typeface="Times New Roman"/>
                  </a:rPr>
                  <a:t> </a:t>
                </a:r>
                <a:r>
                  <a:rPr lang="en-US" sz="1400" b="0" i="1" baseline="-4115" dirty="0">
                    <a:latin typeface="+mn-lt"/>
                    <a:cs typeface="Bookman Old Style"/>
                  </a:rPr>
                  <a:t>B</a:t>
                </a:r>
                <a:r>
                  <a:rPr lang="en-US" sz="1400" dirty="0">
                    <a:latin typeface="+mn-lt"/>
                    <a:cs typeface="Book Antiqua"/>
                  </a:rPr>
                  <a:t>(</a:t>
                </a:r>
                <a:r>
                  <a:rPr lang="en-US" sz="1400" b="0" i="1" dirty="0">
                    <a:latin typeface="+mn-lt"/>
                    <a:cs typeface="Bookman Old Style"/>
                  </a:rPr>
                  <a:t>x</a:t>
                </a:r>
                <a:r>
                  <a:rPr lang="en-US" sz="1400" baseline="-13888" dirty="0">
                    <a:latin typeface="+mn-lt"/>
                    <a:cs typeface="Trebuchet MS"/>
                  </a:rPr>
                  <a:t>2</a:t>
                </a:r>
                <a:r>
                  <a:rPr lang="en-US" sz="1400" b="0" i="1" dirty="0">
                    <a:latin typeface="+mn-lt"/>
                    <a:cs typeface="Bookman Old Style"/>
                  </a:rPr>
                  <a:t>,</a:t>
                </a:r>
                <a:r>
                  <a:rPr lang="en-US" sz="1400" b="0" i="1" spc="-160" dirty="0">
                    <a:latin typeface="+mn-lt"/>
                    <a:cs typeface="Bookman Old Style"/>
                  </a:rPr>
                  <a:t> </a:t>
                </a:r>
                <a:r>
                  <a:rPr lang="en-US" sz="1400" b="0" i="1" dirty="0">
                    <a:latin typeface="+mn-lt"/>
                    <a:cs typeface="Bookman Old Style"/>
                  </a:rPr>
                  <a:t>y</a:t>
                </a:r>
                <a:r>
                  <a:rPr lang="en-US" sz="1400" baseline="-13888" dirty="0">
                    <a:latin typeface="+mn-lt"/>
                    <a:cs typeface="Trebuchet MS"/>
                  </a:rPr>
                  <a:t>2</a:t>
                </a:r>
                <a:r>
                  <a:rPr lang="en-US" sz="1400" dirty="0">
                    <a:latin typeface="+mn-lt"/>
                    <a:cs typeface="Book Antiqua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latin typeface="Times New Roman"/>
                    <a:cs typeface="Times New Roman"/>
                  </a:rPr>
                  <a:t> </a:t>
                </a:r>
                <a:r>
                  <a:rPr lang="bg-BG" sz="1200" dirty="0" err="1">
                    <a:latin typeface="+mn-lt"/>
                    <a:cs typeface="Times New Roman"/>
                  </a:rPr>
                  <a:t>има</a:t>
                </a:r>
                <a:r>
                  <a:rPr lang="bg-BG" sz="1200" spc="105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следните</a:t>
                </a:r>
                <a:r>
                  <a:rPr lang="bg-BG" sz="1200" spc="114" dirty="0">
                    <a:latin typeface="+mn-lt"/>
                    <a:cs typeface="Times New Roman"/>
                  </a:rPr>
                  <a:t> </a:t>
                </a:r>
                <a:r>
                  <a:rPr lang="bg-BG" sz="1200" spc="-10" dirty="0">
                    <a:latin typeface="+mn-lt"/>
                    <a:cs typeface="Times New Roman"/>
                  </a:rPr>
                  <a:t>уравнения:</a:t>
                </a:r>
                <a:r>
                  <a:rPr lang="en-US" sz="1200" spc="5" dirty="0">
                    <a:latin typeface="+mn-lt"/>
                    <a:cs typeface="Book Antiqua"/>
                  </a:rPr>
                  <a:t> </a:t>
                </a:r>
                <a:endParaRPr lang="bg-BG" sz="1200" baseline="2314" dirty="0">
                  <a:latin typeface="+mn-lt"/>
                  <a:cs typeface="Times New Roman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endParaRPr sz="1200" dirty="0">
                  <a:latin typeface="+mn-lt"/>
                  <a:cs typeface="Times New Roman"/>
                </a:endParaRPr>
              </a:p>
            </p:txBody>
          </p:sp>
        </mc:Choice>
        <mc:Fallback>
          <p:sp>
            <p:nvSpPr>
              <p:cNvPr id="40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08" y="7894509"/>
                <a:ext cx="5983876" cy="640560"/>
              </a:xfrm>
              <a:prstGeom prst="rect">
                <a:avLst/>
              </a:prstGeom>
              <a:blipFill>
                <a:blip r:embed="rId5"/>
                <a:stretch>
                  <a:fillRect l="-1324" t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bject 42"/>
          <p:cNvSpPr txBox="1"/>
          <p:nvPr/>
        </p:nvSpPr>
        <p:spPr>
          <a:xfrm>
            <a:off x="5627487" y="8380013"/>
            <a:ext cx="73787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Times New Roman"/>
                <a:cs typeface="Times New Roman"/>
              </a:rPr>
              <a:t>,</a:t>
            </a:r>
            <a:endParaRPr sz="12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object 45"/>
              <p:cNvSpPr txBox="1"/>
              <p:nvPr/>
            </p:nvSpPr>
            <p:spPr>
              <a:xfrm>
                <a:off x="632548" y="8352333"/>
                <a:ext cx="6221189" cy="1014508"/>
              </a:xfrm>
              <a:prstGeom prst="rect">
                <a:avLst/>
              </a:prstGeom>
            </p:spPr>
            <p:txBody>
              <a:bodyPr vert="horz" wrap="square" lIns="0" tIns="3365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265"/>
                  </a:spcBef>
                </a:pPr>
                <a:r>
                  <a:rPr lang="bg-BG" sz="1200" dirty="0">
                    <a:latin typeface="+mn-lt"/>
                    <a:cs typeface="Times New Roman"/>
                  </a:rPr>
                  <a:t>а)</a:t>
                </a:r>
                <a:r>
                  <a:rPr lang="bg-BG" sz="1200" spc="340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скаларно-параметрични</a:t>
                </a:r>
                <a:r>
                  <a:rPr lang="bg-BG" sz="1200" spc="380" dirty="0">
                    <a:latin typeface="+mn-lt"/>
                    <a:cs typeface="Times New Roman"/>
                  </a:rPr>
                  <a:t> </a:t>
                </a:r>
                <a:r>
                  <a:rPr lang="bg-BG" sz="1200" spc="-10" dirty="0">
                    <a:latin typeface="+mn-lt"/>
                    <a:cs typeface="Times New Roman"/>
                  </a:rPr>
                  <a:t>уравнения</a:t>
                </a:r>
                <a:endParaRPr lang="bg-BG" sz="1200" dirty="0">
                  <a:latin typeface="+mn-lt"/>
                  <a:cs typeface="Times New Roman"/>
                </a:endParaRPr>
              </a:p>
              <a:p>
                <a:pPr marL="815975" algn="ctr">
                  <a:lnSpc>
                    <a:spcPts val="1195"/>
                  </a:lnSpc>
                  <a:spcBef>
                    <a:spcPts val="170"/>
                  </a:spcBef>
                </a:pPr>
                <a:r>
                  <a:rPr lang="bg-BG" sz="1200" spc="560" dirty="0">
                    <a:latin typeface="Arial"/>
                    <a:cs typeface="Arial"/>
                  </a:rPr>
                  <a:t> </a:t>
                </a:r>
                <a:endParaRPr lang="bg-BG" sz="1200" dirty="0">
                  <a:latin typeface="Arial"/>
                  <a:cs typeface="Arial"/>
                </a:endParaRPr>
              </a:p>
              <a:p>
                <a:pPr marL="234950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cs typeface="Bookman Old Style"/>
                        </a:rPr>
                        <m:t>𝑝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Bookman Old Style"/>
                        </a:rPr>
                        <m:t>:</m:t>
                      </m:r>
                      <m:d>
                        <m:dPr>
                          <m:begChr m:val="|"/>
                          <m:endChr m:val="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200" b="0" i="1" dirty="0" smtClean="0">
                                  <a:latin typeface="Cambria Math" panose="02040503050406030204" pitchFamily="18" charset="0"/>
                                  <a:cs typeface="Bookman Old Style"/>
                                </a:rPr>
                              </m:ctrlPr>
                            </m:eqArrPr>
                            <m:e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𝑥</m:t>
                              </m:r>
                              <m:r>
                                <a:rPr lang="en-US" sz="1200" b="0" i="1" spc="-15" dirty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 </m:t>
                              </m:r>
                              <m:r>
                                <a:rPr lang="en-US" sz="1200" i="1" spc="180" dirty="0">
                                  <a:latin typeface="Cambria Math" panose="02040503050406030204" pitchFamily="18" charset="0"/>
                                  <a:cs typeface="Book Antiqua"/>
                                </a:rPr>
                                <m:t>=</m:t>
                              </m:r>
                              <m:r>
                                <a:rPr lang="en-US" sz="1200" i="1" spc="50" dirty="0">
                                  <a:latin typeface="Cambria Math" panose="02040503050406030204" pitchFamily="18" charset="0"/>
                                  <a:cs typeface="Book Antiqua"/>
                                </a:rPr>
                                <m:t> </m:t>
                              </m:r>
                              <m:r>
                                <a:rPr lang="en-US" sz="1200" b="0" i="1" dirty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𝑥</m:t>
                              </m:r>
                              <m:r>
                                <a:rPr lang="en-US" sz="1200" i="1" baseline="-13888" dirty="0">
                                  <a:latin typeface="Cambria Math" panose="02040503050406030204" pitchFamily="18" charset="0"/>
                                  <a:cs typeface="Trebuchet MS"/>
                                </a:rPr>
                                <m:t>1</m:t>
                              </m:r>
                              <m:r>
                                <a:rPr lang="en-US" sz="1200" i="1" spc="135" baseline="-13888" dirty="0">
                                  <a:latin typeface="Cambria Math" panose="02040503050406030204" pitchFamily="18" charset="0"/>
                                  <a:cs typeface="Trebuchet MS"/>
                                </a:rPr>
                                <m:t> </m:t>
                              </m:r>
                              <m:r>
                                <a:rPr lang="en-US" sz="1200" i="1" spc="180" dirty="0">
                                  <a:latin typeface="Cambria Math" panose="02040503050406030204" pitchFamily="18" charset="0"/>
                                  <a:cs typeface="Book Antiqua"/>
                                </a:rPr>
                                <m:t>+</m:t>
                              </m:r>
                              <m:r>
                                <a:rPr lang="en-US" sz="1200" i="1" spc="-20" dirty="0">
                                  <a:latin typeface="Cambria Math" panose="02040503050406030204" pitchFamily="18" charset="0"/>
                                  <a:cs typeface="Book Antiqua"/>
                                </a:rPr>
                                <m:t> 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  <a:cs typeface="Book Antiqua"/>
                                </a:rPr>
                                <m:t>(</m:t>
                              </m:r>
                              <m:r>
                                <a:rPr lang="en-US" sz="1200" b="0" i="1" dirty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𝑥</m:t>
                              </m:r>
                              <m:r>
                                <a:rPr lang="en-US" sz="1200" i="1" baseline="-13888" dirty="0">
                                  <a:latin typeface="Cambria Math" panose="02040503050406030204" pitchFamily="18" charset="0"/>
                                  <a:cs typeface="Trebuchet MS"/>
                                </a:rPr>
                                <m:t>2</m:t>
                              </m:r>
                              <m:r>
                                <a:rPr lang="en-US" sz="1200" i="1" spc="135" baseline="-13888" dirty="0">
                                  <a:latin typeface="Cambria Math" panose="02040503050406030204" pitchFamily="18" charset="0"/>
                                  <a:cs typeface="Trebuchet MS"/>
                                </a:rPr>
                                <m:t> </m:t>
                              </m:r>
                              <m:r>
                                <a:rPr lang="en-US" sz="1200" i="1" spc="-35" dirty="0">
                                  <a:latin typeface="Cambria Math" panose="02040503050406030204" pitchFamily="18" charset="0"/>
                                  <a:cs typeface="Lucida Sans Unicode"/>
                                </a:rPr>
                                <m:t>−</m:t>
                              </m:r>
                              <m:r>
                                <a:rPr lang="en-US" sz="1200" i="1" spc="-110" dirty="0">
                                  <a:latin typeface="Cambria Math" panose="02040503050406030204" pitchFamily="18" charset="0"/>
                                  <a:cs typeface="Lucida Sans Unicode"/>
                                </a:rPr>
                                <m:t> </m:t>
                              </m:r>
                              <m:r>
                                <a:rPr lang="en-US" sz="1200" b="0" i="1" spc="-20" dirty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𝑥</m:t>
                              </m:r>
                              <m:r>
                                <a:rPr lang="en-US" sz="1200" i="1" spc="-30" baseline="-13888" dirty="0">
                                  <a:latin typeface="Cambria Math" panose="02040503050406030204" pitchFamily="18" charset="0"/>
                                  <a:cs typeface="Trebuchet MS"/>
                                </a:rPr>
                                <m:t>1</m:t>
                              </m:r>
                              <m:r>
                                <a:rPr lang="en-US" sz="1200" i="1" spc="-20" dirty="0">
                                  <a:latin typeface="Cambria Math" panose="02040503050406030204" pitchFamily="18" charset="0"/>
                                  <a:cs typeface="Book Antiqua"/>
                                </a:rPr>
                                <m:t>)</m:t>
                              </m:r>
                              <m:r>
                                <a:rPr lang="en-US" sz="1200" b="0" i="1" spc="-20" dirty="0" smtClean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1200" b="0" i="1" spc="-20" dirty="0">
                                  <a:latin typeface="Bookman Old Style"/>
                                  <a:cs typeface="Bookman Old Style"/>
                                </a:rPr>
                                <m:t> </m:t>
                              </m:r>
                              <m:r>
                                <a:rPr lang="en-US" sz="1200" b="0" i="1" spc="-160" dirty="0" smtClean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𝑦</m:t>
                              </m:r>
                              <m:r>
                                <a:rPr lang="en-US" sz="1200" b="0" i="1" spc="15" dirty="0" smtClean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 </m:t>
                              </m:r>
                              <m:r>
                                <a:rPr lang="en-US" sz="1200" i="1" spc="180" dirty="0" smtClean="0">
                                  <a:latin typeface="Cambria Math" panose="02040503050406030204" pitchFamily="18" charset="0"/>
                                  <a:cs typeface="Book Antiqua"/>
                                </a:rPr>
                                <m:t>=</m:t>
                              </m:r>
                              <m:r>
                                <a:rPr lang="en-US" sz="1200" i="1" spc="-55" dirty="0" smtClean="0">
                                  <a:latin typeface="Cambria Math" panose="02040503050406030204" pitchFamily="18" charset="0"/>
                                  <a:cs typeface="Book Antiqua"/>
                                </a:rPr>
                                <m:t> </m:t>
                              </m:r>
                              <m:r>
                                <a:rPr lang="en-US" sz="1200" b="0" i="1" spc="-25" dirty="0" smtClean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𝑦</m:t>
                              </m:r>
                              <m:r>
                                <a:rPr lang="en-US" sz="1200" i="1" spc="-37" baseline="-13888" dirty="0" smtClean="0">
                                  <a:latin typeface="Cambria Math" panose="02040503050406030204" pitchFamily="18" charset="0"/>
                                  <a:cs typeface="Trebuchet MS"/>
                                </a:rPr>
                                <m:t>1</m:t>
                              </m:r>
                              <m:r>
                                <a:rPr lang="en-US" sz="1200" i="1" spc="52" baseline="-13888" dirty="0" smtClean="0">
                                  <a:latin typeface="Cambria Math" panose="02040503050406030204" pitchFamily="18" charset="0"/>
                                  <a:cs typeface="Trebuchet MS"/>
                                </a:rPr>
                                <m:t> </m:t>
                              </m:r>
                              <m:r>
                                <a:rPr lang="en-US" sz="1200" i="1" spc="180" dirty="0" smtClean="0">
                                  <a:latin typeface="Cambria Math" panose="02040503050406030204" pitchFamily="18" charset="0"/>
                                  <a:cs typeface="Book Antiqua"/>
                                </a:rPr>
                                <m:t>+</m:t>
                              </m:r>
                              <m:r>
                                <a:rPr lang="en-US" sz="1200" i="1" spc="-60" dirty="0" smtClean="0">
                                  <a:latin typeface="Cambria Math" panose="02040503050406030204" pitchFamily="18" charset="0"/>
                                  <a:cs typeface="Book Antiqua"/>
                                </a:rPr>
                                <m:t> </m:t>
                              </m:r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cs typeface="Book Antiqua"/>
                                </a:rPr>
                                <m:t>(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𝑦</m:t>
                              </m:r>
                              <m:r>
                                <a:rPr lang="en-US" sz="1200" i="1" baseline="-13888" dirty="0" smtClean="0">
                                  <a:latin typeface="Cambria Math" panose="02040503050406030204" pitchFamily="18" charset="0"/>
                                  <a:cs typeface="Trebuchet MS"/>
                                </a:rPr>
                                <m:t>2</m:t>
                              </m:r>
                              <m:r>
                                <a:rPr lang="en-US" sz="1200" i="1" spc="52" baseline="-13888" dirty="0" smtClean="0">
                                  <a:latin typeface="Cambria Math" panose="02040503050406030204" pitchFamily="18" charset="0"/>
                                  <a:cs typeface="Trebuchet MS"/>
                                </a:rPr>
                                <m:t> </m:t>
                              </m:r>
                              <m:r>
                                <a:rPr lang="en-US" sz="1200" i="1" spc="-35" dirty="0" smtClean="0">
                                  <a:latin typeface="Cambria Math" panose="02040503050406030204" pitchFamily="18" charset="0"/>
                                  <a:cs typeface="Lucida Sans Unicode"/>
                                </a:rPr>
                                <m:t>−</m:t>
                              </m:r>
                              <m:r>
                                <a:rPr lang="en-US" sz="1200" i="1" spc="-125" dirty="0" smtClean="0">
                                  <a:latin typeface="Cambria Math" panose="02040503050406030204" pitchFamily="18" charset="0"/>
                                  <a:cs typeface="Lucida Sans Unicode"/>
                                </a:rPr>
                                <m:t> </m:t>
                              </m:r>
                              <m:r>
                                <a:rPr lang="en-US" sz="1200" b="0" i="1" spc="-20" dirty="0" smtClean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𝑦</m:t>
                              </m:r>
                              <m:r>
                                <a:rPr lang="en-US" sz="1200" i="1" spc="-30" baseline="-13888" dirty="0" smtClean="0">
                                  <a:latin typeface="Cambria Math" panose="02040503050406030204" pitchFamily="18" charset="0"/>
                                  <a:cs typeface="Trebuchet MS"/>
                                </a:rPr>
                                <m:t>1</m:t>
                              </m:r>
                              <m:r>
                                <a:rPr lang="en-US" sz="1200" i="1" spc="-20" dirty="0" smtClean="0">
                                  <a:latin typeface="Cambria Math" panose="02040503050406030204" pitchFamily="18" charset="0"/>
                                  <a:cs typeface="Book Antiqua"/>
                                </a:rPr>
                                <m:t>)</m:t>
                              </m:r>
                              <m:r>
                                <a:rPr lang="en-US" sz="1200" b="0" i="1" spc="-20" dirty="0" smtClean="0">
                                  <a:latin typeface="Cambria Math" panose="02040503050406030204" pitchFamily="18" charset="0"/>
                                  <a:cs typeface="Bookman Old Style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US" sz="1200" b="0" i="1" spc="-20" dirty="0">
                                  <a:latin typeface="Bookman Old Style"/>
                                  <a:cs typeface="Bookman Old Style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sz="1200" dirty="0">
                  <a:latin typeface="Bookman Old Style"/>
                  <a:cs typeface="Bookman Old Style"/>
                </a:endParaRPr>
              </a:p>
            </p:txBody>
          </p:sp>
        </mc:Choice>
        <mc:Fallback>
          <p:sp>
            <p:nvSpPr>
              <p:cNvPr id="45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48" y="8352333"/>
                <a:ext cx="6221189" cy="1014508"/>
              </a:xfrm>
              <a:prstGeom prst="rect">
                <a:avLst/>
              </a:prstGeom>
              <a:blipFill>
                <a:blip r:embed="rId6"/>
                <a:stretch>
                  <a:fillRect l="-980" t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bject 47"/>
          <p:cNvSpPr txBox="1"/>
          <p:nvPr/>
        </p:nvSpPr>
        <p:spPr>
          <a:xfrm>
            <a:off x="5785500" y="8930863"/>
            <a:ext cx="331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Times New Roman"/>
                <a:cs typeface="Times New Roman"/>
              </a:rPr>
              <a:t>(1.4)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4448" y="9534700"/>
            <a:ext cx="2180401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+mn-lt"/>
                <a:cs typeface="Times New Roman"/>
              </a:rPr>
              <a:t>б)</a:t>
            </a:r>
            <a:r>
              <a:rPr sz="1400" spc="125" dirty="0">
                <a:latin typeface="+mn-lt"/>
                <a:cs typeface="Times New Roman"/>
              </a:rPr>
              <a:t> </a:t>
            </a:r>
            <a:r>
              <a:rPr sz="1400" dirty="0">
                <a:latin typeface="+mn-lt"/>
                <a:cs typeface="Times New Roman"/>
              </a:rPr>
              <a:t>каноничнo</a:t>
            </a:r>
            <a:r>
              <a:rPr sz="1400" spc="150" dirty="0">
                <a:latin typeface="+mn-lt"/>
                <a:cs typeface="Times New Roman"/>
              </a:rPr>
              <a:t> </a:t>
            </a:r>
            <a:r>
              <a:rPr sz="1400" spc="-10" dirty="0">
                <a:latin typeface="+mn-lt"/>
                <a:cs typeface="Times New Roman"/>
              </a:rPr>
              <a:t>уравнениe</a:t>
            </a:r>
            <a:endParaRPr sz="1400" dirty="0">
              <a:latin typeface="+mn-lt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785500" y="9806823"/>
            <a:ext cx="331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Times New Roman"/>
                <a:cs typeface="Times New Roman"/>
              </a:rPr>
              <a:t>(1.5)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66607100-7CF2-4DF1-E805-00C6C89C0748}"/>
              </a:ext>
            </a:extLst>
          </p:cNvPr>
          <p:cNvSpPr/>
          <p:nvPr/>
        </p:nvSpPr>
        <p:spPr>
          <a:xfrm>
            <a:off x="3025168" y="7587166"/>
            <a:ext cx="121277" cy="18224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977119B0-EC26-C025-9480-C0C466B63328}"/>
              </a:ext>
            </a:extLst>
          </p:cNvPr>
          <p:cNvSpPr/>
          <p:nvPr/>
        </p:nvSpPr>
        <p:spPr>
          <a:xfrm>
            <a:off x="3797581" y="7071795"/>
            <a:ext cx="121277" cy="18224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33FB789-762D-5340-30F6-147A20C4B3F8}"/>
              </a:ext>
            </a:extLst>
          </p:cNvPr>
          <p:cNvCxnSpPr/>
          <p:nvPr/>
        </p:nvCxnSpPr>
        <p:spPr>
          <a:xfrm flipV="1">
            <a:off x="4262199" y="6768718"/>
            <a:ext cx="0" cy="416877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CE30C6A-1C75-4F66-E3B3-C584CDA7B238}"/>
              </a:ext>
            </a:extLst>
          </p:cNvPr>
          <p:cNvCxnSpPr/>
          <p:nvPr/>
        </p:nvCxnSpPr>
        <p:spPr>
          <a:xfrm flipV="1">
            <a:off x="3889628" y="2824238"/>
            <a:ext cx="1023292" cy="270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6D29DD-127A-07C7-31A5-520DE5DDEDC0}"/>
                  </a:ext>
                </a:extLst>
              </p:cNvPr>
              <p:cNvSpPr txBox="1"/>
              <p:nvPr/>
            </p:nvSpPr>
            <p:spPr>
              <a:xfrm>
                <a:off x="263295" y="3963064"/>
                <a:ext cx="6221189" cy="1141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1200" dirty="0">
                    <a:latin typeface="+mn-lt"/>
                    <a:cs typeface="Times New Roman"/>
                  </a:rPr>
                  <a:t>Нека</a:t>
                </a:r>
                <a:r>
                  <a:rPr lang="ru-RU" sz="1200" spc="200" dirty="0">
                    <a:latin typeface="+mn-lt"/>
                    <a:cs typeface="Times New Roman"/>
                  </a:rPr>
                  <a:t> </a:t>
                </a:r>
                <a:r>
                  <a:rPr lang="ru-RU" sz="1200" b="0" i="1" spc="65" dirty="0">
                    <a:latin typeface="+mn-lt"/>
                    <a:cs typeface="Bookman Old Style"/>
                  </a:rPr>
                  <a:t>N</a:t>
                </a:r>
                <a:r>
                  <a:rPr lang="ru-RU" sz="1200" b="0" i="1" spc="-229" dirty="0">
                    <a:latin typeface="+mn-lt"/>
                    <a:cs typeface="Bookman Old Style"/>
                  </a:rPr>
                  <a:t> </a:t>
                </a:r>
                <a:r>
                  <a:rPr lang="ru-RU" sz="1200" dirty="0">
                    <a:latin typeface="+mn-lt"/>
                    <a:cs typeface="Book Antiqua"/>
                  </a:rPr>
                  <a:t>(</a:t>
                </a:r>
                <a:r>
                  <a:rPr lang="ru-RU" sz="1200" b="0" i="1" dirty="0">
                    <a:latin typeface="+mn-lt"/>
                    <a:cs typeface="Bookman Old Style"/>
                  </a:rPr>
                  <a:t>x,</a:t>
                </a:r>
                <a:r>
                  <a:rPr lang="ru-RU" sz="1200" b="0" i="1" spc="-140" dirty="0">
                    <a:latin typeface="+mn-lt"/>
                    <a:cs typeface="Bookman Old Style"/>
                  </a:rPr>
                  <a:t> </a:t>
                </a:r>
                <a:r>
                  <a:rPr lang="ru-RU" sz="1200" b="0" i="1" dirty="0">
                    <a:latin typeface="+mn-lt"/>
                    <a:cs typeface="Bookman Old Style"/>
                  </a:rPr>
                  <a:t>y</a:t>
                </a:r>
                <a:r>
                  <a:rPr lang="ru-RU" sz="1200" dirty="0">
                    <a:latin typeface="+mn-lt"/>
                    <a:cs typeface="Book Antiqua"/>
                  </a:rPr>
                  <a:t>)</a:t>
                </a:r>
                <a:r>
                  <a:rPr lang="ru-RU" sz="1200" spc="200" dirty="0">
                    <a:latin typeface="+mn-lt"/>
                    <a:cs typeface="Book Antiqua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е</a:t>
                </a:r>
                <a:r>
                  <a:rPr lang="ru-RU" sz="1200" spc="200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произволна</a:t>
                </a:r>
                <a:r>
                  <a:rPr lang="ru-RU" sz="1200" spc="204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точка</a:t>
                </a:r>
                <a:r>
                  <a:rPr lang="ru-RU" sz="1200" spc="200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от</a:t>
                </a:r>
                <a:r>
                  <a:rPr lang="ru-RU" sz="1200" spc="200" dirty="0">
                    <a:latin typeface="+mn-lt"/>
                    <a:cs typeface="Times New Roman"/>
                  </a:rPr>
                  <a:t> </a:t>
                </a:r>
                <a:r>
                  <a:rPr lang="ru-RU" sz="1200" b="0" i="1" dirty="0">
                    <a:latin typeface="+mn-lt"/>
                    <a:cs typeface="Bookman Old Style"/>
                  </a:rPr>
                  <a:t>p</a:t>
                </a:r>
                <a:r>
                  <a:rPr lang="ru-RU" sz="1200" dirty="0">
                    <a:latin typeface="+mn-lt"/>
                    <a:cs typeface="Times New Roman"/>
                  </a:rPr>
                  <a:t>.</a:t>
                </a:r>
                <a:r>
                  <a:rPr lang="ru-RU" sz="1200" spc="185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Тогава</a:t>
                </a:r>
                <a:r>
                  <a:rPr lang="ru-RU" sz="1200" spc="204" dirty="0">
                    <a:latin typeface="+mn-lt"/>
                    <a:cs typeface="Times New Roman"/>
                  </a:rPr>
                  <a:t> </a:t>
                </a:r>
                <a:r>
                  <a:rPr lang="ru-RU" sz="1200" dirty="0">
                    <a:latin typeface="+mn-lt"/>
                    <a:cs typeface="Times New Roman"/>
                  </a:rPr>
                  <a:t>векторите</a:t>
                </a:r>
                <a:r>
                  <a:rPr lang="ru-RU" sz="1200" spc="200" dirty="0">
                    <a:latin typeface="+mn-lt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200" i="1" spc="200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200" b="0" i="1" spc="200" smtClean="0">
                            <a:latin typeface="Cambria Math" panose="02040503050406030204" pitchFamily="18" charset="0"/>
                            <a:cs typeface="Times New Roman"/>
                          </a:rPr>
                          <m:t>𝑀𝑁</m:t>
                        </m:r>
                      </m:e>
                    </m:acc>
                    <m:d>
                      <m:dPr>
                        <m:ctrlPr>
                          <a:rPr lang="ru-RU" sz="1200" i="1" spc="200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r>
                          <a:rPr lang="en-US" sz="1200" b="0" i="1" spc="200" smtClean="0">
                            <a:latin typeface="Cambria Math" panose="02040503050406030204" pitchFamily="18" charset="0"/>
                            <a:cs typeface="Times New Roman"/>
                          </a:rPr>
                          <m:t>𝑥</m:t>
                        </m:r>
                        <m:r>
                          <a:rPr lang="en-US" sz="1200" b="0" i="1" spc="200" smtClean="0">
                            <a:latin typeface="Cambria Math" panose="02040503050406030204" pitchFamily="18" charset="0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b="0" i="1" spc="200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200" b="0" i="1" spc="20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spc="20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0</m:t>
                            </m:r>
                          </m:sub>
                        </m:sSub>
                        <m:r>
                          <a:rPr lang="en-US" sz="1200" b="0" i="1" spc="200" smtClean="0"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r>
                          <a:rPr lang="en-US" sz="1200" b="0" i="1" spc="200" smtClean="0">
                            <a:latin typeface="Cambria Math" panose="02040503050406030204" pitchFamily="18" charset="0"/>
                            <a:cs typeface="Times New Roman"/>
                          </a:rPr>
                          <m:t>𝑦</m:t>
                        </m:r>
                        <m:r>
                          <a:rPr lang="en-US" sz="1200" b="0" i="1" spc="200" smtClean="0">
                            <a:latin typeface="Cambria Math" panose="02040503050406030204" pitchFamily="18" charset="0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b="0" i="1" spc="200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200" b="0" i="1" spc="20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pc="200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b="0" i="1" spc="-140" dirty="0">
                    <a:latin typeface="+mn-lt"/>
                    <a:cs typeface="Bookman Old Style"/>
                  </a:rPr>
                  <a:t> </a:t>
                </a:r>
                <a:r>
                  <a:rPr lang="ru-RU" sz="1200" b="0" i="1" spc="-140" dirty="0">
                    <a:latin typeface="+mn-lt"/>
                    <a:cs typeface="Bookman Old Style"/>
                  </a:rPr>
                  <a:t> </a:t>
                </a:r>
                <a:r>
                  <a:rPr lang="bg-BG" sz="1200" b="0" i="1" spc="-140" dirty="0">
                    <a:latin typeface="+mn-lt"/>
                    <a:cs typeface="Bookman Old Style"/>
                  </a:rPr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bg-BG" sz="1200" b="0" i="1" spc="-14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spc="-14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spc="-140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acc>
                    <m:r>
                      <a:rPr lang="en-US" sz="1200" b="0" i="1" spc="-14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b="0" i="1" spc="-14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pc="-14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pc="-14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pc="-14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1200" b="0" i="1" spc="-14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pc="-14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pc="-14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pc="-14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са</a:t>
                </a:r>
                <a:r>
                  <a:rPr lang="bg-BG" sz="1200" spc="110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колинеарни.</a:t>
                </a:r>
                <a:r>
                  <a:rPr lang="bg-BG" sz="1200" spc="135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Това</a:t>
                </a:r>
                <a:r>
                  <a:rPr lang="bg-BG" sz="1200" spc="100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означава,</a:t>
                </a:r>
                <a:r>
                  <a:rPr lang="bg-BG" sz="1200" spc="114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че</a:t>
                </a:r>
                <a:r>
                  <a:rPr lang="bg-BG" sz="1200" spc="125" dirty="0">
                    <a:latin typeface="+mn-lt"/>
                    <a:cs typeface="Times New Roman"/>
                  </a:rPr>
                  <a:t> </a:t>
                </a:r>
                <a:r>
                  <a:rPr lang="bg-BG" sz="1800" spc="-1417" baseline="37037" dirty="0">
                    <a:latin typeface="+mn-lt"/>
                    <a:cs typeface="Lucida Sans Unicode"/>
                  </a:rPr>
                  <a:t>−</a:t>
                </a:r>
                <a:r>
                  <a:rPr lang="en-US" sz="1200" b="0" i="1" spc="-509" dirty="0">
                    <a:latin typeface="+mn-lt"/>
                    <a:cs typeface="Bookman Old Style"/>
                  </a:rPr>
                  <a:t>M</a:t>
                </a:r>
                <a:r>
                  <a:rPr lang="en-US" sz="1800" spc="-547" baseline="37037" dirty="0">
                    <a:latin typeface="+mn-lt"/>
                    <a:cs typeface="Lucida Sans Unicode"/>
                  </a:rPr>
                  <a:t>−</a:t>
                </a:r>
                <a:r>
                  <a:rPr lang="en-US" sz="1800" spc="-1507" baseline="37037" dirty="0">
                    <a:latin typeface="+mn-lt"/>
                    <a:cs typeface="Lucida Sans Unicode"/>
                  </a:rPr>
                  <a:t>→</a:t>
                </a:r>
                <a:r>
                  <a:rPr lang="en-US" sz="1200" b="0" i="1" spc="15" dirty="0">
                    <a:latin typeface="+mn-lt"/>
                    <a:cs typeface="Bookman Old Style"/>
                  </a:rPr>
                  <a:t>N</a:t>
                </a:r>
                <a:r>
                  <a:rPr lang="en-US" sz="1200" b="0" i="1" spc="195" dirty="0">
                    <a:latin typeface="+mn-lt"/>
                    <a:cs typeface="Bookman Old Style"/>
                  </a:rPr>
                  <a:t> </a:t>
                </a:r>
                <a:r>
                  <a:rPr lang="en-US" sz="1200" spc="180" dirty="0">
                    <a:latin typeface="+mn-lt"/>
                    <a:cs typeface="Book Antiqua"/>
                  </a:rPr>
                  <a:t>=</a:t>
                </a:r>
                <a:r>
                  <a:rPr lang="en-US" sz="1200" spc="75" dirty="0">
                    <a:latin typeface="+mn-lt"/>
                    <a:cs typeface="Book Antiqua"/>
                  </a:rPr>
                  <a:t> </a:t>
                </a:r>
                <a:r>
                  <a:rPr lang="en-US" sz="1200" b="0" i="1" spc="-35" dirty="0">
                    <a:latin typeface="+mn-lt"/>
                    <a:cs typeface="Bookman Old Style"/>
                  </a:rPr>
                  <a:t>t</a:t>
                </a:r>
                <a:r>
                  <a:rPr lang="en-US" sz="1200" b="0" i="1" spc="-30" dirty="0">
                    <a:latin typeface="+mn-lt"/>
                    <a:cs typeface="Bookman Old Style"/>
                  </a:rPr>
                  <a:t>.</a:t>
                </a:r>
                <a:r>
                  <a:rPr lang="en-US" sz="1800" spc="-1485" baseline="23148" dirty="0">
                    <a:latin typeface="+mn-lt"/>
                    <a:cs typeface="Lucida Sans Unicode"/>
                  </a:rPr>
                  <a:t>−</a:t>
                </a:r>
                <a:r>
                  <a:rPr lang="en-US" sz="1800" spc="-1335" baseline="23148" dirty="0">
                    <a:latin typeface="+mn-lt"/>
                    <a:cs typeface="Lucida Sans Unicode"/>
                  </a:rPr>
                  <a:t>→</a:t>
                </a:r>
                <a:r>
                  <a:rPr lang="en-US" sz="1200" b="0" i="1" spc="-30" dirty="0">
                    <a:latin typeface="+mn-lt"/>
                    <a:cs typeface="Bookman Old Style"/>
                  </a:rPr>
                  <a:t>p</a:t>
                </a:r>
                <a:r>
                  <a:rPr lang="en-US" sz="1200" b="0" i="1" spc="85" dirty="0">
                    <a:latin typeface="+mn-lt"/>
                    <a:cs typeface="Bookman Old Style"/>
                  </a:rPr>
                  <a:t>  </a:t>
                </a:r>
                <a:r>
                  <a:rPr lang="en-US" sz="1200" b="0" i="1" dirty="0">
                    <a:latin typeface="+mn-lt"/>
                    <a:cs typeface="Bookman Old Style"/>
                  </a:rPr>
                  <a:t>,</a:t>
                </a:r>
                <a:r>
                  <a:rPr lang="en-US" sz="1200" b="0" i="1" spc="459" dirty="0">
                    <a:latin typeface="+mn-lt"/>
                    <a:cs typeface="Bookman Old Style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където</a:t>
                </a:r>
                <a:r>
                  <a:rPr lang="bg-BG" sz="1200" spc="120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Lucida Sans Unicode"/>
                  </a:rPr>
                  <a:t>−∞ </a:t>
                </a:r>
                <a:r>
                  <a:rPr lang="bg-BG" sz="1200" b="0" i="1" spc="185" dirty="0">
                    <a:latin typeface="+mn-lt"/>
                    <a:cs typeface="Bookman Old Style"/>
                  </a:rPr>
                  <a:t>&lt;</a:t>
                </a:r>
                <a:r>
                  <a:rPr lang="bg-BG" sz="1200" b="0" i="1" dirty="0">
                    <a:latin typeface="+mn-lt"/>
                    <a:cs typeface="Bookman Old Style"/>
                  </a:rPr>
                  <a:t> </a:t>
                </a:r>
                <a:r>
                  <a:rPr lang="en-US" sz="1200" b="0" i="1" dirty="0">
                    <a:latin typeface="+mn-lt"/>
                    <a:cs typeface="Bookman Old Style"/>
                  </a:rPr>
                  <a:t>t</a:t>
                </a:r>
                <a:r>
                  <a:rPr lang="en-US" sz="1200" b="0" i="1" spc="10" dirty="0">
                    <a:latin typeface="+mn-lt"/>
                    <a:cs typeface="Bookman Old Style"/>
                  </a:rPr>
                  <a:t> </a:t>
                </a:r>
                <a:r>
                  <a:rPr lang="en-US" sz="1200" b="0" i="1" spc="185" dirty="0">
                    <a:latin typeface="+mn-lt"/>
                    <a:cs typeface="Bookman Old Style"/>
                  </a:rPr>
                  <a:t>&lt;</a:t>
                </a:r>
                <a:r>
                  <a:rPr lang="en-US" sz="1200" b="0" i="1" spc="10" dirty="0">
                    <a:latin typeface="+mn-lt"/>
                    <a:cs typeface="Bookman Old Style"/>
                  </a:rPr>
                  <a:t> </a:t>
                </a:r>
                <a:r>
                  <a:rPr lang="en-US" sz="1200" spc="90" dirty="0">
                    <a:latin typeface="+mn-lt"/>
                    <a:cs typeface="Book Antiqua"/>
                  </a:rPr>
                  <a:t>+</a:t>
                </a:r>
                <a:r>
                  <a:rPr lang="en-US" sz="1200" spc="90" dirty="0">
                    <a:latin typeface="+mn-lt"/>
                    <a:cs typeface="Lucida Sans Unicode"/>
                  </a:rPr>
                  <a:t>∞ </a:t>
                </a:r>
                <a:r>
                  <a:rPr lang="bg-BG" sz="1200" dirty="0">
                    <a:latin typeface="+mn-lt"/>
                    <a:cs typeface="Times New Roman"/>
                  </a:rPr>
                  <a:t>е</a:t>
                </a:r>
                <a:r>
                  <a:rPr lang="bg-BG" sz="1200" spc="254" dirty="0">
                    <a:latin typeface="+mn-lt"/>
                    <a:cs typeface="Times New Roman"/>
                  </a:rPr>
                  <a:t> </a:t>
                </a:r>
                <a:r>
                  <a:rPr lang="bg-BG" sz="1200" dirty="0">
                    <a:latin typeface="+mn-lt"/>
                    <a:cs typeface="Times New Roman"/>
                  </a:rPr>
                  <a:t>параметър.</a:t>
                </a:r>
                <a:r>
                  <a:rPr lang="bg-BG" sz="1200" spc="245" dirty="0">
                    <a:latin typeface="+mn-lt"/>
                    <a:cs typeface="Times New Roman"/>
                  </a:rPr>
                  <a:t> </a:t>
                </a:r>
                <a:r>
                  <a:rPr lang="bg-BG" sz="1200" spc="-10" dirty="0">
                    <a:latin typeface="+mn-lt"/>
                    <a:cs typeface="Times New Roman"/>
                  </a:rPr>
                  <a:t>Следователно</a:t>
                </a:r>
                <a:endParaRPr lang="bg-BG" sz="1200" dirty="0">
                  <a:latin typeface="+mn-lt"/>
                  <a:cs typeface="Times New Roman"/>
                </a:endParaRPr>
              </a:p>
              <a:p>
                <a:endParaRPr lang="ru-RU" sz="1200" dirty="0">
                  <a:latin typeface="+mn-lt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6D29DD-127A-07C7-31A5-520DE5DDE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95" y="3963064"/>
                <a:ext cx="6221189" cy="1141659"/>
              </a:xfrm>
              <a:prstGeom prst="rect">
                <a:avLst/>
              </a:prstGeom>
              <a:blipFill>
                <a:blip r:embed="rId7"/>
                <a:stretch>
                  <a:fillRect r="-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A3BD11-579C-2DA0-0D81-37678B42FEC4}"/>
                  </a:ext>
                </a:extLst>
              </p:cNvPr>
              <p:cNvSpPr txBox="1"/>
              <p:nvPr/>
            </p:nvSpPr>
            <p:spPr>
              <a:xfrm>
                <a:off x="2719580" y="9810260"/>
                <a:ext cx="1595309" cy="4057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A3BD11-579C-2DA0-0D81-37678B42F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580" y="9810260"/>
                <a:ext cx="1595309" cy="405752"/>
              </a:xfrm>
              <a:prstGeom prst="rect">
                <a:avLst/>
              </a:prstGeom>
              <a:blipFill>
                <a:blip r:embed="rId8"/>
                <a:stretch>
                  <a:fillRect l="-1908" t="-1493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896436" y="5301744"/>
            <a:ext cx="263333" cy="227486"/>
          </a:xfrm>
          <a:prstGeom prst="rect">
            <a:avLst/>
          </a:prstGeom>
        </p:spPr>
        <p:txBody>
          <a:bodyPr vert="horz" wrap="square" lIns="0" tIns="11926" rIns="0" bIns="0" rtlCol="0">
            <a:spAutoFit/>
          </a:bodyPr>
          <a:lstStyle/>
          <a:p>
            <a:pPr marL="9542">
              <a:spcBef>
                <a:spcPts val="94"/>
              </a:spcBef>
            </a:pPr>
            <a:r>
              <a:rPr lang="en-US" sz="1400" i="1" spc="-135" dirty="0">
                <a:latin typeface="Bookman Old Style"/>
                <a:cs typeface="Bookman Old Style"/>
              </a:rPr>
              <a:t>p</a:t>
            </a:r>
            <a:r>
              <a:rPr sz="1400" i="1" spc="-135" dirty="0">
                <a:latin typeface="Bookman Old Style"/>
                <a:cs typeface="Bookman Old Style"/>
              </a:rPr>
              <a:t> </a:t>
            </a:r>
            <a:r>
              <a:rPr sz="1400" spc="23" dirty="0">
                <a:latin typeface="Garamond"/>
                <a:cs typeface="Garamond"/>
              </a:rPr>
              <a:t>:</a:t>
            </a:r>
            <a:endParaRPr sz="1400" dirty="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5157" y="5394119"/>
            <a:ext cx="98273" cy="295325"/>
          </a:xfrm>
          <a:prstGeom prst="rect">
            <a:avLst/>
          </a:prstGeom>
        </p:spPr>
        <p:txBody>
          <a:bodyPr vert="horz" wrap="square" lIns="0" tIns="11926" rIns="0" bIns="0" rtlCol="0">
            <a:spAutoFit/>
          </a:bodyPr>
          <a:lstStyle/>
          <a:p>
            <a:pPr marL="9542">
              <a:spcBef>
                <a:spcPts val="94"/>
              </a:spcBef>
            </a:pPr>
            <a:r>
              <a:rPr sz="1841" spc="105" dirty="0">
                <a:latin typeface="Arial"/>
                <a:cs typeface="Arial"/>
              </a:rPr>
              <a:t> </a:t>
            </a:r>
            <a:endParaRPr sz="1841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5157" y="5536023"/>
            <a:ext cx="98273" cy="295325"/>
          </a:xfrm>
          <a:prstGeom prst="rect">
            <a:avLst/>
          </a:prstGeom>
        </p:spPr>
        <p:txBody>
          <a:bodyPr vert="horz" wrap="square" lIns="0" tIns="11926" rIns="0" bIns="0" rtlCol="0">
            <a:spAutoFit/>
          </a:bodyPr>
          <a:lstStyle/>
          <a:p>
            <a:pPr marL="9542">
              <a:spcBef>
                <a:spcPts val="94"/>
              </a:spcBef>
            </a:pPr>
            <a:r>
              <a:rPr sz="1841" spc="105" dirty="0">
                <a:latin typeface="Arial"/>
                <a:cs typeface="Arial"/>
              </a:rPr>
              <a:t> </a:t>
            </a:r>
            <a:endParaRPr sz="1841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9769" y="5117384"/>
            <a:ext cx="1318094" cy="566301"/>
          </a:xfrm>
          <a:prstGeom prst="rect">
            <a:avLst/>
          </a:prstGeom>
        </p:spPr>
        <p:txBody>
          <a:bodyPr vert="horz" wrap="square" lIns="0" tIns="70604" rIns="0" bIns="0" rtlCol="0">
            <a:spAutoFit/>
          </a:bodyPr>
          <a:lstStyle/>
          <a:p>
            <a:pPr marL="9542">
              <a:spcBef>
                <a:spcPts val="556"/>
              </a:spcBef>
            </a:pPr>
            <a:r>
              <a:rPr sz="1400" i="1" spc="38" dirty="0">
                <a:latin typeface="Bookman Old Style"/>
                <a:cs typeface="Bookman Old Style"/>
              </a:rPr>
              <a:t>x</a:t>
            </a:r>
            <a:r>
              <a:rPr sz="1400" i="1" spc="-38" dirty="0">
                <a:latin typeface="Bookman Old Style"/>
                <a:cs typeface="Bookman Old Style"/>
              </a:rPr>
              <a:t> </a:t>
            </a:r>
            <a:r>
              <a:rPr sz="1400" spc="109" dirty="0">
                <a:latin typeface="Garamond"/>
                <a:cs typeface="Garamond"/>
              </a:rPr>
              <a:t>=</a:t>
            </a:r>
            <a:r>
              <a:rPr sz="1400" spc="56" dirty="0">
                <a:latin typeface="Garamond"/>
                <a:cs typeface="Garamond"/>
              </a:rPr>
              <a:t> </a:t>
            </a:r>
            <a:r>
              <a:rPr sz="1400" dirty="0">
                <a:latin typeface="Garamond"/>
                <a:cs typeface="Garamond"/>
              </a:rPr>
              <a:t>1</a:t>
            </a:r>
            <a:r>
              <a:rPr sz="1400" spc="-49" dirty="0">
                <a:latin typeface="Garamond"/>
                <a:cs typeface="Garamond"/>
              </a:rPr>
              <a:t> </a:t>
            </a:r>
            <a:r>
              <a:rPr sz="1400" spc="109" dirty="0">
                <a:latin typeface="Garamond"/>
                <a:cs typeface="Garamond"/>
              </a:rPr>
              <a:t>+</a:t>
            </a:r>
            <a:r>
              <a:rPr sz="1400" spc="-45" dirty="0">
                <a:latin typeface="Garamond"/>
                <a:cs typeface="Garamond"/>
              </a:rPr>
              <a:t> </a:t>
            </a:r>
            <a:r>
              <a:rPr sz="1400" spc="23" dirty="0">
                <a:latin typeface="Garamond"/>
                <a:cs typeface="Garamond"/>
              </a:rPr>
              <a:t>2</a:t>
            </a:r>
            <a:r>
              <a:rPr lang="en-US" sz="1400" i="1" spc="23" dirty="0">
                <a:latin typeface="Garamond"/>
                <a:cs typeface="Garamond"/>
              </a:rPr>
              <a:t>t</a:t>
            </a:r>
            <a:endParaRPr sz="1400" i="1" dirty="0">
              <a:latin typeface="Bookman Old Style"/>
              <a:cs typeface="Bookman Old Style"/>
            </a:endParaRPr>
          </a:p>
          <a:p>
            <a:pPr marL="9542">
              <a:spcBef>
                <a:spcPts val="485"/>
              </a:spcBef>
            </a:pPr>
            <a:r>
              <a:rPr sz="1400" i="1" spc="-222" dirty="0">
                <a:latin typeface="Bookman Old Style"/>
                <a:cs typeface="Bookman Old Style"/>
              </a:rPr>
              <a:t>y</a:t>
            </a:r>
            <a:r>
              <a:rPr sz="1400" i="1" spc="34" dirty="0">
                <a:latin typeface="Bookman Old Style"/>
                <a:cs typeface="Bookman Old Style"/>
              </a:rPr>
              <a:t> </a:t>
            </a:r>
            <a:r>
              <a:rPr sz="1400" spc="109" dirty="0">
                <a:latin typeface="Garamond"/>
                <a:cs typeface="Garamond"/>
              </a:rPr>
              <a:t>=</a:t>
            </a:r>
            <a:r>
              <a:rPr sz="1400" spc="60" dirty="0">
                <a:latin typeface="Garamond"/>
                <a:cs typeface="Garamond"/>
              </a:rPr>
              <a:t> </a:t>
            </a:r>
            <a:r>
              <a:rPr sz="1400" spc="-172" dirty="0">
                <a:latin typeface="Lucida Sans Unicode"/>
                <a:cs typeface="Lucida Sans Unicode"/>
              </a:rPr>
              <a:t>−</a:t>
            </a:r>
            <a:r>
              <a:rPr sz="1400" spc="-172" dirty="0">
                <a:latin typeface="Garamond"/>
                <a:cs typeface="Garamond"/>
              </a:rPr>
              <a:t>1</a:t>
            </a:r>
            <a:r>
              <a:rPr sz="1400" spc="-45" dirty="0">
                <a:latin typeface="Garamond"/>
                <a:cs typeface="Garamond"/>
              </a:rPr>
              <a:t> </a:t>
            </a:r>
            <a:r>
              <a:rPr sz="1400" spc="109" dirty="0">
                <a:latin typeface="Garamond"/>
                <a:cs typeface="Garamond"/>
              </a:rPr>
              <a:t>+</a:t>
            </a:r>
            <a:r>
              <a:rPr sz="1400" spc="-49" dirty="0">
                <a:latin typeface="Garamond"/>
                <a:cs typeface="Garamond"/>
              </a:rPr>
              <a:t> </a:t>
            </a:r>
            <a:r>
              <a:rPr sz="1400" spc="-19" dirty="0">
                <a:latin typeface="Garamond"/>
                <a:cs typeface="Garamond"/>
              </a:rPr>
              <a:t>3</a:t>
            </a:r>
            <a:r>
              <a:rPr lang="en-US" sz="1400" i="1" spc="-19" dirty="0">
                <a:latin typeface="Bookman Old Style"/>
                <a:cs typeface="Garamond"/>
              </a:rPr>
              <a:t>t</a:t>
            </a:r>
            <a:endParaRPr sz="1841" dirty="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/>
              <p:cNvSpPr txBox="1"/>
              <p:nvPr/>
            </p:nvSpPr>
            <p:spPr>
              <a:xfrm>
                <a:off x="231505" y="6171718"/>
                <a:ext cx="3480571" cy="1093164"/>
              </a:xfrm>
              <a:prstGeom prst="rect">
                <a:avLst/>
              </a:prstGeom>
            </p:spPr>
            <p:txBody>
              <a:bodyPr vert="horz" wrap="square" lIns="0" tIns="7156" rIns="0" bIns="0" rtlCol="0">
                <a:spAutoFit/>
              </a:bodyPr>
              <a:lstStyle/>
              <a:p>
                <a:pPr marL="47708" marR="22900">
                  <a:lnSpc>
                    <a:spcPct val="101699"/>
                  </a:lnSpc>
                  <a:spcBef>
                    <a:spcPts val="56"/>
                  </a:spcBef>
                  <a:tabLst>
                    <a:tab pos="346356" algn="l"/>
                    <a:tab pos="861121" algn="l"/>
                    <a:tab pos="1405464" algn="l"/>
                    <a:tab pos="2286146" algn="l"/>
                    <a:tab pos="2467434" algn="l"/>
                    <a:tab pos="2669714" algn="l"/>
                    <a:tab pos="3772713" algn="l"/>
                    <a:tab pos="4107143" algn="l"/>
                    <a:tab pos="4588989" algn="l"/>
                    <a:tab pos="4911492" algn="l"/>
                    <a:tab pos="5481120" algn="l"/>
                    <a:tab pos="5726337" algn="l"/>
                    <a:tab pos="6049317" algn="l"/>
                  </a:tabLst>
                </a:pPr>
                <a:r>
                  <a:rPr lang="ru-RU" sz="1400" spc="100" dirty="0">
                    <a:latin typeface="+mn-lt"/>
                    <a:cs typeface="Book Antiqua"/>
                  </a:rPr>
                  <a:t>Б) Тъй като	правата </a:t>
                </a:r>
                <a:r>
                  <a:rPr lang="ru-RU" sz="1400" i="1" spc="100" dirty="0">
                    <a:latin typeface="+mn-lt"/>
                    <a:cs typeface="Book Antiqua"/>
                  </a:rPr>
                  <a:t> p </a:t>
                </a:r>
                <a:r>
                  <a:rPr lang="ru-RU" sz="1400" spc="100" dirty="0">
                    <a:latin typeface="+mn-lt"/>
                    <a:cs typeface="Book Antiqua"/>
                  </a:rPr>
                  <a:t>е успоредна  на </a:t>
                </a:r>
                <a:r>
                  <a:rPr lang="ru-RU" sz="1400" i="1" spc="100" dirty="0">
                    <a:latin typeface="+mn-lt"/>
                    <a:cs typeface="Bookman Old Style"/>
                  </a:rPr>
                  <a:t>Ox</a:t>
                </a:r>
                <a:r>
                  <a:rPr lang="ru-RU" sz="1400" spc="100" dirty="0">
                    <a:latin typeface="+mn-lt"/>
                    <a:cs typeface="Book Antiqua"/>
                  </a:rPr>
                  <a:t>, то следва, че има вида </a:t>
                </a:r>
                <a14:m>
                  <m:oMath xmlns:m="http://schemas.openxmlformats.org/officeDocument/2006/math">
                    <m:r>
                      <a:rPr lang="ru-RU" sz="1400" b="0" i="1" spc="100" smtClean="0">
                        <a:latin typeface="Cambria Math" panose="02040503050406030204" pitchFamily="18" charset="0"/>
                        <a:cs typeface="Book Antiqua"/>
                      </a:rPr>
                      <m:t>𝑦</m:t>
                    </m:r>
                    <m:r>
                      <a:rPr lang="en-US" sz="1400" b="0" i="1" spc="100" smtClean="0">
                        <a:latin typeface="Cambria Math" panose="02040503050406030204" pitchFamily="18" charset="0"/>
                        <a:cs typeface="Book Antiqua"/>
                      </a:rPr>
                      <m:t>=</m:t>
                    </m:r>
                    <m:r>
                      <a:rPr lang="en-US" sz="1400" b="0" i="1" spc="100" smtClean="0">
                        <a:latin typeface="Cambria Math" panose="02040503050406030204" pitchFamily="18" charset="0"/>
                        <a:cs typeface="Book Antiqua"/>
                      </a:rPr>
                      <m:t>𝑏</m:t>
                    </m:r>
                    <m:r>
                      <a:rPr lang="en-US" sz="1400" b="0" i="1" spc="100" smtClean="0">
                        <a:latin typeface="Cambria Math" panose="02040503050406030204" pitchFamily="18" charset="0"/>
                        <a:cs typeface="Book Antiqua"/>
                      </a:rPr>
                      <m:t>,</m:t>
                    </m:r>
                  </m:oMath>
                </a14:m>
                <a:r>
                  <a:rPr lang="ru-RU" sz="1400" spc="100" dirty="0">
                    <a:latin typeface="+mn-lt"/>
                    <a:cs typeface="Book Antiqua"/>
                  </a:rPr>
                  <a:t> и тъй като минава през т. </a:t>
                </a:r>
                <a:r>
                  <a:rPr lang="en-US" sz="1400" i="1" spc="100" dirty="0">
                    <a:latin typeface="+mn-lt"/>
                    <a:cs typeface="Bookman Old Style"/>
                  </a:rPr>
                  <a:t>B</a:t>
                </a:r>
                <a:r>
                  <a:rPr lang="en-US" sz="1400" spc="100" dirty="0">
                    <a:latin typeface="+mn-lt"/>
                    <a:cs typeface="Garamond"/>
                  </a:rPr>
                  <a:t>(0</a:t>
                </a:r>
                <a:r>
                  <a:rPr lang="en-US" sz="1400" i="1" spc="100" dirty="0">
                    <a:latin typeface="+mn-lt"/>
                    <a:cs typeface="Bookman Old Style"/>
                  </a:rPr>
                  <a:t>, </a:t>
                </a:r>
                <a:r>
                  <a:rPr lang="en-US" sz="1400" spc="100" dirty="0">
                    <a:latin typeface="+mn-lt"/>
                    <a:cs typeface="Garamond"/>
                  </a:rPr>
                  <a:t>3)</a:t>
                </a:r>
                <a:r>
                  <a:rPr lang="bg-BG" sz="1400" spc="100" dirty="0">
                    <a:latin typeface="+mn-lt"/>
                    <a:cs typeface="Garamond"/>
                  </a:rPr>
                  <a:t>, следователно </a:t>
                </a:r>
                <a14:m>
                  <m:oMath xmlns:m="http://schemas.openxmlformats.org/officeDocument/2006/math">
                    <m:r>
                      <a:rPr lang="ru-RU" sz="1400" b="0" i="1" spc="100" smtClean="0">
                        <a:latin typeface="Cambria Math" panose="02040503050406030204" pitchFamily="18" charset="0"/>
                        <a:cs typeface="Book Antiqua"/>
                      </a:rPr>
                      <m:t>𝑦</m:t>
                    </m:r>
                    <m:r>
                      <a:rPr lang="en-US" sz="1400" b="0" i="1" spc="100" smtClean="0">
                        <a:latin typeface="Cambria Math" panose="02040503050406030204" pitchFamily="18" charset="0"/>
                        <a:cs typeface="Book Antiqua"/>
                      </a:rPr>
                      <m:t>=</m:t>
                    </m:r>
                    <m:r>
                      <a:rPr lang="bg-BG" sz="1400" b="0" i="1" spc="100" smtClean="0">
                        <a:latin typeface="Cambria Math" panose="02040503050406030204" pitchFamily="18" charset="0"/>
                        <a:cs typeface="Book Antiqua"/>
                      </a:rPr>
                      <m:t>3</m:t>
                    </m:r>
                    <m:r>
                      <a:rPr lang="bg-BG" sz="1400" b="0" i="1" spc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ook Antiqua"/>
                      </a:rPr>
                      <m:t>⇒</m:t>
                    </m:r>
                    <m:r>
                      <a:rPr lang="en-US" sz="1400" b="0" i="1" spc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ook Antiqua"/>
                      </a:rPr>
                      <m:t>𝑦</m:t>
                    </m:r>
                    <m:r>
                      <a:rPr lang="en-US" sz="1400" b="0" i="1" spc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ook Antiqua"/>
                      </a:rPr>
                      <m:t>−</m:t>
                    </m:r>
                    <m:r>
                      <a:rPr lang="en-US" sz="1400" b="0" i="1" spc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ook Antiqua"/>
                      </a:rPr>
                      <m:t>3</m:t>
                    </m:r>
                    <m:r>
                      <a:rPr lang="en-US" sz="1400" b="0" i="1" spc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ook Antiqua"/>
                      </a:rPr>
                      <m:t>=</m:t>
                    </m:r>
                    <m:r>
                      <a:rPr lang="en-US" sz="1400" b="0" i="1" spc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ook Antiqua"/>
                      </a:rPr>
                      <m:t>0</m:t>
                    </m:r>
                  </m:oMath>
                </a14:m>
                <a:r>
                  <a:rPr lang="en-US" sz="1400" spc="100" dirty="0">
                    <a:latin typeface="+mn-lt"/>
                    <a:cs typeface="Bookman Old Style"/>
                  </a:rPr>
                  <a:t> </a:t>
                </a:r>
                <a:r>
                  <a:rPr lang="bg-BG" sz="1400" spc="100" dirty="0">
                    <a:latin typeface="+mn-lt"/>
                    <a:cs typeface="Bookman Old Style"/>
                  </a:rPr>
                  <a:t> е общото уравнение</a:t>
                </a:r>
                <a:r>
                  <a:rPr lang="bg-BG" sz="1400" spc="100" dirty="0">
                    <a:latin typeface="Times New Roman" panose="02020603050405020304" pitchFamily="18" charset="0"/>
                    <a:cs typeface="Bookman Old Style"/>
                  </a:rPr>
                  <a:t>. </a:t>
                </a:r>
                <a:endParaRPr sz="1400" spc="100" dirty="0">
                  <a:latin typeface="Times New Roman" panose="02020603050405020304" pitchFamily="18" charset="0"/>
                  <a:cs typeface="Bookman Old Style"/>
                </a:endParaRPr>
              </a:p>
            </p:txBody>
          </p:sp>
        </mc:Choice>
        <mc:Fallback xmlns="">
          <p:sp>
            <p:nvSpPr>
              <p:cNvPr id="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05" y="6171718"/>
                <a:ext cx="3480571" cy="1093164"/>
              </a:xfrm>
              <a:prstGeom prst="rect">
                <a:avLst/>
              </a:prstGeom>
              <a:blipFill>
                <a:blip r:embed="rId2"/>
                <a:stretch>
                  <a:fillRect l="-1751" t="-5000" r="-1576" b="-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bject 16"/>
          <p:cNvSpPr txBox="1"/>
          <p:nvPr/>
        </p:nvSpPr>
        <p:spPr>
          <a:xfrm>
            <a:off x="2508471" y="7045796"/>
            <a:ext cx="98273" cy="295325"/>
          </a:xfrm>
          <a:prstGeom prst="rect">
            <a:avLst/>
          </a:prstGeom>
        </p:spPr>
        <p:txBody>
          <a:bodyPr vert="horz" wrap="square" lIns="0" tIns="11926" rIns="0" bIns="0" rtlCol="0">
            <a:spAutoFit/>
          </a:bodyPr>
          <a:lstStyle/>
          <a:p>
            <a:pPr marL="9542">
              <a:spcBef>
                <a:spcPts val="94"/>
              </a:spcBef>
            </a:pPr>
            <a:r>
              <a:rPr sz="1841" spc="105" dirty="0">
                <a:latin typeface="Arial"/>
                <a:cs typeface="Arial"/>
              </a:rPr>
              <a:t> </a:t>
            </a:r>
            <a:endParaRPr sz="1841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08471" y="7187690"/>
            <a:ext cx="98273" cy="295325"/>
          </a:xfrm>
          <a:prstGeom prst="rect">
            <a:avLst/>
          </a:prstGeom>
        </p:spPr>
        <p:txBody>
          <a:bodyPr vert="horz" wrap="square" lIns="0" tIns="11926" rIns="0" bIns="0" rtlCol="0">
            <a:spAutoFit/>
          </a:bodyPr>
          <a:lstStyle/>
          <a:p>
            <a:pPr marL="9542">
              <a:spcBef>
                <a:spcPts val="94"/>
              </a:spcBef>
            </a:pPr>
            <a:r>
              <a:rPr sz="1841" spc="105" dirty="0">
                <a:latin typeface="Arial"/>
                <a:cs typeface="Arial"/>
              </a:rPr>
              <a:t> </a:t>
            </a:r>
            <a:endParaRPr sz="1841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FB1B62-32DC-455D-43D1-E273A5212A8E}"/>
                  </a:ext>
                </a:extLst>
              </p:cNvPr>
              <p:cNvSpPr txBox="1"/>
              <p:nvPr/>
            </p:nvSpPr>
            <p:spPr>
              <a:xfrm>
                <a:off x="297679" y="3388621"/>
                <a:ext cx="6813981" cy="2355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g-BG" sz="1400" b="1" dirty="0">
                    <a:latin typeface="+mn-lt"/>
                  </a:rPr>
                  <a:t>Решение.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+mn-lt"/>
                  </a:rPr>
                  <a:t>А) Заместваме в  уравнението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Bookman Old Style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Bookman Old Style"/>
                      </a:rPr>
                      <m:t>: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Bookman Old Style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Bookman Old Style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bg-BG" sz="1400" dirty="0">
                    <a:latin typeface="+mn-lt"/>
                  </a:rPr>
                  <a:t> </a:t>
                </a:r>
                <a:r>
                  <a:rPr lang="en-US" sz="1400" dirty="0">
                    <a:latin typeface="+mn-lt"/>
                  </a:rPr>
                  <a:t> </a:t>
                </a:r>
                <a:r>
                  <a:rPr lang="bg-BG" sz="1400" dirty="0">
                    <a:latin typeface="+mn-lt"/>
                  </a:rPr>
                  <a:t>и получаваме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bg-BG" sz="1400" dirty="0">
                    <a:latin typeface="+mn-lt"/>
                  </a:rPr>
                  <a:t>  </a:t>
                </a:r>
                <a:r>
                  <a:rPr lang="en-US" sz="1400" dirty="0">
                    <a:latin typeface="+mn-lt"/>
                  </a:rPr>
                  <a:t>, 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+mn-lt"/>
                  </a:rPr>
                  <a:t>Следователно</a:t>
                </a:r>
                <a:r>
                  <a:rPr lang="en-US" sz="1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400" dirty="0">
                    <a:latin typeface="+mn-lt"/>
                  </a:rPr>
                  <a:t> </a:t>
                </a:r>
                <a:r>
                  <a:rPr lang="bg-BG" sz="1400" dirty="0">
                    <a:latin typeface="+mn-lt"/>
                  </a:rPr>
                  <a:t> е общото уравнение на </a:t>
                </a:r>
                <a:endParaRPr lang="en-US" sz="1400" dirty="0"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+mn-lt"/>
                  </a:rPr>
                  <a:t>правата.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+mn-lt"/>
                  </a:rPr>
                  <a:t>За </a:t>
                </a:r>
                <a:r>
                  <a:rPr lang="bg-BG" sz="1400" spc="45" dirty="0">
                    <a:latin typeface="+mn-lt"/>
                    <a:cs typeface="Book Antiqua"/>
                  </a:rPr>
                  <a:t>скаларно-параметричното </a:t>
                </a:r>
                <a:r>
                  <a:rPr lang="bg-BG" sz="1400" spc="-60" dirty="0">
                    <a:latin typeface="+mn-lt"/>
                    <a:cs typeface="Book Antiqua"/>
                  </a:rPr>
                  <a:t> </a:t>
                </a:r>
                <a:r>
                  <a:rPr lang="bg-BG" sz="1400" spc="100" dirty="0">
                    <a:latin typeface="+mn-lt"/>
                    <a:cs typeface="Book Antiqua"/>
                  </a:rPr>
                  <a:t>уравнение</a:t>
                </a:r>
                <a:r>
                  <a:rPr lang="bg-BG" sz="1400" spc="23" dirty="0">
                    <a:latin typeface="+mn-lt"/>
                    <a:cs typeface="Book Antiqua"/>
                  </a:rPr>
                  <a:t> имаме </a:t>
                </a:r>
                <a:endParaRPr lang="en-US" sz="1400" spc="23" dirty="0">
                  <a:latin typeface="+mn-lt"/>
                  <a:cs typeface="Book Antiqua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spc="23" dirty="0"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spc="23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FB1B62-32DC-455D-43D1-E273A5212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79" y="3388621"/>
                <a:ext cx="6813981" cy="2355645"/>
              </a:xfrm>
              <a:prstGeom prst="rect">
                <a:avLst/>
              </a:prstGeom>
              <a:blipFill>
                <a:blip r:embed="rId3"/>
                <a:stretch>
                  <a:fillRect l="-268" t="-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0C65083-1174-5C26-541A-CF89AEBF067B}"/>
                  </a:ext>
                </a:extLst>
              </p:cNvPr>
              <p:cNvSpPr txBox="1"/>
              <p:nvPr/>
            </p:nvSpPr>
            <p:spPr>
              <a:xfrm>
                <a:off x="348896" y="317500"/>
                <a:ext cx="6542281" cy="104528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400" b="1" dirty="0">
                    <a:latin typeface="+mn-lt"/>
                  </a:rPr>
                  <a:t>    </a:t>
                </a:r>
                <a:r>
                  <a:rPr lang="bg-BG" sz="1400" b="1" dirty="0">
                    <a:latin typeface="+mn-lt"/>
                  </a:rPr>
                  <a:t>Всички прави успоредни на оста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1400" b="1" dirty="0">
                    <a:latin typeface="+mn-lt"/>
                  </a:rPr>
                  <a:t>, </a:t>
                </a:r>
                <a:r>
                  <a:rPr lang="bg-BG" sz="1400" b="1" dirty="0">
                    <a:latin typeface="+mn-lt"/>
                  </a:rPr>
                  <a:t>имат вида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1400" b="1" dirty="0">
                    <a:latin typeface="+mn-lt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b="1" dirty="0">
                    <a:latin typeface="+mn-lt"/>
                  </a:rPr>
                  <a:t>    </a:t>
                </a:r>
                <a:r>
                  <a:rPr lang="bg-BG" sz="1400" b="1" dirty="0">
                    <a:latin typeface="+mn-lt"/>
                  </a:rPr>
                  <a:t>Всички прави успоредни на оста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sz="1400" b="1" dirty="0">
                    <a:latin typeface="+mn-lt"/>
                  </a:rPr>
                  <a:t>, </a:t>
                </a:r>
                <a:r>
                  <a:rPr lang="bg-BG" sz="1400" b="1" dirty="0">
                    <a:latin typeface="+mn-lt"/>
                  </a:rPr>
                  <a:t>имат вида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400" b="1" dirty="0">
                  <a:latin typeface="+mn-lt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0C65083-1174-5C26-541A-CF89AEBF0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96" y="317500"/>
                <a:ext cx="6542281" cy="1045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4">
                <a:extLst>
                  <a:ext uri="{FF2B5EF4-FFF2-40B4-BE49-F238E27FC236}">
                    <a16:creationId xmlns:a16="http://schemas.microsoft.com/office/drawing/2014/main" id="{987C393F-892E-0773-85DB-87CFECDC4AAD}"/>
                  </a:ext>
                </a:extLst>
              </p:cNvPr>
              <p:cNvSpPr txBox="1"/>
              <p:nvPr/>
            </p:nvSpPr>
            <p:spPr>
              <a:xfrm>
                <a:off x="402027" y="1605261"/>
                <a:ext cx="6476931" cy="1623898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vert="horz" wrap="square" lIns="0" tIns="127373" rIns="0" bIns="0" rtlCol="0">
                <a:spAutoFit/>
              </a:bodyPr>
              <a:lstStyle/>
              <a:p>
                <a:pPr marL="37689" marR="22900">
                  <a:lnSpc>
                    <a:spcPct val="142300"/>
                  </a:lnSpc>
                  <a:spcBef>
                    <a:spcPts val="4"/>
                  </a:spcBef>
                </a:pPr>
                <a:r>
                  <a:rPr lang="ru-RU" sz="1400" b="1" spc="105" dirty="0">
                    <a:latin typeface="+mn-lt"/>
                    <a:cs typeface="Rockwell Nova Cond"/>
                  </a:rPr>
                  <a:t>Пример</a:t>
                </a:r>
                <a:r>
                  <a:rPr lang="ru-RU" sz="1400" b="1" spc="274" dirty="0">
                    <a:latin typeface="+mn-lt"/>
                    <a:cs typeface="Rockwell Nova Cond"/>
                  </a:rPr>
                  <a:t> </a:t>
                </a:r>
                <a:r>
                  <a:rPr lang="ru-RU" sz="1400" b="1" dirty="0">
                    <a:latin typeface="+mn-lt"/>
                    <a:cs typeface="Rockwell Nova Cond"/>
                  </a:rPr>
                  <a:t>1.</a:t>
                </a:r>
                <a:r>
                  <a:rPr lang="ru-RU" sz="1400" b="1" spc="207" dirty="0">
                    <a:latin typeface="+mn-lt"/>
                    <a:cs typeface="Rockwell Nova Cond"/>
                  </a:rPr>
                  <a:t> </a:t>
                </a:r>
                <a:r>
                  <a:rPr lang="ru-RU" sz="1400" spc="-124" dirty="0">
                    <a:latin typeface="+mn-lt"/>
                    <a:cs typeface="Book Antiqua"/>
                  </a:rPr>
                  <a:t>Намерете</a:t>
                </a:r>
                <a:r>
                  <a:rPr lang="ru-RU" sz="1400" spc="45" dirty="0">
                    <a:latin typeface="+mn-lt"/>
                    <a:cs typeface="Book Antiqua"/>
                  </a:rPr>
                  <a:t>  общото и </a:t>
                </a:r>
                <a:r>
                  <a:rPr lang="ru-RU" sz="1400" spc="100" dirty="0">
                    <a:latin typeface="Times New Roman" panose="02020603050405020304" pitchFamily="18" charset="0"/>
                    <a:cs typeface="Book Antiqua"/>
                  </a:rPr>
                  <a:t>скаларно-параметричното  уравнение </a:t>
                </a:r>
                <a:r>
                  <a:rPr lang="ru-RU" sz="1400" spc="-19" dirty="0">
                    <a:latin typeface="+mn-lt"/>
                    <a:cs typeface="Book Antiqua"/>
                  </a:rPr>
                  <a:t>на:</a:t>
                </a:r>
                <a:endParaRPr lang="ru-RU" sz="1400" dirty="0">
                  <a:latin typeface="+mn-lt"/>
                  <a:cs typeface="Book Antiqua"/>
                </a:endParaRPr>
              </a:p>
              <a:p>
                <a:pPr marL="37689" marR="22900">
                  <a:lnSpc>
                    <a:spcPct val="142300"/>
                  </a:lnSpc>
                  <a:spcBef>
                    <a:spcPts val="4"/>
                  </a:spcBef>
                </a:pPr>
                <a:r>
                  <a:rPr lang="bg-BG" sz="1400" spc="100" dirty="0">
                    <a:latin typeface="Times New Roman" panose="02020603050405020304" pitchFamily="18" charset="0"/>
                    <a:cs typeface="Book Antiqua"/>
                  </a:rPr>
                  <a:t>а) </a:t>
                </a:r>
                <a:r>
                  <a:rPr lang="bg-BG" sz="1400" spc="100" dirty="0" err="1">
                    <a:latin typeface="Times New Roman" panose="02020603050405020304" pitchFamily="18" charset="0"/>
                    <a:cs typeface="Book Antiqua"/>
                  </a:rPr>
                  <a:t>правата</a:t>
                </a:r>
                <a:r>
                  <a:rPr lang="bg-BG" sz="1400" spc="100" dirty="0">
                    <a:latin typeface="Times New Roman" panose="02020603050405020304" pitchFamily="18" charset="0"/>
                    <a:cs typeface="Book Antiqua"/>
                  </a:rPr>
                  <a:t> </a:t>
                </a:r>
                <a:r>
                  <a:rPr lang="en-US" sz="1400" i="1" spc="100" dirty="0">
                    <a:latin typeface="Times New Roman" panose="02020603050405020304" pitchFamily="18" charset="0"/>
                    <a:cs typeface="Book Antiqua"/>
                  </a:rPr>
                  <a:t>p</a:t>
                </a:r>
                <a:r>
                  <a:rPr lang="en-US" sz="1400" spc="100" dirty="0">
                    <a:latin typeface="Times New Roman" panose="02020603050405020304" pitchFamily="18" charset="0"/>
                    <a:cs typeface="Book Antiqua"/>
                  </a:rPr>
                  <a:t>, </a:t>
                </a:r>
                <a:r>
                  <a:rPr lang="bg-BG" sz="1400" spc="100" dirty="0">
                    <a:latin typeface="Times New Roman" panose="02020603050405020304" pitchFamily="18" charset="0"/>
                    <a:cs typeface="Book Antiqua"/>
                  </a:rPr>
                  <a:t>минаваща през т. </a:t>
                </a:r>
                <a:r>
                  <a:rPr lang="en-US" sz="1400" i="1" spc="100" dirty="0">
                    <a:latin typeface="Times New Roman" panose="02020603050405020304" pitchFamily="18" charset="0"/>
                    <a:cs typeface="Bookman Old Style"/>
                  </a:rPr>
                  <a:t>A</a:t>
                </a:r>
                <a:r>
                  <a:rPr lang="en-US" sz="1400" spc="100" dirty="0">
                    <a:latin typeface="Times New Roman" panose="02020603050405020304" pitchFamily="18" charset="0"/>
                    <a:cs typeface="Garamond"/>
                  </a:rPr>
                  <a:t>(1</a:t>
                </a:r>
                <a:r>
                  <a:rPr lang="en-US" sz="1400" i="1" spc="100" dirty="0">
                    <a:latin typeface="Times New Roman" panose="02020603050405020304" pitchFamily="18" charset="0"/>
                    <a:cs typeface="Bookman Old Style"/>
                  </a:rPr>
                  <a:t>, </a:t>
                </a:r>
                <a:r>
                  <a:rPr lang="en-US" sz="1400" spc="100" dirty="0">
                    <a:latin typeface="Times New Roman" panose="02020603050405020304" pitchFamily="18" charset="0"/>
                    <a:cs typeface="Lucida Sans Unicode"/>
                  </a:rPr>
                  <a:t>−</a:t>
                </a:r>
                <a:r>
                  <a:rPr lang="en-US" sz="1400" spc="100" dirty="0">
                    <a:latin typeface="Times New Roman" panose="02020603050405020304" pitchFamily="18" charset="0"/>
                    <a:cs typeface="Garamond"/>
                  </a:rPr>
                  <a:t>1)</a:t>
                </a:r>
                <a:r>
                  <a:rPr lang="en-US" sz="1400" spc="100" dirty="0">
                    <a:latin typeface="Times New Roman" panose="02020603050405020304" pitchFamily="18" charset="0"/>
                    <a:cs typeface="Book Antiqua"/>
                  </a:rPr>
                  <a:t>, </a:t>
                </a:r>
                <a:r>
                  <a:rPr lang="bg-BG" sz="1400" spc="100" dirty="0">
                    <a:latin typeface="Times New Roman" panose="02020603050405020304" pitchFamily="18" charset="0"/>
                    <a:cs typeface="Book Antiqua"/>
                  </a:rPr>
                  <a:t>колинеарна </a:t>
                </a:r>
                <a:r>
                  <a:rPr lang="bg-BG" sz="1400" spc="100" dirty="0" err="1">
                    <a:latin typeface="Times New Roman" panose="02020603050405020304" pitchFamily="18" charset="0"/>
                    <a:cs typeface="Book Antiqua"/>
                  </a:rPr>
                  <a:t>на</a:t>
                </a:r>
                <a:r>
                  <a:rPr lang="bg-BG" sz="1400" spc="100" dirty="0">
                    <a:latin typeface="Times New Roman" panose="02020603050405020304" pitchFamily="18" charset="0"/>
                    <a:cs typeface="Book Antiqua"/>
                  </a:rPr>
                  <a:t> </a:t>
                </a:r>
                <a:r>
                  <a:rPr lang="bg-BG" sz="1400" spc="100" dirty="0" err="1">
                    <a:latin typeface="Times New Roman" panose="02020603050405020304" pitchFamily="18" charset="0"/>
                    <a:cs typeface="Book Antiqua"/>
                  </a:rPr>
                  <a:t>вектора</a:t>
                </a:r>
                <a:r>
                  <a:rPr lang="bg-BG" sz="1400" spc="100" dirty="0">
                    <a:latin typeface="Times New Roman" panose="02020603050405020304" pitchFamily="18" charset="0"/>
                    <a:cs typeface="Book Antiqu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sz="1400" i="1" spc="10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400" b="0" i="1" spc="10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 sz="1400" b="0" i="1" spc="10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d>
                      <m:dPr>
                        <m:ctrlPr>
                          <a:rPr lang="ar-AE" sz="1400" i="1" spc="1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b="0" i="1" spc="1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1400" b="0" i="1" spc="100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ar-AE" sz="1400" b="0" i="1" spc="10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ar-AE" sz="1400" spc="100" dirty="0">
                    <a:latin typeface="Times New Roman" panose="02020603050405020304" pitchFamily="18" charset="0"/>
                    <a:cs typeface="Book Antiqua"/>
                  </a:rPr>
                  <a:t>;</a:t>
                </a:r>
                <a:endParaRPr lang="en-US" sz="1400" dirty="0">
                  <a:latin typeface="+mn-lt"/>
                  <a:cs typeface="Book Antiqua"/>
                </a:endParaRPr>
              </a:p>
              <a:p>
                <a:pPr marL="37689" marR="22900">
                  <a:lnSpc>
                    <a:spcPct val="142300"/>
                  </a:lnSpc>
                  <a:spcBef>
                    <a:spcPts val="4"/>
                  </a:spcBef>
                </a:pPr>
                <a:r>
                  <a:rPr sz="1400" dirty="0">
                    <a:latin typeface="+mn-lt"/>
                    <a:cs typeface="Book Antiqua"/>
                  </a:rPr>
                  <a:t>б)</a:t>
                </a:r>
                <a:r>
                  <a:rPr sz="1400" spc="-90" dirty="0">
                    <a:latin typeface="+mn-lt"/>
                    <a:cs typeface="Book Antiqua"/>
                  </a:rPr>
                  <a:t> </a:t>
                </a:r>
                <a:r>
                  <a:rPr sz="1400" spc="100" dirty="0">
                    <a:latin typeface="Times New Roman" panose="02020603050405020304" pitchFamily="18" charset="0"/>
                    <a:cs typeface="Book Antiqua"/>
                  </a:rPr>
                  <a:t>правата </a:t>
                </a:r>
                <a:r>
                  <a:rPr sz="1400" i="1" spc="100" dirty="0">
                    <a:latin typeface="Times New Roman" panose="02020603050405020304" pitchFamily="18" charset="0"/>
                    <a:cs typeface="Bookman Old Style"/>
                  </a:rPr>
                  <a:t>l</a:t>
                </a:r>
                <a:r>
                  <a:rPr sz="1400" spc="100" dirty="0">
                    <a:latin typeface="Times New Roman" panose="02020603050405020304" pitchFamily="18" charset="0"/>
                    <a:cs typeface="Book Antiqua"/>
                  </a:rPr>
                  <a:t>, минаваща през т. </a:t>
                </a:r>
                <a:r>
                  <a:rPr sz="1400" i="1" spc="100" dirty="0">
                    <a:latin typeface="Times New Roman" panose="02020603050405020304" pitchFamily="18" charset="0"/>
                    <a:cs typeface="Bookman Old Style"/>
                  </a:rPr>
                  <a:t>B</a:t>
                </a:r>
                <a:r>
                  <a:rPr sz="1400" spc="100" dirty="0">
                    <a:latin typeface="Times New Roman" panose="02020603050405020304" pitchFamily="18" charset="0"/>
                    <a:cs typeface="Garamond"/>
                  </a:rPr>
                  <a:t>(0</a:t>
                </a:r>
                <a:r>
                  <a:rPr sz="1400" i="1" spc="100" dirty="0">
                    <a:latin typeface="Times New Roman" panose="02020603050405020304" pitchFamily="18" charset="0"/>
                    <a:cs typeface="Bookman Old Style"/>
                  </a:rPr>
                  <a:t>, </a:t>
                </a:r>
                <a:r>
                  <a:rPr sz="1400" spc="100" dirty="0">
                    <a:latin typeface="Times New Roman" panose="02020603050405020304" pitchFamily="18" charset="0"/>
                    <a:cs typeface="Garamond"/>
                  </a:rPr>
                  <a:t>3) </a:t>
                </a:r>
                <a:r>
                  <a:rPr sz="1400" spc="100" dirty="0">
                    <a:latin typeface="Times New Roman" panose="02020603050405020304" pitchFamily="18" charset="0"/>
                    <a:cs typeface="Book Antiqua"/>
                  </a:rPr>
                  <a:t>и успоредна на оста </a:t>
                </a:r>
                <a:r>
                  <a:rPr sz="1400" i="1" spc="100" dirty="0">
                    <a:latin typeface="Times New Roman" panose="02020603050405020304" pitchFamily="18" charset="0"/>
                    <a:cs typeface="Bookman Old Style"/>
                  </a:rPr>
                  <a:t>Ox</a:t>
                </a:r>
                <a:r>
                  <a:rPr sz="1400" spc="100" dirty="0">
                    <a:latin typeface="Times New Roman" panose="02020603050405020304" pitchFamily="18" charset="0"/>
                    <a:cs typeface="Book Antiqua"/>
                  </a:rPr>
                  <a:t>; </a:t>
                </a:r>
                <a:endParaRPr lang="bg-BG" sz="1400" spc="100" dirty="0">
                  <a:latin typeface="Times New Roman" panose="02020603050405020304" pitchFamily="18" charset="0"/>
                  <a:cs typeface="Book Antiqua"/>
                </a:endParaRPr>
              </a:p>
              <a:p>
                <a:pPr marL="37689" marR="22900">
                  <a:lnSpc>
                    <a:spcPct val="142300"/>
                  </a:lnSpc>
                  <a:spcBef>
                    <a:spcPts val="4"/>
                  </a:spcBef>
                </a:pPr>
                <a:r>
                  <a:rPr sz="1400" spc="100" dirty="0">
                    <a:latin typeface="Times New Roman" panose="02020603050405020304" pitchFamily="18" charset="0"/>
                    <a:cs typeface="Book Antiqua"/>
                  </a:rPr>
                  <a:t>в) правата </a:t>
                </a:r>
                <a:r>
                  <a:rPr sz="1400" i="1" spc="100" dirty="0">
                    <a:latin typeface="Times New Roman" panose="02020603050405020304" pitchFamily="18" charset="0"/>
                    <a:cs typeface="Bookman Old Style"/>
                  </a:rPr>
                  <a:t>p</a:t>
                </a:r>
                <a:r>
                  <a:rPr sz="1400" spc="100" dirty="0">
                    <a:latin typeface="Times New Roman" panose="02020603050405020304" pitchFamily="18" charset="0"/>
                    <a:cs typeface="Book Antiqua"/>
                  </a:rPr>
                  <a:t>, минаваща през точките </a:t>
                </a:r>
                <a:r>
                  <a:rPr sz="1400" i="1" spc="100" dirty="0">
                    <a:latin typeface="Times New Roman" panose="02020603050405020304" pitchFamily="18" charset="0"/>
                    <a:cs typeface="Bookman Old Style"/>
                  </a:rPr>
                  <a:t>M</a:t>
                </a:r>
                <a:r>
                  <a:rPr sz="1400" spc="100" baseline="-13550" dirty="0">
                    <a:latin typeface="Times New Roman" panose="02020603050405020304" pitchFamily="18" charset="0"/>
                    <a:cs typeface="Garamond"/>
                  </a:rPr>
                  <a:t>1</a:t>
                </a:r>
                <a:r>
                  <a:rPr sz="1400" spc="100" dirty="0">
                    <a:latin typeface="Times New Roman" panose="02020603050405020304" pitchFamily="18" charset="0"/>
                    <a:cs typeface="Garamond"/>
                  </a:rPr>
                  <a:t>(</a:t>
                </a:r>
                <a:r>
                  <a:rPr sz="1400" spc="100" dirty="0">
                    <a:latin typeface="Times New Roman" panose="02020603050405020304" pitchFamily="18" charset="0"/>
                    <a:cs typeface="Lucida Sans Unicode"/>
                  </a:rPr>
                  <a:t>−</a:t>
                </a:r>
                <a:r>
                  <a:rPr sz="1400" spc="100" dirty="0">
                    <a:latin typeface="Times New Roman" panose="02020603050405020304" pitchFamily="18" charset="0"/>
                    <a:cs typeface="Garamond"/>
                  </a:rPr>
                  <a:t>1</a:t>
                </a:r>
                <a:r>
                  <a:rPr sz="1400" i="1" spc="100" dirty="0">
                    <a:latin typeface="Times New Roman" panose="02020603050405020304" pitchFamily="18" charset="0"/>
                    <a:cs typeface="Bookman Old Style"/>
                  </a:rPr>
                  <a:t>, </a:t>
                </a:r>
                <a:r>
                  <a:rPr sz="1400" spc="100" dirty="0">
                    <a:latin typeface="Times New Roman" panose="02020603050405020304" pitchFamily="18" charset="0"/>
                    <a:cs typeface="Lucida Sans Unicode"/>
                  </a:rPr>
                  <a:t>−</a:t>
                </a:r>
                <a:r>
                  <a:rPr sz="1400" spc="100" dirty="0">
                    <a:latin typeface="Times New Roman" panose="02020603050405020304" pitchFamily="18" charset="0"/>
                    <a:cs typeface="Garamond"/>
                  </a:rPr>
                  <a:t>1) </a:t>
                </a:r>
                <a:r>
                  <a:rPr sz="1400" spc="100" dirty="0">
                    <a:latin typeface="Times New Roman" panose="02020603050405020304" pitchFamily="18" charset="0"/>
                    <a:cs typeface="Book Antiqua"/>
                  </a:rPr>
                  <a:t>и </a:t>
                </a:r>
                <a:r>
                  <a:rPr sz="1400" i="1" spc="100" dirty="0">
                    <a:latin typeface="Times New Roman" panose="02020603050405020304" pitchFamily="18" charset="0"/>
                    <a:cs typeface="Bookman Old Style"/>
                  </a:rPr>
                  <a:t>M</a:t>
                </a:r>
                <a:r>
                  <a:rPr sz="1400" spc="100" baseline="-13550" dirty="0">
                    <a:latin typeface="Times New Roman" panose="02020603050405020304" pitchFamily="18" charset="0"/>
                    <a:cs typeface="Garamond"/>
                  </a:rPr>
                  <a:t>2</a:t>
                </a:r>
                <a:r>
                  <a:rPr sz="1400" spc="100" dirty="0">
                    <a:latin typeface="Times New Roman" panose="02020603050405020304" pitchFamily="18" charset="0"/>
                    <a:cs typeface="Garamond"/>
                  </a:rPr>
                  <a:t>(1</a:t>
                </a:r>
                <a:r>
                  <a:rPr sz="1400" i="1" spc="100" dirty="0">
                    <a:latin typeface="Times New Roman" panose="02020603050405020304" pitchFamily="18" charset="0"/>
                    <a:cs typeface="Bookman Old Style"/>
                  </a:rPr>
                  <a:t>, </a:t>
                </a:r>
                <a:r>
                  <a:rPr sz="1400" spc="100" dirty="0">
                    <a:latin typeface="Times New Roman" panose="02020603050405020304" pitchFamily="18" charset="0"/>
                    <a:cs typeface="Garamond"/>
                  </a:rPr>
                  <a:t>5)</a:t>
                </a:r>
                <a:r>
                  <a:rPr sz="1400" spc="100" dirty="0">
                    <a:latin typeface="Times New Roman" panose="02020603050405020304" pitchFamily="18" charset="0"/>
                    <a:cs typeface="Book Antiqua"/>
                  </a:rPr>
                  <a:t>.  </a:t>
                </a:r>
              </a:p>
            </p:txBody>
          </p:sp>
        </mc:Choice>
        <mc:Fallback>
          <p:sp>
            <p:nvSpPr>
              <p:cNvPr id="28" name="object 4">
                <a:extLst>
                  <a:ext uri="{FF2B5EF4-FFF2-40B4-BE49-F238E27FC236}">
                    <a16:creationId xmlns:a16="http://schemas.microsoft.com/office/drawing/2014/main" id="{987C393F-892E-0773-85DB-87CFECDC4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27" y="1605261"/>
                <a:ext cx="6476931" cy="16238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4E8015E3-D3AF-11E5-9680-F889CB0DC929}"/>
              </a:ext>
            </a:extLst>
          </p:cNvPr>
          <p:cNvSpPr txBox="1"/>
          <p:nvPr/>
        </p:nvSpPr>
        <p:spPr>
          <a:xfrm>
            <a:off x="5544347" y="671734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bg-BG" sz="800" dirty="0"/>
              <a:t>о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CD768B-927A-3EBE-4B54-CB8D84F11A32}"/>
                  </a:ext>
                </a:extLst>
              </p:cNvPr>
              <p:cNvSpPr txBox="1"/>
              <p:nvPr/>
            </p:nvSpPr>
            <p:spPr>
              <a:xfrm>
                <a:off x="5347948" y="7246307"/>
                <a:ext cx="2252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CD768B-927A-3EBE-4B54-CB8D84F11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948" y="7246307"/>
                <a:ext cx="225253" cy="276999"/>
              </a:xfrm>
              <a:prstGeom prst="rect">
                <a:avLst/>
              </a:prstGeom>
              <a:blipFill>
                <a:blip r:embed="rId6"/>
                <a:stretch>
                  <a:fillRect l="-21622" r="-2162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7CDA7E1-EC28-AB1B-F7FF-F9A793E8B7B5}"/>
              </a:ext>
            </a:extLst>
          </p:cNvPr>
          <p:cNvGrpSpPr/>
          <p:nvPr/>
        </p:nvGrpSpPr>
        <p:grpSpPr>
          <a:xfrm>
            <a:off x="4257313" y="6120237"/>
            <a:ext cx="2489366" cy="1851118"/>
            <a:chOff x="4213338" y="6695982"/>
            <a:chExt cx="2489366" cy="1851118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9971BD7-B745-FDD7-7562-7C2C7FA7922E}"/>
                </a:ext>
              </a:extLst>
            </p:cNvPr>
            <p:cNvCxnSpPr/>
            <p:nvPr/>
          </p:nvCxnSpPr>
          <p:spPr>
            <a:xfrm>
              <a:off x="4387850" y="7861300"/>
              <a:ext cx="2286000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591AF5E-05E0-81D4-E275-7A99A52B2C4D}"/>
                </a:ext>
              </a:extLst>
            </p:cNvPr>
            <p:cNvCxnSpPr/>
            <p:nvPr/>
          </p:nvCxnSpPr>
          <p:spPr>
            <a:xfrm flipV="1">
              <a:off x="5530850" y="6718300"/>
              <a:ext cx="0" cy="18288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D4A040F-4EB9-AF97-2763-C230530B57B0}"/>
                    </a:ext>
                  </a:extLst>
                </p:cNvPr>
                <p:cNvSpPr txBox="1"/>
                <p:nvPr/>
              </p:nvSpPr>
              <p:spPr>
                <a:xfrm>
                  <a:off x="5529226" y="7076778"/>
                  <a:ext cx="7700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D4A040F-4EB9-AF97-2763-C230530B5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9226" y="7076778"/>
                  <a:ext cx="77008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5512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BD217E2-0174-EBC9-A790-A354B7982F74}"/>
                </a:ext>
              </a:extLst>
            </p:cNvPr>
            <p:cNvCxnSpPr>
              <a:cxnSpLocks/>
            </p:cNvCxnSpPr>
            <p:nvPr/>
          </p:nvCxnSpPr>
          <p:spPr>
            <a:xfrm>
              <a:off x="4477863" y="7355504"/>
              <a:ext cx="2195987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E730506-7AE5-CE10-EBBB-5188E7D4F3B5}"/>
                    </a:ext>
                  </a:extLst>
                </p:cNvPr>
                <p:cNvSpPr txBox="1"/>
                <p:nvPr/>
              </p:nvSpPr>
              <p:spPr>
                <a:xfrm>
                  <a:off x="6508164" y="7861299"/>
                  <a:ext cx="19454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E730506-7AE5-CE10-EBBB-5188E7D4F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8164" y="7861299"/>
                  <a:ext cx="19454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625" r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79CD61C-684A-D72A-908C-F5E5C25BD6CA}"/>
                    </a:ext>
                  </a:extLst>
                </p:cNvPr>
                <p:cNvSpPr txBox="1"/>
                <p:nvPr/>
              </p:nvSpPr>
              <p:spPr>
                <a:xfrm>
                  <a:off x="5315106" y="6695982"/>
                  <a:ext cx="1979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79CD61C-684A-D72A-908C-F5E5C25BD6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106" y="6695982"/>
                  <a:ext cx="19793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7273" r="-21212" b="-2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86B6C85-7901-2452-527C-DFCA2B5500BE}"/>
                    </a:ext>
                  </a:extLst>
                </p:cNvPr>
                <p:cNvSpPr txBox="1"/>
                <p:nvPr/>
              </p:nvSpPr>
              <p:spPr>
                <a:xfrm>
                  <a:off x="4213338" y="7088432"/>
                  <a:ext cx="10315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86B6C85-7901-2452-527C-DFCA2B550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3338" y="7088432"/>
                  <a:ext cx="1031501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4706" r="-4118" b="-26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F0CE75D-7EAF-27AC-F348-88657A3F4DF6}"/>
                    </a:ext>
                  </a:extLst>
                </p:cNvPr>
                <p:cNvSpPr txBox="1"/>
                <p:nvPr/>
              </p:nvSpPr>
              <p:spPr>
                <a:xfrm>
                  <a:off x="5807161" y="6871623"/>
                  <a:ext cx="19454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F0CE75D-7EAF-27AC-F348-88657A3F4D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7161" y="6871623"/>
                  <a:ext cx="19454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5625" r="-9375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E80DBFB-5739-08ED-DF95-C3CFADC7510A}"/>
                    </a:ext>
                  </a:extLst>
                </p:cNvPr>
                <p:cNvSpPr txBox="1"/>
                <p:nvPr/>
              </p:nvSpPr>
              <p:spPr>
                <a:xfrm>
                  <a:off x="6033187" y="6849709"/>
                  <a:ext cx="1979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E80DBFB-5739-08ED-DF95-C3CFADC751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3187" y="6849709"/>
                  <a:ext cx="197939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8125" r="-25000" b="-26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6BB0C83-CB03-3929-6C3B-6FFA1E886092}"/>
                  </a:ext>
                </a:extLst>
              </p:cNvPr>
              <p:cNvSpPr txBox="1"/>
              <p:nvPr/>
            </p:nvSpPr>
            <p:spPr>
              <a:xfrm>
                <a:off x="373852" y="8116293"/>
                <a:ext cx="5703806" cy="2207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1800" spc="100" dirty="0">
                    <a:latin typeface="Times New Roman" panose="02020603050405020304" pitchFamily="18" charset="0"/>
                    <a:cs typeface="Book Antiqua"/>
                  </a:rPr>
                  <a:t>в) </a:t>
                </a:r>
                <a:r>
                  <a:rPr lang="ru-RU" sz="1400" spc="100" dirty="0">
                    <a:latin typeface="+mn-lt"/>
                    <a:cs typeface="Book Antiqua"/>
                  </a:rPr>
                  <a:t>правата </a:t>
                </a:r>
                <a:r>
                  <a:rPr lang="ru-RU" sz="1400" i="1" spc="100" dirty="0">
                    <a:latin typeface="+mn-lt"/>
                    <a:cs typeface="Bookman Old Style"/>
                  </a:rPr>
                  <a:t>p</a:t>
                </a:r>
                <a:r>
                  <a:rPr lang="ru-RU" sz="1400" spc="100" dirty="0">
                    <a:latin typeface="+mn-lt"/>
                    <a:cs typeface="Book Antiqua"/>
                  </a:rPr>
                  <a:t>, минаваща през точките </a:t>
                </a:r>
                <a:r>
                  <a:rPr lang="ru-RU" sz="1400" i="1" spc="100" dirty="0">
                    <a:latin typeface="+mn-lt"/>
                    <a:cs typeface="Book Antiqua"/>
                  </a:rPr>
                  <a:t>А</a:t>
                </a:r>
                <a:r>
                  <a:rPr lang="ru-RU" sz="1400" spc="100" dirty="0">
                    <a:latin typeface="+mn-lt"/>
                    <a:cs typeface="Garamond"/>
                  </a:rPr>
                  <a:t>(</a:t>
                </a:r>
                <a:r>
                  <a:rPr lang="ru-RU" sz="1400" spc="100" dirty="0">
                    <a:latin typeface="+mn-lt"/>
                    <a:cs typeface="Lucida Sans Unicode"/>
                  </a:rPr>
                  <a:t>−</a:t>
                </a:r>
                <a:r>
                  <a:rPr lang="ru-RU" sz="1400" spc="100" dirty="0">
                    <a:latin typeface="+mn-lt"/>
                    <a:cs typeface="Garamond"/>
                  </a:rPr>
                  <a:t>1</a:t>
                </a:r>
                <a:r>
                  <a:rPr lang="ru-RU" sz="1400" i="1" spc="100" dirty="0">
                    <a:latin typeface="+mn-lt"/>
                    <a:cs typeface="Bookman Old Style"/>
                  </a:rPr>
                  <a:t>, </a:t>
                </a:r>
                <a:r>
                  <a:rPr lang="ru-RU" sz="1400" spc="100" dirty="0">
                    <a:latin typeface="+mn-lt"/>
                    <a:cs typeface="Lucida Sans Unicode"/>
                  </a:rPr>
                  <a:t>−</a:t>
                </a:r>
                <a:r>
                  <a:rPr lang="ru-RU" sz="1400" spc="100" dirty="0">
                    <a:latin typeface="+mn-lt"/>
                    <a:cs typeface="Garamond"/>
                  </a:rPr>
                  <a:t>1) </a:t>
                </a:r>
                <a:r>
                  <a:rPr lang="ru-RU" sz="1400" spc="100" dirty="0">
                    <a:latin typeface="+mn-lt"/>
                    <a:cs typeface="Book Antiqua"/>
                  </a:rPr>
                  <a:t>и </a:t>
                </a:r>
                <a:r>
                  <a:rPr lang="en-US" sz="1400" i="1" spc="100" dirty="0">
                    <a:latin typeface="+mn-lt"/>
                    <a:cs typeface="Book Antiqua"/>
                  </a:rPr>
                  <a:t>B</a:t>
                </a:r>
                <a:r>
                  <a:rPr lang="ru-RU" sz="1400" spc="100" dirty="0">
                    <a:latin typeface="+mn-lt"/>
                    <a:cs typeface="Garamond"/>
                  </a:rPr>
                  <a:t>(1</a:t>
                </a:r>
                <a:r>
                  <a:rPr lang="ru-RU" sz="1400" i="1" spc="100" dirty="0">
                    <a:latin typeface="+mn-lt"/>
                    <a:cs typeface="Bookman Old Style"/>
                  </a:rPr>
                  <a:t>, </a:t>
                </a:r>
                <a:r>
                  <a:rPr lang="ru-RU" sz="1400" spc="100" dirty="0">
                    <a:latin typeface="+mn-lt"/>
                    <a:cs typeface="Garamond"/>
                  </a:rPr>
                  <a:t>5);</a:t>
                </a:r>
                <a:r>
                  <a:rPr lang="ru-RU" sz="1400" spc="100" dirty="0">
                    <a:latin typeface="+mn-lt"/>
                    <a:cs typeface="Book Antiqua"/>
                  </a:rPr>
                  <a:t> </a:t>
                </a:r>
                <a:endParaRPr lang="en-US" sz="1400" spc="100" dirty="0">
                  <a:latin typeface="+mn-lt"/>
                  <a:cs typeface="Book Antiqu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+mn-lt"/>
                  </a:rPr>
                  <a:t>Заместваме във формулата</a:t>
                </a: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−(−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−(−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−(−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−(−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400" dirty="0">
                    <a:latin typeface="+mn-lt"/>
                  </a:rPr>
                  <a:t> </a:t>
                </a:r>
                <a:r>
                  <a:rPr lang="bg-BG" sz="1400" dirty="0">
                    <a:latin typeface="+mn-lt"/>
                  </a:rPr>
                  <a:t> и след опростяване </a:t>
                </a:r>
                <a:endParaRPr lang="en-US" sz="1400" dirty="0"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dirty="0">
                    <a:latin typeface="+mn-lt"/>
                  </a:rPr>
                  <a:t>получаваме общото</a:t>
                </a:r>
                <a:r>
                  <a:rPr lang="en-US" sz="1400" dirty="0">
                    <a:latin typeface="+mn-lt"/>
                  </a:rPr>
                  <a:t> </a:t>
                </a:r>
                <a:r>
                  <a:rPr lang="bg-BG" sz="1400" dirty="0">
                    <a:latin typeface="+mn-lt"/>
                  </a:rPr>
                  <a:t>уравнение на правата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endParaRPr lang="en-US" sz="1400" dirty="0">
                  <a:latin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sz="1400" spc="100" dirty="0">
                    <a:latin typeface="+mn-lt"/>
                    <a:cs typeface="Book Antiqu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bg-BG" sz="1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ru-RU" sz="1400" spc="100" dirty="0">
                  <a:latin typeface="+mn-lt"/>
                  <a:cs typeface="Book Antiqua"/>
                </a:endParaRPr>
              </a:p>
              <a:p>
                <a:endParaRPr lang="en-US" sz="1400" dirty="0">
                  <a:latin typeface="+mn-lt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6BB0C83-CB03-3929-6C3B-6FFA1E886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52" y="8116293"/>
                <a:ext cx="5703806" cy="2207527"/>
              </a:xfrm>
              <a:prstGeom prst="rect">
                <a:avLst/>
              </a:prstGeom>
              <a:blipFill>
                <a:blip r:embed="rId13"/>
                <a:stretch>
                  <a:fillRect l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bject 49">
            <a:extLst>
              <a:ext uri="{FF2B5EF4-FFF2-40B4-BE49-F238E27FC236}">
                <a16:creationId xmlns:a16="http://schemas.microsoft.com/office/drawing/2014/main" id="{B83F0614-73AC-B1B6-8F44-C08550A197B4}"/>
              </a:ext>
            </a:extLst>
          </p:cNvPr>
          <p:cNvSpPr txBox="1"/>
          <p:nvPr/>
        </p:nvSpPr>
        <p:spPr>
          <a:xfrm>
            <a:off x="5073650" y="8939787"/>
            <a:ext cx="1443990" cy="415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270">
              <a:lnSpc>
                <a:spcPts val="1130"/>
              </a:lnSpc>
              <a:spcBef>
                <a:spcPts val="95"/>
              </a:spcBef>
              <a:tabLst>
                <a:tab pos="959485" algn="l"/>
              </a:tabLst>
            </a:pPr>
            <a:r>
              <a:rPr sz="1200" b="0" i="1" u="sng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r>
              <a:rPr sz="1200" b="0" i="1" u="sng" spc="-8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2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200" u="sng" spc="-1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200" b="0" i="1" u="sng" spc="-25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r>
              <a:rPr sz="1200" u="sng" spc="-37" baseline="-13888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1</a:t>
            </a:r>
            <a:r>
              <a:rPr sz="1200" baseline="-13888" dirty="0">
                <a:latin typeface="Trebuchet MS"/>
                <a:cs typeface="Trebuchet MS"/>
              </a:rPr>
              <a:t>	</a:t>
            </a:r>
            <a:r>
              <a:rPr sz="12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0" i="1" u="sng" spc="-16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y</a:t>
            </a:r>
            <a:r>
              <a:rPr sz="1200" b="0" i="1" u="sng" spc="-4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2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200" u="sng" spc="-12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200" b="0" i="1" u="sng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y</a:t>
            </a:r>
            <a:r>
              <a:rPr sz="1200" u="sng" baseline="-13888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1</a:t>
            </a:r>
            <a:endParaRPr sz="1200" baseline="-13888" dirty="0">
              <a:solidFill>
                <a:schemeClr val="accent6">
                  <a:lumMod val="75000"/>
                </a:schemeClr>
              </a:solidFill>
              <a:latin typeface="Trebuchet MS"/>
              <a:cs typeface="Trebuchet MS"/>
            </a:endParaRPr>
          </a:p>
          <a:p>
            <a:pPr marL="38100">
              <a:lnSpc>
                <a:spcPts val="815"/>
              </a:lnSpc>
              <a:tabLst>
                <a:tab pos="787400" algn="l"/>
              </a:tabLst>
            </a:pPr>
            <a:r>
              <a:rPr sz="1200" b="0" i="1" spc="-145" dirty="0">
                <a:latin typeface="Bookman Old Style"/>
                <a:cs typeface="Bookman Old Style"/>
              </a:rPr>
              <a:t>p</a:t>
            </a:r>
            <a:r>
              <a:rPr sz="1200" b="0" i="1" spc="-10" dirty="0">
                <a:latin typeface="Bookman Old Style"/>
                <a:cs typeface="Bookman Old Style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: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spc="130" dirty="0">
                <a:latin typeface="Book Antiqua"/>
                <a:cs typeface="Book Antiqua"/>
              </a:rPr>
              <a:t>=</a:t>
            </a:r>
            <a:endParaRPr sz="1200" dirty="0">
              <a:latin typeface="Book Antiqua"/>
              <a:cs typeface="Book Antiqua"/>
            </a:endParaRPr>
          </a:p>
          <a:p>
            <a:pPr marL="255904">
              <a:lnSpc>
                <a:spcPts val="1130"/>
              </a:lnSpc>
              <a:tabLst>
                <a:tab pos="959485" algn="l"/>
              </a:tabLst>
            </a:pPr>
            <a:r>
              <a:rPr sz="1200" b="0" i="1" dirty="0">
                <a:solidFill>
                  <a:srgbClr val="00B050"/>
                </a:solidFill>
                <a:latin typeface="Bookman Old Style"/>
                <a:cs typeface="Bookman Old Style"/>
              </a:rPr>
              <a:t>x</a:t>
            </a:r>
            <a:r>
              <a:rPr sz="1200" baseline="-13888" dirty="0">
                <a:solidFill>
                  <a:srgbClr val="00B050"/>
                </a:solidFill>
                <a:latin typeface="Trebuchet MS"/>
                <a:cs typeface="Trebuchet MS"/>
              </a:rPr>
              <a:t>2</a:t>
            </a:r>
            <a:r>
              <a:rPr sz="1200" spc="120" baseline="-13888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b="0" i="1" spc="-25" dirty="0">
                <a:solidFill>
                  <a:srgbClr val="0070C0"/>
                </a:solidFill>
                <a:latin typeface="Bookman Old Style"/>
                <a:cs typeface="Bookman Old Style"/>
              </a:rPr>
              <a:t>x</a:t>
            </a:r>
            <a:r>
              <a:rPr sz="1200" spc="-37" baseline="-13888" dirty="0">
                <a:solidFill>
                  <a:srgbClr val="0070C0"/>
                </a:solidFill>
                <a:latin typeface="Trebuchet MS"/>
                <a:cs typeface="Trebuchet MS"/>
              </a:rPr>
              <a:t>1</a:t>
            </a:r>
            <a:r>
              <a:rPr sz="1200" baseline="-13888" dirty="0">
                <a:latin typeface="Trebuchet MS"/>
                <a:cs typeface="Trebuchet MS"/>
              </a:rPr>
              <a:t>	</a:t>
            </a:r>
            <a:r>
              <a:rPr sz="1200" b="0" i="1" spc="-25" dirty="0">
                <a:solidFill>
                  <a:srgbClr val="FF0000"/>
                </a:solidFill>
                <a:latin typeface="Bookman Old Style"/>
                <a:cs typeface="Bookman Old Style"/>
              </a:rPr>
              <a:t>y</a:t>
            </a:r>
            <a:r>
              <a:rPr sz="1200" spc="-37" baseline="-13888" dirty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sz="1200" spc="-22" baseline="-13888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5" dirty="0">
                <a:latin typeface="Lucida Sans Unicode"/>
                <a:cs typeface="Lucida Sans Unicode"/>
              </a:rPr>
              <a:t> </a:t>
            </a:r>
            <a:r>
              <a:rPr sz="1200" b="0" i="1" spc="-25" dirty="0">
                <a:solidFill>
                  <a:schemeClr val="accent6">
                    <a:lumMod val="75000"/>
                  </a:schemeClr>
                </a:solidFill>
                <a:latin typeface="Bookman Old Style"/>
                <a:cs typeface="Bookman Old Style"/>
              </a:rPr>
              <a:t>y</a:t>
            </a:r>
            <a:r>
              <a:rPr sz="1200" spc="-37" baseline="-13888" dirty="0">
                <a:solidFill>
                  <a:schemeClr val="accent6">
                    <a:lumMod val="75000"/>
                  </a:schemeClr>
                </a:solidFill>
                <a:latin typeface="Trebuchet MS"/>
                <a:cs typeface="Trebuchet MS"/>
              </a:rPr>
              <a:t>1</a:t>
            </a:r>
            <a:endParaRPr sz="1200" baseline="-13888" dirty="0">
              <a:solidFill>
                <a:schemeClr val="accent6">
                  <a:lumMod val="75000"/>
                </a:schemeClr>
              </a:solidFill>
              <a:latin typeface="Trebuchet MS"/>
              <a:cs typeface="Trebuchet MS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E257F7C-382A-C845-DC39-2169B37752D9}"/>
              </a:ext>
            </a:extLst>
          </p:cNvPr>
          <p:cNvCxnSpPr/>
          <p:nvPr/>
        </p:nvCxnSpPr>
        <p:spPr>
          <a:xfrm>
            <a:off x="4921250" y="9766300"/>
            <a:ext cx="19577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5DB525E-BDFF-3527-E6C1-B9A3D064795D}"/>
                  </a:ext>
                </a:extLst>
              </p:cNvPr>
              <p:cNvSpPr txBox="1"/>
              <p:nvPr/>
            </p:nvSpPr>
            <p:spPr>
              <a:xfrm>
                <a:off x="5296791" y="9703872"/>
                <a:ext cx="83356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800" b="0" i="1" smtClean="0">
                          <a:latin typeface="Cambria Math" panose="02040503050406030204" pitchFamily="18" charset="0"/>
                        </a:rPr>
                        <m:t>о</m:t>
                      </m:r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5DB525E-BDFF-3527-E6C1-B9A3D0647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791" y="9703872"/>
                <a:ext cx="83356" cy="123111"/>
              </a:xfrm>
              <a:prstGeom prst="rect">
                <a:avLst/>
              </a:prstGeom>
              <a:blipFill>
                <a:blip r:embed="rId14"/>
                <a:stretch>
                  <a:fillRect l="-21429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B887BBC-2685-E00B-3A90-359E0FDC3FBD}"/>
                  </a:ext>
                </a:extLst>
              </p:cNvPr>
              <p:cNvSpPr txBox="1"/>
              <p:nvPr/>
            </p:nvSpPr>
            <p:spPr>
              <a:xfrm>
                <a:off x="6343284" y="9702395"/>
                <a:ext cx="83356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800" b="0" i="1" smtClean="0">
                          <a:latin typeface="Cambria Math" panose="02040503050406030204" pitchFamily="18" charset="0"/>
                        </a:rPr>
                        <m:t>о</m:t>
                      </m:r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B887BBC-2685-E00B-3A90-359E0FDC3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284" y="9702395"/>
                <a:ext cx="83356" cy="123111"/>
              </a:xfrm>
              <a:prstGeom prst="rect">
                <a:avLst/>
              </a:prstGeom>
              <a:blipFill>
                <a:blip r:embed="rId14"/>
                <a:stretch>
                  <a:fillRect l="-23077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23F9BD5-E1D7-3145-50A8-5CCDE97329A1}"/>
                  </a:ext>
                </a:extLst>
              </p:cNvPr>
              <p:cNvSpPr txBox="1"/>
              <p:nvPr/>
            </p:nvSpPr>
            <p:spPr>
              <a:xfrm>
                <a:off x="4896970" y="9910468"/>
                <a:ext cx="62395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bg-BG" sz="1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bg-BG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23F9BD5-E1D7-3145-50A8-5CCDE9732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970" y="9910468"/>
                <a:ext cx="623952" cy="215444"/>
              </a:xfrm>
              <a:prstGeom prst="rect">
                <a:avLst/>
              </a:prstGeom>
              <a:blipFill>
                <a:blip r:embed="rId15"/>
                <a:stretch>
                  <a:fillRect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98364E6-FC3A-EE28-1E36-8D4D94449966}"/>
                  </a:ext>
                </a:extLst>
              </p:cNvPr>
              <p:cNvSpPr txBox="1"/>
              <p:nvPr/>
            </p:nvSpPr>
            <p:spPr>
              <a:xfrm>
                <a:off x="6077162" y="9871188"/>
                <a:ext cx="63228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bg-BG" sz="1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bg-BG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98364E6-FC3A-EE28-1E36-8D4D94449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162" y="9871188"/>
                <a:ext cx="632288" cy="215444"/>
              </a:xfrm>
              <a:prstGeom prst="rect">
                <a:avLst/>
              </a:prstGeom>
              <a:blipFill>
                <a:blip r:embed="rId16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5B8C1153-6328-6AFA-A5FB-5F79A820B0BA}"/>
              </a:ext>
            </a:extLst>
          </p:cNvPr>
          <p:cNvCxnSpPr>
            <a:cxnSpLocks/>
          </p:cNvCxnSpPr>
          <p:nvPr/>
        </p:nvCxnSpPr>
        <p:spPr>
          <a:xfrm flipV="1">
            <a:off x="5073650" y="9348301"/>
            <a:ext cx="621553" cy="51845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94B2DCF7-3244-F898-3182-1793CB3227AB}"/>
              </a:ext>
            </a:extLst>
          </p:cNvPr>
          <p:cNvCxnSpPr/>
          <p:nvPr/>
        </p:nvCxnSpPr>
        <p:spPr>
          <a:xfrm rot="10800000">
            <a:off x="5458051" y="9309100"/>
            <a:ext cx="817051" cy="669810"/>
          </a:xfrm>
          <a:prstGeom prst="curved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EF03159C-7435-AF7D-8292-CA1B37E07B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24691" y="9174455"/>
            <a:ext cx="884974" cy="58705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52E0E90E-5103-1057-4EBE-F073CFB417D5}"/>
              </a:ext>
            </a:extLst>
          </p:cNvPr>
          <p:cNvCxnSpPr/>
          <p:nvPr/>
        </p:nvCxnSpPr>
        <p:spPr>
          <a:xfrm rot="16200000" flipV="1">
            <a:off x="6102416" y="9460745"/>
            <a:ext cx="523439" cy="376008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E4B80698-C2C3-DAA4-6429-834660775F94}"/>
              </a:ext>
            </a:extLst>
          </p:cNvPr>
          <p:cNvCxnSpPr/>
          <p:nvPr/>
        </p:nvCxnSpPr>
        <p:spPr>
          <a:xfrm flipV="1">
            <a:off x="5347948" y="9387029"/>
            <a:ext cx="1078692" cy="5918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4D29736-BB9C-4AED-4802-88DD32C2A836}"/>
              </a:ext>
            </a:extLst>
          </p:cNvPr>
          <p:cNvCxnSpPr/>
          <p:nvPr/>
        </p:nvCxnSpPr>
        <p:spPr>
          <a:xfrm flipV="1">
            <a:off x="5367178" y="9080500"/>
            <a:ext cx="1017784" cy="9376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2"/>
              <p:cNvSpPr txBox="1"/>
              <p:nvPr/>
            </p:nvSpPr>
            <p:spPr>
              <a:xfrm>
                <a:off x="860105" y="93475"/>
                <a:ext cx="5682615" cy="231108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R="43180" algn="r">
                  <a:lnSpc>
                    <a:spcPct val="100000"/>
                  </a:lnSpc>
                  <a:spcBef>
                    <a:spcPts val="95"/>
                  </a:spcBef>
                </a:pPr>
                <a:endParaRPr lang="ru-RU" sz="1200" dirty="0">
                  <a:latin typeface="Times New Roman"/>
                  <a:cs typeface="Times New Roman"/>
                </a:endParaRPr>
              </a:p>
              <a:p>
                <a:pPr marL="50800">
                  <a:lnSpc>
                    <a:spcPct val="100000"/>
                  </a:lnSpc>
                </a:pPr>
                <a:r>
                  <a:rPr lang="ru-RU"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5.</a:t>
                </a:r>
                <a:r>
                  <a:rPr lang="ru-RU" sz="1400" b="1" spc="21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  </a:t>
                </a:r>
                <a:r>
                  <a:rPr lang="ru-RU"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Уравнение</a:t>
                </a:r>
                <a:r>
                  <a:rPr lang="ru-RU" sz="1400" b="1" spc="229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 </a:t>
                </a:r>
                <a:r>
                  <a:rPr lang="ru-RU"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на</a:t>
                </a:r>
                <a:r>
                  <a:rPr lang="ru-RU" sz="1400" b="1" spc="21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 </a:t>
                </a:r>
                <a:r>
                  <a:rPr lang="ru-RU"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права</a:t>
                </a:r>
                <a:r>
                  <a:rPr lang="ru-RU" sz="1400" b="1" spc="22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 </a:t>
                </a:r>
                <a:r>
                  <a:rPr lang="ru-RU"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по</a:t>
                </a:r>
                <a:r>
                  <a:rPr lang="ru-RU" sz="1400" b="1" spc="204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 </a:t>
                </a:r>
                <a:r>
                  <a:rPr lang="ru-RU"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точка</a:t>
                </a:r>
                <a:r>
                  <a:rPr lang="ru-RU" sz="1400" b="1" spc="21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 </a:t>
                </a:r>
                <a:r>
                  <a:rPr lang="ru-RU"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и</a:t>
                </a:r>
                <a:r>
                  <a:rPr lang="ru-RU" sz="1400" b="1" spc="21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 </a:t>
                </a:r>
                <a:r>
                  <a:rPr lang="ru-RU"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ъглов</a:t>
                </a:r>
                <a:r>
                  <a:rPr lang="ru-RU" sz="1400" b="1" spc="215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 </a:t>
                </a:r>
                <a:r>
                  <a:rPr lang="ru-RU" sz="1400" b="1" spc="-1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+mn-lt"/>
                    <a:cs typeface="Cambria"/>
                  </a:rPr>
                  <a:t>коефициент</a:t>
                </a:r>
                <a:endParaRPr lang="ru-RU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+mn-lt"/>
                  <a:cs typeface="Cambria"/>
                </a:endParaRPr>
              </a:p>
              <a:p>
                <a:pPr marR="43180" algn="just">
                  <a:lnSpc>
                    <a:spcPct val="150000"/>
                  </a:lnSpc>
                </a:pPr>
                <a:r>
                  <a:rPr lang="ru-RU" sz="1400" spc="20" dirty="0">
                    <a:latin typeface="+mn-lt"/>
                    <a:cs typeface="Times New Roman"/>
                  </a:rPr>
                  <a:t>Нека</a:t>
                </a:r>
                <a:r>
                  <a:rPr lang="ru-RU" sz="1400" spc="85" dirty="0">
                    <a:latin typeface="+mn-lt"/>
                    <a:cs typeface="Times New Roman"/>
                  </a:rPr>
                  <a:t> </a:t>
                </a:r>
                <a:r>
                  <a:rPr lang="ru-RU" sz="1400" spc="30" dirty="0">
                    <a:latin typeface="+mn-lt"/>
                    <a:cs typeface="Times New Roman"/>
                  </a:rPr>
                  <a:t>правата</a:t>
                </a:r>
                <a:r>
                  <a:rPr lang="ru-RU" sz="1400" spc="65" dirty="0">
                    <a:latin typeface="+mn-lt"/>
                    <a:cs typeface="Times New Roman"/>
                  </a:rPr>
                  <a:t> </a:t>
                </a:r>
                <a:r>
                  <a:rPr lang="ru-RU" sz="1400" b="0" i="1" spc="-140" dirty="0">
                    <a:latin typeface="+mn-lt"/>
                    <a:cs typeface="Bookman Old Style"/>
                  </a:rPr>
                  <a:t>p</a:t>
                </a:r>
                <a:r>
                  <a:rPr lang="ru-RU" sz="1400" b="0" i="1" spc="35" dirty="0">
                    <a:latin typeface="+mn-lt"/>
                    <a:cs typeface="Bookman Old Style"/>
                  </a:rPr>
                  <a:t> </a:t>
                </a:r>
                <a:r>
                  <a:rPr lang="ru-RU" sz="1400" spc="-10" dirty="0">
                    <a:latin typeface="+mn-lt"/>
                    <a:cs typeface="Times New Roman"/>
                  </a:rPr>
                  <a:t>не</a:t>
                </a:r>
                <a:r>
                  <a:rPr lang="ru-RU" sz="1400" spc="75" dirty="0">
                    <a:latin typeface="+mn-lt"/>
                    <a:cs typeface="Times New Roman"/>
                  </a:rPr>
                  <a:t> </a:t>
                </a:r>
                <a:r>
                  <a:rPr lang="ru-RU" sz="1400" spc="-20" dirty="0">
                    <a:latin typeface="+mn-lt"/>
                    <a:cs typeface="Times New Roman"/>
                  </a:rPr>
                  <a:t>е</a:t>
                </a:r>
                <a:r>
                  <a:rPr lang="ru-RU" sz="1400" spc="65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успоредна</a:t>
                </a:r>
                <a:r>
                  <a:rPr lang="ru-RU" sz="1400" spc="95" dirty="0">
                    <a:latin typeface="+mn-lt"/>
                    <a:cs typeface="Times New Roman"/>
                  </a:rPr>
                  <a:t> </a:t>
                </a:r>
                <a:r>
                  <a:rPr lang="ru-RU" sz="1400" spc="20" dirty="0">
                    <a:latin typeface="+mn-lt"/>
                    <a:cs typeface="Times New Roman"/>
                  </a:rPr>
                  <a:t>на</a:t>
                </a:r>
                <a:r>
                  <a:rPr lang="ru-RU" sz="1400" spc="70" dirty="0">
                    <a:latin typeface="+mn-lt"/>
                    <a:cs typeface="Times New Roman"/>
                  </a:rPr>
                  <a:t> </a:t>
                </a:r>
                <a:r>
                  <a:rPr lang="ru-RU" sz="1400" spc="20" dirty="0">
                    <a:latin typeface="+mn-lt"/>
                    <a:cs typeface="Times New Roman"/>
                  </a:rPr>
                  <a:t>ординатната</a:t>
                </a:r>
                <a:r>
                  <a:rPr lang="ru-RU" sz="1400" spc="85" dirty="0">
                    <a:latin typeface="+mn-lt"/>
                    <a:cs typeface="Times New Roman"/>
                  </a:rPr>
                  <a:t> </a:t>
                </a:r>
                <a:r>
                  <a:rPr lang="ru-RU" sz="1400" spc="-5" dirty="0">
                    <a:latin typeface="+mn-lt"/>
                    <a:cs typeface="Times New Roman"/>
                  </a:rPr>
                  <a:t>ос,</a:t>
                </a:r>
                <a:r>
                  <a:rPr lang="ru-RU" sz="1400" spc="70" dirty="0">
                    <a:latin typeface="+mn-lt"/>
                    <a:cs typeface="Times New Roman"/>
                  </a:rPr>
                  <a:t> </a:t>
                </a:r>
                <a:r>
                  <a:rPr lang="ru-RU" sz="1400" spc="20" dirty="0">
                    <a:latin typeface="+mn-lt"/>
                    <a:cs typeface="Times New Roman"/>
                  </a:rPr>
                  <a:t>минава</a:t>
                </a:r>
                <a:r>
                  <a:rPr lang="ru-RU" sz="1400" spc="70" dirty="0">
                    <a:latin typeface="+mn-lt"/>
                    <a:cs typeface="Times New Roman"/>
                  </a:rPr>
                  <a:t> </a:t>
                </a:r>
                <a:r>
                  <a:rPr lang="ru-RU" sz="1400" spc="15" dirty="0">
                    <a:latin typeface="+mn-lt"/>
                    <a:cs typeface="Times New Roman"/>
                  </a:rPr>
                  <a:t>през</a:t>
                </a:r>
                <a:r>
                  <a:rPr lang="ru-RU" sz="1400" spc="75" dirty="0">
                    <a:latin typeface="+mn-lt"/>
                    <a:cs typeface="Times New Roman"/>
                  </a:rPr>
                  <a:t> </a:t>
                </a:r>
                <a:r>
                  <a:rPr lang="ru-RU" sz="1400" spc="30" dirty="0">
                    <a:latin typeface="+mn-lt"/>
                    <a:cs typeface="Times New Roman"/>
                  </a:rPr>
                  <a:t>точката</a:t>
                </a:r>
                <a:r>
                  <a:rPr lang="ru-RU" sz="1400" spc="680" dirty="0">
                    <a:latin typeface="+mn-lt"/>
                    <a:cs typeface="Times New Roman"/>
                  </a:rPr>
                  <a:t> </a:t>
                </a:r>
                <a:r>
                  <a:rPr lang="ru-RU" sz="1400" b="0" i="1" spc="44" baseline="2314" dirty="0">
                    <a:latin typeface="+mn-lt"/>
                    <a:cs typeface="Bookman Old Style"/>
                  </a:rPr>
                  <a:t>A</a:t>
                </a:r>
                <a:r>
                  <a:rPr lang="ru-RU" sz="1400" b="0" i="1" spc="-352" baseline="2314" dirty="0">
                    <a:latin typeface="+mn-lt"/>
                    <a:cs typeface="Bookman Old Style"/>
                  </a:rPr>
                  <a:t> </a:t>
                </a:r>
                <a:r>
                  <a:rPr lang="ru-RU" sz="1400" spc="15" dirty="0">
                    <a:latin typeface="+mn-lt"/>
                    <a:cs typeface="Book Antiqua"/>
                  </a:rPr>
                  <a:t>(</a:t>
                </a:r>
                <a:r>
                  <a:rPr lang="ru-RU" sz="1400" b="0" i="1" spc="15" dirty="0">
                    <a:latin typeface="+mn-lt"/>
                    <a:cs typeface="Bookman Old Style"/>
                  </a:rPr>
                  <a:t>x</a:t>
                </a:r>
                <a:r>
                  <a:rPr lang="ru-RU" sz="1400" spc="22" baseline="-13888" dirty="0">
                    <a:latin typeface="+mn-lt"/>
                    <a:cs typeface="Trebuchet MS"/>
                  </a:rPr>
                  <a:t>1</a:t>
                </a:r>
                <a:r>
                  <a:rPr lang="ru-RU" sz="1400" b="0" i="1" spc="15" dirty="0">
                    <a:latin typeface="+mn-lt"/>
                    <a:cs typeface="Bookman Old Style"/>
                  </a:rPr>
                  <a:t>,</a:t>
                </a:r>
                <a:r>
                  <a:rPr lang="ru-RU" sz="1400" b="0" i="1" spc="-160" dirty="0">
                    <a:latin typeface="+mn-lt"/>
                    <a:cs typeface="Bookman Old Style"/>
                  </a:rPr>
                  <a:t> </a:t>
                </a:r>
                <a:r>
                  <a:rPr lang="ru-RU" sz="1400" b="0" i="1" spc="-20" dirty="0">
                    <a:latin typeface="+mn-lt"/>
                    <a:cs typeface="Bookman Old Style"/>
                  </a:rPr>
                  <a:t>y</a:t>
                </a:r>
                <a:r>
                  <a:rPr lang="ru-RU" sz="1400" spc="-30" baseline="-13888" dirty="0">
                    <a:latin typeface="+mn-lt"/>
                    <a:cs typeface="Trebuchet MS"/>
                  </a:rPr>
                  <a:t>1</a:t>
                </a:r>
                <a:r>
                  <a:rPr lang="ru-RU" sz="1400" spc="-20" dirty="0">
                    <a:latin typeface="+mn-lt"/>
                    <a:cs typeface="Book Antiqua"/>
                  </a:rPr>
                  <a:t>)</a:t>
                </a:r>
                <a:r>
                  <a:rPr lang="ru-RU" sz="1400" spc="35" dirty="0">
                    <a:latin typeface="+mn-lt"/>
                    <a:cs typeface="Book Antiqua"/>
                  </a:rPr>
                  <a:t> </a:t>
                </a:r>
                <a:r>
                  <a:rPr lang="ru-RU" sz="1400" spc="5" dirty="0">
                    <a:latin typeface="+mn-lt"/>
                    <a:cs typeface="Times New Roman"/>
                  </a:rPr>
                  <a:t>и</a:t>
                </a:r>
                <a:r>
                  <a:rPr lang="ru-RU" sz="1400" spc="140" dirty="0">
                    <a:latin typeface="+mn-lt"/>
                    <a:cs typeface="Times New Roman"/>
                  </a:rPr>
                  <a:t> </a:t>
                </a:r>
                <a:r>
                  <a:rPr lang="ru-RU" sz="1400" spc="20" dirty="0">
                    <a:latin typeface="+mn-lt"/>
                    <a:cs typeface="Times New Roman"/>
                  </a:rPr>
                  <a:t>сключва</a:t>
                </a:r>
                <a:r>
                  <a:rPr lang="ru-RU" sz="1400" spc="145" dirty="0">
                    <a:latin typeface="+mn-lt"/>
                    <a:cs typeface="Times New Roman"/>
                  </a:rPr>
                  <a:t> </a:t>
                </a:r>
                <a:r>
                  <a:rPr lang="ru-RU" sz="1400" spc="-20" dirty="0">
                    <a:latin typeface="+mn-lt"/>
                    <a:cs typeface="Times New Roman"/>
                  </a:rPr>
                  <a:t>с</a:t>
                </a:r>
                <a:r>
                  <a:rPr lang="ru-RU" sz="1400" spc="135" dirty="0">
                    <a:latin typeface="+mn-lt"/>
                    <a:cs typeface="Times New Roman"/>
                  </a:rPr>
                  <a:t> </a:t>
                </a:r>
                <a:r>
                  <a:rPr lang="ru-RU" sz="1400" spc="20" dirty="0">
                    <a:latin typeface="+mn-lt"/>
                    <a:cs typeface="Times New Roman"/>
                  </a:rPr>
                  <a:t>положителната</a:t>
                </a:r>
                <a:r>
                  <a:rPr lang="ru-RU" sz="1400" spc="155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посока</a:t>
                </a:r>
                <a:r>
                  <a:rPr lang="ru-RU" sz="1400" spc="145" dirty="0">
                    <a:latin typeface="+mn-lt"/>
                    <a:cs typeface="Times New Roman"/>
                  </a:rPr>
                  <a:t> </a:t>
                </a:r>
                <a:r>
                  <a:rPr lang="ru-RU" sz="1400" spc="20" dirty="0">
                    <a:latin typeface="+mn-lt"/>
                    <a:cs typeface="Times New Roman"/>
                  </a:rPr>
                  <a:t>на</a:t>
                </a:r>
                <a:r>
                  <a:rPr lang="ru-RU" sz="1400" spc="130" dirty="0">
                    <a:latin typeface="+mn-lt"/>
                    <a:cs typeface="Times New Roman"/>
                  </a:rPr>
                  <a:t> </a:t>
                </a:r>
                <a:r>
                  <a:rPr lang="ru-RU" sz="1400" spc="5" dirty="0">
                    <a:latin typeface="+mn-lt"/>
                    <a:cs typeface="Times New Roman"/>
                  </a:rPr>
                  <a:t>абсцисната</a:t>
                </a:r>
                <a:r>
                  <a:rPr lang="ru-RU" sz="1400" spc="145" dirty="0">
                    <a:latin typeface="+mn-lt"/>
                    <a:cs typeface="Times New Roman"/>
                  </a:rPr>
                  <a:t> </a:t>
                </a:r>
                <a:r>
                  <a:rPr lang="ru-RU" sz="1400" spc="-20" dirty="0">
                    <a:latin typeface="+mn-lt"/>
                    <a:cs typeface="Times New Roman"/>
                  </a:rPr>
                  <a:t>ос</a:t>
                </a:r>
                <a:r>
                  <a:rPr lang="ru-RU" sz="1400" spc="135" dirty="0">
                    <a:latin typeface="+mn-lt"/>
                    <a:cs typeface="Times New Roman"/>
                  </a:rPr>
                  <a:t> </a:t>
                </a:r>
                <a:r>
                  <a:rPr lang="ru-RU" sz="1400" spc="15" dirty="0">
                    <a:latin typeface="+mn-lt"/>
                    <a:cs typeface="Times New Roman"/>
                  </a:rPr>
                  <a:t>ориентиран</a:t>
                </a:r>
                <a:r>
                  <a:rPr lang="ru-RU" sz="1400" spc="140" dirty="0">
                    <a:latin typeface="+mn-lt"/>
                    <a:cs typeface="Times New Roman"/>
                  </a:rPr>
                  <a:t> </a:t>
                </a:r>
                <a:r>
                  <a:rPr lang="ru-RU" sz="1400" spc="60" dirty="0">
                    <a:latin typeface="+mn-lt"/>
                    <a:cs typeface="Times New Roman"/>
                  </a:rPr>
                  <a:t>ъгъл</a:t>
                </a:r>
                <a:r>
                  <a:rPr lang="ru-RU" sz="1400" spc="140" dirty="0">
                    <a:latin typeface="+mn-lt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ru-RU" sz="1400" i="1" spc="14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𝜃</m:t>
                    </m:r>
                  </m:oMath>
                </a14:m>
                <a:r>
                  <a:rPr lang="ru-RU" sz="1400" b="0" i="1" spc="-25" dirty="0">
                    <a:latin typeface="+mn-lt"/>
                    <a:cs typeface="Bookman Old Style"/>
                  </a:rPr>
                  <a:t>.</a:t>
                </a:r>
                <a:r>
                  <a:rPr lang="ru-RU" sz="1400" b="0" i="1" spc="95" dirty="0">
                    <a:latin typeface="+mn-lt"/>
                    <a:cs typeface="Bookman Old Style"/>
                  </a:rPr>
                  <a:t> </a:t>
                </a:r>
                <a:r>
                  <a:rPr lang="ru-RU" sz="1400" spc="10" dirty="0">
                    <a:latin typeface="+mn-lt"/>
                    <a:cs typeface="Times New Roman"/>
                  </a:rPr>
                  <a:t>Тогава</a:t>
                </a:r>
                <a:r>
                  <a:rPr lang="ru-RU" sz="1400" spc="25" dirty="0">
                    <a:latin typeface="+mn-lt"/>
                    <a:cs typeface="Times New Roman"/>
                  </a:rPr>
                  <a:t> </a:t>
                </a:r>
                <a:r>
                  <a:rPr lang="ru-RU" sz="1400" spc="10" dirty="0">
                    <a:latin typeface="+mn-lt"/>
                    <a:cs typeface="Times New Roman"/>
                  </a:rPr>
                  <a:t>уравнението</a:t>
                </a:r>
                <a:r>
                  <a:rPr lang="ru-RU" sz="1400" spc="110" dirty="0">
                    <a:latin typeface="+mn-lt"/>
                    <a:cs typeface="Times New Roman"/>
                  </a:rPr>
                  <a:t> </a:t>
                </a:r>
                <a:r>
                  <a:rPr lang="ru-RU" sz="1400" spc="15" dirty="0">
                    <a:latin typeface="+mn-lt"/>
                    <a:cs typeface="Times New Roman"/>
                  </a:rPr>
                  <a:t>(1.5)</a:t>
                </a:r>
                <a:r>
                  <a:rPr lang="ru-RU" sz="1400" spc="80" dirty="0">
                    <a:latin typeface="+mn-lt"/>
                    <a:cs typeface="Times New Roman"/>
                  </a:rPr>
                  <a:t> </a:t>
                </a:r>
                <a:r>
                  <a:rPr lang="ru-RU" sz="1400" spc="10" dirty="0">
                    <a:latin typeface="+mn-lt"/>
                    <a:cs typeface="Times New Roman"/>
                  </a:rPr>
                  <a:t>можем</a:t>
                </a:r>
                <a:r>
                  <a:rPr lang="ru-RU" sz="1400" spc="95" dirty="0">
                    <a:latin typeface="+mn-lt"/>
                    <a:cs typeface="Times New Roman"/>
                  </a:rPr>
                  <a:t> </a:t>
                </a:r>
                <a:r>
                  <a:rPr lang="ru-RU" sz="1400" spc="35" dirty="0">
                    <a:latin typeface="+mn-lt"/>
                    <a:cs typeface="Times New Roman"/>
                  </a:rPr>
                  <a:t>да</a:t>
                </a:r>
                <a:r>
                  <a:rPr lang="ru-RU" sz="1400" spc="95" dirty="0">
                    <a:latin typeface="+mn-lt"/>
                    <a:cs typeface="Times New Roman"/>
                  </a:rPr>
                  <a:t> </a:t>
                </a:r>
                <a:r>
                  <a:rPr lang="ru-RU" sz="1400" spc="10" dirty="0">
                    <a:latin typeface="+mn-lt"/>
                    <a:cs typeface="Times New Roman"/>
                  </a:rPr>
                  <a:t>преобразуваме</a:t>
                </a:r>
                <a:r>
                  <a:rPr lang="ru-RU" sz="1400" spc="90" dirty="0">
                    <a:latin typeface="+mn-lt"/>
                    <a:cs typeface="Times New Roman"/>
                  </a:rPr>
                  <a:t> </a:t>
                </a:r>
                <a:r>
                  <a:rPr lang="ru-RU" sz="1400" spc="40" dirty="0" err="1">
                    <a:latin typeface="+mn-lt"/>
                    <a:cs typeface="Times New Roman"/>
                  </a:rPr>
                  <a:t>във</a:t>
                </a:r>
                <a:r>
                  <a:rPr lang="ru-RU" sz="1400" spc="85" dirty="0">
                    <a:latin typeface="+mn-lt"/>
                    <a:cs typeface="Times New Roman"/>
                  </a:rPr>
                  <a:t> </a:t>
                </a:r>
                <a:r>
                  <a:rPr lang="ru-RU" sz="1400" spc="20" dirty="0" err="1">
                    <a:latin typeface="+mn-lt"/>
                    <a:cs typeface="Times New Roman"/>
                  </a:rPr>
                  <a:t>вида</a:t>
                </a:r>
                <a:r>
                  <a:rPr lang="en-US" sz="1400" spc="20" dirty="0">
                    <a:latin typeface="+mn-lt"/>
                    <a:cs typeface="Times New Roman"/>
                  </a:rPr>
                  <a:t>  </a:t>
                </a:r>
              </a:p>
              <a:p>
                <a:pPr marR="4318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/>
                        </a:rPr>
                        <m:t>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/>
                        </a:rPr>
                        <m:t>: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𝑦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140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05" y="93475"/>
                <a:ext cx="5682615" cy="2311082"/>
              </a:xfrm>
              <a:prstGeom prst="rect">
                <a:avLst/>
              </a:prstGeom>
              <a:blipFill>
                <a:blip r:embed="rId2"/>
                <a:stretch>
                  <a:fillRect l="-1931" r="-1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978534" y="2865455"/>
                <a:ext cx="5719955" cy="22762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400" dirty="0">
                    <a:latin typeface="+mn-lt"/>
                    <a:cs typeface="Times New Roman"/>
                  </a:rPr>
                  <a:t>Означаваме</a:t>
                </a:r>
                <a:r>
                  <a:rPr sz="1400" spc="150" dirty="0">
                    <a:latin typeface="+mn-lt"/>
                    <a:cs typeface="Times New Roman"/>
                  </a:rPr>
                  <a:t> </a:t>
                </a:r>
                <a:r>
                  <a:rPr sz="1400" b="0" i="1" spc="-120" dirty="0">
                    <a:latin typeface="+mn-lt"/>
                    <a:cs typeface="Bookman Old Style"/>
                  </a:rPr>
                  <a:t>k</a:t>
                </a:r>
                <a:r>
                  <a:rPr sz="1400" b="0" i="1" spc="70" dirty="0">
                    <a:latin typeface="+mn-lt"/>
                    <a:cs typeface="Bookman Old Style"/>
                  </a:rPr>
                  <a:t> </a:t>
                </a:r>
                <a:r>
                  <a:rPr sz="1400" spc="180" dirty="0">
                    <a:latin typeface="+mn-lt"/>
                    <a:cs typeface="Book Antiqua"/>
                  </a:rPr>
                  <a:t>=</a:t>
                </a:r>
                <a:r>
                  <a:rPr sz="1400" spc="315" dirty="0">
                    <a:latin typeface="+mn-lt"/>
                    <a:cs typeface="Book Antiqua"/>
                  </a:rPr>
                  <a:t> </a:t>
                </a:r>
                <a:r>
                  <a:rPr sz="1400" spc="-20" dirty="0" err="1">
                    <a:latin typeface="+mn-lt"/>
                    <a:cs typeface="Book Antiqua"/>
                  </a:rPr>
                  <a:t>tg</a:t>
                </a:r>
                <a:r>
                  <a:rPr sz="1400" spc="-65" dirty="0">
                    <a:latin typeface="+mn-lt"/>
                    <a:cs typeface="Book Antiqu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spc="-65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ook Antiqua"/>
                      </a:rPr>
                      <m:t>𝛼</m:t>
                    </m:r>
                  </m:oMath>
                </a14:m>
                <a:r>
                  <a:rPr sz="1400" spc="170" dirty="0">
                    <a:latin typeface="+mn-lt"/>
                    <a:cs typeface="Times New Roman"/>
                  </a:rPr>
                  <a:t> </a:t>
                </a:r>
                <a:r>
                  <a:rPr sz="1400" dirty="0">
                    <a:latin typeface="+mn-lt"/>
                    <a:cs typeface="Times New Roman"/>
                  </a:rPr>
                  <a:t>-</a:t>
                </a:r>
                <a:r>
                  <a:rPr sz="1400" spc="150" dirty="0">
                    <a:latin typeface="+mn-lt"/>
                    <a:cs typeface="Times New Roman"/>
                  </a:rPr>
                  <a:t> </a:t>
                </a:r>
                <a:r>
                  <a:rPr sz="1400" b="1" dirty="0">
                    <a:latin typeface="+mn-lt"/>
                    <a:cs typeface="Cambria"/>
                  </a:rPr>
                  <a:t>ъглов</a:t>
                </a:r>
                <a:r>
                  <a:rPr sz="1400" b="1" spc="254" dirty="0">
                    <a:latin typeface="+mn-lt"/>
                    <a:cs typeface="Cambria"/>
                  </a:rPr>
                  <a:t> </a:t>
                </a:r>
                <a:r>
                  <a:rPr sz="1400" b="1" dirty="0">
                    <a:latin typeface="+mn-lt"/>
                    <a:cs typeface="Cambria"/>
                  </a:rPr>
                  <a:t>коефициент</a:t>
                </a:r>
                <a:r>
                  <a:rPr sz="1400" b="1" spc="204" dirty="0">
                    <a:latin typeface="+mn-lt"/>
                    <a:cs typeface="Cambria"/>
                  </a:rPr>
                  <a:t> </a:t>
                </a:r>
                <a:r>
                  <a:rPr sz="1400" dirty="0">
                    <a:latin typeface="+mn-lt"/>
                    <a:cs typeface="Times New Roman"/>
                  </a:rPr>
                  <a:t>на</a:t>
                </a:r>
                <a:r>
                  <a:rPr sz="1400" spc="145" dirty="0">
                    <a:latin typeface="+mn-lt"/>
                    <a:cs typeface="Times New Roman"/>
                  </a:rPr>
                  <a:t> </a:t>
                </a:r>
                <a:r>
                  <a:rPr sz="1400" dirty="0">
                    <a:latin typeface="+mn-lt"/>
                    <a:cs typeface="Times New Roman"/>
                  </a:rPr>
                  <a:t>правата.</a:t>
                </a:r>
                <a:r>
                  <a:rPr sz="1400" spc="135" dirty="0">
                    <a:latin typeface="+mn-lt"/>
                    <a:cs typeface="Times New Roman"/>
                  </a:rPr>
                  <a:t> </a:t>
                </a:r>
                <a:r>
                  <a:rPr sz="1400" dirty="0">
                    <a:latin typeface="+mn-lt"/>
                    <a:cs typeface="Times New Roman"/>
                  </a:rPr>
                  <a:t>Така</a:t>
                </a:r>
                <a:r>
                  <a:rPr sz="1400" spc="160" dirty="0">
                    <a:latin typeface="+mn-lt"/>
                    <a:cs typeface="Times New Roman"/>
                  </a:rPr>
                  <a:t> </a:t>
                </a:r>
                <a:r>
                  <a:rPr sz="1400" spc="-10" dirty="0">
                    <a:latin typeface="+mn-lt"/>
                    <a:cs typeface="Times New Roman"/>
                  </a:rPr>
                  <a:t>получаваме</a:t>
                </a:r>
                <a:endParaRPr sz="1400" dirty="0">
                  <a:latin typeface="+mn-lt"/>
                  <a:cs typeface="Times New Roman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534" y="2865455"/>
                <a:ext cx="5719955" cy="227626"/>
              </a:xfrm>
              <a:prstGeom prst="rect">
                <a:avLst/>
              </a:prstGeom>
              <a:blipFill>
                <a:blip r:embed="rId3"/>
                <a:stretch>
                  <a:fillRect l="-1706" t="-18919" b="-48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3"/>
              <p:cNvSpPr txBox="1"/>
              <p:nvPr/>
            </p:nvSpPr>
            <p:spPr>
              <a:xfrm>
                <a:off x="457219" y="3088921"/>
                <a:ext cx="6488388" cy="232820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23240" algn="ctr">
                  <a:lnSpc>
                    <a:spcPct val="150000"/>
                  </a:lnSpc>
                  <a:spcBef>
                    <a:spcPts val="95"/>
                  </a:spcBef>
                  <a:spcAft>
                    <a:spcPts val="1200"/>
                  </a:spcAft>
                </a:pPr>
                <a:r>
                  <a:rPr lang="en-US" sz="1400" b="0" i="1" spc="-145" dirty="0">
                    <a:latin typeface="Bookman Old Style"/>
                    <a:cs typeface="Bookman Old Style"/>
                  </a:rPr>
                  <a:t>p</a:t>
                </a:r>
                <a:r>
                  <a:rPr lang="en-US" sz="1400" b="0" i="1" spc="-1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dirty="0">
                    <a:latin typeface="Book Antiqua"/>
                    <a:cs typeface="Book Antiqua"/>
                  </a:rPr>
                  <a:t>:</a:t>
                </a:r>
                <a:r>
                  <a:rPr lang="en-US" sz="1400" spc="375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160" dirty="0">
                    <a:latin typeface="Bookman Old Style"/>
                    <a:cs typeface="Bookman Old Style"/>
                  </a:rPr>
                  <a:t>y</a:t>
                </a:r>
                <a:r>
                  <a:rPr lang="en-US" sz="1400" b="0" i="1" spc="-5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-35" dirty="0">
                    <a:latin typeface="Lucida Sans Unicode"/>
                    <a:cs typeface="Lucida Sans Unicode"/>
                  </a:rPr>
                  <a:t>−</a:t>
                </a:r>
                <a:r>
                  <a:rPr lang="en-US" sz="1400" spc="-110" dirty="0">
                    <a:latin typeface="Lucida Sans Unicode"/>
                    <a:cs typeface="Lucida Sans Unicode"/>
                  </a:rPr>
                  <a:t> </a:t>
                </a:r>
                <a:r>
                  <a:rPr lang="en-US" sz="1400" b="0" i="1" spc="-10" dirty="0">
                    <a:latin typeface="Bookman Old Style"/>
                    <a:cs typeface="Bookman Old Style"/>
                  </a:rPr>
                  <a:t>y</a:t>
                </a:r>
                <a:r>
                  <a:rPr lang="en-US" sz="1400" spc="-15" baseline="-13888" dirty="0">
                    <a:latin typeface="Trebuchet MS"/>
                    <a:cs typeface="Trebuchet MS"/>
                  </a:rPr>
                  <a:t>1</a:t>
                </a:r>
                <a:r>
                  <a:rPr lang="en-US" sz="1400" spc="172" baseline="-13888" dirty="0">
                    <a:latin typeface="Trebuchet MS"/>
                    <a:cs typeface="Trebuchet MS"/>
                  </a:rPr>
                  <a:t> </a:t>
                </a:r>
                <a:r>
                  <a:rPr lang="en-US" sz="1400" spc="180" dirty="0">
                    <a:latin typeface="Book Antiqua"/>
                    <a:cs typeface="Book Antiqua"/>
                  </a:rPr>
                  <a:t>=</a:t>
                </a:r>
                <a:r>
                  <a:rPr lang="en-US" sz="1400" spc="30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10" dirty="0">
                    <a:latin typeface="Bookman Old Style"/>
                    <a:cs typeface="Bookman Old Style"/>
                  </a:rPr>
                  <a:t>k</a:t>
                </a:r>
                <a:r>
                  <a:rPr lang="en-US" sz="1400" spc="-10" dirty="0">
                    <a:latin typeface="Book Antiqua"/>
                    <a:cs typeface="Book Antiqua"/>
                  </a:rPr>
                  <a:t>(</a:t>
                </a:r>
                <a:r>
                  <a:rPr lang="en-US" sz="1400" b="0" i="1" spc="-10" dirty="0">
                    <a:latin typeface="Bookman Old Style"/>
                    <a:cs typeface="Bookman Old Style"/>
                  </a:rPr>
                  <a:t>x</a:t>
                </a:r>
                <a:r>
                  <a:rPr lang="en-US" sz="1400" b="0" i="1" spc="-90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-35" dirty="0">
                    <a:latin typeface="Lucida Sans Unicode"/>
                    <a:cs typeface="Lucida Sans Unicode"/>
                  </a:rPr>
                  <a:t>−</a:t>
                </a:r>
                <a:r>
                  <a:rPr lang="en-US" sz="1400" spc="-125" dirty="0">
                    <a:latin typeface="Lucida Sans Unicode"/>
                    <a:cs typeface="Lucida Sans Unicode"/>
                  </a:rPr>
                  <a:t> </a:t>
                </a:r>
                <a:r>
                  <a:rPr lang="en-US" sz="1400" b="0" i="1" spc="-25" dirty="0">
                    <a:latin typeface="Bookman Old Style"/>
                    <a:cs typeface="Bookman Old Style"/>
                  </a:rPr>
                  <a:t>x</a:t>
                </a:r>
                <a:r>
                  <a:rPr lang="en-US" sz="1400" spc="-37" baseline="-13888" dirty="0">
                    <a:latin typeface="Trebuchet MS"/>
                    <a:cs typeface="Trebuchet MS"/>
                  </a:rPr>
                  <a:t>1</a:t>
                </a:r>
                <a:r>
                  <a:rPr lang="en-US" sz="1400" spc="-25" dirty="0">
                    <a:latin typeface="Book Antiqua"/>
                    <a:cs typeface="Book Antiqua"/>
                  </a:rPr>
                  <a:t>)</a:t>
                </a:r>
              </a:p>
              <a:p>
                <a:pPr marL="523240" algn="l">
                  <a:lnSpc>
                    <a:spcPct val="100000"/>
                  </a:lnSpc>
                  <a:spcBef>
                    <a:spcPts val="95"/>
                  </a:spcBef>
                  <a:spcAft>
                    <a:spcPts val="1800"/>
                  </a:spcAft>
                </a:pPr>
                <a:r>
                  <a:rPr lang="bg-BG" sz="1400" dirty="0">
                    <a:latin typeface="+mn-lt"/>
                    <a:cs typeface="Book Antiqua"/>
                  </a:rPr>
                  <a:t>Нека положим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+mn-lt"/>
                    <a:cs typeface="Book Antiqua"/>
                  </a:rPr>
                  <a:t> </a:t>
                </a:r>
                <a:r>
                  <a:rPr lang="bg-BG" sz="1400" dirty="0">
                    <a:latin typeface="+mn-lt"/>
                    <a:cs typeface="Book Antiqua"/>
                  </a:rPr>
                  <a:t>и получаваме</a:t>
                </a:r>
              </a:p>
              <a:p>
                <a:pPr marL="523240" algn="ctr">
                  <a:lnSpc>
                    <a:spcPct val="150000"/>
                  </a:lnSpc>
                  <a:spcBef>
                    <a:spcPts val="95"/>
                  </a:spcBef>
                </a:pPr>
                <a:r>
                  <a:rPr lang="bg-BG" sz="1400" dirty="0">
                    <a:latin typeface="+mn-lt"/>
                    <a:cs typeface="Book Antiqua"/>
                  </a:rPr>
                  <a:t>  </a:t>
                </a:r>
                <a:r>
                  <a:rPr lang="en-US" sz="1400" b="0" i="1" spc="-145" dirty="0">
                    <a:latin typeface="Bookman Old Style"/>
                    <a:cs typeface="Bookman Old Style"/>
                  </a:rPr>
                  <a:t>p</a:t>
                </a:r>
                <a:r>
                  <a:rPr lang="en-US" sz="1400" b="0" i="1" spc="-1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dirty="0">
                    <a:latin typeface="Book Antiqua"/>
                    <a:cs typeface="Book Antiqua"/>
                  </a:rPr>
                  <a:t>:</a:t>
                </a:r>
                <a:r>
                  <a:rPr lang="en-US" sz="1400" spc="375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160" dirty="0">
                    <a:latin typeface="Bookman Old Style"/>
                    <a:cs typeface="Bookman Old Style"/>
                  </a:rPr>
                  <a:t>y</a:t>
                </a:r>
                <a:r>
                  <a:rPr lang="en-US" sz="1400" b="0" i="1" spc="-5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-35" dirty="0">
                    <a:latin typeface="Lucida Sans Unicode"/>
                    <a:cs typeface="Lucida Sans Unicode"/>
                  </a:rPr>
                  <a:t>−</a:t>
                </a:r>
                <a:r>
                  <a:rPr lang="en-US" sz="1400" spc="-110" dirty="0">
                    <a:latin typeface="Lucida Sans Unicode"/>
                    <a:cs typeface="Lucida Sans Unicode"/>
                  </a:rPr>
                  <a:t> </a:t>
                </a:r>
                <a:r>
                  <a:rPr lang="en-US" sz="1400" b="0" i="1" spc="-10" dirty="0">
                    <a:latin typeface="Bookman Old Style"/>
                    <a:cs typeface="Bookman Old Style"/>
                  </a:rPr>
                  <a:t>y</a:t>
                </a:r>
                <a:r>
                  <a:rPr lang="bg-BG" sz="1400" spc="-15" baseline="-13888" dirty="0">
                    <a:latin typeface="Trebuchet MS"/>
                    <a:cs typeface="Bookman Old Style"/>
                  </a:rPr>
                  <a:t>0</a:t>
                </a:r>
                <a:r>
                  <a:rPr lang="en-US" sz="1400" spc="172" baseline="-13888" dirty="0">
                    <a:latin typeface="Trebuchet MS"/>
                    <a:cs typeface="Trebuchet MS"/>
                  </a:rPr>
                  <a:t> </a:t>
                </a:r>
                <a:r>
                  <a:rPr lang="en-US" sz="1400" spc="180" dirty="0">
                    <a:latin typeface="Book Antiqua"/>
                    <a:cs typeface="Book Antiqua"/>
                  </a:rPr>
                  <a:t>=</a:t>
                </a:r>
                <a:r>
                  <a:rPr lang="en-US" sz="1400" spc="30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10" dirty="0">
                    <a:latin typeface="Bookman Old Style"/>
                    <a:cs typeface="Bookman Old Style"/>
                  </a:rPr>
                  <a:t>k</a:t>
                </a:r>
                <a:r>
                  <a:rPr lang="en-US" sz="1400" spc="-10" dirty="0">
                    <a:latin typeface="Book Antiqua"/>
                    <a:cs typeface="Book Antiqua"/>
                  </a:rPr>
                  <a:t>(</a:t>
                </a:r>
                <a:r>
                  <a:rPr lang="en-US" sz="1400" b="0" i="1" spc="-10" dirty="0">
                    <a:latin typeface="Bookman Old Style"/>
                    <a:cs typeface="Bookman Old Style"/>
                  </a:rPr>
                  <a:t>x</a:t>
                </a:r>
                <a:r>
                  <a:rPr lang="en-US" sz="1400" b="0" i="1" spc="-90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-35" dirty="0">
                    <a:latin typeface="Lucida Sans Unicode"/>
                    <a:cs typeface="Lucida Sans Unicode"/>
                  </a:rPr>
                  <a:t>−</a:t>
                </a:r>
                <a:r>
                  <a:rPr lang="en-US" sz="1400" spc="-125" dirty="0">
                    <a:latin typeface="Lucida Sans Unicode"/>
                    <a:cs typeface="Lucida Sans Unicode"/>
                  </a:rPr>
                  <a:t> </a:t>
                </a:r>
                <a:r>
                  <a:rPr lang="en-US" sz="1400" b="0" i="1" spc="-25" dirty="0">
                    <a:latin typeface="Bookman Old Style"/>
                    <a:cs typeface="Bookman Old Style"/>
                  </a:rPr>
                  <a:t>x</a:t>
                </a:r>
                <a:r>
                  <a:rPr lang="bg-BG" sz="1400" spc="-37" baseline="-13888" dirty="0">
                    <a:latin typeface="Trebuchet MS"/>
                    <a:cs typeface="Bookman Old Style"/>
                  </a:rPr>
                  <a:t>0</a:t>
                </a:r>
                <a:r>
                  <a:rPr lang="en-US" sz="1400" spc="-25" dirty="0">
                    <a:latin typeface="Book Antiqua"/>
                    <a:cs typeface="Book Antiqua"/>
                  </a:rPr>
                  <a:t>)</a:t>
                </a:r>
                <a:endParaRPr lang="bg-BG" sz="1400" spc="-25" dirty="0">
                  <a:latin typeface="Book Antiqua"/>
                  <a:cs typeface="Book Antiqua"/>
                </a:endParaRPr>
              </a:p>
              <a:p>
                <a:pPr marL="523240" algn="l">
                  <a:lnSpc>
                    <a:spcPct val="150000"/>
                  </a:lnSpc>
                  <a:spcBef>
                    <a:spcPts val="95"/>
                  </a:spcBef>
                </a:pPr>
                <a:r>
                  <a:rPr lang="ar-AE" sz="1600" b="1" spc="225" dirty="0">
                    <a:solidFill>
                      <a:srgbClr val="0070C0"/>
                    </a:solidFill>
                    <a:latin typeface="+mn-lt"/>
                    <a:cs typeface="Cambria"/>
                  </a:rPr>
                  <a:t> </a:t>
                </a:r>
                <a:r>
                  <a:rPr lang="en-US" sz="1600" b="1" spc="225" dirty="0">
                    <a:solidFill>
                      <a:srgbClr val="0070C0"/>
                    </a:solidFill>
                    <a:latin typeface="+mn-lt"/>
                    <a:cs typeface="Cambria"/>
                  </a:rPr>
                  <a:t>6.</a:t>
                </a:r>
                <a:r>
                  <a:rPr lang="ar-AE" sz="1600" b="1" spc="225" dirty="0">
                    <a:solidFill>
                      <a:srgbClr val="0070C0"/>
                    </a:solidFill>
                    <a:latin typeface="+mn-lt"/>
                    <a:cs typeface="Cambria"/>
                  </a:rPr>
                  <a:t> </a:t>
                </a:r>
                <a:r>
                  <a:rPr lang="bg-BG" sz="1600" b="1" spc="225" dirty="0">
                    <a:solidFill>
                      <a:srgbClr val="0070C0"/>
                    </a:solidFill>
                    <a:latin typeface="+mn-lt"/>
                    <a:cs typeface="Cambria"/>
                  </a:rPr>
                  <a:t>Декартово у</a:t>
                </a:r>
                <a:r>
                  <a:rPr lang="bg-BG" sz="1600" b="1" dirty="0">
                    <a:solidFill>
                      <a:srgbClr val="0070C0"/>
                    </a:solidFill>
                    <a:latin typeface="+mn-lt"/>
                    <a:cs typeface="Cambria"/>
                  </a:rPr>
                  <a:t>равнение</a:t>
                </a:r>
                <a:r>
                  <a:rPr lang="bg-BG" sz="1600" b="1" spc="240" dirty="0">
                    <a:solidFill>
                      <a:srgbClr val="0070C0"/>
                    </a:solidFill>
                    <a:latin typeface="+mn-lt"/>
                    <a:cs typeface="Cambria"/>
                  </a:rPr>
                  <a:t> </a:t>
                </a:r>
                <a:r>
                  <a:rPr lang="bg-BG" sz="1600" b="1" dirty="0">
                    <a:solidFill>
                      <a:srgbClr val="0070C0"/>
                    </a:solidFill>
                    <a:latin typeface="+mn-lt"/>
                    <a:cs typeface="Cambria"/>
                  </a:rPr>
                  <a:t>на</a:t>
                </a:r>
                <a:r>
                  <a:rPr lang="bg-BG" sz="1600" b="1" spc="225" dirty="0">
                    <a:solidFill>
                      <a:srgbClr val="0070C0"/>
                    </a:solidFill>
                    <a:latin typeface="+mn-lt"/>
                    <a:cs typeface="Cambria"/>
                  </a:rPr>
                  <a:t> </a:t>
                </a:r>
                <a:r>
                  <a:rPr lang="bg-BG" sz="1600" b="1" dirty="0">
                    <a:solidFill>
                      <a:srgbClr val="0070C0"/>
                    </a:solidFill>
                    <a:latin typeface="+mn-lt"/>
                    <a:cs typeface="Cambria"/>
                  </a:rPr>
                  <a:t>права</a:t>
                </a:r>
                <a:endParaRPr lang="bg-BG" sz="1600" dirty="0">
                  <a:solidFill>
                    <a:srgbClr val="0070C0"/>
                  </a:solidFill>
                  <a:latin typeface="+mn-lt"/>
                  <a:cs typeface="Cambri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575"/>
                  </a:spcBef>
                </a:pPr>
                <a:r>
                  <a:rPr lang="bg-BG" sz="1400" dirty="0">
                    <a:latin typeface="Times New Roman"/>
                    <a:cs typeface="Times New Roman"/>
                  </a:rPr>
                  <a:t>След</a:t>
                </a:r>
                <a:r>
                  <a:rPr lang="bg-BG" sz="1400" spc="145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разкриване</a:t>
                </a:r>
                <a:r>
                  <a:rPr lang="bg-BG" sz="1400" spc="13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на</a:t>
                </a:r>
                <a:r>
                  <a:rPr lang="bg-BG" sz="1400" spc="135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скобите</a:t>
                </a:r>
                <a:r>
                  <a:rPr lang="bg-BG" sz="1400" spc="135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в</a:t>
                </a:r>
                <a:r>
                  <a:rPr lang="bg-BG" sz="1400" spc="125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(1.6)</a:t>
                </a:r>
                <a:r>
                  <a:rPr lang="bg-BG" sz="1400" spc="12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и</a:t>
                </a:r>
                <a:r>
                  <a:rPr lang="bg-BG" sz="1400" spc="13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полагането</a:t>
                </a:r>
                <a:r>
                  <a:rPr lang="bg-BG" sz="1400" spc="145" dirty="0">
                    <a:latin typeface="Times New Roman"/>
                    <a:cs typeface="Times New Roman"/>
                  </a:rPr>
                  <a:t> </a:t>
                </a:r>
                <a:r>
                  <a:rPr lang="en-US" sz="1400" b="0" i="1" spc="-60" dirty="0">
                    <a:latin typeface="Bookman Old Style"/>
                    <a:cs typeface="Bookman Old Style"/>
                  </a:rPr>
                  <a:t>n</a:t>
                </a:r>
                <a:r>
                  <a:rPr lang="en-US" sz="1400" b="0" i="1" spc="-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180" dirty="0">
                    <a:latin typeface="Book Antiqua"/>
                    <a:cs typeface="Book Antiqua"/>
                  </a:rPr>
                  <a:t>=</a:t>
                </a:r>
                <a:r>
                  <a:rPr lang="en-US" sz="1400" spc="70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25" dirty="0">
                    <a:latin typeface="Bookman Old Style"/>
                    <a:cs typeface="Bookman Old Style"/>
                  </a:rPr>
                  <a:t>y</a:t>
                </a:r>
                <a:r>
                  <a:rPr lang="en-US" sz="1400" spc="-37" baseline="-13888" dirty="0">
                    <a:latin typeface="Trebuchet MS"/>
                    <a:cs typeface="Trebuchet MS"/>
                  </a:rPr>
                  <a:t>0</a:t>
                </a:r>
                <a:r>
                  <a:rPr lang="en-US" sz="1400" spc="150" baseline="-13888" dirty="0">
                    <a:latin typeface="Trebuchet MS"/>
                    <a:cs typeface="Trebuchet MS"/>
                  </a:rPr>
                  <a:t> </a:t>
                </a:r>
                <a:r>
                  <a:rPr lang="en-US" sz="1400" spc="-35" dirty="0">
                    <a:latin typeface="Lucida Sans Unicode"/>
                    <a:cs typeface="Lucida Sans Unicode"/>
                  </a:rPr>
                  <a:t>−</a:t>
                </a:r>
                <a:r>
                  <a:rPr lang="en-US" sz="1400" spc="-85" dirty="0">
                    <a:latin typeface="Lucida Sans Unicode"/>
                    <a:cs typeface="Lucida Sans Unicode"/>
                  </a:rPr>
                  <a:t> </a:t>
                </a:r>
                <a:r>
                  <a:rPr lang="en-US" sz="1400" b="0" i="1" dirty="0">
                    <a:latin typeface="Bookman Old Style"/>
                    <a:cs typeface="Bookman Old Style"/>
                  </a:rPr>
                  <a:t>kx</a:t>
                </a:r>
                <a:r>
                  <a:rPr lang="en-US" sz="1400" baseline="-13888" dirty="0">
                    <a:latin typeface="Trebuchet MS"/>
                    <a:cs typeface="Trebuchet MS"/>
                  </a:rPr>
                  <a:t>0</a:t>
                </a:r>
                <a:r>
                  <a:rPr lang="en-US" sz="1400" spc="359" baseline="-13888" dirty="0">
                    <a:latin typeface="Trebuchet MS"/>
                    <a:cs typeface="Trebuchet MS"/>
                  </a:rPr>
                  <a:t> </a:t>
                </a:r>
                <a:r>
                  <a:rPr lang="bg-BG" sz="1400" spc="-10" dirty="0">
                    <a:latin typeface="Times New Roman"/>
                    <a:cs typeface="Times New Roman"/>
                  </a:rPr>
                  <a:t>получаваме</a:t>
                </a:r>
                <a:endParaRPr lang="bg-BG" sz="1400" dirty="0">
                  <a:latin typeface="Times New Roman"/>
                  <a:cs typeface="Times New Roman"/>
                </a:endParaRPr>
              </a:p>
              <a:p>
                <a:pPr marL="523240" algn="ctr">
                  <a:lnSpc>
                    <a:spcPct val="100000"/>
                  </a:lnSpc>
                  <a:spcBef>
                    <a:spcPts val="1210"/>
                  </a:spcBef>
                </a:pPr>
                <a:r>
                  <a:rPr lang="en-US" sz="1400" b="0" i="1" spc="-145" dirty="0">
                    <a:latin typeface="Bookman Old Style"/>
                    <a:cs typeface="Bookman Old Style"/>
                  </a:rPr>
                  <a:t>p</a:t>
                </a:r>
                <a:r>
                  <a:rPr lang="en-US" sz="1400" b="0" i="1" spc="-20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dirty="0">
                    <a:latin typeface="Book Antiqua"/>
                    <a:cs typeface="Book Antiqua"/>
                  </a:rPr>
                  <a:t>:</a:t>
                </a:r>
                <a:r>
                  <a:rPr lang="en-US" sz="1400" spc="450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160" dirty="0">
                    <a:latin typeface="Bookman Old Style"/>
                    <a:cs typeface="Bookman Old Style"/>
                  </a:rPr>
                  <a:t>y</a:t>
                </a:r>
                <a:r>
                  <a:rPr lang="en-US" sz="1400" b="0" i="1" spc="20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180" dirty="0">
                    <a:latin typeface="Book Antiqua"/>
                    <a:cs typeface="Book Antiqua"/>
                  </a:rPr>
                  <a:t>=</a:t>
                </a:r>
                <a:r>
                  <a:rPr lang="en-US" sz="1400" spc="35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40" dirty="0">
                    <a:latin typeface="Bookman Old Style"/>
                    <a:cs typeface="Bookman Old Style"/>
                  </a:rPr>
                  <a:t>kx</a:t>
                </a:r>
                <a:r>
                  <a:rPr lang="en-US" sz="1400" b="0" i="1" spc="-8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180" dirty="0">
                    <a:latin typeface="Book Antiqua"/>
                    <a:cs typeface="Book Antiqua"/>
                  </a:rPr>
                  <a:t>+</a:t>
                </a:r>
                <a:r>
                  <a:rPr lang="en-US" sz="1400" spc="-30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25" dirty="0">
                    <a:latin typeface="Bookman Old Style"/>
                    <a:cs typeface="Bookman Old Style"/>
                  </a:rPr>
                  <a:t>n,</a:t>
                </a:r>
                <a:endParaRPr sz="1400" dirty="0">
                  <a:latin typeface="Bookman Old Style"/>
                  <a:cs typeface="Bookman Old Style"/>
                </a:endParaRPr>
              </a:p>
            </p:txBody>
          </p:sp>
        </mc:Choice>
        <mc:Fallback>
          <p:sp>
            <p:nvSpPr>
              <p:cNvPr id="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19" y="3088921"/>
                <a:ext cx="6488388" cy="2328201"/>
              </a:xfrm>
              <a:prstGeom prst="rect">
                <a:avLst/>
              </a:prstGeom>
              <a:blipFill>
                <a:blip r:embed="rId4"/>
                <a:stretch>
                  <a:fillRect l="-1128" b="-3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/>
          <p:nvPr/>
        </p:nvSpPr>
        <p:spPr>
          <a:xfrm>
            <a:off x="6238871" y="4057934"/>
            <a:ext cx="331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Times New Roman"/>
                <a:cs typeface="Times New Roman"/>
              </a:rPr>
              <a:t>(1.6)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90359" y="5176005"/>
            <a:ext cx="331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Times New Roman"/>
                <a:cs typeface="Times New Roman"/>
              </a:rPr>
              <a:t>(1.7)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619" y="5462581"/>
            <a:ext cx="6716988" cy="952633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 marR="30480">
              <a:lnSpc>
                <a:spcPct val="150000"/>
              </a:lnSpc>
              <a:spcBef>
                <a:spcPts val="80"/>
              </a:spcBef>
            </a:pPr>
            <a:r>
              <a:rPr sz="1400" dirty="0">
                <a:latin typeface="Times New Roman"/>
                <a:cs typeface="Times New Roman"/>
              </a:rPr>
              <a:t>което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се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нарича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Cambria"/>
                <a:cs typeface="Cambria"/>
              </a:rPr>
              <a:t>декартово</a:t>
            </a:r>
            <a:r>
              <a:rPr sz="1400" b="1" spc="24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уравнение.</a:t>
            </a:r>
            <a:r>
              <a:rPr sz="1400" b="1" spc="204" dirty="0">
                <a:latin typeface="Cambria"/>
                <a:cs typeface="Cambria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Числото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b="0" i="1" dirty="0">
                <a:latin typeface="Bookman Old Style"/>
                <a:cs typeface="Bookman Old Style"/>
              </a:rPr>
              <a:t>n</a:t>
            </a:r>
            <a:r>
              <a:rPr sz="1400" b="0" i="1" spc="80" dirty="0">
                <a:latin typeface="Bookman Old Style"/>
                <a:cs typeface="Bookman Old Style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е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отреза,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който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 err="1">
                <a:latin typeface="Times New Roman"/>
                <a:cs typeface="Times New Roman"/>
              </a:rPr>
              <a:t>правата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spc="-10" dirty="0" err="1">
                <a:latin typeface="Times New Roman"/>
                <a:cs typeface="Times New Roman"/>
              </a:rPr>
              <a:t>отси</a:t>
            </a:r>
            <a:r>
              <a:rPr sz="1400" dirty="0" err="1">
                <a:latin typeface="Times New Roman"/>
                <a:cs typeface="Times New Roman"/>
              </a:rPr>
              <a:t>ча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от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 err="1">
                <a:latin typeface="Times New Roman"/>
                <a:cs typeface="Times New Roman"/>
              </a:rPr>
              <a:t>ординатната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spc="-25" dirty="0" err="1">
                <a:latin typeface="Times New Roman"/>
                <a:cs typeface="Times New Roman"/>
              </a:rPr>
              <a:t>ос</a:t>
            </a:r>
            <a:r>
              <a:rPr lang="en-US" sz="1400" spc="-25" dirty="0">
                <a:latin typeface="Times New Roman"/>
                <a:cs typeface="Times New Roman"/>
              </a:rPr>
              <a:t>.</a:t>
            </a:r>
            <a:endParaRPr sz="1200" baseline="-13888" dirty="0">
              <a:latin typeface="Trebuchet MS"/>
              <a:cs typeface="Trebuchet MS"/>
            </a:endParaRPr>
          </a:p>
          <a:p>
            <a:pPr marL="38100">
              <a:lnSpc>
                <a:spcPct val="150000"/>
              </a:lnSpc>
              <a:spcBef>
                <a:spcPts val="85"/>
              </a:spcBef>
            </a:pPr>
            <a:r>
              <a:rPr sz="1400" b="1" dirty="0">
                <a:solidFill>
                  <a:srgbClr val="0070C0"/>
                </a:solidFill>
                <a:latin typeface="+mn-lt"/>
                <a:cs typeface="Cambria"/>
              </a:rPr>
              <a:t>7.</a:t>
            </a:r>
            <a:r>
              <a:rPr sz="1400" b="1" spc="190" dirty="0">
                <a:solidFill>
                  <a:srgbClr val="0070C0"/>
                </a:solidFill>
                <a:latin typeface="+mn-lt"/>
                <a:cs typeface="Cambria"/>
              </a:rPr>
              <a:t>  </a:t>
            </a:r>
            <a:r>
              <a:rPr sz="1400" b="1" spc="65" dirty="0">
                <a:solidFill>
                  <a:srgbClr val="0070C0"/>
                </a:solidFill>
                <a:latin typeface="+mn-lt"/>
                <a:cs typeface="Cambria"/>
              </a:rPr>
              <a:t>Ъгъл</a:t>
            </a:r>
            <a:r>
              <a:rPr sz="1400" b="1" spc="195" dirty="0">
                <a:solidFill>
                  <a:srgbClr val="0070C0"/>
                </a:solidFill>
                <a:latin typeface="+mn-lt"/>
                <a:cs typeface="Cambria"/>
              </a:rPr>
              <a:t> </a:t>
            </a:r>
            <a:r>
              <a:rPr sz="1400" b="1" spc="55" dirty="0">
                <a:solidFill>
                  <a:srgbClr val="0070C0"/>
                </a:solidFill>
                <a:latin typeface="+mn-lt"/>
                <a:cs typeface="Cambria"/>
              </a:rPr>
              <a:t>между</a:t>
            </a:r>
            <a:r>
              <a:rPr sz="1400" b="1" spc="200" dirty="0">
                <a:solidFill>
                  <a:srgbClr val="0070C0"/>
                </a:solidFill>
                <a:latin typeface="+mn-lt"/>
                <a:cs typeface="Cambria"/>
              </a:rPr>
              <a:t> </a:t>
            </a:r>
            <a:r>
              <a:rPr sz="1400" b="1" dirty="0" err="1">
                <a:solidFill>
                  <a:srgbClr val="0070C0"/>
                </a:solidFill>
                <a:latin typeface="+mn-lt"/>
                <a:cs typeface="Cambria"/>
              </a:rPr>
              <a:t>две</a:t>
            </a:r>
            <a:r>
              <a:rPr sz="1400" b="1" spc="195" dirty="0">
                <a:solidFill>
                  <a:srgbClr val="0070C0"/>
                </a:solidFill>
                <a:latin typeface="+mn-lt"/>
                <a:cs typeface="Cambria"/>
              </a:rPr>
              <a:t> </a:t>
            </a:r>
            <a:r>
              <a:rPr sz="1400" b="1" spc="-20" dirty="0" err="1">
                <a:solidFill>
                  <a:srgbClr val="0070C0"/>
                </a:solidFill>
                <a:latin typeface="+mn-lt"/>
                <a:cs typeface="Cambria"/>
              </a:rPr>
              <a:t>прави</a:t>
            </a:r>
            <a:endParaRPr sz="1400" dirty="0">
              <a:solidFill>
                <a:srgbClr val="0070C0"/>
              </a:solidFill>
              <a:latin typeface="+mn-lt"/>
              <a:cs typeface="Cambri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28"/>
              <p:cNvSpPr txBox="1"/>
              <p:nvPr/>
            </p:nvSpPr>
            <p:spPr>
              <a:xfrm>
                <a:off x="457674" y="6629552"/>
                <a:ext cx="3164378" cy="396159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50000"/>
                  </a:lnSpc>
                  <a:spcBef>
                    <a:spcPts val="95"/>
                  </a:spcBef>
                </a:pPr>
                <a:r>
                  <a:rPr lang="ru-RU" sz="1400" dirty="0">
                    <a:latin typeface="+mn-lt"/>
                    <a:cs typeface="Times New Roman"/>
                  </a:rPr>
                  <a:t>Нека</a:t>
                </a:r>
                <a:r>
                  <a:rPr lang="ru-RU" sz="1400" spc="140" dirty="0">
                    <a:latin typeface="+mn-lt"/>
                    <a:cs typeface="Times New Roman"/>
                  </a:rPr>
                  <a:t> </a:t>
                </a:r>
                <a:r>
                  <a:rPr lang="ru-RU" sz="1400" dirty="0" err="1">
                    <a:latin typeface="+mn-lt"/>
                    <a:cs typeface="Times New Roman"/>
                  </a:rPr>
                  <a:t>правите</a:t>
                </a:r>
                <a:endParaRPr lang="ru-RU" sz="1400" dirty="0">
                  <a:latin typeface="+mn-lt"/>
                  <a:cs typeface="Times New Roman"/>
                </a:endParaRPr>
              </a:p>
              <a:p>
                <a:pPr marL="38100">
                  <a:lnSpc>
                    <a:spcPct val="150000"/>
                  </a:lnSpc>
                  <a:spcBef>
                    <a:spcPts val="95"/>
                  </a:spcBef>
                </a:pPr>
                <a:r>
                  <a:rPr lang="ru-RU" sz="1400" spc="145" dirty="0">
                    <a:latin typeface="+mn-lt"/>
                    <a:cs typeface="Times New Roman"/>
                  </a:rPr>
                  <a:t> </a:t>
                </a:r>
                <a:r>
                  <a:rPr lang="ru-RU" sz="1400" b="0" i="1" dirty="0">
                    <a:latin typeface="+mn-lt"/>
                    <a:cs typeface="Bookman Old Style"/>
                  </a:rPr>
                  <a:t>p</a:t>
                </a:r>
                <a:r>
                  <a:rPr lang="ru-RU" sz="1400" b="0" i="1" spc="495" dirty="0">
                    <a:latin typeface="+mn-lt"/>
                    <a:cs typeface="Bookman Old Style"/>
                  </a:rPr>
                  <a:t> </a:t>
                </a:r>
                <a:r>
                  <a:rPr lang="ru-RU" sz="1400" dirty="0">
                    <a:latin typeface="+mn-lt"/>
                    <a:cs typeface="Book Antiqua"/>
                  </a:rPr>
                  <a:t>:</a:t>
                </a:r>
                <a:r>
                  <a:rPr lang="ru-RU" sz="1400" spc="135" dirty="0">
                    <a:latin typeface="+mn-lt"/>
                    <a:cs typeface="Book Antiqua"/>
                  </a:rPr>
                  <a:t> </a:t>
                </a:r>
                <a:r>
                  <a:rPr lang="ru-RU" sz="1400" b="0" i="1" dirty="0">
                    <a:latin typeface="+mn-lt"/>
                    <a:cs typeface="Bookman Old Style"/>
                  </a:rPr>
                  <a:t>y</a:t>
                </a:r>
                <a:r>
                  <a:rPr lang="ru-RU" sz="1400" b="0" i="1" spc="105" dirty="0">
                    <a:latin typeface="+mn-lt"/>
                    <a:cs typeface="Bookman Old Style"/>
                  </a:rPr>
                  <a:t> </a:t>
                </a:r>
                <a:r>
                  <a:rPr lang="ru-RU" sz="1400" spc="180" dirty="0">
                    <a:latin typeface="+mn-lt"/>
                    <a:cs typeface="Book Antiqua"/>
                  </a:rPr>
                  <a:t>=</a:t>
                </a:r>
                <a:r>
                  <a:rPr lang="ru-RU" sz="1400" spc="125" dirty="0">
                    <a:latin typeface="+mn-lt"/>
                    <a:cs typeface="Book Antiqua"/>
                  </a:rPr>
                  <a:t> </a:t>
                </a:r>
                <a:r>
                  <a:rPr lang="ru-RU" sz="1400" b="0" i="1" spc="-35" dirty="0">
                    <a:latin typeface="+mn-lt"/>
                    <a:cs typeface="Bookman Old Style"/>
                  </a:rPr>
                  <a:t>k</a:t>
                </a:r>
                <a:r>
                  <a:rPr lang="ru-RU" sz="1400" spc="-52" baseline="-13888" dirty="0">
                    <a:latin typeface="+mn-lt"/>
                    <a:cs typeface="Arial"/>
                  </a:rPr>
                  <a:t>p</a:t>
                </a:r>
                <a:r>
                  <a:rPr lang="ru-RU" sz="1400" b="0" i="1" spc="-35" dirty="0">
                    <a:latin typeface="+mn-lt"/>
                    <a:cs typeface="Bookman Old Style"/>
                  </a:rPr>
                  <a:t>x</a:t>
                </a:r>
                <a:r>
                  <a:rPr lang="ru-RU" sz="1400" b="0" i="1" spc="-55" dirty="0">
                    <a:latin typeface="+mn-lt"/>
                    <a:cs typeface="Bookman Old Style"/>
                  </a:rPr>
                  <a:t> </a:t>
                </a:r>
                <a:r>
                  <a:rPr lang="ru-RU" sz="1400" spc="180" dirty="0">
                    <a:latin typeface="+mn-lt"/>
                    <a:cs typeface="Book Antiqua"/>
                  </a:rPr>
                  <a:t>+</a:t>
                </a:r>
                <a:r>
                  <a:rPr lang="ru-RU" sz="1400" spc="5" dirty="0">
                    <a:latin typeface="+mn-lt"/>
                    <a:cs typeface="Book Antiqua"/>
                  </a:rPr>
                  <a:t> </a:t>
                </a:r>
                <a:r>
                  <a:rPr lang="ru-RU" sz="1400" b="0" i="1" dirty="0">
                    <a:latin typeface="+mn-lt"/>
                    <a:cs typeface="Bookman Old Style"/>
                  </a:rPr>
                  <a:t>n</a:t>
                </a:r>
                <a:r>
                  <a:rPr lang="ru-RU" sz="1400" baseline="-13888" dirty="0">
                    <a:latin typeface="+mn-lt"/>
                    <a:cs typeface="Arial"/>
                  </a:rPr>
                  <a:t>p</a:t>
                </a:r>
                <a:r>
                  <a:rPr lang="ru-RU" sz="1400" spc="375" baseline="-13888" dirty="0">
                    <a:latin typeface="+mn-lt"/>
                    <a:cs typeface="Arial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и</a:t>
                </a:r>
                <a:r>
                  <a:rPr lang="ru-RU" sz="1400" spc="145" dirty="0">
                    <a:latin typeface="+mn-lt"/>
                    <a:cs typeface="Times New Roman"/>
                  </a:rPr>
                  <a:t> </a:t>
                </a:r>
                <a:r>
                  <a:rPr lang="ru-RU" sz="1400" b="0" i="1" dirty="0">
                    <a:latin typeface="+mn-lt"/>
                    <a:cs typeface="Bookman Old Style"/>
                  </a:rPr>
                  <a:t>q</a:t>
                </a:r>
                <a:r>
                  <a:rPr lang="ru-RU" sz="1400" b="0" i="1" spc="105" dirty="0">
                    <a:latin typeface="+mn-lt"/>
                    <a:cs typeface="Bookman Old Style"/>
                  </a:rPr>
                  <a:t>  </a:t>
                </a:r>
                <a:r>
                  <a:rPr lang="ru-RU" sz="1400" dirty="0">
                    <a:latin typeface="+mn-lt"/>
                    <a:cs typeface="Book Antiqua"/>
                  </a:rPr>
                  <a:t>:</a:t>
                </a:r>
                <a:r>
                  <a:rPr lang="ru-RU" sz="1400" spc="135" dirty="0">
                    <a:latin typeface="+mn-lt"/>
                    <a:cs typeface="Book Antiqua"/>
                  </a:rPr>
                  <a:t> </a:t>
                </a:r>
                <a:r>
                  <a:rPr lang="ru-RU" sz="1400" b="0" i="1" dirty="0">
                    <a:latin typeface="+mn-lt"/>
                    <a:cs typeface="Bookman Old Style"/>
                  </a:rPr>
                  <a:t>y</a:t>
                </a:r>
                <a:r>
                  <a:rPr lang="ru-RU" sz="1400" b="0" i="1" spc="100" dirty="0">
                    <a:latin typeface="+mn-lt"/>
                    <a:cs typeface="Bookman Old Style"/>
                  </a:rPr>
                  <a:t> </a:t>
                </a:r>
                <a:r>
                  <a:rPr lang="ru-RU" sz="1400" spc="180" dirty="0">
                    <a:latin typeface="+mn-lt"/>
                    <a:cs typeface="Book Antiqua"/>
                  </a:rPr>
                  <a:t>=</a:t>
                </a:r>
                <a:r>
                  <a:rPr lang="ru-RU" sz="1400" spc="125" dirty="0">
                    <a:latin typeface="+mn-lt"/>
                    <a:cs typeface="Book Antiqua"/>
                  </a:rPr>
                  <a:t> </a:t>
                </a:r>
                <a:r>
                  <a:rPr lang="ru-RU" sz="1400" b="0" i="1" spc="-35" dirty="0">
                    <a:latin typeface="+mn-lt"/>
                    <a:cs typeface="Bookman Old Style"/>
                  </a:rPr>
                  <a:t>k</a:t>
                </a:r>
                <a:r>
                  <a:rPr lang="ru-RU" sz="1400" spc="-52" baseline="-13888" dirty="0">
                    <a:latin typeface="+mn-lt"/>
                    <a:cs typeface="Arial"/>
                  </a:rPr>
                  <a:t>q</a:t>
                </a:r>
                <a:r>
                  <a:rPr lang="ru-RU" sz="1400" b="0" i="1" spc="-35" dirty="0">
                    <a:latin typeface="+mn-lt"/>
                    <a:cs typeface="Bookman Old Style"/>
                  </a:rPr>
                  <a:t>x</a:t>
                </a:r>
                <a:r>
                  <a:rPr lang="ru-RU" sz="1400" b="0" i="1" spc="-55" dirty="0">
                    <a:latin typeface="+mn-lt"/>
                    <a:cs typeface="Bookman Old Style"/>
                  </a:rPr>
                  <a:t> </a:t>
                </a:r>
                <a:r>
                  <a:rPr lang="ru-RU" sz="1400" spc="180" dirty="0">
                    <a:latin typeface="+mn-lt"/>
                    <a:cs typeface="Book Antiqua"/>
                  </a:rPr>
                  <a:t>+</a:t>
                </a:r>
                <a:r>
                  <a:rPr lang="ru-RU" sz="1400" spc="10" dirty="0">
                    <a:latin typeface="+mn-lt"/>
                    <a:cs typeface="Book Antiqua"/>
                  </a:rPr>
                  <a:t> </a:t>
                </a:r>
                <a:r>
                  <a:rPr lang="ru-RU" sz="1400" b="0" i="1" dirty="0">
                    <a:latin typeface="+mn-lt"/>
                    <a:cs typeface="Bookman Old Style"/>
                  </a:rPr>
                  <a:t>n</a:t>
                </a:r>
                <a:r>
                  <a:rPr lang="ru-RU" sz="1400" baseline="-13888" dirty="0">
                    <a:latin typeface="+mn-lt"/>
                    <a:cs typeface="Arial"/>
                  </a:rPr>
                  <a:t>q</a:t>
                </a:r>
                <a:r>
                  <a:rPr lang="ru-RU" sz="1400" spc="367" baseline="-13888" dirty="0">
                    <a:latin typeface="+mn-lt"/>
                    <a:cs typeface="Arial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се</a:t>
                </a:r>
                <a:r>
                  <a:rPr lang="ru-RU" sz="1400" spc="145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пресичат</a:t>
                </a:r>
                <a:r>
                  <a:rPr lang="ru-RU" sz="1400" spc="165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и</a:t>
                </a:r>
                <a:r>
                  <a:rPr lang="ru-RU" sz="1400" spc="145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нека</a:t>
                </a:r>
                <a:r>
                  <a:rPr lang="ru-RU" sz="1400" spc="150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означим</a:t>
                </a:r>
                <a:r>
                  <a:rPr lang="ru-RU" sz="1400" spc="150" dirty="0">
                    <a:latin typeface="+mn-lt"/>
                    <a:cs typeface="Times New Roman"/>
                  </a:rPr>
                  <a:t> </a:t>
                </a:r>
                <a:r>
                  <a:rPr lang="ru-RU" sz="1400" spc="-50" dirty="0">
                    <a:latin typeface="+mn-lt"/>
                    <a:cs typeface="Times New Roman"/>
                  </a:rPr>
                  <a:t>с</a:t>
                </a:r>
                <a:endParaRPr lang="ru-RU" sz="1400" dirty="0">
                  <a:latin typeface="+mn-lt"/>
                  <a:cs typeface="Times New Roman"/>
                </a:endParaRPr>
              </a:p>
              <a:p>
                <a:pPr marL="38100" marR="3048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ru-RU" sz="1400" i="1" spc="405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𝜃</m:t>
                    </m:r>
                  </m:oMath>
                </a14:m>
                <a:r>
                  <a:rPr lang="ru-RU" sz="1400" spc="405" dirty="0">
                    <a:latin typeface="+mn-lt"/>
                    <a:cs typeface="Times New Roman"/>
                  </a:rPr>
                  <a:t> </a:t>
                </a:r>
                <a:r>
                  <a:rPr lang="ru-RU" sz="1400" spc="50" dirty="0">
                    <a:latin typeface="+mn-lt"/>
                    <a:cs typeface="Times New Roman"/>
                  </a:rPr>
                  <a:t>ъгъла,</a:t>
                </a:r>
                <a:r>
                  <a:rPr lang="ru-RU" sz="1400" spc="225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на</a:t>
                </a:r>
                <a:r>
                  <a:rPr lang="ru-RU" sz="1400" spc="235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който</a:t>
                </a:r>
                <a:r>
                  <a:rPr lang="ru-RU" sz="1400" spc="229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трябва</a:t>
                </a:r>
                <a:r>
                  <a:rPr lang="ru-RU" sz="1400" spc="235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да</a:t>
                </a:r>
                <a:r>
                  <a:rPr lang="ru-RU" sz="1400" spc="229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бъде</a:t>
                </a:r>
                <a:r>
                  <a:rPr lang="ru-RU" sz="1400" spc="229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завъртяна</a:t>
                </a:r>
                <a:r>
                  <a:rPr lang="ru-RU" sz="1400" spc="225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правата</a:t>
                </a:r>
                <a:r>
                  <a:rPr lang="ru-RU" sz="1400" spc="240" dirty="0">
                    <a:latin typeface="+mn-lt"/>
                    <a:cs typeface="Times New Roman"/>
                  </a:rPr>
                  <a:t>  </a:t>
                </a:r>
                <a:r>
                  <a:rPr lang="en-US" sz="1400" i="1" spc="240" dirty="0">
                    <a:latin typeface="+mn-lt"/>
                    <a:cs typeface="Times New Roman"/>
                  </a:rPr>
                  <a:t>q</a:t>
                </a:r>
                <a:r>
                  <a:rPr lang="ru-RU" sz="1400" b="0" i="1" spc="170" dirty="0">
                    <a:latin typeface="+mn-lt"/>
                    <a:cs typeface="Bookman Old Style"/>
                  </a:rPr>
                  <a:t>  </a:t>
                </a:r>
                <a:r>
                  <a:rPr lang="ru-RU" sz="1400" dirty="0">
                    <a:latin typeface="+mn-lt"/>
                    <a:cs typeface="Times New Roman"/>
                  </a:rPr>
                  <a:t>в</a:t>
                </a:r>
                <a:r>
                  <a:rPr lang="ru-RU" sz="1400" spc="235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положителна</a:t>
                </a:r>
                <a:r>
                  <a:rPr lang="ru-RU" sz="1400" spc="240" dirty="0">
                    <a:latin typeface="+mn-lt"/>
                    <a:cs typeface="Times New Roman"/>
                  </a:rPr>
                  <a:t> </a:t>
                </a:r>
                <a:r>
                  <a:rPr lang="ru-RU" sz="1400" spc="-10" dirty="0">
                    <a:latin typeface="+mn-lt"/>
                    <a:cs typeface="Times New Roman"/>
                  </a:rPr>
                  <a:t>посока, </a:t>
                </a:r>
                <a:r>
                  <a:rPr lang="ru-RU" sz="1400" dirty="0">
                    <a:latin typeface="+mn-lt"/>
                    <a:cs typeface="Times New Roman"/>
                  </a:rPr>
                  <a:t>докато</a:t>
                </a:r>
                <a:r>
                  <a:rPr lang="ru-RU" sz="1400" spc="100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се</a:t>
                </a:r>
                <a:r>
                  <a:rPr lang="ru-RU" sz="1400" spc="120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слее</a:t>
                </a:r>
                <a:r>
                  <a:rPr lang="ru-RU" sz="1400" spc="105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с</a:t>
                </a:r>
                <a:r>
                  <a:rPr lang="ru-RU" sz="1400" spc="110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правата</a:t>
                </a:r>
                <a:r>
                  <a:rPr lang="ru-RU" sz="1400" spc="110" dirty="0">
                    <a:latin typeface="+mn-lt"/>
                    <a:cs typeface="Times New Roman"/>
                  </a:rPr>
                  <a:t>  </a:t>
                </a:r>
                <a:r>
                  <a:rPr lang="en-US" sz="1400" i="1" spc="110" dirty="0">
                    <a:latin typeface="+mn-lt"/>
                    <a:cs typeface="Times New Roman"/>
                  </a:rPr>
                  <a:t>p</a:t>
                </a:r>
                <a:r>
                  <a:rPr lang="ru-RU" sz="1400" b="0" i="1" spc="175" dirty="0">
                    <a:latin typeface="+mn-lt"/>
                    <a:cs typeface="Bookman Old Style"/>
                  </a:rPr>
                  <a:t> </a:t>
                </a:r>
                <a:r>
                  <a:rPr lang="ru-RU" sz="1400" spc="-50" dirty="0">
                    <a:latin typeface="+mn-lt"/>
                    <a:cs typeface="Times New Roman"/>
                  </a:rPr>
                  <a:t>.</a:t>
                </a:r>
                <a:endParaRPr lang="ru-RU" sz="1400" dirty="0">
                  <a:latin typeface="+mn-lt"/>
                  <a:cs typeface="Times New Roman"/>
                </a:endParaRPr>
              </a:p>
              <a:p>
                <a:pPr marL="38100" algn="l">
                  <a:lnSpc>
                    <a:spcPct val="150000"/>
                  </a:lnSpc>
                  <a:spcBef>
                    <a:spcPts val="10"/>
                  </a:spcBef>
                </a:pPr>
                <a:r>
                  <a:rPr lang="ru-RU" sz="1400" spc="-10" dirty="0">
                    <a:latin typeface="+mn-lt"/>
                    <a:cs typeface="Times New Roman"/>
                  </a:rPr>
                  <a:t>Тогава</a:t>
                </a:r>
                <a:r>
                  <a:rPr lang="ru-RU" sz="1400" dirty="0">
                    <a:latin typeface="+mn-lt"/>
                    <a:cs typeface="Times New Roman"/>
                  </a:rPr>
                  <a:t>   </a:t>
                </a:r>
                <a14:m>
                  <m:oMath xmlns:m="http://schemas.openxmlformats.org/officeDocument/2006/math">
                    <m:r>
                      <a:rPr lang="ru-RU" sz="1400" i="1" spc="145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𝜃</m:t>
                    </m:r>
                  </m:oMath>
                </a14:m>
                <a:r>
                  <a:rPr lang="ru-RU" sz="1400" spc="145" dirty="0">
                    <a:latin typeface="+mn-lt"/>
                    <a:cs typeface="Times New Roman"/>
                  </a:rPr>
                  <a:t> </a:t>
                </a:r>
                <a:r>
                  <a:rPr lang="ru-RU" sz="1400" spc="180" dirty="0">
                    <a:latin typeface="+mn-lt"/>
                    <a:cs typeface="Book Antiqua"/>
                  </a:rPr>
                  <a:t>=</a:t>
                </a:r>
                <a:r>
                  <a:rPr lang="ru-RU" sz="1400" spc="30" dirty="0">
                    <a:latin typeface="+mn-lt"/>
                    <a:cs typeface="Book Antiqua"/>
                  </a:rPr>
                  <a:t> </a:t>
                </a:r>
                <a:r>
                  <a:rPr lang="ru-RU" sz="1400" b="0" i="1" dirty="0">
                    <a:latin typeface="+mn-lt"/>
                    <a:cs typeface="Bookman Old Style"/>
                  </a:rPr>
                  <a:t>α</a:t>
                </a:r>
                <a:r>
                  <a:rPr lang="ru-RU" sz="1400" baseline="-13888" dirty="0">
                    <a:latin typeface="+mn-lt"/>
                    <a:cs typeface="Trebuchet MS"/>
                  </a:rPr>
                  <a:t>2</a:t>
                </a:r>
                <a:r>
                  <a:rPr lang="ru-RU" sz="1400" spc="104" baseline="-13888" dirty="0">
                    <a:latin typeface="+mn-lt"/>
                    <a:cs typeface="Trebuchet MS"/>
                  </a:rPr>
                  <a:t> </a:t>
                </a:r>
                <a:r>
                  <a:rPr lang="ru-RU" sz="1400" spc="-35" dirty="0">
                    <a:latin typeface="+mn-lt"/>
                    <a:cs typeface="Lucida Sans Unicode"/>
                  </a:rPr>
                  <a:t>−</a:t>
                </a:r>
                <a:r>
                  <a:rPr lang="ru-RU" sz="1400" spc="-125" dirty="0">
                    <a:latin typeface="+mn-lt"/>
                    <a:cs typeface="Lucida Sans Unicode"/>
                  </a:rPr>
                  <a:t> </a:t>
                </a:r>
                <a:r>
                  <a:rPr lang="ru-RU" sz="1400" b="0" i="1" spc="-35" dirty="0">
                    <a:latin typeface="+mn-lt"/>
                    <a:cs typeface="Bookman Old Style"/>
                  </a:rPr>
                  <a:t>α</a:t>
                </a:r>
                <a:r>
                  <a:rPr lang="ru-RU" sz="1400" spc="-52" baseline="-13888" dirty="0">
                    <a:latin typeface="+mn-lt"/>
                    <a:cs typeface="Trebuchet MS"/>
                  </a:rPr>
                  <a:t>1</a:t>
                </a:r>
                <a:r>
                  <a:rPr lang="ru-RU" sz="1400" baseline="-13888" dirty="0">
                    <a:latin typeface="+mn-lt"/>
                    <a:cs typeface="Trebuchet MS"/>
                  </a:rPr>
                  <a:t> </a:t>
                </a:r>
                <a:r>
                  <a:rPr lang="ru-RU" sz="1400" dirty="0">
                    <a:latin typeface="+mn-lt"/>
                    <a:cs typeface="Trebuchet MS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и</a:t>
                </a:r>
                <a:r>
                  <a:rPr lang="ru-RU" sz="1400" spc="180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като</a:t>
                </a:r>
                <a:r>
                  <a:rPr lang="ru-RU" sz="1400" spc="180" dirty="0">
                    <a:latin typeface="+mn-lt"/>
                    <a:cs typeface="Times New Roman"/>
                  </a:rPr>
                  <a:t> </a:t>
                </a:r>
                <a:r>
                  <a:rPr lang="ru-RU" sz="1400" dirty="0">
                    <a:latin typeface="+mn-lt"/>
                    <a:cs typeface="Times New Roman"/>
                  </a:rPr>
                  <a:t>използваме</a:t>
                </a:r>
                <a:r>
                  <a:rPr lang="ru-RU" sz="1400" spc="185" dirty="0">
                    <a:latin typeface="+mn-lt"/>
                    <a:cs typeface="Times New Roman"/>
                  </a:rPr>
                  <a:t> </a:t>
                </a:r>
                <a:r>
                  <a:rPr lang="ru-RU" sz="1400" spc="-10" dirty="0">
                    <a:latin typeface="+mn-lt"/>
                    <a:cs typeface="Times New Roman"/>
                  </a:rPr>
                  <a:t>формулата  </a:t>
                </a:r>
              </a:p>
              <a:p>
                <a:pPr marL="38100" algn="ctr">
                  <a:lnSpc>
                    <a:spcPct val="150000"/>
                  </a:lnSpc>
                  <a:spcBef>
                    <a:spcPts val="10"/>
                  </a:spcBef>
                </a:pPr>
                <a:r>
                  <a:rPr lang="ru-RU" sz="1400" spc="-10" dirty="0">
                    <a:latin typeface="+mn-lt"/>
                    <a:cs typeface="Times New Roman"/>
                  </a:rPr>
                  <a:t>  </a:t>
                </a:r>
                <a14:m>
                  <m:oMath xmlns:m="http://schemas.openxmlformats.org/officeDocument/2006/math">
                    <m:r>
                      <a:rPr lang="ru-RU" sz="1400" b="0" i="1" spc="-10" smtClean="0">
                        <a:latin typeface="+mn-lt"/>
                        <a:cs typeface="Times New Roman"/>
                      </a:rPr>
                      <m:t>𝑡</m:t>
                    </m:r>
                    <m:r>
                      <a:rPr lang="en-US" sz="1400" b="0" i="1" spc="-10" smtClean="0">
                        <a:latin typeface="+mn-lt"/>
                        <a:cs typeface="Times New Roman"/>
                      </a:rPr>
                      <m:t>𝑔</m:t>
                    </m:r>
                    <m:d>
                      <m:dPr>
                        <m:ctrlPr>
                          <a:rPr lang="en-US" sz="1400" b="0" i="1" spc="-10" smtClean="0">
                            <a:latin typeface="+mn-lt"/>
                            <a:cs typeface="Times New Roman"/>
                          </a:rPr>
                        </m:ctrlPr>
                      </m:dPr>
                      <m:e>
                        <m:limUpp>
                          <m:limUppPr>
                            <m:ctrlPr>
                              <a:rPr lang="en-US" sz="1400" b="0" i="1" spc="-10" smtClean="0">
                                <a:latin typeface="+mn-lt"/>
                                <a:cs typeface="Times New Roman"/>
                              </a:rPr>
                            </m:ctrlPr>
                          </m:limUppPr>
                          <m:e>
                            <m:groupChr>
                              <m:groupChrPr>
                                <m:chr m:val="⏞"/>
                                <m:pos m:val="top"/>
                                <m:vertJc m:val="bot"/>
                                <m:ctrlPr>
                                  <a:rPr lang="en-US" sz="1400" b="0" i="1" spc="-10" smtClean="0">
                                    <a:latin typeface="+mn-lt"/>
                                    <a:cs typeface="Times New Roman"/>
                                  </a:rPr>
                                </m:ctrlPr>
                              </m:groupChrPr>
                              <m:e>
                                <m:sSub>
                                  <m:sSubPr>
                                    <m:ctrlPr>
                                      <a:rPr lang="en-US" sz="1400" b="0" i="1" spc="-10" smtClean="0">
                                        <a:latin typeface="+mn-lt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pc="-10" smtClean="0">
                                        <a:latin typeface="+mn-lt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 b="0" i="1" spc="-10" smtClean="0">
                                        <a:latin typeface="+mn-lt"/>
                                        <a:cs typeface="Times New Roman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 b="0" i="1" spc="-10" smtClean="0">
                                    <a:latin typeface="+mn-lt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spc="-10" smtClean="0">
                                        <a:latin typeface="+mn-lt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pc="-10" smtClean="0">
                                        <a:latin typeface="+mn-lt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 b="0" i="1" spc="-10" smtClean="0">
                                        <a:latin typeface="+mn-lt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groupChr>
                          </m:e>
                          <m:lim>
                            <m:r>
                              <a:rPr lang="en-US" sz="1400" b="0" i="1" spc="-10" smtClean="0">
                                <a:latin typeface="+mn-lt"/>
                                <a:ea typeface="Cambria Math" panose="02040503050406030204" pitchFamily="18" charset="0"/>
                                <a:cs typeface="Times New Roman"/>
                              </a:rPr>
                              <m:t>𝜃</m:t>
                            </m:r>
                          </m:lim>
                        </m:limUpp>
                      </m:e>
                    </m:d>
                    <m:r>
                      <a:rPr lang="en-US" sz="1400" b="0" i="1" spc="-10" smtClean="0">
                        <a:latin typeface="+mn-lt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sz="1400" b="0" i="1" spc="-10" smtClean="0">
                            <a:latin typeface="+mn-lt"/>
                            <a:cs typeface="Times New Roman"/>
                          </a:rPr>
                        </m:ctrlPr>
                      </m:fPr>
                      <m:num>
                        <m:r>
                          <a:rPr lang="en-US" sz="1400" b="0" i="1" spc="-10" smtClean="0">
                            <a:latin typeface="+mn-lt"/>
                            <a:cs typeface="Times New Roman"/>
                          </a:rPr>
                          <m:t>𝑡𝑔</m:t>
                        </m:r>
                        <m:sSub>
                          <m:sSubPr>
                            <m:ctrlPr>
                              <a:rPr lang="en-US" sz="1400" b="0" i="1" spc="-10" smtClean="0">
                                <a:latin typeface="+mn-lt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400" b="0" i="1" spc="-10" smtClean="0">
                                <a:latin typeface="+mn-lt"/>
                                <a:ea typeface="Cambria Math" panose="02040503050406030204" pitchFamily="18" charset="0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pc="-10" smtClean="0">
                                <a:latin typeface="+mn-lt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pc="-10" smtClean="0">
                            <a:latin typeface="+mn-lt"/>
                            <a:cs typeface="Times New Roman"/>
                          </a:rPr>
                          <m:t>−</m:t>
                        </m:r>
                        <m:r>
                          <a:rPr lang="en-US" sz="1400" b="0" i="1" spc="-10" smtClean="0">
                            <a:latin typeface="+mn-lt"/>
                            <a:cs typeface="Times New Roman"/>
                          </a:rPr>
                          <m:t>𝑡𝑔</m:t>
                        </m:r>
                        <m:sSub>
                          <m:sSubPr>
                            <m:ctrlPr>
                              <a:rPr lang="en-US" sz="1400" b="0" i="1" spc="-10" smtClean="0">
                                <a:latin typeface="+mn-lt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400" b="0" i="1" spc="-10" smtClean="0">
                                <a:latin typeface="+mn-lt"/>
                                <a:ea typeface="Cambria Math" panose="02040503050406030204" pitchFamily="18" charset="0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pc="-10" smtClean="0">
                                <a:latin typeface="+mn-lt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1400" b="0" i="1" spc="-10" smtClean="0">
                            <a:latin typeface="+mn-lt"/>
                            <a:cs typeface="Times New Roman"/>
                          </a:rPr>
                          <m:t>1</m:t>
                        </m:r>
                        <m:r>
                          <a:rPr lang="en-US" sz="1400" b="0" i="1" spc="-10" smtClean="0">
                            <a:latin typeface="+mn-lt"/>
                            <a:cs typeface="Times New Roman"/>
                          </a:rPr>
                          <m:t>+</m:t>
                        </m:r>
                        <m:r>
                          <a:rPr lang="en-US" sz="1400" b="0" i="1" spc="-10" smtClean="0">
                            <a:latin typeface="+mn-lt"/>
                            <a:cs typeface="Times New Roman"/>
                          </a:rPr>
                          <m:t>𝑡𝑔</m:t>
                        </m:r>
                        <m:sSub>
                          <m:sSubPr>
                            <m:ctrlPr>
                              <a:rPr lang="en-US" sz="1400" b="0" i="1" spc="-10" smtClean="0">
                                <a:latin typeface="+mn-lt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400" b="0" i="1" spc="-10" smtClean="0">
                                <a:latin typeface="+mn-lt"/>
                                <a:ea typeface="Cambria Math" panose="02040503050406030204" pitchFamily="18" charset="0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pc="-10" smtClean="0">
                                <a:latin typeface="+mn-lt"/>
                                <a:cs typeface="Times New Roman"/>
                              </a:rPr>
                              <m:t>1</m:t>
                            </m:r>
                            <m:r>
                              <a:rPr lang="en-US" sz="1400" b="0" i="1" spc="-10" smtClean="0">
                                <a:latin typeface="+mn-lt"/>
                                <a:cs typeface="Times New Roman"/>
                              </a:rPr>
                              <m:t>.</m:t>
                            </m:r>
                          </m:sub>
                        </m:sSub>
                        <m:r>
                          <a:rPr lang="en-US" sz="1400" b="0" i="1" spc="-10" smtClean="0">
                            <a:latin typeface="+mn-lt"/>
                            <a:cs typeface="Times New Roman"/>
                          </a:rPr>
                          <m:t>𝑡𝑔</m:t>
                        </m:r>
                        <m:sSub>
                          <m:sSubPr>
                            <m:ctrlPr>
                              <a:rPr lang="en-US" sz="1400" b="0" i="1" spc="-10" smtClean="0">
                                <a:latin typeface="+mn-lt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400" b="0" i="1" spc="-10" smtClean="0">
                                <a:latin typeface="+mn-lt"/>
                                <a:ea typeface="Cambria Math" panose="02040503050406030204" pitchFamily="18" charset="0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pc="-10" smtClean="0">
                                <a:latin typeface="+mn-lt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 dirty="0">
                    <a:latin typeface="+mn-lt"/>
                    <a:cs typeface="Times New Roman"/>
                  </a:rPr>
                  <a:t>,  </a:t>
                </a:r>
                <a:r>
                  <a:rPr lang="bg-BG" sz="1400" dirty="0">
                    <a:latin typeface="+mn-lt"/>
                    <a:cs typeface="Times New Roman"/>
                  </a:rPr>
                  <a:t>получаваме</a:t>
                </a:r>
                <a:endParaRPr sz="1400" dirty="0">
                  <a:latin typeface="+mn-lt"/>
                  <a:cs typeface="Times New Roman"/>
                </a:endParaRPr>
              </a:p>
            </p:txBody>
          </p:sp>
        </mc:Choice>
        <mc:Fallback>
          <p:sp>
            <p:nvSpPr>
              <p:cNvPr id="28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74" y="6629552"/>
                <a:ext cx="3164378" cy="3961597"/>
              </a:xfrm>
              <a:prstGeom prst="rect">
                <a:avLst/>
              </a:prstGeom>
              <a:blipFill>
                <a:blip r:embed="rId5"/>
                <a:stretch>
                  <a:fillRect l="-2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bject 37"/>
          <p:cNvSpPr txBox="1"/>
          <p:nvPr/>
        </p:nvSpPr>
        <p:spPr>
          <a:xfrm>
            <a:off x="6356094" y="9520494"/>
            <a:ext cx="331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Times New Roman"/>
                <a:cs typeface="Times New Roman"/>
              </a:rPr>
              <a:t>(1.8)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0869EA-6E57-59C1-50E5-24C0E7AE5B1A}"/>
                  </a:ext>
                </a:extLst>
              </p:cNvPr>
              <p:cNvSpPr txBox="1"/>
              <p:nvPr/>
            </p:nvSpPr>
            <p:spPr>
              <a:xfrm>
                <a:off x="1014587" y="2474543"/>
                <a:ext cx="2802869" cy="3138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nor/>
                      </m:rPr>
                      <a:rPr lang="bg-BG" sz="1400" spc="-25" dirty="0" smtClean="0">
                        <a:latin typeface="Times New Roman"/>
                        <a:cs typeface="Times New Roman"/>
                      </a:rPr>
                      <m:t>Но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bg-BG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bg-BG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bg-BG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bg-BG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bg-BG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𝑡𝑔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/>
                  <a:t>.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0869EA-6E57-59C1-50E5-24C0E7AE5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587" y="2474543"/>
                <a:ext cx="2802869" cy="313804"/>
              </a:xfrm>
              <a:prstGeom prst="rect">
                <a:avLst/>
              </a:prstGeom>
              <a:blipFill>
                <a:blip r:embed="rId6"/>
                <a:stretch>
                  <a:fillRect l="-2174" t="-9804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39F2190C-AC11-FD18-1ED8-50E0E3D33539}"/>
              </a:ext>
            </a:extLst>
          </p:cNvPr>
          <p:cNvGrpSpPr/>
          <p:nvPr/>
        </p:nvGrpSpPr>
        <p:grpSpPr>
          <a:xfrm>
            <a:off x="4244953" y="6303989"/>
            <a:ext cx="1979930" cy="2217753"/>
            <a:chOff x="3858537" y="6304701"/>
            <a:chExt cx="1979930" cy="2217753"/>
          </a:xfrm>
        </p:grpSpPr>
        <p:sp>
          <p:nvSpPr>
            <p:cNvPr id="45" name="object 23"/>
            <p:cNvSpPr txBox="1"/>
            <p:nvPr/>
          </p:nvSpPr>
          <p:spPr>
            <a:xfrm>
              <a:off x="5636474" y="6304701"/>
              <a:ext cx="201930" cy="15581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</a:pPr>
              <a:r>
                <a:rPr lang="en-US" sz="1400" i="1" spc="-25" baseline="-13888" dirty="0">
                  <a:latin typeface="Bookman Old Style"/>
                  <a:cs typeface="Trebuchet MS"/>
                </a:rPr>
                <a:t>p</a:t>
              </a:r>
              <a:endParaRPr sz="1400" baseline="-13888" dirty="0">
                <a:latin typeface="Trebuchet MS"/>
                <a:cs typeface="Trebuchet MS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17CFD22-B0FB-E097-4A54-ED7E671307F9}"/>
                </a:ext>
              </a:extLst>
            </p:cNvPr>
            <p:cNvGrpSpPr/>
            <p:nvPr/>
          </p:nvGrpSpPr>
          <p:grpSpPr>
            <a:xfrm>
              <a:off x="3858537" y="6434574"/>
              <a:ext cx="1979930" cy="2087880"/>
              <a:chOff x="3088765" y="5379020"/>
              <a:chExt cx="1979930" cy="2087880"/>
            </a:xfrm>
          </p:grpSpPr>
          <p:grpSp>
            <p:nvGrpSpPr>
              <p:cNvPr id="47" name="object 16"/>
              <p:cNvGrpSpPr/>
              <p:nvPr/>
            </p:nvGrpSpPr>
            <p:grpSpPr>
              <a:xfrm>
                <a:off x="3088765" y="5379020"/>
                <a:ext cx="1979930" cy="2087880"/>
                <a:chOff x="2624328" y="5263895"/>
                <a:chExt cx="1979930" cy="2087880"/>
              </a:xfrm>
            </p:grpSpPr>
            <p:sp>
              <p:nvSpPr>
                <p:cNvPr id="52" name="object 18"/>
                <p:cNvSpPr/>
                <p:nvPr/>
              </p:nvSpPr>
              <p:spPr>
                <a:xfrm>
                  <a:off x="2624328" y="5839980"/>
                  <a:ext cx="1979930" cy="13322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9929" h="1332229">
                      <a:moveTo>
                        <a:pt x="0" y="1331963"/>
                      </a:moveTo>
                      <a:lnTo>
                        <a:pt x="1979663" y="0"/>
                      </a:lnTo>
                    </a:path>
                  </a:pathLst>
                </a:custGeom>
                <a:ln w="502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3" name="object 19"/>
                <p:cNvSpPr/>
                <p:nvPr/>
              </p:nvSpPr>
              <p:spPr>
                <a:xfrm>
                  <a:off x="3343656" y="5263895"/>
                  <a:ext cx="1260475" cy="2087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475" h="2087879">
                      <a:moveTo>
                        <a:pt x="0" y="2087880"/>
                      </a:moveTo>
                      <a:lnTo>
                        <a:pt x="1260335" y="0"/>
                      </a:lnTo>
                    </a:path>
                  </a:pathLst>
                </a:custGeom>
                <a:ln w="502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48" name="object 25"/>
              <p:cNvSpPr txBox="1"/>
              <p:nvPr/>
            </p:nvSpPr>
            <p:spPr>
              <a:xfrm>
                <a:off x="4258094" y="6799658"/>
                <a:ext cx="224790" cy="19684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200" b="0" i="1" spc="-25" dirty="0">
                    <a:latin typeface="Bookman Old Style"/>
                    <a:cs typeface="Bookman Old Style"/>
                  </a:rPr>
                  <a:t>α</a:t>
                </a:r>
                <a:r>
                  <a:rPr lang="en-US" sz="1200" b="0" i="1" spc="-37" baseline="-13888" dirty="0">
                    <a:latin typeface="Trebuchet MS"/>
                    <a:cs typeface="Bookman Old Style"/>
                  </a:rPr>
                  <a:t>2</a:t>
                </a:r>
                <a:endParaRPr sz="1200" baseline="-13888" dirty="0">
                  <a:latin typeface="Trebuchet MS"/>
                  <a:cs typeface="Trebuchet MS"/>
                </a:endParaRPr>
              </a:p>
            </p:txBody>
          </p:sp>
          <p:sp>
            <p:nvSpPr>
              <p:cNvPr id="49" name="object 26"/>
              <p:cNvSpPr txBox="1"/>
              <p:nvPr/>
            </p:nvSpPr>
            <p:spPr>
              <a:xfrm>
                <a:off x="3738003" y="6891058"/>
                <a:ext cx="224790" cy="19684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200" b="0" i="1" spc="-25" dirty="0">
                    <a:latin typeface="Bookman Old Style"/>
                    <a:cs typeface="Bookman Old Style"/>
                  </a:rPr>
                  <a:t>α</a:t>
                </a:r>
                <a:r>
                  <a:rPr lang="en-US" sz="1200" spc="-37" baseline="-13888" dirty="0">
                    <a:latin typeface="Trebuchet MS"/>
                    <a:cs typeface="Trebuchet MS"/>
                  </a:rPr>
                  <a:t>1</a:t>
                </a:r>
                <a:endParaRPr sz="1200" baseline="-13888" dirty="0">
                  <a:latin typeface="Trebuchet MS"/>
                  <a:cs typeface="Trebuchet MS"/>
                </a:endParaRPr>
              </a:p>
            </p:txBody>
          </p:sp>
          <p:sp>
            <p:nvSpPr>
              <p:cNvPr id="50" name="object 27"/>
              <p:cNvSpPr txBox="1"/>
              <p:nvPr/>
            </p:nvSpPr>
            <p:spPr>
              <a:xfrm>
                <a:off x="4701576" y="5941963"/>
                <a:ext cx="104775" cy="20764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200" spc="-5" dirty="0">
                    <a:latin typeface="Symbol"/>
                    <a:cs typeface="Symbol"/>
                  </a:rPr>
                  <a:t></a:t>
                </a:r>
                <a:endParaRPr sz="1200" dirty="0">
                  <a:latin typeface="Symbol"/>
                  <a:cs typeface="Symbol"/>
                </a:endParaRPr>
              </a:p>
            </p:txBody>
          </p: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CCC5D2BA-BE68-ABE0-ADDB-EEB0F07A7686}"/>
              </a:ext>
            </a:extLst>
          </p:cNvPr>
          <p:cNvSpPr txBox="1"/>
          <p:nvPr/>
        </p:nvSpPr>
        <p:spPr>
          <a:xfrm>
            <a:off x="4091121" y="8126733"/>
            <a:ext cx="8976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+mn-lt"/>
              </a:rPr>
              <a:t>o</a:t>
            </a:r>
          </a:p>
        </p:txBody>
      </p:sp>
      <p:sp>
        <p:nvSpPr>
          <p:cNvPr id="55" name="object 23">
            <a:extLst>
              <a:ext uri="{FF2B5EF4-FFF2-40B4-BE49-F238E27FC236}">
                <a16:creationId xmlns:a16="http://schemas.microsoft.com/office/drawing/2014/main" id="{1C5878EA-09D3-B8D3-2E35-B390C1178E91}"/>
              </a:ext>
            </a:extLst>
          </p:cNvPr>
          <p:cNvSpPr txBox="1"/>
          <p:nvPr/>
        </p:nvSpPr>
        <p:spPr>
          <a:xfrm>
            <a:off x="6123823" y="7016148"/>
            <a:ext cx="201930" cy="1558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n-US" sz="1400" i="1" spc="-25" baseline="-13888" dirty="0">
                <a:latin typeface="Bookman Old Style"/>
                <a:cs typeface="Trebuchet MS"/>
              </a:rPr>
              <a:t>q</a:t>
            </a:r>
            <a:endParaRPr sz="1400" baseline="-13888" dirty="0">
              <a:latin typeface="Trebuchet MS"/>
              <a:cs typeface="Trebuchet MS"/>
            </a:endParaRP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14377481-4BC2-BC50-9407-F946465FFBA2}"/>
              </a:ext>
            </a:extLst>
          </p:cNvPr>
          <p:cNvSpPr/>
          <p:nvPr/>
        </p:nvSpPr>
        <p:spPr>
          <a:xfrm>
            <a:off x="5118981" y="8021127"/>
            <a:ext cx="309329" cy="26424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C61C1CAA-22A4-6905-EEAC-E54F1FF56B95}"/>
              </a:ext>
            </a:extLst>
          </p:cNvPr>
          <p:cNvSpPr/>
          <p:nvPr/>
        </p:nvSpPr>
        <p:spPr>
          <a:xfrm>
            <a:off x="4704395" y="7989100"/>
            <a:ext cx="195822" cy="30729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8D1C2234-A25A-1482-146C-1C5E2D14FD64}"/>
              </a:ext>
            </a:extLst>
          </p:cNvPr>
          <p:cNvSpPr/>
          <p:nvPr/>
        </p:nvSpPr>
        <p:spPr>
          <a:xfrm>
            <a:off x="5693832" y="7051030"/>
            <a:ext cx="304421" cy="24185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hought Bubble: Cloud 60">
            <a:extLst>
              <a:ext uri="{FF2B5EF4-FFF2-40B4-BE49-F238E27FC236}">
                <a16:creationId xmlns:a16="http://schemas.microsoft.com/office/drawing/2014/main" id="{FFFB59C9-AF55-8A89-4AC1-C4BEA211BAEC}"/>
              </a:ext>
            </a:extLst>
          </p:cNvPr>
          <p:cNvSpPr/>
          <p:nvPr/>
        </p:nvSpPr>
        <p:spPr>
          <a:xfrm>
            <a:off x="3838511" y="9321330"/>
            <a:ext cx="2024189" cy="1161345"/>
          </a:xfrm>
          <a:prstGeom prst="cloudCallou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4D62FC9-5CE5-4EC5-AD38-B6110639752A}"/>
                  </a:ext>
                </a:extLst>
              </p:cNvPr>
              <p:cNvSpPr txBox="1"/>
              <p:nvPr/>
            </p:nvSpPr>
            <p:spPr>
              <a:xfrm>
                <a:off x="4071979" y="9707444"/>
                <a:ext cx="1264833" cy="4744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𝑡𝑔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4D62FC9-5CE5-4EC5-AD38-B61106397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979" y="9707444"/>
                <a:ext cx="1264833" cy="474489"/>
              </a:xfrm>
              <a:prstGeom prst="rect">
                <a:avLst/>
              </a:prstGeom>
              <a:blipFill>
                <a:blip r:embed="rId7"/>
                <a:stretch>
                  <a:fillRect l="-3865" r="-483" b="-8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EBF48C-7EAD-4480-C8AE-CB6670D9ADA7}"/>
              </a:ext>
            </a:extLst>
          </p:cNvPr>
          <p:cNvCxnSpPr/>
          <p:nvPr/>
        </p:nvCxnSpPr>
        <p:spPr>
          <a:xfrm flipV="1">
            <a:off x="4006850" y="8142749"/>
            <a:ext cx="2563491" cy="10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32BBD30-5E7E-A5F2-4A22-C68A45148BFD}"/>
              </a:ext>
            </a:extLst>
          </p:cNvPr>
          <p:cNvCxnSpPr>
            <a:cxnSpLocks/>
          </p:cNvCxnSpPr>
          <p:nvPr/>
        </p:nvCxnSpPr>
        <p:spPr>
          <a:xfrm flipV="1">
            <a:off x="4244953" y="6565900"/>
            <a:ext cx="0" cy="2209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F23E8F4-18A1-416B-C121-2CC88656B403}"/>
              </a:ext>
            </a:extLst>
          </p:cNvPr>
          <p:cNvSpPr txBox="1"/>
          <p:nvPr/>
        </p:nvSpPr>
        <p:spPr>
          <a:xfrm>
            <a:off x="4071862" y="6397280"/>
            <a:ext cx="929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+mn-lt"/>
              </a:rPr>
              <a:t>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E86815-CC0F-DEB0-4C7F-04AEA9F383A8}"/>
              </a:ext>
            </a:extLst>
          </p:cNvPr>
          <p:cNvSpPr txBox="1"/>
          <p:nvPr/>
        </p:nvSpPr>
        <p:spPr>
          <a:xfrm>
            <a:off x="6334454" y="8100708"/>
            <a:ext cx="3777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n-lt"/>
              </a:rPr>
              <a:t>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722439"/>
            <a:ext cx="5758815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6600">
              <a:lnSpc>
                <a:spcPct val="100000"/>
              </a:lnSpc>
              <a:spcBef>
                <a:spcPts val="95"/>
              </a:spcBef>
            </a:pPr>
            <a:endParaRPr lang="bg-BG" sz="1200" dirty="0">
              <a:latin typeface="Verdana Pro Cond Light"/>
              <a:cs typeface="Verdana Pro Cond Light"/>
            </a:endParaRPr>
          </a:p>
          <a:p>
            <a:pPr>
              <a:lnSpc>
                <a:spcPct val="100000"/>
              </a:lnSpc>
            </a:pPr>
            <a:endParaRPr lang="bg-BG" sz="1200" dirty="0">
              <a:latin typeface="Verdana Pro Cond Light"/>
              <a:cs typeface="Verdana Pro Cond Ligh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bg-BG" sz="1400" dirty="0">
              <a:latin typeface="Verdana Pro Cond Light"/>
              <a:cs typeface="Verdana Pro Cond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590383" y="1365336"/>
                <a:ext cx="6214396" cy="2324611"/>
              </a:xfrm>
              <a:prstGeom prst="rect">
                <a:avLst/>
              </a:prstGeom>
            </p:spPr>
            <p:txBody>
              <a:bodyPr vert="horz" wrap="square" lIns="0" tIns="84455" rIns="0" bIns="0" rtlCol="0">
                <a:spAutoFit/>
              </a:bodyPr>
              <a:lstStyle/>
              <a:p>
                <a:pPr marL="88900" marR="81280">
                  <a:lnSpc>
                    <a:spcPct val="100800"/>
                  </a:lnSpc>
                  <a:spcBef>
                    <a:spcPts val="5"/>
                  </a:spcBef>
                </a:pPr>
                <a:r>
                  <a:rPr lang="bg-BG" sz="1400" dirty="0">
                    <a:latin typeface="Times New Roman"/>
                    <a:cs typeface="Times New Roman"/>
                  </a:rPr>
                  <a:t>Очевидно</a:t>
                </a:r>
                <a:r>
                  <a:rPr lang="bg-BG" sz="1400" spc="45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е,</a:t>
                </a:r>
                <a:r>
                  <a:rPr lang="bg-BG" sz="1400" spc="4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че</a:t>
                </a:r>
                <a:r>
                  <a:rPr lang="bg-BG" sz="1400" spc="4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две</a:t>
                </a:r>
                <a:r>
                  <a:rPr lang="bg-BG" sz="1400" spc="4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прави</a:t>
                </a:r>
                <a:r>
                  <a:rPr lang="bg-BG" sz="1400" spc="380" dirty="0">
                    <a:latin typeface="Times New Roman"/>
                    <a:cs typeface="Times New Roman"/>
                  </a:rPr>
                  <a:t> </a:t>
                </a:r>
                <a:r>
                  <a:rPr lang="en-US" sz="1400" b="0" i="1" dirty="0">
                    <a:latin typeface="Bookman Old Style"/>
                    <a:cs typeface="Bookman Old Style"/>
                  </a:rPr>
                  <a:t>p</a:t>
                </a:r>
                <a:r>
                  <a:rPr lang="en-US" sz="1400" b="0" i="1" spc="409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dirty="0">
                    <a:latin typeface="Book Antiqua"/>
                    <a:cs typeface="Book Antiqua"/>
                  </a:rPr>
                  <a:t>:</a:t>
                </a:r>
                <a:r>
                  <a:rPr lang="en-US" sz="1400" spc="35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160" dirty="0">
                    <a:latin typeface="Bookman Old Style"/>
                    <a:cs typeface="Bookman Old Style"/>
                  </a:rPr>
                  <a:t>y</a:t>
                </a:r>
                <a:r>
                  <a:rPr lang="en-US" sz="1400" b="0" i="1" spc="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180" dirty="0">
                    <a:latin typeface="Book Antiqua"/>
                    <a:cs typeface="Book Antiqua"/>
                  </a:rPr>
                  <a:t>=</a:t>
                </a:r>
                <a:r>
                  <a:rPr lang="en-US" sz="1400" spc="35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35" dirty="0" err="1">
                    <a:latin typeface="Bookman Old Style"/>
                    <a:cs typeface="Bookman Old Style"/>
                  </a:rPr>
                  <a:t>k</a:t>
                </a:r>
                <a:r>
                  <a:rPr lang="en-US" sz="1400" spc="-52" baseline="-13888" dirty="0" err="1">
                    <a:latin typeface="Arial"/>
                    <a:cs typeface="Arial"/>
                  </a:rPr>
                  <a:t>p</a:t>
                </a:r>
                <a:r>
                  <a:rPr lang="en-US" sz="1400" b="0" i="1" spc="-35" dirty="0" err="1">
                    <a:latin typeface="Bookman Old Style"/>
                    <a:cs typeface="Bookman Old Style"/>
                  </a:rPr>
                  <a:t>x</a:t>
                </a:r>
                <a:r>
                  <a:rPr lang="en-US" sz="1400" b="0" i="1" spc="-200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180" dirty="0">
                    <a:latin typeface="Book Antiqua"/>
                    <a:cs typeface="Book Antiqua"/>
                  </a:rPr>
                  <a:t>+</a:t>
                </a:r>
                <a:r>
                  <a:rPr lang="en-US" sz="1400" spc="-130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dirty="0">
                    <a:latin typeface="Bookman Old Style"/>
                    <a:cs typeface="Bookman Old Style"/>
                  </a:rPr>
                  <a:t>n</a:t>
                </a:r>
                <a:r>
                  <a:rPr lang="en-US" sz="1400" baseline="-13888" dirty="0">
                    <a:latin typeface="Arial"/>
                    <a:cs typeface="Arial"/>
                  </a:rPr>
                  <a:t>p</a:t>
                </a:r>
                <a:r>
                  <a:rPr lang="en-US" sz="1400" spc="735" baseline="-13888" dirty="0">
                    <a:latin typeface="Arial"/>
                    <a:cs typeface="Arial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и</a:t>
                </a:r>
                <a:r>
                  <a:rPr lang="bg-BG" sz="1400" spc="385" dirty="0">
                    <a:latin typeface="Times New Roman"/>
                    <a:cs typeface="Times New Roman"/>
                  </a:rPr>
                  <a:t> </a:t>
                </a:r>
                <a:r>
                  <a:rPr lang="en-US" sz="1400" b="0" i="1" dirty="0">
                    <a:latin typeface="Bookman Old Style"/>
                    <a:cs typeface="Bookman Old Style"/>
                  </a:rPr>
                  <a:t>q</a:t>
                </a:r>
                <a:r>
                  <a:rPr lang="en-US" sz="1400" b="0" i="1" spc="480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dirty="0">
                    <a:latin typeface="Book Antiqua"/>
                    <a:cs typeface="Book Antiqua"/>
                  </a:rPr>
                  <a:t>:</a:t>
                </a:r>
                <a:r>
                  <a:rPr lang="en-US" sz="1400" spc="20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160" dirty="0">
                    <a:latin typeface="Bookman Old Style"/>
                    <a:cs typeface="Bookman Old Style"/>
                  </a:rPr>
                  <a:t>y</a:t>
                </a:r>
                <a:r>
                  <a:rPr lang="en-US" sz="1400" b="0" i="1" spc="1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180" dirty="0">
                    <a:latin typeface="Book Antiqua"/>
                    <a:cs typeface="Book Antiqua"/>
                  </a:rPr>
                  <a:t>=</a:t>
                </a:r>
                <a:r>
                  <a:rPr lang="en-US" sz="1400" spc="30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35" dirty="0" err="1">
                    <a:latin typeface="Bookman Old Style"/>
                    <a:cs typeface="Bookman Old Style"/>
                  </a:rPr>
                  <a:t>k</a:t>
                </a:r>
                <a:r>
                  <a:rPr lang="en-US" sz="1400" spc="-52" baseline="-13888" dirty="0" err="1">
                    <a:latin typeface="Arial"/>
                    <a:cs typeface="Arial"/>
                  </a:rPr>
                  <a:t>q</a:t>
                </a:r>
                <a:r>
                  <a:rPr lang="en-US" sz="1400" b="0" i="1" spc="-35" dirty="0" err="1">
                    <a:latin typeface="Bookman Old Style"/>
                    <a:cs typeface="Bookman Old Style"/>
                  </a:rPr>
                  <a:t>x</a:t>
                </a:r>
                <a:r>
                  <a:rPr lang="en-US" sz="1400" b="0" i="1" spc="-200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180" dirty="0">
                    <a:latin typeface="Book Antiqua"/>
                    <a:cs typeface="Book Antiqua"/>
                  </a:rPr>
                  <a:t>+</a:t>
                </a:r>
                <a:r>
                  <a:rPr lang="en-US" sz="1400" spc="-130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dirty="0">
                    <a:latin typeface="Bookman Old Style"/>
                    <a:cs typeface="Bookman Old Style"/>
                  </a:rPr>
                  <a:t>n</a:t>
                </a:r>
                <a:r>
                  <a:rPr lang="en-US" sz="1400" baseline="-13888" dirty="0">
                    <a:latin typeface="Arial"/>
                    <a:cs typeface="Arial"/>
                  </a:rPr>
                  <a:t>q</a:t>
                </a:r>
                <a:r>
                  <a:rPr lang="en-US" sz="1400" spc="217" baseline="-13888" dirty="0">
                    <a:latin typeface="Arial"/>
                    <a:cs typeface="Arial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са</a:t>
                </a:r>
                <a:r>
                  <a:rPr lang="bg-BG" sz="1400" spc="5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успоредни</a:t>
                </a:r>
                <a:r>
                  <a:rPr lang="bg-BG" sz="1400" spc="65" dirty="0">
                    <a:latin typeface="Times New Roman"/>
                    <a:cs typeface="Times New Roman"/>
                  </a:rPr>
                  <a:t> </a:t>
                </a:r>
                <a:r>
                  <a:rPr lang="bg-BG" sz="1400" spc="-10" dirty="0">
                    <a:latin typeface="Times New Roman"/>
                    <a:cs typeface="Times New Roman"/>
                  </a:rPr>
                  <a:t>тогава </a:t>
                </a:r>
                <a:r>
                  <a:rPr lang="bg-BG" sz="1400" dirty="0">
                    <a:latin typeface="Times New Roman"/>
                    <a:cs typeface="Times New Roman"/>
                  </a:rPr>
                  <a:t>и</a:t>
                </a:r>
                <a:r>
                  <a:rPr lang="bg-BG" sz="1400" spc="185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само</a:t>
                </a:r>
                <a:r>
                  <a:rPr lang="bg-BG" sz="1400" spc="185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тогава,</a:t>
                </a:r>
                <a:r>
                  <a:rPr lang="bg-BG" sz="1400" spc="18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когато</a:t>
                </a:r>
                <a:r>
                  <a:rPr lang="bg-BG" sz="1400" spc="195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имат</a:t>
                </a:r>
                <a:r>
                  <a:rPr lang="bg-BG" sz="1400" spc="18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равни</a:t>
                </a:r>
                <a:r>
                  <a:rPr lang="bg-BG" sz="1400" spc="19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ъглови</a:t>
                </a:r>
                <a:r>
                  <a:rPr lang="bg-BG" sz="1400" spc="18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коефициенти,</a:t>
                </a:r>
                <a:r>
                  <a:rPr lang="bg-BG" sz="1400" spc="204" dirty="0">
                    <a:latin typeface="Times New Roman"/>
                    <a:cs typeface="Times New Roman"/>
                  </a:rPr>
                  <a:t> </a:t>
                </a:r>
                <a:r>
                  <a:rPr lang="bg-BG" sz="1400" spc="-20" dirty="0">
                    <a:latin typeface="Times New Roman"/>
                    <a:cs typeface="Times New Roman"/>
                  </a:rPr>
                  <a:t>т.е.</a:t>
                </a:r>
                <a:endParaRPr lang="bg-BG" sz="14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15"/>
                  </a:spcBef>
                </a:pPr>
                <a:endParaRPr lang="bg-BG" sz="1400" dirty="0">
                  <a:latin typeface="Times New Roman"/>
                  <a:cs typeface="Times New Roman"/>
                </a:endParaRPr>
              </a:p>
              <a:p>
                <a:pPr marL="2286000">
                  <a:lnSpc>
                    <a:spcPct val="100000"/>
                  </a:lnSpc>
                  <a:tabLst>
                    <a:tab pos="5363210" algn="l"/>
                  </a:tabLst>
                </a:pPr>
                <a:r>
                  <a:rPr lang="en-US" sz="1400" b="0" i="1" dirty="0">
                    <a:latin typeface="Bookman Old Style"/>
                    <a:cs typeface="Bookman Old Style"/>
                  </a:rPr>
                  <a:t>p</a:t>
                </a:r>
                <a:r>
                  <a:rPr lang="en-US" sz="1400" b="0" i="1" spc="-6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-45" dirty="0">
                    <a:latin typeface="Lucida Sans Unicode"/>
                    <a:cs typeface="Lucida Sans Unicode"/>
                  </a:rPr>
                  <a:t>||</a:t>
                </a:r>
                <a:r>
                  <a:rPr lang="en-US" sz="1400" b="0" i="1" spc="-45" dirty="0">
                    <a:latin typeface="Bookman Old Style"/>
                    <a:cs typeface="Bookman Old Style"/>
                  </a:rPr>
                  <a:t>q</a:t>
                </a:r>
                <a:r>
                  <a:rPr lang="en-US" sz="1400" b="0" i="1" spc="26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spc="-10" dirty="0">
                    <a:latin typeface="Lucida Sans Unicode"/>
                    <a:cs typeface="Lucida Sans Unicode"/>
                  </a:rPr>
                  <a:t>⇐⇒</a:t>
                </a:r>
                <a:r>
                  <a:rPr lang="en-US" sz="1400" spc="-85" dirty="0">
                    <a:latin typeface="Lucida Sans Unicode"/>
                    <a:cs typeface="Lucida Sans Unicode"/>
                  </a:rPr>
                  <a:t> </a:t>
                </a:r>
                <a:r>
                  <a:rPr lang="en-US" sz="1400" b="0" i="1" dirty="0" err="1">
                    <a:latin typeface="Bookman Old Style"/>
                    <a:cs typeface="Bookman Old Style"/>
                  </a:rPr>
                  <a:t>k</a:t>
                </a:r>
                <a:r>
                  <a:rPr lang="en-US" sz="1400" baseline="-13888" dirty="0" err="1">
                    <a:latin typeface="Arial"/>
                    <a:cs typeface="Arial"/>
                  </a:rPr>
                  <a:t>p</a:t>
                </a:r>
                <a:r>
                  <a:rPr lang="en-US" sz="1400" spc="60" baseline="-13888" dirty="0">
                    <a:latin typeface="Arial"/>
                    <a:cs typeface="Arial"/>
                  </a:rPr>
                  <a:t> </a:t>
                </a:r>
                <a:r>
                  <a:rPr lang="en-US" sz="1400" spc="180" dirty="0">
                    <a:latin typeface="Book Antiqua"/>
                    <a:cs typeface="Book Antiqua"/>
                  </a:rPr>
                  <a:t>=</a:t>
                </a:r>
                <a:r>
                  <a:rPr lang="en-US" sz="1400" spc="-50" dirty="0">
                    <a:latin typeface="Book Antiqua"/>
                    <a:cs typeface="Book Antiqua"/>
                  </a:rPr>
                  <a:t> </a:t>
                </a:r>
                <a:r>
                  <a:rPr lang="en-US" sz="1400" b="0" i="1" spc="-25" dirty="0" err="1">
                    <a:latin typeface="Bookman Old Style"/>
                    <a:cs typeface="Bookman Old Style"/>
                  </a:rPr>
                  <a:t>k</a:t>
                </a:r>
                <a:r>
                  <a:rPr lang="en-US" sz="1400" spc="-37" baseline="-13888" dirty="0" err="1">
                    <a:latin typeface="Arial"/>
                    <a:cs typeface="Arial"/>
                  </a:rPr>
                  <a:t>q</a:t>
                </a:r>
                <a:r>
                  <a:rPr lang="en-US" sz="1400" baseline="-13888" dirty="0">
                    <a:latin typeface="Arial"/>
                    <a:cs typeface="Arial"/>
                  </a:rPr>
                  <a:t>	</a:t>
                </a:r>
                <a:r>
                  <a:rPr lang="en-US" sz="1400" spc="-10" dirty="0">
                    <a:latin typeface="Times New Roman"/>
                    <a:cs typeface="Times New Roman"/>
                  </a:rPr>
                  <a:t>(1.9)</a:t>
                </a:r>
                <a:endParaRPr lang="en-US" sz="1400" dirty="0">
                  <a:latin typeface="Times New Roman"/>
                  <a:cs typeface="Times New Roman"/>
                </a:endParaRPr>
              </a:p>
              <a:p>
                <a:pPr marL="88265" marR="81915">
                  <a:lnSpc>
                    <a:spcPct val="100000"/>
                  </a:lnSpc>
                  <a:spcBef>
                    <a:spcPts val="1235"/>
                  </a:spcBef>
                </a:pPr>
                <a:r>
                  <a:rPr lang="bg-BG" sz="1400" dirty="0">
                    <a:latin typeface="Times New Roman"/>
                    <a:cs typeface="Times New Roman"/>
                  </a:rPr>
                  <a:t>Ако</a:t>
                </a:r>
                <a:r>
                  <a:rPr lang="bg-BG" sz="1400" spc="26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двете</a:t>
                </a:r>
                <a:r>
                  <a:rPr lang="bg-BG" sz="1400" spc="27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прави</a:t>
                </a:r>
                <a:r>
                  <a:rPr lang="bg-BG" sz="1400" spc="254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са</a:t>
                </a:r>
                <a:r>
                  <a:rPr lang="bg-BG" sz="1400" spc="26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перпендикулярни,</a:t>
                </a:r>
                <a:r>
                  <a:rPr lang="bg-BG" sz="1400" spc="29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тогава</a:t>
                </a:r>
                <a:r>
                  <a:rPr lang="bg-BG" sz="1400" spc="260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са</a:t>
                </a:r>
                <a:r>
                  <a:rPr lang="bg-BG" sz="1400" spc="265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перпендикулярни</a:t>
                </a:r>
                <a:r>
                  <a:rPr lang="bg-BG" sz="1400" spc="295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и</a:t>
                </a:r>
                <a:r>
                  <a:rPr lang="bg-BG" sz="1400" spc="254" dirty="0">
                    <a:latin typeface="Times New Roman"/>
                    <a:cs typeface="Times New Roman"/>
                  </a:rPr>
                  <a:t> </a:t>
                </a:r>
                <a:r>
                  <a:rPr lang="bg-BG" sz="1400" spc="-10" dirty="0">
                    <a:latin typeface="Times New Roman"/>
                    <a:cs typeface="Times New Roman"/>
                  </a:rPr>
                  <a:t>нормалните </a:t>
                </a:r>
                <a:r>
                  <a:rPr lang="bg-BG" sz="1400" dirty="0">
                    <a:latin typeface="Times New Roman"/>
                    <a:cs typeface="Times New Roman"/>
                  </a:rPr>
                  <a:t>им</a:t>
                </a:r>
                <a:r>
                  <a:rPr lang="bg-BG" sz="1400" spc="95" dirty="0">
                    <a:latin typeface="Times New Roman"/>
                    <a:cs typeface="Times New Roman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вектори</a:t>
                </a:r>
                <a:r>
                  <a:rPr lang="bg-BG" sz="1400" spc="95" dirty="0">
                    <a:latin typeface="Times New Roman"/>
                    <a:cs typeface="Times New Roman"/>
                  </a:rPr>
                  <a:t> </a:t>
                </a:r>
                <a:r>
                  <a:rPr lang="en-US" sz="1400" b="0" i="1" dirty="0">
                    <a:latin typeface="Bookman Old Style"/>
                    <a:cs typeface="Bookman Old Style"/>
                  </a:rPr>
                  <a:t>n</a:t>
                </a:r>
                <a:r>
                  <a:rPr lang="en-US" sz="1400" i="1" baseline="-13888" dirty="0">
                    <a:latin typeface="Book Antiqua"/>
                    <a:cs typeface="Book Antiqua"/>
                  </a:rPr>
                  <a:t>p</a:t>
                </a:r>
                <a:r>
                  <a:rPr lang="en-US" sz="1400" i="1" spc="397" baseline="-13888" dirty="0">
                    <a:latin typeface="Book Antiqua"/>
                    <a:cs typeface="Book Antiqua"/>
                  </a:rPr>
                  <a:t> </a:t>
                </a:r>
                <a:r>
                  <a:rPr lang="en-US" sz="1400" spc="-30" dirty="0">
                    <a:latin typeface="Book Antiqua"/>
                    <a:cs typeface="Book Antiqua"/>
                  </a:rPr>
                  <a:t>(</a:t>
                </a:r>
                <a:r>
                  <a:rPr lang="en-US" sz="1400" b="0" i="1" spc="-30" dirty="0" err="1">
                    <a:latin typeface="Bookman Old Style"/>
                    <a:cs typeface="Bookman Old Style"/>
                  </a:rPr>
                  <a:t>k</a:t>
                </a:r>
                <a:r>
                  <a:rPr lang="en-US" sz="1400" spc="-44" baseline="-13888" dirty="0" err="1">
                    <a:latin typeface="Arial"/>
                    <a:cs typeface="Arial"/>
                  </a:rPr>
                  <a:t>p</a:t>
                </a:r>
                <a:r>
                  <a:rPr lang="en-US" sz="1400" b="0" i="1" spc="-30" dirty="0">
                    <a:latin typeface="Bookman Old Style"/>
                    <a:cs typeface="Bookman Old Style"/>
                  </a:rPr>
                  <a:t>,</a:t>
                </a:r>
                <a:r>
                  <a:rPr lang="en-US" sz="1400" b="0" i="1" spc="-15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dirty="0">
                    <a:latin typeface="Lucida Sans Unicode"/>
                    <a:cs typeface="Lucida Sans Unicode"/>
                  </a:rPr>
                  <a:t>−</a:t>
                </a:r>
                <a:r>
                  <a:rPr lang="en-US" sz="1400" dirty="0">
                    <a:latin typeface="Book Antiqua"/>
                    <a:cs typeface="Book Antiqua"/>
                  </a:rPr>
                  <a:t>1)</a:t>
                </a:r>
                <a:r>
                  <a:rPr lang="en-US" sz="1400" spc="100" dirty="0">
                    <a:latin typeface="Book Antiqua"/>
                    <a:cs typeface="Book Antiqua"/>
                  </a:rPr>
                  <a:t> </a:t>
                </a:r>
                <a:r>
                  <a:rPr lang="bg-BG" sz="1400" dirty="0">
                    <a:latin typeface="Times New Roman"/>
                    <a:cs typeface="Times New Roman"/>
                  </a:rPr>
                  <a:t>и</a:t>
                </a:r>
                <a:r>
                  <a:rPr lang="bg-BG" sz="1400" spc="105" dirty="0">
                    <a:latin typeface="Times New Roman"/>
                    <a:cs typeface="Times New Roman"/>
                  </a:rPr>
                  <a:t> </a:t>
                </a:r>
                <a:r>
                  <a:rPr lang="en-US" sz="1400" b="0" i="1" dirty="0">
                    <a:latin typeface="Bookman Old Style"/>
                    <a:cs typeface="Bookman Old Style"/>
                  </a:rPr>
                  <a:t>n</a:t>
                </a:r>
                <a:r>
                  <a:rPr lang="en-US" sz="1400" baseline="-13888" dirty="0">
                    <a:latin typeface="Arial"/>
                    <a:cs typeface="Arial"/>
                  </a:rPr>
                  <a:t>q</a:t>
                </a:r>
                <a:r>
                  <a:rPr lang="en-US" sz="1400" spc="330" baseline="-13888" dirty="0">
                    <a:latin typeface="Arial"/>
                    <a:cs typeface="Arial"/>
                  </a:rPr>
                  <a:t> </a:t>
                </a:r>
                <a:r>
                  <a:rPr lang="en-US" sz="1400" spc="-30" dirty="0">
                    <a:latin typeface="Book Antiqua"/>
                    <a:cs typeface="Book Antiqua"/>
                  </a:rPr>
                  <a:t>(</a:t>
                </a:r>
                <a:r>
                  <a:rPr lang="en-US" sz="1400" b="0" i="1" spc="-30" dirty="0" err="1">
                    <a:latin typeface="Bookman Old Style"/>
                    <a:cs typeface="Bookman Old Style"/>
                  </a:rPr>
                  <a:t>k</a:t>
                </a:r>
                <a:r>
                  <a:rPr lang="en-US" sz="1400" spc="-44" baseline="-13888" dirty="0" err="1">
                    <a:latin typeface="Arial"/>
                    <a:cs typeface="Arial"/>
                  </a:rPr>
                  <a:t>q</a:t>
                </a:r>
                <a:r>
                  <a:rPr lang="en-US" sz="1400" b="0" i="1" spc="-30" dirty="0">
                    <a:latin typeface="Bookman Old Style"/>
                    <a:cs typeface="Bookman Old Style"/>
                  </a:rPr>
                  <a:t>,</a:t>
                </a:r>
                <a:r>
                  <a:rPr lang="en-US" sz="1400" b="0" i="1" spc="-155" dirty="0">
                    <a:latin typeface="Bookman Old Style"/>
                    <a:cs typeface="Bookman Old Style"/>
                  </a:rPr>
                  <a:t> </a:t>
                </a:r>
                <a:r>
                  <a:rPr lang="en-US" sz="1400" dirty="0">
                    <a:latin typeface="Lucida Sans Unicode"/>
                    <a:cs typeface="Lucida Sans Unicode"/>
                  </a:rPr>
                  <a:t>−</a:t>
                </a:r>
                <a:r>
                  <a:rPr lang="en-US" sz="1400" dirty="0">
                    <a:latin typeface="Book Antiqua"/>
                    <a:cs typeface="Book Antiqua"/>
                  </a:rPr>
                  <a:t>1)</a:t>
                </a:r>
                <a:r>
                  <a:rPr lang="en-US" sz="1400" b="0" i="1" dirty="0">
                    <a:latin typeface="Bookman Old Style"/>
                    <a:cs typeface="Bookman Old Style"/>
                  </a:rPr>
                  <a:t>.</a:t>
                </a:r>
                <a:r>
                  <a:rPr lang="en-US" sz="1400" b="0" i="1" spc="35" dirty="0">
                    <a:latin typeface="Bookman Old Style"/>
                    <a:cs typeface="Bookman Old Style"/>
                  </a:rPr>
                  <a:t> </a:t>
                </a:r>
                <a:r>
                  <a:rPr lang="bg-BG" sz="1400" spc="-10" dirty="0">
                    <a:latin typeface="Times New Roman"/>
                    <a:cs typeface="Times New Roman"/>
                  </a:rPr>
                  <a:t>Следователно</a:t>
                </a:r>
                <a:endParaRPr lang="en-US" sz="1400" dirty="0">
                  <a:latin typeface="Times New Roman"/>
                  <a:cs typeface="Times New Roman"/>
                </a:endParaRPr>
              </a:p>
              <a:p>
                <a:pPr marL="88265" marR="81915">
                  <a:lnSpc>
                    <a:spcPct val="100000"/>
                  </a:lnSpc>
                  <a:spcBef>
                    <a:spcPts val="1235"/>
                  </a:spcBef>
                </a:pPr>
                <a:r>
                  <a:rPr lang="en-US" sz="1600" b="0" i="1" dirty="0">
                    <a:latin typeface="Bookman Old Style"/>
                    <a:cs typeface="Bookman Old Style"/>
                  </a:rPr>
                  <a:t>p</a:t>
                </a:r>
                <a:r>
                  <a:rPr lang="en-US" sz="1600" b="0" i="1" spc="315" dirty="0">
                    <a:latin typeface="Bookman Old Style"/>
                    <a:cs typeface="Bookman Old Style"/>
                  </a:rPr>
                  <a:t> </a:t>
                </a:r>
                <a:r>
                  <a:rPr lang="en-US" sz="1600" dirty="0">
                    <a:latin typeface="Lucida Sans Unicode"/>
                    <a:cs typeface="Lucida Sans Unicode"/>
                  </a:rPr>
                  <a:t>⊥</a:t>
                </a:r>
                <a:r>
                  <a:rPr lang="en-US" sz="1600" spc="-85" dirty="0">
                    <a:latin typeface="Lucida Sans Unicode"/>
                    <a:cs typeface="Lucida Sans Unicode"/>
                  </a:rPr>
                  <a:t> </a:t>
                </a:r>
                <a:r>
                  <a:rPr lang="en-US" sz="1600" b="0" i="1" dirty="0">
                    <a:latin typeface="Bookman Old Style"/>
                    <a:cs typeface="Bookman Old Style"/>
                  </a:rPr>
                  <a:t>q  </a:t>
                </a:r>
                <a14:m>
                  <m:oMath xmlns:m="http://schemas.openxmlformats.org/officeDocument/2006/math">
                    <m:r>
                      <a:rPr lang="en-US" sz="16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 </m:t>
                    </m:r>
                    <m:r>
                      <a:rPr lang="ar-AE" sz="160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⇔</m:t>
                    </m:r>
                    <m:r>
                      <a:rPr lang="en-US" sz="16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 </m:t>
                    </m:r>
                  </m:oMath>
                </a14:m>
                <a:r>
                  <a:rPr lang="ar-AE" sz="1600" spc="-75" dirty="0">
                    <a:latin typeface="Lucida Sans Unicode"/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sz="1600" i="1" spc="-75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sz="1600" i="1" spc="-75" dirty="0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ar-AE" sz="1600" b="0" i="1" spc="-75" dirty="0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  <m:t>𝑛</m:t>
                            </m:r>
                          </m:e>
                          <m:sub>
                            <m:r>
                              <a:rPr lang="ar-AE" sz="1600" b="0" i="1" spc="-75" dirty="0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  <m:t>𝑝</m:t>
                            </m:r>
                          </m:sub>
                        </m:sSub>
                      </m:e>
                    </m:acc>
                    <m:r>
                      <a:rPr lang="ar-AE" sz="160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⊥</m:t>
                    </m:r>
                    <m:acc>
                      <m:accPr>
                        <m:chr m:val="⃗"/>
                        <m:ctrlPr>
                          <a:rPr lang="ar-AE" sz="160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sz="1600" i="1" spc="-75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b="0" i="1" spc="-75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ar-AE" sz="1600" b="0" i="1" spc="-75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acc>
                    <m:r>
                      <a:rPr lang="en-US" sz="1600" b="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ar-AE" sz="160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600" b="0" i="1" spc="-35" dirty="0">
                    <a:latin typeface="Bookman Old Style"/>
                    <a:cs typeface="Bookman Old Style"/>
                  </a:rPr>
                  <a:t> </a:t>
                </a:r>
                <a:r>
                  <a:rPr lang="ar-AE" sz="1600" b="0" i="1" spc="-35" dirty="0">
                    <a:latin typeface="Bookman Old Style"/>
                    <a:cs typeface="Bookman Old Style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sz="1600" i="1" spc="-75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sz="1600" i="1" spc="-75" dirty="0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ar-AE" sz="1600" b="0" i="1" spc="-75" dirty="0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  <m:t>𝑛</m:t>
                            </m:r>
                          </m:e>
                          <m:sub>
                            <m:r>
                              <a:rPr lang="ar-AE" sz="1600" b="0" i="1" spc="-75" dirty="0" smtClean="0">
                                <a:latin typeface="Cambria Math" panose="02040503050406030204" pitchFamily="18" charset="0"/>
                                <a:cs typeface="Lucida Sans Unicode"/>
                              </a:rPr>
                              <m:t>𝑝</m:t>
                            </m:r>
                          </m:sub>
                        </m:sSub>
                      </m:e>
                    </m:acc>
                    <m:r>
                      <a:rPr lang="ar-AE" sz="1600" b="0" i="1" spc="-75" dirty="0" smtClean="0">
                        <a:latin typeface="Cambria Math" panose="02040503050406030204" pitchFamily="18" charset="0"/>
                        <a:cs typeface="Lucida Sans Unicode"/>
                      </a:rPr>
                      <m:t>.</m:t>
                    </m:r>
                    <m:acc>
                      <m:accPr>
                        <m:chr m:val="⃗"/>
                        <m:ctrlPr>
                          <a:rPr lang="ar-AE" sz="160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sz="1600" i="1" spc="-75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b="0" i="1" spc="-75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ar-AE" sz="1600" b="0" i="1" spc="-75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acc>
                    <m:r>
                      <a:rPr lang="ar-AE" sz="1600" b="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1600" b="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ar-AE" sz="1600" b="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ar-AE" sz="1600" b="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ar-AE" sz="1600" b="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sz="1600" b="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ar-AE" sz="1600" b="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ar-AE" sz="1600" b="0" spc="-75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1600" b="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1600" b="0" i="1" spc="-75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ar-AE" sz="1600" b="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ar-AE" sz="1600" b="0" i="1" spc="-7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1600" dirty="0">
                  <a:latin typeface="Times New Roman"/>
                  <a:cs typeface="Times New Roman"/>
                </a:endParaRPr>
              </a:p>
              <a:p>
                <a:pPr marL="1091565">
                  <a:lnSpc>
                    <a:spcPct val="100000"/>
                  </a:lnSpc>
                  <a:spcBef>
                    <a:spcPts val="1225"/>
                  </a:spcBef>
                  <a:tabLst>
                    <a:tab pos="5288280" algn="l"/>
                  </a:tabLst>
                </a:pPr>
                <a:endParaRPr sz="1400" spc="100" dirty="0">
                  <a:latin typeface="Times New Roman" panose="02020603050405020304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83" y="1365336"/>
                <a:ext cx="6214396" cy="2324611"/>
              </a:xfrm>
              <a:prstGeom prst="rect">
                <a:avLst/>
              </a:prstGeom>
              <a:blipFill>
                <a:blip r:embed="rId2"/>
                <a:stretch>
                  <a:fillRect l="-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 txBox="1"/>
          <p:nvPr/>
        </p:nvSpPr>
        <p:spPr>
          <a:xfrm>
            <a:off x="3356556" y="6261100"/>
            <a:ext cx="4064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Times New Roman"/>
                <a:cs typeface="Times New Roman"/>
              </a:rPr>
              <a:t>(1.11)</a:t>
            </a:r>
            <a:endParaRPr sz="12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>
              <a:xfrm>
                <a:off x="683764" y="6708712"/>
                <a:ext cx="5654675" cy="84369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8575" algn="ctr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bg-BG" b="1" spc="175" dirty="0">
                    <a:latin typeface="Cambria"/>
                    <a:cs typeface="Cambria"/>
                  </a:rPr>
                  <a:t>ЗАДАЧИ</a:t>
                </a:r>
                <a:endParaRPr lang="bg-BG" dirty="0">
                  <a:latin typeface="Cambria"/>
                  <a:cs typeface="Cambria"/>
                </a:endParaRPr>
              </a:p>
              <a:p>
                <a:pPr>
                  <a:lnSpc>
                    <a:spcPct val="100000"/>
                  </a:lnSpc>
                  <a:spcBef>
                    <a:spcPts val="5"/>
                  </a:spcBef>
                </a:pPr>
                <a:endParaRPr lang="bg-BG" sz="1150" dirty="0">
                  <a:latin typeface="Cambria"/>
                  <a:cs typeface="Cambria"/>
                </a:endParaRPr>
              </a:p>
              <a:p>
                <a:pPr marL="50800" marR="17780" indent="60325">
                  <a:lnSpc>
                    <a:spcPct val="100000"/>
                  </a:lnSpc>
                </a:pPr>
                <a:r>
                  <a:rPr lang="bg-BG" sz="1200" b="1" dirty="0">
                    <a:latin typeface="Cambria"/>
                    <a:cs typeface="Cambria"/>
                  </a:rPr>
                  <a:t>1.1</a:t>
                </a:r>
                <a:r>
                  <a:rPr lang="bg-BG" sz="1200" b="1" spc="200" dirty="0">
                    <a:latin typeface="Cambria"/>
                    <a:cs typeface="Cambria"/>
                  </a:rPr>
                  <a:t>  </a:t>
                </a:r>
                <a:r>
                  <a:rPr lang="bg-BG" sz="1200" dirty="0">
                    <a:latin typeface="Times New Roman"/>
                    <a:cs typeface="Times New Roman"/>
                  </a:rPr>
                  <a:t>Точките</a:t>
                </a:r>
                <a:r>
                  <a:rPr lang="bg-BG" sz="1200" spc="165" dirty="0">
                    <a:latin typeface="Times New Roman"/>
                    <a:cs typeface="Times New Roman"/>
                  </a:rPr>
                  <a:t> </a:t>
                </a:r>
                <a:r>
                  <a:rPr lang="en-US" sz="1200" b="0" i="1" dirty="0">
                    <a:latin typeface="Bookman Old Style"/>
                    <a:cs typeface="Bookman Old Style"/>
                  </a:rPr>
                  <a:t>A</a:t>
                </a:r>
                <a:r>
                  <a:rPr lang="en-US" sz="1200" dirty="0">
                    <a:latin typeface="Book Antiqua"/>
                    <a:cs typeface="Book Antiqua"/>
                  </a:rPr>
                  <a:t>(1</a:t>
                </a:r>
                <a:r>
                  <a:rPr lang="en-US" sz="1200" b="0" i="1" dirty="0">
                    <a:latin typeface="Bookman Old Style"/>
                    <a:cs typeface="Bookman Old Style"/>
                  </a:rPr>
                  <a:t>,</a:t>
                </a:r>
                <a:r>
                  <a:rPr lang="en-US" sz="1200" b="0" i="1" spc="-135" dirty="0">
                    <a:latin typeface="Bookman Old Style"/>
                    <a:cs typeface="Bookman Old Style"/>
                  </a:rPr>
                  <a:t> </a:t>
                </a:r>
                <a:r>
                  <a:rPr lang="en-US" sz="1200" dirty="0">
                    <a:latin typeface="Book Antiqua"/>
                    <a:cs typeface="Book Antiqua"/>
                  </a:rPr>
                  <a:t>1)</a:t>
                </a:r>
                <a:r>
                  <a:rPr lang="en-US" sz="1200" dirty="0">
                    <a:latin typeface="Times New Roman"/>
                    <a:cs typeface="Times New Roman"/>
                  </a:rPr>
                  <a:t>,</a:t>
                </a:r>
                <a:r>
                  <a:rPr lang="en-US" sz="1200" spc="165" dirty="0">
                    <a:latin typeface="Times New Roman"/>
                    <a:cs typeface="Times New Roman"/>
                  </a:rPr>
                  <a:t> </a:t>
                </a:r>
                <a:r>
                  <a:rPr lang="en-US" sz="1200" b="0" i="1" dirty="0">
                    <a:latin typeface="Bookman Old Style"/>
                    <a:cs typeface="Bookman Old Style"/>
                  </a:rPr>
                  <a:t>B</a:t>
                </a:r>
                <a:r>
                  <a:rPr lang="en-US" sz="1200" dirty="0">
                    <a:latin typeface="Book Antiqua"/>
                    <a:cs typeface="Book Antiqua"/>
                  </a:rPr>
                  <a:t>(4</a:t>
                </a:r>
                <a:r>
                  <a:rPr lang="en-US" sz="1200" b="0" i="1" dirty="0">
                    <a:latin typeface="Bookman Old Style"/>
                    <a:cs typeface="Bookman Old Style"/>
                  </a:rPr>
                  <a:t>,</a:t>
                </a:r>
                <a:r>
                  <a:rPr lang="en-US" sz="1200" b="0" i="1" spc="-135" dirty="0">
                    <a:latin typeface="Bookman Old Style"/>
                    <a:cs typeface="Bookman Old Style"/>
                  </a:rPr>
                  <a:t> </a:t>
                </a:r>
                <a:r>
                  <a:rPr lang="en-US" sz="1200" dirty="0">
                    <a:latin typeface="Book Antiqua"/>
                    <a:cs typeface="Book Antiqua"/>
                  </a:rPr>
                  <a:t>5)</a:t>
                </a:r>
                <a:r>
                  <a:rPr lang="en-US" sz="1200" spc="150" dirty="0">
                    <a:latin typeface="Book Antiqua"/>
                    <a:cs typeface="Book Antiqua"/>
                  </a:rPr>
                  <a:t> </a:t>
                </a:r>
                <a:r>
                  <a:rPr lang="bg-BG" sz="1200" dirty="0">
                    <a:latin typeface="Times New Roman"/>
                    <a:cs typeface="Times New Roman"/>
                  </a:rPr>
                  <a:t>и</a:t>
                </a:r>
                <a:r>
                  <a:rPr lang="bg-BG" sz="1200" spc="165" dirty="0">
                    <a:latin typeface="Times New Roman"/>
                    <a:cs typeface="Times New Roman"/>
                  </a:rPr>
                  <a:t> </a:t>
                </a:r>
                <a:r>
                  <a:rPr lang="en-US" sz="1200" b="0" i="1" dirty="0">
                    <a:latin typeface="Bookman Old Style"/>
                    <a:cs typeface="Bookman Old Style"/>
                  </a:rPr>
                  <a:t>C</a:t>
                </a:r>
                <a:r>
                  <a:rPr lang="en-US" sz="1200" dirty="0">
                    <a:latin typeface="Book Antiqua"/>
                    <a:cs typeface="Book Antiqua"/>
                  </a:rPr>
                  <a:t>(3</a:t>
                </a:r>
                <a:r>
                  <a:rPr lang="en-US" sz="1200" b="0" i="1" dirty="0">
                    <a:latin typeface="Bookman Old Style"/>
                    <a:cs typeface="Bookman Old Style"/>
                  </a:rPr>
                  <a:t>,</a:t>
                </a:r>
                <a:r>
                  <a:rPr lang="en-US" sz="1200" b="0" i="1" spc="-135" dirty="0">
                    <a:latin typeface="Bookman Old Style"/>
                    <a:cs typeface="Bookman Old Style"/>
                  </a:rPr>
                  <a:t> </a:t>
                </a:r>
                <a:r>
                  <a:rPr lang="en-US" sz="1200" dirty="0">
                    <a:latin typeface="Lucida Sans Unicode"/>
                    <a:cs typeface="Lucida Sans Unicode"/>
                  </a:rPr>
                  <a:t>−</a:t>
                </a:r>
                <a:r>
                  <a:rPr lang="en-US" sz="1200" dirty="0">
                    <a:latin typeface="Book Antiqua"/>
                    <a:cs typeface="Book Antiqua"/>
                  </a:rPr>
                  <a:t>2)</a:t>
                </a:r>
                <a:r>
                  <a:rPr lang="en-US" sz="1200" spc="155" dirty="0">
                    <a:latin typeface="Book Antiqua"/>
                    <a:cs typeface="Book Antiqua"/>
                  </a:rPr>
                  <a:t> </a:t>
                </a:r>
                <a:r>
                  <a:rPr lang="bg-BG" sz="1200" dirty="0">
                    <a:latin typeface="Times New Roman"/>
                    <a:cs typeface="Times New Roman"/>
                  </a:rPr>
                  <a:t>са</a:t>
                </a:r>
                <a:r>
                  <a:rPr lang="bg-BG" sz="1200" spc="165" dirty="0">
                    <a:latin typeface="Times New Roman"/>
                    <a:cs typeface="Times New Roman"/>
                  </a:rPr>
                  <a:t> </a:t>
                </a:r>
                <a:r>
                  <a:rPr lang="bg-BG" sz="1200" dirty="0">
                    <a:latin typeface="Times New Roman"/>
                    <a:cs typeface="Times New Roman"/>
                  </a:rPr>
                  <a:t>върхове</a:t>
                </a:r>
                <a:r>
                  <a:rPr lang="bg-BG" sz="1200" spc="165" dirty="0">
                    <a:latin typeface="Times New Roman"/>
                    <a:cs typeface="Times New Roman"/>
                  </a:rPr>
                  <a:t> </a:t>
                </a:r>
                <a:r>
                  <a:rPr lang="bg-BG" sz="1200" dirty="0">
                    <a:latin typeface="Times New Roman"/>
                    <a:cs typeface="Times New Roman"/>
                  </a:rPr>
                  <a:t>на</a:t>
                </a:r>
                <a:r>
                  <a:rPr lang="bg-BG" sz="1200" spc="175" dirty="0">
                    <a:latin typeface="Times New Roman"/>
                    <a:cs typeface="Times New Roman"/>
                  </a:rPr>
                  <a:t> </a:t>
                </a:r>
                <a:r>
                  <a:rPr lang="bg-BG" sz="1000" spc="50" dirty="0">
                    <a:latin typeface="Lucida Sans Unicode"/>
                    <a:cs typeface="Lucida Sans Unicode"/>
                  </a:rPr>
                  <a:t>△</a:t>
                </a:r>
                <a:r>
                  <a:rPr lang="en-US" sz="1200" b="0" i="1" spc="50" dirty="0">
                    <a:latin typeface="Bookman Old Style"/>
                    <a:cs typeface="Bookman Old Style"/>
                  </a:rPr>
                  <a:t>ABC</a:t>
                </a:r>
                <a:r>
                  <a:rPr lang="en-US" sz="1200" spc="50" dirty="0">
                    <a:latin typeface="Times New Roman"/>
                    <a:cs typeface="Times New Roman"/>
                  </a:rPr>
                  <a:t>.</a:t>
                </a:r>
                <a:r>
                  <a:rPr lang="en-US" sz="1200" spc="165" dirty="0">
                    <a:latin typeface="Times New Roman"/>
                    <a:cs typeface="Times New Roman"/>
                  </a:rPr>
                  <a:t> </a:t>
                </a:r>
                <a:r>
                  <a:rPr lang="bg-BG" sz="1200" dirty="0">
                    <a:latin typeface="Times New Roman"/>
                    <a:cs typeface="Times New Roman"/>
                  </a:rPr>
                  <a:t>Напишете</a:t>
                </a:r>
                <a:r>
                  <a:rPr lang="bg-BG" sz="1200" spc="165" dirty="0">
                    <a:latin typeface="Times New Roman"/>
                    <a:cs typeface="Times New Roman"/>
                  </a:rPr>
                  <a:t> </a:t>
                </a:r>
                <a:r>
                  <a:rPr lang="bg-BG" sz="1200" spc="-10" dirty="0">
                    <a:latin typeface="Times New Roman"/>
                    <a:cs typeface="Times New Roman"/>
                  </a:rPr>
                  <a:t>уравне- </a:t>
                </a:r>
                <a:r>
                  <a:rPr lang="bg-BG" sz="1200" dirty="0">
                    <a:latin typeface="Times New Roman"/>
                    <a:cs typeface="Times New Roman"/>
                  </a:rPr>
                  <a:t>нието</a:t>
                </a:r>
                <a:r>
                  <a:rPr lang="bg-BG" sz="1200" spc="150" dirty="0">
                    <a:latin typeface="Times New Roman"/>
                    <a:cs typeface="Times New Roman"/>
                  </a:rPr>
                  <a:t> </a:t>
                </a:r>
                <a:r>
                  <a:rPr lang="bg-BG" sz="1200" dirty="0">
                    <a:latin typeface="Times New Roman"/>
                    <a:cs typeface="Times New Roman"/>
                  </a:rPr>
                  <a:t>на</a:t>
                </a:r>
                <a:r>
                  <a:rPr lang="bg-BG" sz="1200" spc="135" dirty="0">
                    <a:latin typeface="Times New Roman"/>
                    <a:cs typeface="Times New Roman"/>
                  </a:rPr>
                  <a:t> </a:t>
                </a:r>
                <a:r>
                  <a:rPr lang="bg-BG" sz="1200" dirty="0">
                    <a:latin typeface="Times New Roman"/>
                    <a:cs typeface="Times New Roman"/>
                  </a:rPr>
                  <a:t>височината</a:t>
                </a:r>
                <a:r>
                  <a:rPr lang="bg-BG" sz="1200" spc="160" dirty="0">
                    <a:latin typeface="Times New Roman"/>
                    <a:cs typeface="Times New Roman"/>
                  </a:rPr>
                  <a:t> </a:t>
                </a:r>
                <a:r>
                  <a:rPr lang="en-US" sz="1200" b="0" i="1" dirty="0" err="1">
                    <a:latin typeface="Bookman Old Style"/>
                    <a:cs typeface="Bookman Old Style"/>
                  </a:rPr>
                  <a:t>h</a:t>
                </a:r>
                <a:r>
                  <a:rPr lang="en-US" sz="1200" i="1" baseline="-13888" dirty="0" err="1">
                    <a:latin typeface="Book Antiqua"/>
                    <a:cs typeface="Book Antiqua"/>
                  </a:rPr>
                  <a:t>C</a:t>
                </a:r>
                <a:r>
                  <a:rPr lang="en-US" sz="1200" i="1" spc="555" baseline="-13888" dirty="0">
                    <a:latin typeface="Book Antiqua"/>
                    <a:cs typeface="Book Antiqua"/>
                  </a:rPr>
                  <a:t> ,</a:t>
                </a:r>
                <a:r>
                  <a:rPr lang="en-US" sz="1200" spc="145" dirty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spc="145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200" b="0" i="1" spc="145" smtClean="0">
                            <a:latin typeface="Cambria Math" panose="02040503050406030204" pitchFamily="18" charset="0"/>
                            <a:cs typeface="Times New Roman"/>
                          </a:rPr>
                          <m:t>𝑚</m:t>
                        </m:r>
                      </m:e>
                      <m:sub>
                        <m:r>
                          <a:rPr lang="en-US" sz="1200" b="0" i="1" spc="145" smtClean="0">
                            <a:latin typeface="Cambria Math" panose="02040503050406030204" pitchFamily="18" charset="0"/>
                            <a:cs typeface="Times New Roman"/>
                          </a:rPr>
                          <m:t>𝑐</m:t>
                        </m:r>
                        <m:r>
                          <a:rPr lang="en-US" sz="1200" b="0" i="1" spc="145" smtClean="0">
                            <a:latin typeface="Cambria Math" panose="02040503050406030204" pitchFamily="18" charset="0"/>
                            <a:cs typeface="Times New Roman"/>
                          </a:rPr>
                          <m:t> ,</m:t>
                        </m:r>
                      </m:sub>
                    </m:sSub>
                    <m:r>
                      <a:rPr lang="en-US" sz="1200" b="0" i="1" spc="145" smtClean="0"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sz="1200" b="0" i="1" spc="145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200" b="0" i="1" spc="145" smtClean="0">
                            <a:latin typeface="Cambria Math" panose="02040503050406030204" pitchFamily="18" charset="0"/>
                            <a:cs typeface="Times New Roman"/>
                          </a:rPr>
                          <m:t>𝑙</m:t>
                        </m:r>
                      </m:e>
                      <m:sub>
                        <m:r>
                          <a:rPr lang="en-US" sz="1200" b="0" i="1" spc="145" smtClean="0">
                            <a:latin typeface="Cambria Math" panose="02040503050406030204" pitchFamily="18" charset="0"/>
                            <a:cs typeface="Times New Roman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bg-BG" sz="1200" dirty="0">
                    <a:latin typeface="Times New Roman"/>
                    <a:cs typeface="Times New Roman"/>
                  </a:rPr>
                  <a:t> спуснати от върха</a:t>
                </a:r>
                <a:r>
                  <a:rPr lang="bg-BG" sz="1200" spc="150" dirty="0">
                    <a:latin typeface="Times New Roman"/>
                    <a:cs typeface="Times New Roman"/>
                  </a:rPr>
                  <a:t> </a:t>
                </a:r>
                <a:r>
                  <a:rPr lang="en-US" sz="1200" b="0" i="1" dirty="0">
                    <a:latin typeface="Bookman Old Style"/>
                    <a:cs typeface="Bookman Old Style"/>
                  </a:rPr>
                  <a:t>C</a:t>
                </a:r>
                <a:r>
                  <a:rPr lang="en-US" sz="1200" b="0" i="1" spc="175" dirty="0">
                    <a:latin typeface="Bookman Old Style"/>
                    <a:cs typeface="Bookman Old Style"/>
                  </a:rPr>
                  <a:t> </a:t>
                </a:r>
                <a:r>
                  <a:rPr lang="bg-BG" sz="1200" dirty="0">
                    <a:latin typeface="Times New Roman"/>
                    <a:cs typeface="Times New Roman"/>
                  </a:rPr>
                  <a:t>.</a:t>
                </a:r>
                <a:endParaRPr sz="120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64" y="6708712"/>
                <a:ext cx="5654675" cy="843693"/>
              </a:xfrm>
              <a:prstGeom prst="rect">
                <a:avLst/>
              </a:prstGeom>
              <a:blipFill>
                <a:blip r:embed="rId3"/>
                <a:stretch>
                  <a:fillRect l="-754" t="-9420" r="-323" b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bject 38"/>
          <p:cNvSpPr txBox="1"/>
          <p:nvPr/>
        </p:nvSpPr>
        <p:spPr>
          <a:xfrm>
            <a:off x="789046" y="863269"/>
            <a:ext cx="51327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8.</a:t>
            </a:r>
            <a:r>
              <a:rPr sz="1400" b="1" spc="22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Условия</a:t>
            </a:r>
            <a:r>
              <a:rPr sz="1400" b="1" spc="21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за</a:t>
            </a:r>
            <a:r>
              <a:rPr sz="1400" b="1" spc="22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успоредност</a:t>
            </a:r>
            <a:r>
              <a:rPr sz="1400" b="1" spc="229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и</a:t>
            </a:r>
            <a:r>
              <a:rPr sz="1400" b="1" spc="22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за</a:t>
            </a:r>
            <a:r>
              <a:rPr sz="1400" b="1" spc="204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перпендикулярност</a:t>
            </a:r>
            <a:r>
              <a:rPr sz="1400" b="1" spc="254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на</a:t>
            </a:r>
            <a:r>
              <a:rPr sz="1400" b="1" spc="225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две</a:t>
            </a:r>
            <a:r>
              <a:rPr sz="1400" b="1" spc="229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 </a:t>
            </a:r>
            <a:r>
              <a:rPr sz="1400" b="1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Cambria"/>
              </a:rPr>
              <a:t>прави</a:t>
            </a:r>
            <a:endParaRPr sz="14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Cambri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712B8-2728-416F-FDFA-5A4B02BA0D3F}"/>
                  </a:ext>
                </a:extLst>
              </p:cNvPr>
              <p:cNvSpPr txBox="1"/>
              <p:nvPr/>
            </p:nvSpPr>
            <p:spPr>
              <a:xfrm>
                <a:off x="645667" y="3689947"/>
                <a:ext cx="3428563" cy="2872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1400" b="0" i="1" dirty="0">
                    <a:solidFill>
                      <a:srgbClr val="0070C0"/>
                    </a:solidFill>
                    <a:latin typeface="+mn-lt"/>
                  </a:rPr>
                  <a:t>9. </a:t>
                </a:r>
                <a:r>
                  <a:rPr lang="bg-BG" sz="1400" b="0" i="1" dirty="0">
                    <a:solidFill>
                      <a:srgbClr val="0070C0"/>
                    </a:solidFill>
                    <a:latin typeface="+mn-lt"/>
                  </a:rPr>
                  <a:t>Разстояние от точка до права</a:t>
                </a:r>
                <a:endParaRPr lang="en-US" sz="1400" b="0" i="1" dirty="0">
                  <a:solidFill>
                    <a:srgbClr val="0070C0"/>
                  </a:solidFill>
                  <a:latin typeface="+mn-lt"/>
                </a:endParaRPr>
              </a:p>
              <a:p>
                <a:pPr/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bg-BG" sz="1400" b="0" dirty="0">
                    <a:latin typeface="+mn-lt"/>
                  </a:rPr>
                  <a:t>Нека е дадена права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400" dirty="0"/>
              </a:p>
              <a:p>
                <a:pPr>
                  <a:lnSpc>
                    <a:spcPct val="150000"/>
                  </a:lnSpc>
                </a:pPr>
                <a:r>
                  <a:rPr lang="bg-BG" sz="1400" b="0" dirty="0">
                    <a:latin typeface="+mn-lt"/>
                  </a:rPr>
                  <a:t>И т.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bg-BG" sz="1400" b="0" dirty="0">
                    <a:latin typeface="+mn-lt"/>
                  </a:rPr>
                  <a:t> нележаща на правата. Тогава разстоянието от т,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bg-BG" sz="1400" b="0" dirty="0">
                    <a:latin typeface="+mn-lt"/>
                  </a:rPr>
                  <a:t> до правата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bg-BG" sz="1400" dirty="0"/>
                  <a:t> се пресмята по формулата</a:t>
                </a:r>
                <a:endParaRPr lang="en-US" sz="1400" dirty="0"/>
              </a:p>
              <a:p>
                <a:pPr/>
                <a:r>
                  <a:rPr lang="bg-BG" sz="1400" b="0" dirty="0">
                    <a:latin typeface="+mn-lt"/>
                  </a:rPr>
                  <a:t> </a:t>
                </a:r>
                <a:endParaRPr lang="en-US" sz="1400" b="0" dirty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712B8-2728-416F-FDFA-5A4B02BA0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67" y="3689947"/>
                <a:ext cx="3428563" cy="2872838"/>
              </a:xfrm>
              <a:prstGeom prst="rect">
                <a:avLst/>
              </a:prstGeom>
              <a:blipFill>
                <a:blip r:embed="rId4"/>
                <a:stretch>
                  <a:fillRect l="-534" t="-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AC4549-5518-38B0-34D7-689F08130561}"/>
              </a:ext>
            </a:extLst>
          </p:cNvPr>
          <p:cNvCxnSpPr/>
          <p:nvPr/>
        </p:nvCxnSpPr>
        <p:spPr>
          <a:xfrm>
            <a:off x="4159250" y="5194300"/>
            <a:ext cx="1600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25CB87D-B52C-DBE6-CD33-648CB87E4012}"/>
                  </a:ext>
                </a:extLst>
              </p:cNvPr>
              <p:cNvSpPr txBox="1"/>
              <p:nvPr/>
            </p:nvSpPr>
            <p:spPr>
              <a:xfrm>
                <a:off x="4373640" y="4036520"/>
                <a:ext cx="1104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25CB87D-B52C-DBE6-CD33-648CB87E4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640" y="4036520"/>
                <a:ext cx="1104790" cy="276999"/>
              </a:xfrm>
              <a:prstGeom prst="rect">
                <a:avLst/>
              </a:prstGeom>
              <a:blipFill>
                <a:blip r:embed="rId5"/>
                <a:stretch>
                  <a:fillRect l="-3846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F9393696-C8B2-D03F-86DA-B5A5F14F5F0A}"/>
              </a:ext>
            </a:extLst>
          </p:cNvPr>
          <p:cNvSpPr txBox="1"/>
          <p:nvPr/>
        </p:nvSpPr>
        <p:spPr>
          <a:xfrm>
            <a:off x="4895543" y="4339536"/>
            <a:ext cx="8015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800" dirty="0"/>
              <a:t>O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EB8235A-CE6C-AD64-64FB-0048C4AF783A}"/>
              </a:ext>
            </a:extLst>
          </p:cNvPr>
          <p:cNvCxnSpPr>
            <a:cxnSpLocks/>
          </p:cNvCxnSpPr>
          <p:nvPr/>
        </p:nvCxnSpPr>
        <p:spPr>
          <a:xfrm>
            <a:off x="4919649" y="4428901"/>
            <a:ext cx="15969" cy="7653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ight Brace 35">
            <a:extLst>
              <a:ext uri="{FF2B5EF4-FFF2-40B4-BE49-F238E27FC236}">
                <a16:creationId xmlns:a16="http://schemas.microsoft.com/office/drawing/2014/main" id="{DE27EC79-A9AD-CB3C-BE15-8B5CD43B3A38}"/>
              </a:ext>
            </a:extLst>
          </p:cNvPr>
          <p:cNvSpPr/>
          <p:nvPr/>
        </p:nvSpPr>
        <p:spPr>
          <a:xfrm>
            <a:off x="5105655" y="4386259"/>
            <a:ext cx="241343" cy="79486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11D0DA-CB16-3042-BC13-8F74F51C2896}"/>
                  </a:ext>
                </a:extLst>
              </p:cNvPr>
              <p:cNvSpPr txBox="1"/>
              <p:nvPr/>
            </p:nvSpPr>
            <p:spPr>
              <a:xfrm>
                <a:off x="5396352" y="4632501"/>
                <a:ext cx="130535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bg-BG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bg-BG" sz="1400" b="0" i="1" smtClean="0">
                          <a:latin typeface="+mn-lt"/>
                        </a:rPr>
                        <m:t>разстояние</m:t>
                      </m:r>
                    </m:oMath>
                  </m:oMathPara>
                </a14:m>
                <a:endParaRPr lang="en-US" sz="1400" dirty="0">
                  <a:latin typeface="+mn-lt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11D0DA-CB16-3042-BC13-8F74F51C2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352" y="4632501"/>
                <a:ext cx="1305357" cy="215444"/>
              </a:xfrm>
              <a:prstGeom prst="rect">
                <a:avLst/>
              </a:prstGeom>
              <a:blipFill>
                <a:blip r:embed="rId6"/>
                <a:stretch>
                  <a:fillRect l="-2336" r="-2336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2F3C560-2DAF-BD35-8544-19E0DA028C97}"/>
                  </a:ext>
                </a:extLst>
              </p:cNvPr>
              <p:cNvSpPr txBox="1"/>
              <p:nvPr/>
            </p:nvSpPr>
            <p:spPr>
              <a:xfrm>
                <a:off x="4935618" y="5272766"/>
                <a:ext cx="1906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2F3C560-2DAF-BD35-8544-19E0DA028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18" y="5272766"/>
                <a:ext cx="1906227" cy="276999"/>
              </a:xfrm>
              <a:prstGeom prst="rect">
                <a:avLst/>
              </a:prstGeom>
              <a:blipFill>
                <a:blip r:embed="rId7"/>
                <a:stretch>
                  <a:fillRect l="-2244" r="-2244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Arc 41">
            <a:extLst>
              <a:ext uri="{FF2B5EF4-FFF2-40B4-BE49-F238E27FC236}">
                <a16:creationId xmlns:a16="http://schemas.microsoft.com/office/drawing/2014/main" id="{8A4FB4D9-FB9E-DC8D-0F1A-15D16CDAA064}"/>
              </a:ext>
            </a:extLst>
          </p:cNvPr>
          <p:cNvSpPr/>
          <p:nvPr/>
        </p:nvSpPr>
        <p:spPr>
          <a:xfrm>
            <a:off x="4850599" y="5112011"/>
            <a:ext cx="170037" cy="14148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812671" y="885237"/>
            <a:ext cx="5681345" cy="2623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50000"/>
              </a:lnSpc>
              <a:spcBef>
                <a:spcPts val="95"/>
              </a:spcBef>
            </a:pPr>
            <a:r>
              <a:rPr sz="1200" b="1" dirty="0">
                <a:latin typeface="Cambria"/>
                <a:cs typeface="Cambria"/>
              </a:rPr>
              <a:t>1.2</a:t>
            </a:r>
            <a:r>
              <a:rPr sz="1200" b="1" spc="155" dirty="0">
                <a:latin typeface="Cambria"/>
                <a:cs typeface="Cambria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ортоцентъра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медицентъра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△</a:t>
            </a:r>
            <a:r>
              <a:rPr sz="1200" b="0" i="1" dirty="0">
                <a:latin typeface="Bookman Old Style"/>
                <a:cs typeface="Bookman Old Style"/>
              </a:rPr>
              <a:t>ABC</a:t>
            </a:r>
            <a:r>
              <a:rPr sz="1200" b="0" i="1" spc="15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върхове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b="0" i="1" spc="-10" dirty="0">
                <a:latin typeface="Bookman Old Style"/>
                <a:cs typeface="Bookman Old Style"/>
              </a:rPr>
              <a:t>A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4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1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2)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60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5)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endParaRPr sz="1200" dirty="0">
              <a:latin typeface="Bookman Old Style"/>
              <a:cs typeface="Bookman Old Style"/>
            </a:endParaRPr>
          </a:p>
          <a:p>
            <a:pPr marL="50165">
              <a:lnSpc>
                <a:spcPct val="150000"/>
              </a:lnSpc>
            </a:pP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(5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0)</a:t>
            </a:r>
            <a:r>
              <a:rPr sz="1200" b="0" i="1" spc="-25" dirty="0">
                <a:latin typeface="Bookman Old Style"/>
                <a:cs typeface="Bookman Old Style"/>
              </a:rPr>
              <a:t>.</a:t>
            </a:r>
            <a:endParaRPr lang="bg-BG" sz="1200" b="0" i="1" spc="-25" dirty="0">
              <a:latin typeface="Bookman Old Style"/>
              <a:cs typeface="Bookman Old Style"/>
            </a:endParaRPr>
          </a:p>
          <a:p>
            <a:pPr marL="133985">
              <a:lnSpc>
                <a:spcPct val="150000"/>
              </a:lnSpc>
              <a:spcBef>
                <a:spcPts val="95"/>
              </a:spcBef>
              <a:tabLst>
                <a:tab pos="495300" algn="l"/>
              </a:tabLst>
            </a:pPr>
            <a:r>
              <a:rPr lang="ru-RU" sz="1200" b="1" spc="-25" dirty="0">
                <a:latin typeface="Cambria"/>
                <a:cs typeface="Cambria"/>
              </a:rPr>
              <a:t>1.3</a:t>
            </a:r>
            <a:r>
              <a:rPr lang="ru-RU" sz="1200" b="1" dirty="0">
                <a:latin typeface="Cambria"/>
                <a:cs typeface="Cambria"/>
              </a:rPr>
              <a:t>	</a:t>
            </a:r>
            <a:r>
              <a:rPr lang="ru-RU" sz="1200" dirty="0">
                <a:latin typeface="Times New Roman"/>
                <a:cs typeface="Times New Roman"/>
              </a:rPr>
              <a:t>Точките</a:t>
            </a:r>
            <a:r>
              <a:rPr lang="ru-RU" sz="1200" spc="370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A</a:t>
            </a:r>
            <a:r>
              <a:rPr lang="ru-RU" sz="1200" dirty="0">
                <a:latin typeface="Book Antiqua"/>
                <a:cs typeface="Book Antiqua"/>
              </a:rPr>
              <a:t>(2</a:t>
            </a:r>
            <a:r>
              <a:rPr lang="ru-RU" sz="1200" b="0" i="1" dirty="0">
                <a:latin typeface="Bookman Old Style"/>
                <a:cs typeface="Bookman Old Style"/>
              </a:rPr>
              <a:t>,</a:t>
            </a:r>
            <a:r>
              <a:rPr lang="ru-RU" sz="1200" b="0" i="1" spc="-12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4)</a:t>
            </a:r>
            <a:r>
              <a:rPr lang="ru-RU" sz="1200" spc="36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и</a:t>
            </a:r>
            <a:r>
              <a:rPr lang="ru-RU" sz="1200" spc="370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B</a:t>
            </a:r>
            <a:r>
              <a:rPr lang="ru-RU" sz="1200" dirty="0">
                <a:latin typeface="Book Antiqua"/>
                <a:cs typeface="Book Antiqua"/>
              </a:rPr>
              <a:t>(0</a:t>
            </a:r>
            <a:r>
              <a:rPr lang="ru-RU" sz="1200" b="0" i="1" dirty="0">
                <a:latin typeface="Bookman Old Style"/>
                <a:cs typeface="Bookman Old Style"/>
              </a:rPr>
              <a:t>,</a:t>
            </a:r>
            <a:r>
              <a:rPr lang="ru-RU" sz="1200" b="0" i="1" spc="-12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6)</a:t>
            </a:r>
            <a:r>
              <a:rPr lang="ru-RU" sz="1200" spc="35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са</a:t>
            </a:r>
            <a:r>
              <a:rPr lang="ru-RU" sz="1200" spc="37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върхове</a:t>
            </a:r>
            <a:r>
              <a:rPr lang="ru-RU" sz="1200" spc="35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37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равнобедрен</a:t>
            </a:r>
            <a:r>
              <a:rPr lang="ru-RU" sz="1200" spc="37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триъгълник</a:t>
            </a:r>
            <a:r>
              <a:rPr lang="ru-RU" sz="1200" spc="380" dirty="0">
                <a:latin typeface="Times New Roman"/>
                <a:cs typeface="Times New Roman"/>
              </a:rPr>
              <a:t> </a:t>
            </a:r>
            <a:r>
              <a:rPr lang="ru-RU" sz="1000" spc="-20" dirty="0">
                <a:latin typeface="Lucida Sans Unicode"/>
                <a:cs typeface="Lucida Sans Unicode"/>
              </a:rPr>
              <a:t>△</a:t>
            </a:r>
            <a:r>
              <a:rPr lang="ru-RU" sz="1200" b="0" i="1" spc="-20" dirty="0">
                <a:latin typeface="Bookman Old Style"/>
                <a:cs typeface="Bookman Old Style"/>
              </a:rPr>
              <a:t>ABC</a:t>
            </a:r>
            <a:endParaRPr lang="ru-RU" sz="1200" dirty="0">
              <a:latin typeface="Bookman Old Style"/>
              <a:cs typeface="Bookman Old Style"/>
            </a:endParaRPr>
          </a:p>
          <a:p>
            <a:pPr marL="50800">
              <a:lnSpc>
                <a:spcPct val="150000"/>
              </a:lnSpc>
              <a:spcBef>
                <a:spcPts val="10"/>
              </a:spcBef>
            </a:pPr>
            <a:r>
              <a:rPr lang="ru-RU" sz="1200" dirty="0">
                <a:latin typeface="Book Antiqua"/>
                <a:cs typeface="Book Antiqua"/>
              </a:rPr>
              <a:t>(</a:t>
            </a:r>
            <a:r>
              <a:rPr lang="ru-RU" sz="1200" b="0" i="1" dirty="0">
                <a:latin typeface="Bookman Old Style"/>
                <a:cs typeface="Bookman Old Style"/>
              </a:rPr>
              <a:t>AC</a:t>
            </a:r>
            <a:r>
              <a:rPr lang="ru-RU" sz="1200" b="0" i="1" spc="13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90" dirty="0">
                <a:latin typeface="Book Antiqua"/>
                <a:cs typeface="Book Antiqua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BC</a:t>
            </a:r>
            <a:r>
              <a:rPr lang="ru-RU" sz="1200" dirty="0">
                <a:latin typeface="Book Antiqua"/>
                <a:cs typeface="Book Antiqua"/>
              </a:rPr>
              <a:t>)</a:t>
            </a:r>
            <a:r>
              <a:rPr lang="ru-RU" sz="1200" dirty="0">
                <a:latin typeface="Times New Roman"/>
                <a:cs typeface="Times New Roman"/>
              </a:rPr>
              <a:t>.</a:t>
            </a:r>
            <a:r>
              <a:rPr lang="ru-RU" sz="1200" spc="15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Намерете</a:t>
            </a:r>
            <a:r>
              <a:rPr lang="ru-RU" sz="1200" spc="14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третия</a:t>
            </a:r>
            <a:r>
              <a:rPr lang="ru-RU" sz="1200" spc="16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връх</a:t>
            </a:r>
            <a:r>
              <a:rPr lang="ru-RU" sz="1200" spc="150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C,</a:t>
            </a:r>
            <a:r>
              <a:rPr lang="ru-RU" sz="1200" b="0" i="1" spc="8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ако</a:t>
            </a:r>
            <a:r>
              <a:rPr lang="ru-RU" sz="1200" spc="15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той</a:t>
            </a:r>
            <a:r>
              <a:rPr lang="ru-RU" sz="1200" spc="13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лежи</a:t>
            </a:r>
            <a:r>
              <a:rPr lang="ru-RU" sz="1200" spc="16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15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правата</a:t>
            </a:r>
            <a:r>
              <a:rPr lang="ru-RU" sz="1200" spc="150" dirty="0">
                <a:latin typeface="Times New Roman"/>
                <a:cs typeface="Times New Roman"/>
              </a:rPr>
              <a:t> </a:t>
            </a:r>
            <a:r>
              <a:rPr lang="ru-RU" sz="1200" b="0" i="1" spc="-120" dirty="0">
                <a:latin typeface="Bookman Old Style"/>
                <a:cs typeface="Bookman Old Style"/>
              </a:rPr>
              <a:t>g</a:t>
            </a:r>
            <a:r>
              <a:rPr lang="ru-RU" sz="1200" b="0" i="1" spc="8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:</a:t>
            </a:r>
            <a:r>
              <a:rPr lang="ru-RU" sz="1200" spc="80" dirty="0">
                <a:latin typeface="Book Antiqua"/>
                <a:cs typeface="Book Antiqua"/>
              </a:rPr>
              <a:t> </a:t>
            </a:r>
            <a:r>
              <a:rPr lang="ru-RU" sz="1200" spc="-10" dirty="0">
                <a:latin typeface="Book Antiqua"/>
                <a:cs typeface="Book Antiqua"/>
              </a:rPr>
              <a:t>2</a:t>
            </a:r>
            <a:r>
              <a:rPr lang="ru-RU" sz="1200" b="0" i="1" spc="-10" dirty="0">
                <a:latin typeface="Bookman Old Style"/>
                <a:cs typeface="Bookman Old Style"/>
              </a:rPr>
              <a:t>x</a:t>
            </a:r>
            <a:r>
              <a:rPr lang="ru-RU" sz="1200" b="0" i="1" spc="-70" dirty="0">
                <a:latin typeface="Bookman Old Style"/>
                <a:cs typeface="Bookman Old Style"/>
              </a:rPr>
              <a:t> </a:t>
            </a:r>
            <a:r>
              <a:rPr lang="ru-RU" sz="1200" spc="-35" dirty="0">
                <a:latin typeface="Lucida Sans Unicode"/>
                <a:cs typeface="Lucida Sans Unicode"/>
              </a:rPr>
              <a:t>−</a:t>
            </a:r>
            <a:r>
              <a:rPr lang="ru-RU" sz="1200" spc="-85" dirty="0">
                <a:latin typeface="Lucida Sans Unicode"/>
                <a:cs typeface="Lucida Sans Unicode"/>
              </a:rPr>
              <a:t> </a:t>
            </a:r>
            <a:r>
              <a:rPr lang="ru-RU" sz="1200" b="0" i="1" spc="-160" dirty="0">
                <a:latin typeface="Bookman Old Style"/>
                <a:cs typeface="Bookman Old Style"/>
              </a:rPr>
              <a:t>y</a:t>
            </a:r>
            <a:r>
              <a:rPr lang="ru-RU" sz="1200" b="0" i="1" spc="-15" dirty="0">
                <a:latin typeface="Bookman Old Style"/>
                <a:cs typeface="Bookman Old Style"/>
              </a:rPr>
              <a:t> </a:t>
            </a:r>
            <a:r>
              <a:rPr lang="ru-RU" sz="1200" spc="-35" dirty="0">
                <a:latin typeface="Lucida Sans Unicode"/>
                <a:cs typeface="Lucida Sans Unicode"/>
              </a:rPr>
              <a:t>−</a:t>
            </a:r>
            <a:r>
              <a:rPr lang="ru-RU" sz="1200" spc="-90" dirty="0">
                <a:latin typeface="Lucida Sans Unicode"/>
                <a:cs typeface="Lucida Sans Unicod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6</a:t>
            </a:r>
            <a:r>
              <a:rPr lang="ru-RU" sz="1200" spc="8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100" dirty="0">
                <a:latin typeface="Book Antiqua"/>
                <a:cs typeface="Book Antiqua"/>
              </a:rPr>
              <a:t> </a:t>
            </a:r>
            <a:r>
              <a:rPr lang="ru-RU" sz="1200" spc="-25" dirty="0">
                <a:latin typeface="Book Antiqua"/>
                <a:cs typeface="Book Antiqua"/>
              </a:rPr>
              <a:t>0</a:t>
            </a:r>
            <a:r>
              <a:rPr lang="ru-RU" sz="1200" b="0" i="1" spc="-25" dirty="0">
                <a:latin typeface="Bookman Old Style"/>
                <a:cs typeface="Bookman Old Style"/>
              </a:rPr>
              <a:t>.</a:t>
            </a:r>
            <a:endParaRPr lang="ru-RU" sz="1200" dirty="0">
              <a:latin typeface="Bookman Old Style"/>
              <a:cs typeface="Bookman Old Style"/>
            </a:endParaRPr>
          </a:p>
          <a:p>
            <a:pPr marL="50165">
              <a:lnSpc>
                <a:spcPct val="150000"/>
              </a:lnSpc>
            </a:pPr>
            <a:r>
              <a:rPr lang="ru-RU" sz="1200" b="1" dirty="0">
                <a:latin typeface="Cambria"/>
                <a:cs typeface="Cambria"/>
              </a:rPr>
              <a:t>1.4</a:t>
            </a:r>
            <a:r>
              <a:rPr lang="ru-RU" sz="1200" b="1" spc="150" dirty="0">
                <a:latin typeface="Cambria"/>
                <a:cs typeface="Cambria"/>
              </a:rPr>
              <a:t>  </a:t>
            </a:r>
            <a:r>
              <a:rPr lang="ru-RU" sz="1200" spc="65" dirty="0">
                <a:latin typeface="Times New Roman"/>
                <a:cs typeface="Times New Roman"/>
              </a:rPr>
              <a:t>Да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се</a:t>
            </a:r>
            <a:r>
              <a:rPr lang="ru-RU" sz="1200" spc="12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намери</a:t>
            </a:r>
            <a:r>
              <a:rPr lang="ru-RU" sz="1200" spc="12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точка</a:t>
            </a:r>
            <a:r>
              <a:rPr lang="ru-RU" sz="1200" spc="114" dirty="0">
                <a:latin typeface="Times New Roman"/>
                <a:cs typeface="Times New Roman"/>
              </a:rPr>
              <a:t> </a:t>
            </a:r>
            <a:r>
              <a:rPr lang="ru-RU" sz="1200" b="0" i="1" spc="65" dirty="0">
                <a:latin typeface="Bookman Old Style"/>
                <a:cs typeface="Bookman Old Style"/>
              </a:rPr>
              <a:t>N</a:t>
            </a:r>
            <a:r>
              <a:rPr lang="ru-RU" sz="1200" b="0" i="1" spc="-22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,</a:t>
            </a:r>
            <a:r>
              <a:rPr lang="ru-RU" sz="1200" spc="12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ортогонално</a:t>
            </a:r>
            <a:r>
              <a:rPr lang="ru-RU" sz="1200" spc="11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симетрична</a:t>
            </a:r>
            <a:r>
              <a:rPr lang="ru-RU" sz="1200" spc="14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114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точката</a:t>
            </a:r>
            <a:r>
              <a:rPr lang="ru-RU" sz="1200" spc="114" dirty="0">
                <a:latin typeface="Times New Roman"/>
                <a:cs typeface="Times New Roman"/>
              </a:rPr>
              <a:t> </a:t>
            </a:r>
            <a:r>
              <a:rPr lang="ru-RU" sz="1200" b="0" i="1" spc="90" dirty="0">
                <a:latin typeface="Bookman Old Style"/>
                <a:cs typeface="Bookman Old Style"/>
              </a:rPr>
              <a:t>M</a:t>
            </a:r>
            <a:r>
              <a:rPr lang="ru-RU" sz="1200" b="0" i="1" spc="-220" dirty="0">
                <a:latin typeface="Bookman Old Style"/>
                <a:cs typeface="Bookman Old Style"/>
              </a:rPr>
              <a:t> </a:t>
            </a:r>
            <a:r>
              <a:rPr lang="ru-RU" sz="1200" spc="-10" dirty="0">
                <a:latin typeface="Book Antiqua"/>
                <a:cs typeface="Book Antiqua"/>
              </a:rPr>
              <a:t>(</a:t>
            </a:r>
            <a:r>
              <a:rPr lang="ru-RU" sz="1200" spc="-10" dirty="0">
                <a:latin typeface="Lucida Sans Unicode"/>
                <a:cs typeface="Lucida Sans Unicode"/>
              </a:rPr>
              <a:t>−</a:t>
            </a:r>
            <a:r>
              <a:rPr lang="ru-RU" sz="1200" spc="-10" dirty="0">
                <a:latin typeface="Book Antiqua"/>
                <a:cs typeface="Book Antiqua"/>
              </a:rPr>
              <a:t>6</a:t>
            </a:r>
            <a:r>
              <a:rPr lang="ru-RU" sz="1200" b="0" i="1" spc="-10" dirty="0">
                <a:latin typeface="Bookman Old Style"/>
                <a:cs typeface="Bookman Old Style"/>
              </a:rPr>
              <a:t>,</a:t>
            </a:r>
            <a:r>
              <a:rPr lang="ru-RU" sz="1200" b="0" i="1" spc="-12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4)</a:t>
            </a:r>
            <a:r>
              <a:rPr lang="ru-RU" sz="1200" spc="125" dirty="0">
                <a:latin typeface="Book Antiqua"/>
                <a:cs typeface="Book Antiqua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относно </a:t>
            </a:r>
            <a:r>
              <a:rPr lang="ru-RU" sz="1200" dirty="0">
                <a:latin typeface="Times New Roman"/>
                <a:cs typeface="Times New Roman"/>
              </a:rPr>
              <a:t>правата</a:t>
            </a:r>
            <a:r>
              <a:rPr lang="ru-RU" sz="1200" spc="120" dirty="0">
                <a:latin typeface="Times New Roman"/>
                <a:cs typeface="Times New Roman"/>
              </a:rPr>
              <a:t> </a:t>
            </a:r>
            <a:r>
              <a:rPr lang="ru-RU" sz="1200" b="0" i="1" spc="-120" dirty="0">
                <a:latin typeface="Bookman Old Style"/>
                <a:cs typeface="Bookman Old Style"/>
              </a:rPr>
              <a:t>g</a:t>
            </a:r>
            <a:r>
              <a:rPr lang="ru-RU" sz="1200" b="0" i="1" spc="5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:</a:t>
            </a:r>
            <a:r>
              <a:rPr lang="ru-RU" sz="1200" spc="65" dirty="0">
                <a:latin typeface="Book Antiqua"/>
                <a:cs typeface="Book Antiqua"/>
              </a:rPr>
              <a:t> </a:t>
            </a:r>
            <a:r>
              <a:rPr lang="ru-RU" sz="1200" spc="-10" dirty="0">
                <a:latin typeface="Book Antiqua"/>
                <a:cs typeface="Book Antiqua"/>
              </a:rPr>
              <a:t>4</a:t>
            </a:r>
            <a:r>
              <a:rPr lang="ru-RU" sz="1200" b="0" i="1" spc="-10" dirty="0">
                <a:latin typeface="Bookman Old Style"/>
                <a:cs typeface="Bookman Old Style"/>
              </a:rPr>
              <a:t>x</a:t>
            </a:r>
            <a:r>
              <a:rPr lang="ru-RU" sz="1200" b="0" i="1" spc="-80" dirty="0">
                <a:latin typeface="Bookman Old Style"/>
                <a:cs typeface="Bookman Old Style"/>
              </a:rPr>
              <a:t> </a:t>
            </a:r>
            <a:r>
              <a:rPr lang="ru-RU" sz="1200" spc="-35" dirty="0">
                <a:latin typeface="Lucida Sans Unicode"/>
                <a:cs typeface="Lucida Sans Unicode"/>
              </a:rPr>
              <a:t>−</a:t>
            </a:r>
            <a:r>
              <a:rPr lang="ru-RU" sz="1200" spc="-85" dirty="0">
                <a:latin typeface="Lucida Sans Unicode"/>
                <a:cs typeface="Lucida Sans Unicode"/>
              </a:rPr>
              <a:t> </a:t>
            </a:r>
            <a:r>
              <a:rPr lang="ru-RU" sz="1200" spc="-90" dirty="0">
                <a:latin typeface="Book Antiqua"/>
                <a:cs typeface="Book Antiqua"/>
              </a:rPr>
              <a:t>5</a:t>
            </a:r>
            <a:r>
              <a:rPr lang="ru-RU" sz="1200" b="0" i="1" spc="-90" dirty="0">
                <a:latin typeface="Bookman Old Style"/>
                <a:cs typeface="Bookman Old Style"/>
              </a:rPr>
              <a:t>y</a:t>
            </a:r>
            <a:r>
              <a:rPr lang="ru-RU" sz="1200" b="0" i="1" spc="-2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1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3</a:t>
            </a:r>
            <a:r>
              <a:rPr lang="ru-RU" sz="1200" spc="60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65" dirty="0">
                <a:latin typeface="Book Antiqua"/>
                <a:cs typeface="Book Antiqua"/>
              </a:rPr>
              <a:t> </a:t>
            </a:r>
            <a:r>
              <a:rPr lang="ru-RU" sz="1200" spc="-25" dirty="0">
                <a:latin typeface="Book Antiqua"/>
                <a:cs typeface="Book Antiqua"/>
              </a:rPr>
              <a:t>0</a:t>
            </a:r>
            <a:r>
              <a:rPr lang="ru-RU" sz="1200" spc="-25" dirty="0">
                <a:latin typeface="Times New Roman"/>
                <a:cs typeface="Times New Roman"/>
              </a:rPr>
              <a:t>.</a:t>
            </a:r>
          </a:p>
          <a:p>
            <a:pPr marL="78105">
              <a:lnSpc>
                <a:spcPct val="150000"/>
              </a:lnSpc>
              <a:spcBef>
                <a:spcPts val="95"/>
              </a:spcBef>
            </a:pPr>
            <a:r>
              <a:rPr lang="ru-RU" sz="1200" b="1" dirty="0">
                <a:latin typeface="Cambria"/>
                <a:cs typeface="Cambria"/>
              </a:rPr>
              <a:t>1.5</a:t>
            </a:r>
            <a:r>
              <a:rPr lang="ru-RU" sz="1200" b="1" spc="254" dirty="0">
                <a:latin typeface="Cambria"/>
                <a:cs typeface="Cambria"/>
              </a:rPr>
              <a:t>  </a:t>
            </a:r>
            <a:r>
              <a:rPr lang="ru-RU" sz="1200" dirty="0">
                <a:latin typeface="Times New Roman"/>
                <a:cs typeface="Times New Roman"/>
              </a:rPr>
              <a:t>През</a:t>
            </a:r>
            <a:r>
              <a:rPr lang="ru-RU" sz="1200" spc="229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точката</a:t>
            </a:r>
            <a:r>
              <a:rPr lang="ru-RU" sz="1200" spc="225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A</a:t>
            </a:r>
            <a:r>
              <a:rPr lang="ru-RU" sz="1200" dirty="0">
                <a:latin typeface="Book Antiqua"/>
                <a:cs typeface="Book Antiqua"/>
              </a:rPr>
              <a:t>(8</a:t>
            </a:r>
            <a:r>
              <a:rPr lang="ru-RU" sz="1200" b="0" i="1" dirty="0">
                <a:latin typeface="Bookman Old Style"/>
                <a:cs typeface="Bookman Old Style"/>
              </a:rPr>
              <a:t>,</a:t>
            </a:r>
            <a:r>
              <a:rPr lang="ru-RU" sz="1200" b="0" i="1" spc="-12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12)</a:t>
            </a:r>
            <a:r>
              <a:rPr lang="ru-RU" sz="1200" spc="204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минава</a:t>
            </a:r>
            <a:r>
              <a:rPr lang="ru-RU" sz="1200" spc="204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светлинен</a:t>
            </a:r>
            <a:r>
              <a:rPr lang="ru-RU" sz="1200" spc="25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лъч,</a:t>
            </a:r>
            <a:r>
              <a:rPr lang="ru-RU" sz="1200" spc="22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който</a:t>
            </a:r>
            <a:r>
              <a:rPr lang="ru-RU" sz="1200" spc="22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се</a:t>
            </a:r>
            <a:r>
              <a:rPr lang="ru-RU" sz="1200" spc="229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отразява</a:t>
            </a:r>
            <a:r>
              <a:rPr lang="ru-RU" sz="1200" spc="21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от</a:t>
            </a:r>
            <a:r>
              <a:rPr lang="ru-RU" sz="1200" spc="220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правата</a:t>
            </a:r>
            <a:endParaRPr lang="ru-RU" sz="1200" dirty="0">
              <a:latin typeface="Times New Roman"/>
              <a:cs typeface="Times New Roman"/>
            </a:endParaRPr>
          </a:p>
          <a:p>
            <a:pPr marL="12700">
              <a:lnSpc>
                <a:spcPct val="150000"/>
              </a:lnSpc>
            </a:pPr>
            <a:r>
              <a:rPr lang="ru-RU" sz="1200" b="0" i="1" dirty="0">
                <a:latin typeface="Bookman Old Style"/>
                <a:cs typeface="Bookman Old Style"/>
              </a:rPr>
              <a:t>g</a:t>
            </a:r>
            <a:r>
              <a:rPr lang="ru-RU" sz="1200" b="0" i="1" spc="25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:</a:t>
            </a:r>
            <a:r>
              <a:rPr lang="ru-RU" sz="1200" spc="265" dirty="0">
                <a:latin typeface="Book Antiqua"/>
                <a:cs typeface="Book Antiqua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x</a:t>
            </a:r>
            <a:r>
              <a:rPr lang="ru-RU" sz="1200" b="0" i="1" spc="1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Lucida Sans Unicode"/>
                <a:cs typeface="Lucida Sans Unicode"/>
              </a:rPr>
              <a:t>−</a:t>
            </a:r>
            <a:r>
              <a:rPr lang="ru-RU" sz="1200" spc="-10" dirty="0">
                <a:latin typeface="Lucida Sans Unicode"/>
                <a:cs typeface="Lucida Sans Unicode"/>
              </a:rPr>
              <a:t> </a:t>
            </a:r>
            <a:r>
              <a:rPr lang="ru-RU" sz="1200" spc="-65" dirty="0">
                <a:latin typeface="Book Antiqua"/>
                <a:cs typeface="Book Antiqua"/>
              </a:rPr>
              <a:t>2</a:t>
            </a:r>
            <a:r>
              <a:rPr lang="ru-RU" sz="1200" b="0" i="1" spc="-65" dirty="0">
                <a:latin typeface="Bookman Old Style"/>
                <a:cs typeface="Bookman Old Style"/>
              </a:rPr>
              <a:t>y</a:t>
            </a:r>
            <a:r>
              <a:rPr lang="ru-RU" sz="1200" b="0" i="1" spc="5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6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6</a:t>
            </a:r>
            <a:r>
              <a:rPr lang="ru-RU" sz="1200" spc="26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28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0</a:t>
            </a:r>
            <a:r>
              <a:rPr lang="ru-RU" sz="1200" spc="24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в</a:t>
            </a:r>
            <a:r>
              <a:rPr lang="ru-RU" sz="1200" spc="254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точката</a:t>
            </a:r>
            <a:r>
              <a:rPr lang="ru-RU" sz="1200" spc="240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C</a:t>
            </a:r>
            <a:r>
              <a:rPr lang="ru-RU" sz="1200" dirty="0">
                <a:latin typeface="Book Antiqua"/>
                <a:cs typeface="Book Antiqua"/>
              </a:rPr>
              <a:t>(4</a:t>
            </a:r>
            <a:r>
              <a:rPr lang="ru-RU" sz="1200" b="0" i="1" dirty="0">
                <a:latin typeface="Bookman Old Style"/>
                <a:cs typeface="Bookman Old Style"/>
              </a:rPr>
              <a:t>,</a:t>
            </a:r>
            <a:r>
              <a:rPr lang="ru-RU" sz="1200" b="0" i="1" spc="-14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5)</a:t>
            </a:r>
            <a:r>
              <a:rPr lang="ru-RU" sz="1200" dirty="0">
                <a:latin typeface="Times New Roman"/>
                <a:cs typeface="Times New Roman"/>
              </a:rPr>
              <a:t>.</a:t>
            </a:r>
            <a:r>
              <a:rPr lang="ru-RU" sz="1200" spc="240" dirty="0">
                <a:latin typeface="Times New Roman"/>
                <a:cs typeface="Times New Roman"/>
              </a:rPr>
              <a:t> </a:t>
            </a:r>
            <a:r>
              <a:rPr lang="ru-RU" sz="1200" spc="65" dirty="0">
                <a:latin typeface="Times New Roman"/>
                <a:cs typeface="Times New Roman"/>
              </a:rPr>
              <a:t>Да</a:t>
            </a:r>
            <a:r>
              <a:rPr lang="ru-RU" sz="1200" spc="23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се</a:t>
            </a:r>
            <a:r>
              <a:rPr lang="ru-RU" sz="1200" spc="26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намерят</a:t>
            </a:r>
            <a:r>
              <a:rPr lang="ru-RU" sz="1200" spc="254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уравненията</a:t>
            </a:r>
            <a:r>
              <a:rPr lang="ru-RU" sz="1200" spc="254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254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падащия</a:t>
            </a:r>
            <a:r>
              <a:rPr lang="ru-RU" sz="1200" spc="235" dirty="0">
                <a:latin typeface="Times New Roman"/>
                <a:cs typeface="Times New Roman"/>
              </a:rPr>
              <a:t> </a:t>
            </a:r>
            <a:r>
              <a:rPr lang="ru-RU" sz="1200" spc="-50" dirty="0">
                <a:latin typeface="Times New Roman"/>
                <a:cs typeface="Times New Roman"/>
              </a:rPr>
              <a:t>и</a:t>
            </a:r>
            <a:endParaRPr lang="ru-RU" sz="1200" dirty="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</a:pPr>
            <a:endParaRPr sz="1200" dirty="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88" y="4588829"/>
            <a:ext cx="76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60" dirty="0"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0135" y="3213100"/>
            <a:ext cx="5606415" cy="69192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8260" algn="just">
              <a:lnSpc>
                <a:spcPct val="100400"/>
              </a:lnSpc>
              <a:spcBef>
                <a:spcPts val="535"/>
              </a:spcBef>
            </a:pPr>
            <a:r>
              <a:rPr sz="1200" b="1" dirty="0">
                <a:latin typeface="Cambria"/>
                <a:cs typeface="Cambria"/>
              </a:rPr>
              <a:t>1.6</a:t>
            </a:r>
            <a:r>
              <a:rPr sz="1200" b="1" spc="150" dirty="0">
                <a:latin typeface="Cambria"/>
                <a:cs typeface="Cambria"/>
              </a:rPr>
              <a:t>  </a:t>
            </a:r>
            <a:r>
              <a:rPr sz="1200" spc="65" dirty="0">
                <a:latin typeface="Times New Roman"/>
                <a:cs typeface="Times New Roman"/>
              </a:rPr>
              <a:t>Да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се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намери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уравнението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ъглополовящата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вътрешния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ъгъл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върха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b="0" i="1" spc="204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Lucida Sans Unicode"/>
                <a:cs typeface="Lucida Sans Unicode"/>
              </a:rPr>
              <a:t>△</a:t>
            </a:r>
            <a:r>
              <a:rPr sz="1200" b="0" i="1" spc="50" dirty="0">
                <a:latin typeface="Bookman Old Style"/>
                <a:cs typeface="Bookman Old Style"/>
              </a:rPr>
              <a:t>ABC</a:t>
            </a:r>
            <a:r>
              <a:rPr sz="1200" spc="50" dirty="0">
                <a:latin typeface="Times New Roman"/>
                <a:cs typeface="Times New Roman"/>
              </a:rPr>
              <a:t>,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ако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уравненията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страните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му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AB</a:t>
            </a:r>
            <a:r>
              <a:rPr sz="1200" b="0" i="1" spc="30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0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2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90" dirty="0">
                <a:latin typeface="Book Antiqua"/>
                <a:cs typeface="Book Antiqua"/>
              </a:rPr>
              <a:t> </a:t>
            </a:r>
            <a:r>
              <a:rPr sz="1200" spc="-45" dirty="0">
                <a:latin typeface="Book Antiqua"/>
                <a:cs typeface="Book Antiqua"/>
              </a:rPr>
              <a:t>7</a:t>
            </a:r>
            <a:r>
              <a:rPr sz="1200" b="0" i="1" spc="-45" dirty="0">
                <a:latin typeface="Bookman Old Style"/>
                <a:cs typeface="Bookman Old Style"/>
              </a:rPr>
              <a:t>y</a:t>
            </a:r>
            <a:r>
              <a:rPr sz="1200" b="0" i="1" spc="7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spc="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7</a:t>
            </a:r>
            <a:r>
              <a:rPr sz="1200" spc="31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1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 </a:t>
            </a:r>
            <a:r>
              <a:rPr sz="1200" b="0" i="1" dirty="0">
                <a:latin typeface="Bookman Old Style"/>
                <a:cs typeface="Bookman Old Style"/>
              </a:rPr>
              <a:t>BC</a:t>
            </a:r>
            <a:r>
              <a:rPr sz="1200" b="0" i="1" spc="6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9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spc="-65" dirty="0">
                <a:latin typeface="Book Antiqua"/>
                <a:cs typeface="Book Antiqua"/>
              </a:rPr>
              <a:t>17</a:t>
            </a:r>
            <a:r>
              <a:rPr sz="1200" b="0" i="1" spc="-65" dirty="0">
                <a:latin typeface="Bookman Old Style"/>
                <a:cs typeface="Bookman Old Style"/>
              </a:rPr>
              <a:t>y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17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35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AC</a:t>
            </a:r>
            <a:r>
              <a:rPr sz="1200" b="0" i="1" spc="5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8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5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7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.</a:t>
            </a:r>
            <a:endParaRPr sz="1200" dirty="0">
              <a:latin typeface="Bookman Old Style"/>
              <a:cs typeface="Bookman Old Style"/>
            </a:endParaRPr>
          </a:p>
          <a:p>
            <a:pPr marL="71755">
              <a:lnSpc>
                <a:spcPct val="100000"/>
              </a:lnSpc>
              <a:spcBef>
                <a:spcPts val="1450"/>
              </a:spcBef>
            </a:pPr>
            <a:r>
              <a:rPr lang="ru-RU" sz="1200" b="1" spc="-5" dirty="0">
                <a:latin typeface="Cambria"/>
                <a:cs typeface="Cambria"/>
              </a:rPr>
              <a:t>1.7</a:t>
            </a:r>
            <a:r>
              <a:rPr lang="ru-RU" sz="1200" b="1" spc="655" dirty="0">
                <a:latin typeface="Cambria"/>
                <a:cs typeface="Cambria"/>
              </a:rPr>
              <a:t> </a:t>
            </a:r>
            <a:r>
              <a:rPr lang="ru-RU" sz="1200" spc="25" dirty="0">
                <a:latin typeface="Times New Roman"/>
                <a:cs typeface="Times New Roman"/>
              </a:rPr>
              <a:t>Дадени</a:t>
            </a:r>
            <a:r>
              <a:rPr lang="ru-RU" sz="1200" spc="165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са</a:t>
            </a:r>
            <a:r>
              <a:rPr lang="ru-RU" sz="1200" spc="155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координатите</a:t>
            </a:r>
            <a:r>
              <a:rPr lang="ru-RU" sz="1200" spc="16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170" dirty="0">
                <a:latin typeface="Times New Roman"/>
                <a:cs typeface="Times New Roman"/>
              </a:rPr>
              <a:t> </a:t>
            </a:r>
            <a:r>
              <a:rPr lang="ru-RU" sz="1200" spc="25" dirty="0">
                <a:latin typeface="Times New Roman"/>
                <a:cs typeface="Times New Roman"/>
              </a:rPr>
              <a:t>върха</a:t>
            </a:r>
            <a:r>
              <a:rPr lang="ru-RU" sz="1200" spc="160" dirty="0">
                <a:latin typeface="Times New Roman"/>
                <a:cs typeface="Times New Roman"/>
              </a:rPr>
              <a:t> </a:t>
            </a:r>
            <a:r>
              <a:rPr lang="ru-RU" sz="1200" b="0" i="1" spc="-5" dirty="0">
                <a:latin typeface="Bookman Old Style"/>
                <a:cs typeface="Bookman Old Style"/>
              </a:rPr>
              <a:t>A</a:t>
            </a:r>
            <a:r>
              <a:rPr lang="ru-RU" sz="1200" spc="-5" dirty="0">
                <a:latin typeface="Book Antiqua"/>
                <a:cs typeface="Book Antiqua"/>
              </a:rPr>
              <a:t>(</a:t>
            </a:r>
            <a:r>
              <a:rPr lang="ru-RU" sz="1200" spc="-5" dirty="0">
                <a:latin typeface="Lucida Sans Unicode"/>
                <a:cs typeface="Lucida Sans Unicode"/>
              </a:rPr>
              <a:t>−</a:t>
            </a:r>
            <a:r>
              <a:rPr lang="ru-RU" sz="1200" spc="-5" dirty="0">
                <a:latin typeface="Book Antiqua"/>
                <a:cs typeface="Book Antiqua"/>
              </a:rPr>
              <a:t>2</a:t>
            </a:r>
            <a:r>
              <a:rPr lang="ru-RU" sz="1200" b="0" i="1" spc="-5" dirty="0">
                <a:latin typeface="Bookman Old Style"/>
                <a:cs typeface="Bookman Old Style"/>
              </a:rPr>
              <a:t>,</a:t>
            </a:r>
            <a:r>
              <a:rPr lang="ru-RU" sz="1200" b="0" i="1" spc="-16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Lucida Sans Unicode"/>
                <a:cs typeface="Lucida Sans Unicode"/>
              </a:rPr>
              <a:t>−</a:t>
            </a:r>
            <a:r>
              <a:rPr lang="ru-RU" sz="1200" dirty="0">
                <a:latin typeface="Book Antiqua"/>
                <a:cs typeface="Book Antiqua"/>
              </a:rPr>
              <a:t>4)</a:t>
            </a:r>
            <a:r>
              <a:rPr lang="ru-RU" sz="1200" spc="165" dirty="0">
                <a:latin typeface="Book Antiqua"/>
                <a:cs typeface="Book Antiqua"/>
              </a:rPr>
              <a:t> </a:t>
            </a:r>
            <a:r>
              <a:rPr lang="ru-RU" sz="1200" spc="5" dirty="0">
                <a:latin typeface="Times New Roman"/>
                <a:cs typeface="Times New Roman"/>
              </a:rPr>
              <a:t>и</a:t>
            </a:r>
            <a:r>
              <a:rPr lang="ru-RU" sz="1200" spc="15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уравненията</a:t>
            </a:r>
            <a:r>
              <a:rPr lang="ru-RU" sz="1200" spc="17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170" dirty="0">
                <a:latin typeface="Times New Roman"/>
                <a:cs typeface="Times New Roman"/>
              </a:rPr>
              <a:t> </a:t>
            </a:r>
            <a:r>
              <a:rPr lang="ru-RU" sz="1200" spc="5" dirty="0">
                <a:latin typeface="Times New Roman"/>
                <a:cs typeface="Times New Roman"/>
              </a:rPr>
              <a:t>височините</a:t>
            </a:r>
            <a:r>
              <a:rPr lang="ru-RU" sz="1200" spc="-10" dirty="0">
                <a:latin typeface="Times New Roman"/>
                <a:cs typeface="Times New Roman"/>
              </a:rPr>
              <a:t> </a:t>
            </a:r>
            <a:r>
              <a:rPr lang="ru-RU" sz="1200" b="0" i="1" spc="30" dirty="0">
                <a:latin typeface="Bookman Old Style"/>
                <a:cs typeface="Bookman Old Style"/>
              </a:rPr>
              <a:t>h</a:t>
            </a:r>
            <a:r>
              <a:rPr lang="ru-RU" sz="1200" i="1" spc="44" baseline="-13888" dirty="0">
                <a:latin typeface="Book Antiqua"/>
                <a:cs typeface="Book Antiqua"/>
              </a:rPr>
              <a:t>B</a:t>
            </a:r>
            <a:r>
              <a:rPr lang="ru-RU" sz="1200" i="1" spc="337" baseline="-13888" dirty="0">
                <a:latin typeface="Book Antiqua"/>
                <a:cs typeface="Book Antiqua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 </a:t>
            </a:r>
            <a:r>
              <a:rPr lang="ru-RU" sz="1200" b="0" i="1" spc="10" dirty="0">
                <a:latin typeface="Bookman Old Style"/>
                <a:cs typeface="Bookman Old Style"/>
              </a:rPr>
              <a:t>x</a:t>
            </a:r>
            <a:r>
              <a:rPr lang="ru-RU" sz="1200" b="0" i="1" spc="-210" dirty="0">
                <a:latin typeface="Bookman Old Style"/>
                <a:cs typeface="Bookman Old Style"/>
              </a:rPr>
              <a:t> </a:t>
            </a:r>
            <a:r>
              <a:rPr lang="ru-RU" sz="1200" spc="-30" dirty="0">
                <a:latin typeface="Lucida Sans Unicode"/>
                <a:cs typeface="Lucida Sans Unicode"/>
              </a:rPr>
              <a:t>−</a:t>
            </a:r>
            <a:r>
              <a:rPr lang="ru-RU" sz="1200" spc="-229" dirty="0">
                <a:latin typeface="Lucida Sans Unicode"/>
                <a:cs typeface="Lucida Sans Unicode"/>
              </a:rPr>
              <a:t> </a:t>
            </a:r>
            <a:r>
              <a:rPr lang="ru-RU" sz="1200" b="0" i="1" spc="-155" dirty="0">
                <a:latin typeface="Bookman Old Style"/>
                <a:cs typeface="Bookman Old Style"/>
              </a:rPr>
              <a:t>y</a:t>
            </a:r>
            <a:r>
              <a:rPr lang="ru-RU" sz="1200" b="0" i="1" spc="-165" dirty="0">
                <a:latin typeface="Bookman Old Style"/>
                <a:cs typeface="Bookman Old Style"/>
              </a:rPr>
              <a:t> </a:t>
            </a:r>
            <a:r>
              <a:rPr lang="ru-RU" sz="1200" spc="-30" dirty="0">
                <a:latin typeface="Lucida Sans Unicode"/>
                <a:cs typeface="Lucida Sans Unicode"/>
              </a:rPr>
              <a:t>−</a:t>
            </a:r>
            <a:r>
              <a:rPr lang="ru-RU" sz="1200" spc="-229" dirty="0">
                <a:latin typeface="Lucida Sans Unicode"/>
                <a:cs typeface="Lucida Sans Unicode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5</a:t>
            </a:r>
            <a:r>
              <a:rPr lang="ru-RU" sz="1200" spc="50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25" dirty="0">
                <a:latin typeface="Book Antiqua"/>
                <a:cs typeface="Book Antiqua"/>
              </a:rPr>
              <a:t> </a:t>
            </a:r>
            <a:r>
              <a:rPr lang="ru-RU" sz="1200" spc="5" dirty="0">
                <a:latin typeface="Times New Roman"/>
                <a:cs typeface="Times New Roman"/>
              </a:rPr>
              <a:t>и</a:t>
            </a:r>
            <a:r>
              <a:rPr lang="ru-RU" sz="1200" spc="30" dirty="0">
                <a:latin typeface="Times New Roman"/>
                <a:cs typeface="Times New Roman"/>
              </a:rPr>
              <a:t> </a:t>
            </a:r>
            <a:r>
              <a:rPr lang="ru-RU" sz="1200" b="0" i="1" spc="-5" dirty="0">
                <a:latin typeface="Bookman Old Style"/>
                <a:cs typeface="Bookman Old Style"/>
              </a:rPr>
              <a:t>h</a:t>
            </a:r>
            <a:r>
              <a:rPr lang="ru-RU" sz="1200" i="1" spc="-7" baseline="-13888" dirty="0">
                <a:latin typeface="Book Antiqua"/>
                <a:cs typeface="Book Antiqua"/>
              </a:rPr>
              <a:t>C</a:t>
            </a:r>
            <a:r>
              <a:rPr lang="ru-RU" sz="1200" i="1" spc="359" baseline="-13888" dirty="0">
                <a:latin typeface="Book Antiqua"/>
                <a:cs typeface="Book Antiqua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5" dirty="0">
                <a:latin typeface="Book Antiqua"/>
                <a:cs typeface="Book Antiqua"/>
              </a:rPr>
              <a:t>2</a:t>
            </a:r>
            <a:r>
              <a:rPr lang="ru-RU" sz="1200" b="0" i="1" spc="-5" dirty="0">
                <a:latin typeface="Bookman Old Style"/>
                <a:cs typeface="Bookman Old Style"/>
              </a:rPr>
              <a:t>x</a:t>
            </a:r>
            <a:r>
              <a:rPr lang="ru-RU" sz="1200" b="0" i="1" spc="-210" dirty="0">
                <a:latin typeface="Bookman Old Style"/>
                <a:cs typeface="Bookman Old Style"/>
              </a:rPr>
              <a:t> </a:t>
            </a:r>
            <a:r>
              <a:rPr lang="ru-RU" sz="1200" spc="-30" dirty="0">
                <a:latin typeface="Lucida Sans Unicode"/>
                <a:cs typeface="Lucida Sans Unicode"/>
              </a:rPr>
              <a:t>−</a:t>
            </a:r>
            <a:r>
              <a:rPr lang="ru-RU" sz="1200" spc="-229" dirty="0">
                <a:latin typeface="Lucida Sans Unicode"/>
                <a:cs typeface="Lucida Sans Unicode"/>
              </a:rPr>
              <a:t> </a:t>
            </a:r>
            <a:r>
              <a:rPr lang="ru-RU" sz="1200" b="0" i="1" spc="-155" dirty="0">
                <a:latin typeface="Bookman Old Style"/>
                <a:cs typeface="Bookman Old Style"/>
              </a:rPr>
              <a:t>y</a:t>
            </a:r>
            <a:r>
              <a:rPr lang="ru-RU" sz="1200" b="0" i="1" spc="-16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14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3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25" dirty="0">
                <a:latin typeface="Book Antiqua"/>
                <a:cs typeface="Book Antiqua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в</a:t>
            </a:r>
            <a:r>
              <a:rPr lang="ru-RU" sz="1200" spc="35" dirty="0">
                <a:latin typeface="Times New Roman"/>
                <a:cs typeface="Times New Roman"/>
              </a:rPr>
              <a:t> </a:t>
            </a:r>
            <a:r>
              <a:rPr lang="ru-RU" sz="1000" spc="25" dirty="0">
                <a:latin typeface="Lucida Sans Unicode"/>
                <a:cs typeface="Lucida Sans Unicode"/>
              </a:rPr>
              <a:t>△</a:t>
            </a:r>
            <a:r>
              <a:rPr lang="ru-RU" sz="1200" b="0" i="1" spc="25" dirty="0">
                <a:latin typeface="Bookman Old Style"/>
                <a:cs typeface="Bookman Old Style"/>
              </a:rPr>
              <a:t>ABC.</a:t>
            </a:r>
            <a:r>
              <a:rPr lang="ru-RU" sz="1200" b="0" i="1" spc="-25" dirty="0">
                <a:latin typeface="Bookman Old Style"/>
                <a:cs typeface="Bookman Old Style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Намерете</a:t>
            </a:r>
            <a:r>
              <a:rPr lang="ru-RU" sz="1200" spc="30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координатите</a:t>
            </a:r>
            <a:r>
              <a:rPr lang="ru-RU" sz="1200" spc="4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35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другите</a:t>
            </a:r>
            <a:r>
              <a:rPr lang="ru-RU" sz="1200" spc="-10" dirty="0">
                <a:latin typeface="Times New Roman"/>
                <a:cs typeface="Times New Roman"/>
              </a:rPr>
              <a:t> </a:t>
            </a:r>
            <a:r>
              <a:rPr lang="ru-RU" sz="1200" spc="30" dirty="0">
                <a:latin typeface="Times New Roman"/>
                <a:cs typeface="Times New Roman"/>
              </a:rPr>
              <a:t>два</a:t>
            </a:r>
            <a:r>
              <a:rPr lang="ru-RU" sz="1200" spc="85" dirty="0">
                <a:latin typeface="Times New Roman"/>
                <a:cs typeface="Times New Roman"/>
              </a:rPr>
              <a:t> </a:t>
            </a:r>
            <a:r>
              <a:rPr lang="ru-RU" sz="1200" spc="25" dirty="0">
                <a:latin typeface="Times New Roman"/>
                <a:cs typeface="Times New Roman"/>
              </a:rPr>
              <a:t>върха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200" spc="35" dirty="0">
                <a:latin typeface="Times New Roman"/>
                <a:cs typeface="Times New Roman"/>
              </a:rPr>
              <a:t>триъгълника</a:t>
            </a:r>
          </a:p>
          <a:p>
            <a:pPr marL="71755" algn="just">
              <a:spcBef>
                <a:spcPts val="1450"/>
              </a:spcBef>
            </a:pPr>
            <a:r>
              <a:rPr lang="ru-RU" sz="1200" b="1" spc="-5" dirty="0">
                <a:latin typeface="Cambria"/>
                <a:cs typeface="Cambria"/>
              </a:rPr>
              <a:t>1.8</a:t>
            </a:r>
            <a:r>
              <a:rPr lang="ru-RU" sz="1200" b="1" spc="210" dirty="0">
                <a:latin typeface="Cambria"/>
                <a:cs typeface="Cambria"/>
              </a:rPr>
              <a:t> </a:t>
            </a:r>
            <a:r>
              <a:rPr lang="ru-RU" sz="1200" spc="25" dirty="0">
                <a:latin typeface="Times New Roman"/>
                <a:cs typeface="Times New Roman"/>
              </a:rPr>
              <a:t>Дадени</a:t>
            </a:r>
            <a:r>
              <a:rPr lang="ru-RU" sz="1200" spc="175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са</a:t>
            </a:r>
            <a:r>
              <a:rPr lang="ru-RU" sz="1200" spc="18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уравненията</a:t>
            </a:r>
            <a:r>
              <a:rPr lang="ru-RU" sz="1200" spc="18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180" dirty="0">
                <a:latin typeface="Times New Roman"/>
                <a:cs typeface="Times New Roman"/>
              </a:rPr>
              <a:t> </a:t>
            </a:r>
            <a:r>
              <a:rPr lang="ru-RU" sz="1200" spc="30" dirty="0">
                <a:latin typeface="Times New Roman"/>
                <a:cs typeface="Times New Roman"/>
              </a:rPr>
              <a:t>страната</a:t>
            </a:r>
            <a:r>
              <a:rPr lang="ru-RU" sz="1200" spc="175" dirty="0">
                <a:latin typeface="Times New Roman"/>
                <a:cs typeface="Times New Roman"/>
              </a:rPr>
              <a:t> </a:t>
            </a:r>
            <a:r>
              <a:rPr lang="ru-RU" sz="1200" b="0" i="1" spc="20" dirty="0">
                <a:latin typeface="Bookman Old Style"/>
                <a:cs typeface="Bookman Old Style"/>
              </a:rPr>
              <a:t>AB</a:t>
            </a:r>
            <a:r>
              <a:rPr lang="ru-RU" sz="1200" b="0" i="1" spc="185" dirty="0">
                <a:latin typeface="Bookman Old Style"/>
                <a:cs typeface="Bookman Old Style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180" dirty="0">
                <a:latin typeface="Book Antiqua"/>
                <a:cs typeface="Book Antiqua"/>
              </a:rPr>
              <a:t> </a:t>
            </a:r>
            <a:r>
              <a:rPr lang="ru-RU" sz="1200" b="0" i="1" spc="10" dirty="0">
                <a:latin typeface="Bookman Old Style"/>
                <a:cs typeface="Bookman Old Style"/>
              </a:rPr>
              <a:t>x</a:t>
            </a:r>
            <a:r>
              <a:rPr lang="ru-RU" sz="1200" b="0" i="1" spc="-4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25" dirty="0">
                <a:latin typeface="Book Antiqua"/>
                <a:cs typeface="Book Antiqua"/>
              </a:rPr>
              <a:t> </a:t>
            </a:r>
            <a:r>
              <a:rPr lang="ru-RU" sz="1200" spc="-85" dirty="0">
                <a:latin typeface="Book Antiqua"/>
                <a:cs typeface="Book Antiqua"/>
              </a:rPr>
              <a:t>4</a:t>
            </a:r>
            <a:r>
              <a:rPr lang="ru-RU" sz="1200" b="0" i="1" spc="-85" dirty="0">
                <a:latin typeface="Bookman Old Style"/>
                <a:cs typeface="Bookman Old Style"/>
              </a:rPr>
              <a:t>y</a:t>
            </a:r>
            <a:r>
              <a:rPr lang="ru-RU" sz="1200" b="0" i="1" spc="5" dirty="0">
                <a:latin typeface="Bookman Old Style"/>
                <a:cs typeface="Bookman Old Style"/>
              </a:rPr>
              <a:t> </a:t>
            </a:r>
            <a:r>
              <a:rPr lang="ru-RU" sz="1200" spc="-30" dirty="0">
                <a:latin typeface="Lucida Sans Unicode"/>
                <a:cs typeface="Lucida Sans Unicode"/>
              </a:rPr>
              <a:t>−</a:t>
            </a:r>
            <a:r>
              <a:rPr lang="ru-RU" sz="1200" spc="-50" dirty="0">
                <a:latin typeface="Lucida Sans Unicode"/>
                <a:cs typeface="Lucida Sans Unicode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13</a:t>
            </a:r>
            <a:r>
              <a:rPr lang="ru-RU" sz="1200" spc="170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180" dirty="0">
                <a:latin typeface="Book Antiqua"/>
                <a:cs typeface="Book Antiqua"/>
              </a:rPr>
              <a:t> </a:t>
            </a:r>
            <a:r>
              <a:rPr lang="ru-RU" sz="1200" spc="5" dirty="0">
                <a:latin typeface="Times New Roman"/>
                <a:cs typeface="Times New Roman"/>
              </a:rPr>
              <a:t>и</a:t>
            </a:r>
            <a:r>
              <a:rPr lang="ru-RU" sz="1200" spc="175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170" dirty="0">
                <a:latin typeface="Times New Roman"/>
                <a:cs typeface="Times New Roman"/>
              </a:rPr>
              <a:t> </a:t>
            </a:r>
            <a:r>
              <a:rPr lang="ru-RU" sz="1200" spc="5" dirty="0">
                <a:latin typeface="Times New Roman"/>
                <a:cs typeface="Times New Roman"/>
              </a:rPr>
              <a:t>височините</a:t>
            </a:r>
            <a:r>
              <a:rPr lang="ru-RU" sz="1200" spc="-10" dirty="0">
                <a:latin typeface="Times New Roman"/>
                <a:cs typeface="Times New Roman"/>
              </a:rPr>
              <a:t> </a:t>
            </a:r>
            <a:r>
              <a:rPr lang="ru-RU" sz="1200" b="0" i="1" spc="-15" dirty="0">
                <a:latin typeface="Bookman Old Style"/>
                <a:cs typeface="Bookman Old Style"/>
              </a:rPr>
              <a:t>h</a:t>
            </a:r>
            <a:r>
              <a:rPr lang="ru-RU" sz="1200" i="1" spc="-22" baseline="-13888" dirty="0">
                <a:latin typeface="Book Antiqua"/>
                <a:cs typeface="Book Antiqua"/>
              </a:rPr>
              <a:t>A</a:t>
            </a:r>
            <a:r>
              <a:rPr lang="ru-RU" sz="1200" i="1" spc="277" baseline="-13888" dirty="0">
                <a:latin typeface="Book Antiqua"/>
                <a:cs typeface="Book Antiqua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45" dirty="0">
                <a:latin typeface="Book Antiqua"/>
                <a:cs typeface="Book Antiqua"/>
              </a:rPr>
              <a:t> </a:t>
            </a:r>
            <a:r>
              <a:rPr lang="ru-RU" sz="1200" b="0" i="1" spc="10" dirty="0">
                <a:latin typeface="Bookman Old Style"/>
                <a:cs typeface="Bookman Old Style"/>
              </a:rPr>
              <a:t>x</a:t>
            </a:r>
            <a:r>
              <a:rPr lang="ru-RU" sz="1200" b="0" i="1" spc="-10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2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3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85" dirty="0">
                <a:latin typeface="Book Antiqua"/>
                <a:cs typeface="Book Antiqua"/>
              </a:rPr>
              <a:t> </a:t>
            </a:r>
            <a:r>
              <a:rPr lang="ru-RU" sz="1200" spc="5" dirty="0">
                <a:latin typeface="Times New Roman"/>
                <a:cs typeface="Times New Roman"/>
              </a:rPr>
              <a:t>и</a:t>
            </a:r>
            <a:r>
              <a:rPr lang="ru-RU" sz="1200" spc="90" dirty="0">
                <a:latin typeface="Times New Roman"/>
                <a:cs typeface="Times New Roman"/>
              </a:rPr>
              <a:t> </a:t>
            </a:r>
            <a:r>
              <a:rPr lang="ru-RU" sz="1200" b="0" i="1" spc="30" dirty="0">
                <a:latin typeface="Bookman Old Style"/>
                <a:cs typeface="Bookman Old Style"/>
              </a:rPr>
              <a:t>h</a:t>
            </a:r>
            <a:r>
              <a:rPr lang="ru-RU" sz="1200" i="1" spc="44" baseline="-13888" dirty="0">
                <a:latin typeface="Book Antiqua"/>
                <a:cs typeface="Book Antiqua"/>
              </a:rPr>
              <a:t>B</a:t>
            </a:r>
            <a:r>
              <a:rPr lang="ru-RU" sz="1200" i="1" spc="337" baseline="-13888" dirty="0">
                <a:latin typeface="Book Antiqua"/>
                <a:cs typeface="Book Antiqua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45" dirty="0">
                <a:latin typeface="Book Antiqua"/>
                <a:cs typeface="Book Antiqua"/>
              </a:rPr>
              <a:t> </a:t>
            </a:r>
            <a:r>
              <a:rPr lang="ru-RU" sz="1200" spc="-5" dirty="0">
                <a:latin typeface="Book Antiqua"/>
                <a:cs typeface="Book Antiqua"/>
              </a:rPr>
              <a:t>3</a:t>
            </a:r>
            <a:r>
              <a:rPr lang="ru-RU" sz="1200" b="0" i="1" spc="-5" dirty="0">
                <a:latin typeface="Bookman Old Style"/>
                <a:cs typeface="Bookman Old Style"/>
              </a:rPr>
              <a:t>x</a:t>
            </a:r>
            <a:r>
              <a:rPr lang="ru-RU" sz="1200" b="0" i="1" spc="-105" dirty="0">
                <a:latin typeface="Bookman Old Style"/>
                <a:cs typeface="Bookman Old Style"/>
              </a:rPr>
              <a:t> </a:t>
            </a:r>
            <a:r>
              <a:rPr lang="ru-RU" sz="1200" spc="-30" dirty="0">
                <a:latin typeface="Lucida Sans Unicode"/>
                <a:cs typeface="Lucida Sans Unicode"/>
              </a:rPr>
              <a:t>−</a:t>
            </a:r>
            <a:r>
              <a:rPr lang="ru-RU" sz="1200" spc="-110" dirty="0">
                <a:latin typeface="Lucida Sans Unicode"/>
                <a:cs typeface="Lucida Sans Unicode"/>
              </a:rPr>
              <a:t> </a:t>
            </a:r>
            <a:r>
              <a:rPr lang="ru-RU" sz="1200" b="0" i="1" spc="-155" dirty="0">
                <a:latin typeface="Bookman Old Style"/>
                <a:cs typeface="Bookman Old Style"/>
              </a:rPr>
              <a:t>y</a:t>
            </a:r>
            <a:r>
              <a:rPr lang="ru-RU" sz="1200" b="0" i="1" spc="1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95" dirty="0">
                <a:latin typeface="Book Antiqua"/>
                <a:cs typeface="Book Antiqua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в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000" spc="25" dirty="0">
                <a:latin typeface="Lucida Sans Unicode"/>
                <a:cs typeface="Lucida Sans Unicode"/>
              </a:rPr>
              <a:t>△</a:t>
            </a:r>
            <a:r>
              <a:rPr lang="ru-RU" sz="1200" b="0" i="1" spc="25" dirty="0">
                <a:latin typeface="Bookman Old Style"/>
                <a:cs typeface="Bookman Old Style"/>
              </a:rPr>
              <a:t>ABC.</a:t>
            </a:r>
            <a:r>
              <a:rPr lang="ru-RU" sz="1200" b="0" i="1" spc="20" dirty="0">
                <a:latin typeface="Bookman Old Style"/>
                <a:cs typeface="Bookman Old Style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Намерете</a:t>
            </a:r>
            <a:r>
              <a:rPr lang="ru-RU" sz="1200" spc="100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координатите</a:t>
            </a:r>
            <a:r>
              <a:rPr lang="ru-RU" sz="1200" spc="9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върховете</a:t>
            </a:r>
            <a:r>
              <a:rPr lang="ru-RU" sz="1200" spc="9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25" dirty="0">
                <a:latin typeface="Times New Roman"/>
                <a:cs typeface="Times New Roman"/>
              </a:rPr>
              <a:t> </a:t>
            </a:r>
            <a:r>
              <a:rPr lang="ru-RU" sz="1200" spc="35" dirty="0">
                <a:latin typeface="Times New Roman"/>
                <a:cs typeface="Times New Roman"/>
              </a:rPr>
              <a:t>триъгълника.</a:t>
            </a:r>
            <a:endParaRPr lang="ru-RU" sz="1200" dirty="0">
              <a:latin typeface="Times New Roman"/>
              <a:cs typeface="Times New Roman"/>
            </a:endParaRPr>
          </a:p>
          <a:p>
            <a:pPr marL="64135">
              <a:lnSpc>
                <a:spcPct val="100000"/>
              </a:lnSpc>
              <a:spcBef>
                <a:spcPts val="95"/>
              </a:spcBef>
            </a:pPr>
            <a:r>
              <a:rPr lang="ru-RU" sz="1200" b="1" dirty="0">
                <a:latin typeface="Cambria"/>
                <a:cs typeface="Cambria"/>
              </a:rPr>
              <a:t>1.9</a:t>
            </a:r>
            <a:r>
              <a:rPr lang="ru-RU" sz="1200" b="1" spc="135" dirty="0">
                <a:latin typeface="Cambria"/>
                <a:cs typeface="Cambria"/>
              </a:rPr>
              <a:t>  </a:t>
            </a:r>
            <a:r>
              <a:rPr lang="ru-RU" sz="1200" dirty="0">
                <a:latin typeface="Times New Roman"/>
                <a:cs typeface="Times New Roman"/>
              </a:rPr>
              <a:t>Дадени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са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уравненията</a:t>
            </a:r>
            <a:r>
              <a:rPr lang="ru-RU" sz="1200" spc="10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10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страните</a:t>
            </a:r>
            <a:r>
              <a:rPr lang="ru-RU" sz="1200" spc="105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AB</a:t>
            </a:r>
            <a:r>
              <a:rPr lang="ru-RU" sz="1200" b="0" i="1" spc="6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:</a:t>
            </a:r>
            <a:r>
              <a:rPr lang="ru-RU" sz="1200" spc="70" dirty="0">
                <a:latin typeface="Book Antiqua"/>
                <a:cs typeface="Book Antiqua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x</a:t>
            </a:r>
            <a:r>
              <a:rPr lang="ru-RU" sz="1200" b="0" i="1" spc="-130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75" dirty="0">
                <a:latin typeface="Book Antiqua"/>
                <a:cs typeface="Book Antiqua"/>
              </a:rPr>
              <a:t> </a:t>
            </a:r>
            <a:r>
              <a:rPr lang="ru-RU" sz="1200" spc="-90" dirty="0">
                <a:latin typeface="Book Antiqua"/>
                <a:cs typeface="Book Antiqua"/>
              </a:rPr>
              <a:t>3</a:t>
            </a:r>
            <a:r>
              <a:rPr lang="ru-RU" sz="1200" b="0" i="1" spc="-90" dirty="0">
                <a:latin typeface="Bookman Old Style"/>
                <a:cs typeface="Bookman Old Style"/>
              </a:rPr>
              <a:t>y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7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8</a:t>
            </a:r>
            <a:r>
              <a:rPr lang="ru-RU" sz="1200" spc="60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7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0</a:t>
            </a:r>
            <a:r>
              <a:rPr lang="ru-RU" sz="1200" spc="8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и</a:t>
            </a:r>
            <a:r>
              <a:rPr lang="ru-RU" sz="1200" spc="100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BC</a:t>
            </a:r>
            <a:r>
              <a:rPr lang="ru-RU" sz="1200" b="0" i="1" spc="9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:</a:t>
            </a:r>
            <a:r>
              <a:rPr lang="ru-RU" sz="1200" spc="70" dirty="0">
                <a:latin typeface="Book Antiqua"/>
                <a:cs typeface="Book Antiqua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x</a:t>
            </a:r>
            <a:r>
              <a:rPr lang="ru-RU" sz="1200" b="0" i="1" spc="-12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75" dirty="0">
                <a:latin typeface="Book Antiqua"/>
                <a:cs typeface="Book Antiqua"/>
              </a:rPr>
              <a:t> </a:t>
            </a:r>
            <a:r>
              <a:rPr lang="ru-RU" sz="1200" spc="-90" dirty="0">
                <a:latin typeface="Book Antiqua"/>
                <a:cs typeface="Book Antiqua"/>
              </a:rPr>
              <a:t>2</a:t>
            </a:r>
            <a:r>
              <a:rPr lang="ru-RU" sz="1200" b="0" i="1" spc="-90" dirty="0">
                <a:latin typeface="Bookman Old Style"/>
                <a:cs typeface="Bookman Old Style"/>
              </a:rPr>
              <a:t>y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7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6</a:t>
            </a:r>
            <a:r>
              <a:rPr lang="ru-RU" sz="1200" spc="5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70" dirty="0">
                <a:latin typeface="Book Antiqua"/>
                <a:cs typeface="Book Antiqua"/>
              </a:rPr>
              <a:t> </a:t>
            </a:r>
            <a:r>
              <a:rPr lang="ru-RU" sz="1200" spc="-50" dirty="0">
                <a:latin typeface="Book Antiqua"/>
                <a:cs typeface="Book Antiqua"/>
              </a:rPr>
              <a:t>0</a:t>
            </a:r>
            <a:endParaRPr lang="ru-RU" sz="12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165" dirty="0">
                <a:latin typeface="Times New Roman"/>
                <a:cs typeface="Times New Roman"/>
              </a:rPr>
              <a:t> </a:t>
            </a:r>
            <a:r>
              <a:rPr lang="ru-RU" sz="1000" dirty="0">
                <a:latin typeface="Lucida Sans Unicode"/>
                <a:cs typeface="Lucida Sans Unicode"/>
              </a:rPr>
              <a:t>△</a:t>
            </a:r>
            <a:r>
              <a:rPr lang="ru-RU" sz="1200" b="0" i="1" dirty="0">
                <a:latin typeface="Bookman Old Style"/>
                <a:cs typeface="Bookman Old Style"/>
              </a:rPr>
              <a:t>ABC</a:t>
            </a:r>
            <a:r>
              <a:rPr lang="ru-RU" sz="1200" b="0" i="1" spc="22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и</a:t>
            </a:r>
            <a:r>
              <a:rPr lang="ru-RU" sz="1200" spc="16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ортоцентърът</a:t>
            </a:r>
            <a:r>
              <a:rPr lang="ru-RU" sz="1200" spc="15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му</a:t>
            </a:r>
            <a:r>
              <a:rPr lang="ru-RU" sz="1200" spc="175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H</a:t>
            </a:r>
            <a:r>
              <a:rPr lang="ru-RU" sz="1200" dirty="0">
                <a:latin typeface="Book Antiqua"/>
                <a:cs typeface="Book Antiqua"/>
              </a:rPr>
              <a:t>(</a:t>
            </a:r>
            <a:r>
              <a:rPr lang="ru-RU" sz="1200" dirty="0">
                <a:latin typeface="Lucida Sans Unicode"/>
                <a:cs typeface="Lucida Sans Unicode"/>
              </a:rPr>
              <a:t>−</a:t>
            </a:r>
            <a:r>
              <a:rPr lang="ru-RU" sz="1200" dirty="0">
                <a:latin typeface="Book Antiqua"/>
                <a:cs typeface="Book Antiqua"/>
              </a:rPr>
              <a:t>2</a:t>
            </a:r>
            <a:r>
              <a:rPr lang="ru-RU" sz="1200" b="0" i="1" dirty="0">
                <a:latin typeface="Bookman Old Style"/>
                <a:cs typeface="Bookman Old Style"/>
              </a:rPr>
              <a:t>,</a:t>
            </a:r>
            <a:r>
              <a:rPr lang="ru-RU" sz="1200" b="0" i="1" spc="-10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Lucida Sans Unicode"/>
                <a:cs typeface="Lucida Sans Unicode"/>
              </a:rPr>
              <a:t>−</a:t>
            </a:r>
            <a:r>
              <a:rPr lang="ru-RU" sz="1200" dirty="0">
                <a:latin typeface="Book Antiqua"/>
                <a:cs typeface="Book Antiqua"/>
              </a:rPr>
              <a:t>9)</a:t>
            </a:r>
            <a:r>
              <a:rPr lang="ru-RU" sz="1200" dirty="0">
                <a:latin typeface="Times New Roman"/>
                <a:cs typeface="Times New Roman"/>
              </a:rPr>
              <a:t>.</a:t>
            </a:r>
            <a:r>
              <a:rPr lang="ru-RU" sz="1200" spc="15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Намерете</a:t>
            </a:r>
            <a:r>
              <a:rPr lang="ru-RU" sz="1200" spc="17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координатите</a:t>
            </a:r>
            <a:r>
              <a:rPr lang="ru-RU" sz="1200" spc="17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17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върховете</a:t>
            </a:r>
            <a:r>
              <a:rPr lang="ru-RU" sz="1200" spc="160" dirty="0">
                <a:latin typeface="Times New Roman"/>
                <a:cs typeface="Times New Roman"/>
              </a:rPr>
              <a:t> </a:t>
            </a:r>
            <a:r>
              <a:rPr lang="ru-RU" sz="1200" spc="-25" dirty="0">
                <a:latin typeface="Times New Roman"/>
                <a:cs typeface="Times New Roman"/>
              </a:rPr>
              <a:t>на</a:t>
            </a:r>
            <a:endParaRPr lang="ru-RU" sz="1200" dirty="0">
              <a:latin typeface="Times New Roman"/>
              <a:cs typeface="Times New Roman"/>
            </a:endParaRPr>
          </a:p>
          <a:p>
            <a:pPr marL="71755" algn="just">
              <a:spcBef>
                <a:spcPts val="1450"/>
              </a:spcBef>
            </a:pPr>
            <a:r>
              <a:rPr lang="ru-RU" sz="1200" b="1" spc="-15" dirty="0">
                <a:latin typeface="Cambria"/>
                <a:cs typeface="Cambria"/>
              </a:rPr>
              <a:t>1.10</a:t>
            </a:r>
            <a:r>
              <a:rPr lang="ru-RU" sz="1200" b="1" spc="405" dirty="0">
                <a:latin typeface="Cambria"/>
                <a:cs typeface="Cambria"/>
              </a:rPr>
              <a:t> </a:t>
            </a:r>
            <a:r>
              <a:rPr lang="ru-RU" sz="1200" spc="25" dirty="0">
                <a:latin typeface="Times New Roman"/>
                <a:cs typeface="Times New Roman"/>
              </a:rPr>
              <a:t>Дадени</a:t>
            </a:r>
            <a:r>
              <a:rPr lang="ru-RU" sz="1200" spc="45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са</a:t>
            </a:r>
            <a:r>
              <a:rPr lang="ru-RU" sz="1200" spc="35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уравненията</a:t>
            </a:r>
            <a:r>
              <a:rPr lang="ru-RU" sz="1200" spc="5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5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страните</a:t>
            </a:r>
            <a:r>
              <a:rPr lang="ru-RU" sz="1200" spc="35" dirty="0">
                <a:latin typeface="Times New Roman"/>
                <a:cs typeface="Times New Roman"/>
              </a:rPr>
              <a:t> </a:t>
            </a:r>
            <a:r>
              <a:rPr lang="ru-RU" sz="1200" b="0" i="1" spc="20" dirty="0">
                <a:latin typeface="Bookman Old Style"/>
                <a:cs typeface="Bookman Old Style"/>
              </a:rPr>
              <a:t>AB</a:t>
            </a:r>
            <a:r>
              <a:rPr lang="ru-RU" sz="1200" b="0" i="1" spc="35" dirty="0">
                <a:latin typeface="Bookman Old Style"/>
                <a:cs typeface="Bookman Old Style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b="0" i="1" spc="10" dirty="0">
                <a:latin typeface="Bookman Old Style"/>
                <a:cs typeface="Bookman Old Style"/>
              </a:rPr>
              <a:t>x</a:t>
            </a:r>
            <a:r>
              <a:rPr lang="ru-RU" sz="1200" b="0" i="1" spc="-210" dirty="0">
                <a:latin typeface="Bookman Old Style"/>
                <a:cs typeface="Bookman Old Style"/>
              </a:rPr>
              <a:t> </a:t>
            </a:r>
            <a:r>
              <a:rPr lang="ru-RU" sz="1200" spc="-30" dirty="0">
                <a:latin typeface="Lucida Sans Unicode"/>
                <a:cs typeface="Lucida Sans Unicode"/>
              </a:rPr>
              <a:t>−</a:t>
            </a:r>
            <a:r>
              <a:rPr lang="ru-RU" sz="1200" spc="-229" dirty="0">
                <a:latin typeface="Lucida Sans Unicode"/>
                <a:cs typeface="Lucida Sans Unicode"/>
              </a:rPr>
              <a:t> </a:t>
            </a:r>
            <a:r>
              <a:rPr lang="ru-RU" sz="1200" spc="-85" dirty="0">
                <a:latin typeface="Book Antiqua"/>
                <a:cs typeface="Book Antiqua"/>
              </a:rPr>
              <a:t>4</a:t>
            </a:r>
            <a:r>
              <a:rPr lang="ru-RU" sz="1200" b="0" i="1" spc="-85" dirty="0">
                <a:latin typeface="Bookman Old Style"/>
                <a:cs typeface="Bookman Old Style"/>
              </a:rPr>
              <a:t>y</a:t>
            </a:r>
            <a:r>
              <a:rPr lang="ru-RU" sz="1200" b="0" i="1" spc="-140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14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34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30" dirty="0">
                <a:latin typeface="Book Antiqua"/>
                <a:cs typeface="Book Antiqua"/>
              </a:rPr>
              <a:t>0</a:t>
            </a:r>
            <a:r>
              <a:rPr lang="ru-RU" sz="1200" b="0" i="1" spc="-30" dirty="0">
                <a:latin typeface="Bookman Old Style"/>
                <a:cs typeface="Bookman Old Style"/>
              </a:rPr>
              <a:t>,</a:t>
            </a:r>
            <a:r>
              <a:rPr lang="ru-RU" sz="1200" b="0" i="1" spc="-25" dirty="0">
                <a:latin typeface="Bookman Old Style"/>
                <a:cs typeface="Bookman Old Style"/>
              </a:rPr>
              <a:t> </a:t>
            </a:r>
            <a:r>
              <a:rPr lang="ru-RU" sz="1200" b="0" i="1" spc="-5" dirty="0">
                <a:latin typeface="Bookman Old Style"/>
                <a:cs typeface="Bookman Old Style"/>
              </a:rPr>
              <a:t>AC</a:t>
            </a:r>
            <a:r>
              <a:rPr lang="ru-RU" sz="1200" b="0" i="1" spc="50" dirty="0">
                <a:latin typeface="Bookman Old Style"/>
                <a:cs typeface="Bookman Old Style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5" dirty="0">
                <a:latin typeface="Book Antiqua"/>
                <a:cs typeface="Book Antiqua"/>
              </a:rPr>
              <a:t>2</a:t>
            </a:r>
            <a:r>
              <a:rPr lang="ru-RU" sz="1200" b="0" i="1" spc="-5" dirty="0">
                <a:latin typeface="Bookman Old Style"/>
                <a:cs typeface="Bookman Old Style"/>
              </a:rPr>
              <a:t>x</a:t>
            </a:r>
            <a:r>
              <a:rPr lang="ru-RU" sz="1200" b="0" i="1" spc="-210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145" dirty="0">
                <a:latin typeface="Book Antiqua"/>
                <a:cs typeface="Book Antiqua"/>
              </a:rPr>
              <a:t> </a:t>
            </a:r>
            <a:r>
              <a:rPr lang="ru-RU" sz="1200" b="0" i="1" spc="-155" dirty="0">
                <a:latin typeface="Bookman Old Style"/>
                <a:cs typeface="Bookman Old Style"/>
              </a:rPr>
              <a:t>y</a:t>
            </a:r>
            <a:r>
              <a:rPr lang="ru-RU" sz="1200" b="0" i="1" spc="-140" dirty="0">
                <a:latin typeface="Bookman Old Style"/>
                <a:cs typeface="Bookman Old Style"/>
              </a:rPr>
              <a:t> </a:t>
            </a:r>
            <a:r>
              <a:rPr lang="ru-RU" sz="1200" spc="-30" dirty="0">
                <a:latin typeface="Lucida Sans Unicode"/>
                <a:cs typeface="Lucida Sans Unicode"/>
              </a:rPr>
              <a:t>−</a:t>
            </a:r>
            <a:r>
              <a:rPr lang="ru-RU" sz="1200" spc="-229" dirty="0">
                <a:latin typeface="Lucida Sans Unicode"/>
                <a:cs typeface="Lucida Sans Unicode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4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-10" dirty="0">
                <a:latin typeface="Book Antiqua"/>
                <a:cs typeface="Book Antiqua"/>
              </a:rPr>
              <a:t> </a:t>
            </a:r>
            <a:r>
              <a:rPr lang="ru-RU" sz="1200" spc="5" dirty="0">
                <a:latin typeface="Times New Roman"/>
                <a:cs typeface="Times New Roman"/>
              </a:rPr>
              <a:t>и</a:t>
            </a:r>
            <a:r>
              <a:rPr lang="ru-RU" sz="1200" spc="185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19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медианата</a:t>
            </a:r>
            <a:r>
              <a:rPr lang="ru-RU" sz="1200" spc="204" dirty="0">
                <a:latin typeface="Times New Roman"/>
                <a:cs typeface="Times New Roman"/>
              </a:rPr>
              <a:t> </a:t>
            </a:r>
            <a:r>
              <a:rPr lang="ru-RU" sz="1200" b="0" i="1" spc="45" dirty="0">
                <a:latin typeface="Bookman Old Style"/>
                <a:cs typeface="Bookman Old Style"/>
              </a:rPr>
              <a:t>m</a:t>
            </a:r>
            <a:r>
              <a:rPr lang="ru-RU" sz="1200" i="1" spc="67" baseline="-13888" dirty="0">
                <a:latin typeface="Book Antiqua"/>
                <a:cs typeface="Book Antiqua"/>
              </a:rPr>
              <a:t>B</a:t>
            </a:r>
            <a:r>
              <a:rPr lang="ru-RU" sz="1200" i="1" spc="592" baseline="-13888" dirty="0">
                <a:latin typeface="Book Antiqua"/>
                <a:cs typeface="Book Antiqua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215" dirty="0">
                <a:latin typeface="Book Antiqua"/>
                <a:cs typeface="Book Antiqua"/>
              </a:rPr>
              <a:t> </a:t>
            </a:r>
            <a:r>
              <a:rPr lang="ru-RU" sz="1200" b="0" i="1" spc="10" dirty="0">
                <a:latin typeface="Bookman Old Style"/>
                <a:cs typeface="Bookman Old Style"/>
              </a:rPr>
              <a:t>x</a:t>
            </a:r>
            <a:r>
              <a:rPr lang="ru-RU" sz="1200" b="0" i="1" spc="-30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b="0" i="1" spc="-155" dirty="0">
                <a:latin typeface="Bookman Old Style"/>
                <a:cs typeface="Bookman Old Style"/>
              </a:rPr>
              <a:t>y</a:t>
            </a:r>
            <a:r>
              <a:rPr lang="ru-RU" sz="1200" b="0" i="1" spc="1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4</a:t>
            </a:r>
            <a:r>
              <a:rPr lang="ru-RU" sz="1200" spc="204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204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195" dirty="0">
                <a:latin typeface="Book Antiqua"/>
                <a:cs typeface="Book Antiqua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в</a:t>
            </a:r>
            <a:r>
              <a:rPr lang="ru-RU" sz="1200" spc="195" dirty="0">
                <a:latin typeface="Times New Roman"/>
                <a:cs typeface="Times New Roman"/>
              </a:rPr>
              <a:t> </a:t>
            </a:r>
            <a:r>
              <a:rPr lang="ru-RU" sz="1000" spc="25" dirty="0">
                <a:latin typeface="Lucida Sans Unicode"/>
                <a:cs typeface="Lucida Sans Unicode"/>
              </a:rPr>
              <a:t>△</a:t>
            </a:r>
            <a:r>
              <a:rPr lang="ru-RU" sz="1200" b="0" i="1" spc="25" dirty="0">
                <a:latin typeface="Bookman Old Style"/>
                <a:cs typeface="Bookman Old Style"/>
              </a:rPr>
              <a:t>ABC.</a:t>
            </a:r>
            <a:r>
              <a:rPr lang="ru-RU" sz="1200" b="0" i="1" spc="130" dirty="0">
                <a:latin typeface="Bookman Old Style"/>
                <a:cs typeface="Bookman Old Style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Намерете</a:t>
            </a:r>
            <a:r>
              <a:rPr lang="ru-RU" sz="1200" spc="185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уравнението</a:t>
            </a:r>
            <a:r>
              <a:rPr lang="ru-RU" sz="1200" spc="215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190" dirty="0">
                <a:latin typeface="Times New Roman"/>
                <a:cs typeface="Times New Roman"/>
              </a:rPr>
              <a:t> </a:t>
            </a:r>
            <a:r>
              <a:rPr lang="ru-RU" sz="1200" spc="30" dirty="0">
                <a:latin typeface="Times New Roman"/>
                <a:cs typeface="Times New Roman"/>
              </a:rPr>
              <a:t>третата</a:t>
            </a:r>
            <a:r>
              <a:rPr lang="ru-RU" sz="1200" spc="25" dirty="0">
                <a:latin typeface="Times New Roman"/>
                <a:cs typeface="Times New Roman"/>
              </a:rPr>
              <a:t> страна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85" dirty="0">
                <a:latin typeface="Times New Roman"/>
                <a:cs typeface="Times New Roman"/>
              </a:rPr>
              <a:t> </a:t>
            </a:r>
            <a:r>
              <a:rPr lang="ru-RU" sz="1200" spc="35" dirty="0">
                <a:latin typeface="Times New Roman"/>
                <a:cs typeface="Times New Roman"/>
              </a:rPr>
              <a:t>триъгълника.</a:t>
            </a:r>
          </a:p>
          <a:p>
            <a:pPr marL="71755" algn="just">
              <a:spcBef>
                <a:spcPts val="1450"/>
              </a:spcBef>
            </a:pPr>
            <a:r>
              <a:rPr lang="ru-RU" sz="1200" b="1" dirty="0">
                <a:latin typeface="Cambria"/>
                <a:cs typeface="Cambria"/>
              </a:rPr>
              <a:t>1.11</a:t>
            </a:r>
            <a:r>
              <a:rPr lang="ru-RU" sz="1200" b="1" spc="270" dirty="0">
                <a:latin typeface="Cambria"/>
                <a:cs typeface="Cambria"/>
              </a:rPr>
              <a:t>  </a:t>
            </a:r>
            <a:r>
              <a:rPr lang="ru-RU" sz="1200" dirty="0">
                <a:latin typeface="Times New Roman"/>
                <a:cs typeface="Times New Roman"/>
              </a:rPr>
              <a:t>Дадени</a:t>
            </a:r>
            <a:r>
              <a:rPr lang="ru-RU" sz="1200" spc="27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са</a:t>
            </a:r>
            <a:r>
              <a:rPr lang="ru-RU" sz="1200" spc="26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координатите</a:t>
            </a:r>
            <a:r>
              <a:rPr lang="ru-RU" sz="1200" spc="26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27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върха</a:t>
            </a:r>
            <a:r>
              <a:rPr lang="ru-RU" sz="1200" spc="270" dirty="0">
                <a:latin typeface="Times New Roman"/>
                <a:cs typeface="Times New Roman"/>
              </a:rPr>
              <a:t> </a:t>
            </a:r>
            <a:r>
              <a:rPr lang="ru-RU" sz="1200" b="0" i="1" spc="-25" dirty="0">
                <a:latin typeface="Bookman Old Style"/>
                <a:cs typeface="Bookman Old Style"/>
              </a:rPr>
              <a:t>A</a:t>
            </a:r>
            <a:r>
              <a:rPr lang="ru-RU" sz="1200" spc="-25" dirty="0">
                <a:latin typeface="Book Antiqua"/>
                <a:cs typeface="Book Antiqua"/>
              </a:rPr>
              <a:t>(</a:t>
            </a:r>
            <a:r>
              <a:rPr lang="ru-RU" sz="1200" spc="-25" dirty="0">
                <a:latin typeface="Lucida Sans Unicode"/>
                <a:cs typeface="Lucida Sans Unicode"/>
              </a:rPr>
              <a:t>−</a:t>
            </a:r>
            <a:r>
              <a:rPr lang="ru-RU" sz="1200" spc="-25" dirty="0">
                <a:latin typeface="Book Antiqua"/>
                <a:cs typeface="Book Antiqua"/>
              </a:rPr>
              <a:t>2</a:t>
            </a:r>
            <a:r>
              <a:rPr lang="ru-RU" sz="1200" b="0" i="1" spc="-25" dirty="0">
                <a:latin typeface="Bookman Old Style"/>
                <a:cs typeface="Bookman Old Style"/>
              </a:rPr>
              <a:t>,</a:t>
            </a:r>
            <a:r>
              <a:rPr lang="ru-RU" sz="1200" b="0" i="1" spc="-6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9)</a:t>
            </a:r>
            <a:r>
              <a:rPr lang="ru-RU" sz="1200" spc="26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и</a:t>
            </a:r>
            <a:r>
              <a:rPr lang="ru-RU" sz="1200" spc="27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уравненията</a:t>
            </a:r>
            <a:r>
              <a:rPr lang="ru-RU" sz="1200" spc="27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260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височината </a:t>
            </a:r>
            <a:r>
              <a:rPr lang="ru-RU" sz="1200" b="0" i="1" dirty="0">
                <a:latin typeface="Bookman Old Style"/>
                <a:cs typeface="Bookman Old Style"/>
              </a:rPr>
              <a:t>h</a:t>
            </a:r>
            <a:r>
              <a:rPr lang="ru-RU" sz="1200" i="1" baseline="-13888" dirty="0">
                <a:latin typeface="Book Antiqua"/>
                <a:cs typeface="Book Antiqua"/>
              </a:rPr>
              <a:t>B</a:t>
            </a:r>
            <a:r>
              <a:rPr lang="ru-RU" sz="1200" i="1" spc="585" baseline="-13888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:</a:t>
            </a:r>
            <a:r>
              <a:rPr lang="ru-RU" sz="1200" spc="19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6</a:t>
            </a:r>
            <a:r>
              <a:rPr lang="ru-RU" sz="1200" b="0" i="1" dirty="0">
                <a:latin typeface="Bookman Old Style"/>
                <a:cs typeface="Bookman Old Style"/>
              </a:rPr>
              <a:t>x</a:t>
            </a:r>
            <a:r>
              <a:rPr lang="ru-RU" sz="1200" b="0" i="1" spc="-30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50" dirty="0">
                <a:latin typeface="Book Antiqua"/>
                <a:cs typeface="Book Antiqua"/>
              </a:rPr>
              <a:t>13</a:t>
            </a:r>
            <a:r>
              <a:rPr lang="ru-RU" sz="1200" b="0" i="1" spc="-50" dirty="0">
                <a:latin typeface="Bookman Old Style"/>
                <a:cs typeface="Bookman Old Style"/>
              </a:rPr>
              <a:t>y</a:t>
            </a:r>
            <a:r>
              <a:rPr lang="ru-RU" sz="1200" b="0" i="1" spc="20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29</a:t>
            </a:r>
            <a:r>
              <a:rPr lang="ru-RU" sz="1200" spc="190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19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0</a:t>
            </a:r>
            <a:r>
              <a:rPr lang="ru-RU" sz="1200" spc="20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и</a:t>
            </a:r>
            <a:r>
              <a:rPr lang="ru-RU" sz="1200" spc="19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медианата</a:t>
            </a:r>
            <a:r>
              <a:rPr lang="ru-RU" sz="1200" spc="200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m</a:t>
            </a:r>
            <a:r>
              <a:rPr lang="ru-RU" sz="1200" i="1" baseline="-13888" dirty="0">
                <a:latin typeface="Book Antiqua"/>
                <a:cs typeface="Book Antiqua"/>
              </a:rPr>
              <a:t>B</a:t>
            </a:r>
            <a:r>
              <a:rPr lang="ru-RU" sz="1200" i="1" spc="585" baseline="-13888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:</a:t>
            </a:r>
            <a:r>
              <a:rPr lang="ru-RU" sz="1200" spc="20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3</a:t>
            </a:r>
            <a:r>
              <a:rPr lang="ru-RU" sz="1200" b="0" i="1" dirty="0">
                <a:latin typeface="Bookman Old Style"/>
                <a:cs typeface="Bookman Old Style"/>
              </a:rPr>
              <a:t>x</a:t>
            </a:r>
            <a:r>
              <a:rPr lang="ru-RU" sz="1200" b="0" i="1" spc="-3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50" dirty="0">
                <a:latin typeface="Book Antiqua"/>
                <a:cs typeface="Book Antiqua"/>
              </a:rPr>
              <a:t>10</a:t>
            </a:r>
            <a:r>
              <a:rPr lang="ru-RU" sz="1200" b="0" i="1" spc="-50" dirty="0">
                <a:latin typeface="Bookman Old Style"/>
                <a:cs typeface="Bookman Old Style"/>
              </a:rPr>
              <a:t>y</a:t>
            </a:r>
            <a:r>
              <a:rPr lang="ru-RU" sz="1200" b="0" i="1" spc="2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Lucida Sans Unicode"/>
                <a:cs typeface="Lucida Sans Unicode"/>
              </a:rPr>
              <a:t>−</a:t>
            </a:r>
            <a:r>
              <a:rPr lang="ru-RU" sz="1200" spc="-40" dirty="0">
                <a:latin typeface="Lucida Sans Unicode"/>
                <a:cs typeface="Lucida Sans Unicod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10</a:t>
            </a:r>
            <a:r>
              <a:rPr lang="ru-RU" sz="1200" spc="190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19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0</a:t>
            </a:r>
            <a:r>
              <a:rPr lang="ru-RU" sz="1200" spc="20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в</a:t>
            </a:r>
            <a:r>
              <a:rPr lang="ru-RU" sz="1200" spc="190" dirty="0">
                <a:latin typeface="Times New Roman"/>
                <a:cs typeface="Times New Roman"/>
              </a:rPr>
              <a:t> </a:t>
            </a:r>
            <a:r>
              <a:rPr lang="ru-RU" sz="1000" dirty="0">
                <a:latin typeface="Lucida Sans Unicode"/>
                <a:cs typeface="Lucida Sans Unicode"/>
              </a:rPr>
              <a:t>△</a:t>
            </a:r>
            <a:r>
              <a:rPr lang="ru-RU" sz="1200" b="0" i="1" dirty="0">
                <a:latin typeface="Bookman Old Style"/>
                <a:cs typeface="Bookman Old Style"/>
              </a:rPr>
              <a:t>ABC.</a:t>
            </a:r>
            <a:r>
              <a:rPr lang="ru-RU" sz="1200" b="0" i="1" spc="135" dirty="0">
                <a:latin typeface="Bookman Old Style"/>
                <a:cs typeface="Bookman Old Style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Намерете </a:t>
            </a:r>
            <a:r>
              <a:rPr lang="ru-RU" sz="1200" dirty="0">
                <a:latin typeface="Times New Roman"/>
                <a:cs typeface="Times New Roman"/>
              </a:rPr>
              <a:t>координатите</a:t>
            </a:r>
            <a:r>
              <a:rPr lang="ru-RU" sz="1200" spc="19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21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другите</a:t>
            </a:r>
            <a:r>
              <a:rPr lang="ru-RU" sz="1200" spc="21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два</a:t>
            </a:r>
            <a:r>
              <a:rPr lang="ru-RU" sz="1200" spc="19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върха</a:t>
            </a:r>
            <a:r>
              <a:rPr lang="ru-RU" sz="1200" spc="204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190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триъгълника.</a:t>
            </a:r>
            <a:endParaRPr lang="ru-RU" sz="1200" dirty="0">
              <a:latin typeface="Times New Roman"/>
              <a:cs typeface="Times New Roman"/>
            </a:endParaRPr>
          </a:p>
          <a:p>
            <a:pPr marL="71755" algn="just">
              <a:spcBef>
                <a:spcPts val="1450"/>
              </a:spcBef>
            </a:pPr>
            <a:r>
              <a:rPr lang="ru-RU" sz="1200" b="1" dirty="0">
                <a:latin typeface="Cambria"/>
                <a:cs typeface="Cambria"/>
              </a:rPr>
              <a:t>1.12</a:t>
            </a:r>
            <a:r>
              <a:rPr lang="ru-RU" sz="1200" b="1" spc="195" dirty="0">
                <a:latin typeface="Cambria"/>
                <a:cs typeface="Cambria"/>
              </a:rPr>
              <a:t>  </a:t>
            </a:r>
            <a:r>
              <a:rPr lang="ru-RU" sz="1200" dirty="0">
                <a:latin typeface="Times New Roman"/>
                <a:cs typeface="Times New Roman"/>
              </a:rPr>
              <a:t>Дадени</a:t>
            </a:r>
            <a:r>
              <a:rPr lang="ru-RU" sz="1200" spc="17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са</a:t>
            </a:r>
            <a:r>
              <a:rPr lang="ru-RU" sz="1200" spc="16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координатите</a:t>
            </a:r>
            <a:r>
              <a:rPr lang="ru-RU" sz="1200" spc="17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17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медицентъра</a:t>
            </a:r>
            <a:r>
              <a:rPr lang="ru-RU" sz="1200" spc="185" dirty="0">
                <a:latin typeface="Times New Roman"/>
                <a:cs typeface="Times New Roman"/>
              </a:rPr>
              <a:t> </a:t>
            </a:r>
            <a:r>
              <a:rPr lang="ru-RU" sz="1200" b="0" i="1" spc="-10" dirty="0">
                <a:latin typeface="Bookman Old Style"/>
                <a:cs typeface="Bookman Old Style"/>
              </a:rPr>
              <a:t>G</a:t>
            </a:r>
            <a:r>
              <a:rPr lang="ru-RU" sz="1200" spc="-10" dirty="0">
                <a:latin typeface="Book Antiqua"/>
                <a:cs typeface="Book Antiqua"/>
              </a:rPr>
              <a:t>(</a:t>
            </a:r>
            <a:r>
              <a:rPr lang="ru-RU" sz="1200" spc="-10" dirty="0">
                <a:latin typeface="Lucida Sans Unicode"/>
                <a:cs typeface="Lucida Sans Unicode"/>
              </a:rPr>
              <a:t>−</a:t>
            </a:r>
            <a:r>
              <a:rPr lang="ru-RU" sz="1200" spc="-10" dirty="0">
                <a:latin typeface="Book Antiqua"/>
                <a:cs typeface="Book Antiqua"/>
              </a:rPr>
              <a:t>3</a:t>
            </a:r>
            <a:r>
              <a:rPr lang="ru-RU" sz="1200" b="0" i="1" spc="-10" dirty="0">
                <a:latin typeface="Bookman Old Style"/>
                <a:cs typeface="Bookman Old Style"/>
              </a:rPr>
              <a:t>,</a:t>
            </a:r>
            <a:r>
              <a:rPr lang="ru-RU" sz="1200" b="0" i="1" spc="-12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10)</a:t>
            </a:r>
            <a:r>
              <a:rPr lang="ru-RU" sz="1200" spc="15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и</a:t>
            </a:r>
            <a:r>
              <a:rPr lang="ru-RU" sz="1200" spc="16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уравненията</a:t>
            </a:r>
            <a:r>
              <a:rPr lang="ru-RU" sz="1200" spc="18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16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стра- </a:t>
            </a:r>
            <a:r>
              <a:rPr lang="ru-RU" sz="1200" dirty="0">
                <a:latin typeface="Times New Roman"/>
                <a:cs typeface="Times New Roman"/>
              </a:rPr>
              <a:t>ните</a:t>
            </a:r>
            <a:r>
              <a:rPr lang="ru-RU" sz="1200" spc="120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AB</a:t>
            </a:r>
            <a:r>
              <a:rPr lang="ru-RU" sz="1200" b="0" i="1" spc="7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:</a:t>
            </a:r>
            <a:r>
              <a:rPr lang="ru-RU" sz="1200" spc="60" dirty="0">
                <a:latin typeface="Book Antiqua"/>
                <a:cs typeface="Book Antiqua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x</a:t>
            </a:r>
            <a:r>
              <a:rPr lang="ru-RU" sz="1200" b="0" i="1" spc="-70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1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4</a:t>
            </a:r>
            <a:r>
              <a:rPr lang="ru-RU" sz="1200" spc="6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6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0</a:t>
            </a:r>
            <a:r>
              <a:rPr lang="ru-RU" sz="1200" spc="120" dirty="0">
                <a:latin typeface="Book Antiqua"/>
                <a:cs typeface="Book Antiqua"/>
              </a:rPr>
              <a:t>  </a:t>
            </a:r>
            <a:r>
              <a:rPr lang="ru-RU" sz="1200" dirty="0">
                <a:latin typeface="Times New Roman"/>
                <a:cs typeface="Times New Roman"/>
              </a:rPr>
              <a:t>и</a:t>
            </a:r>
            <a:r>
              <a:rPr lang="ru-RU" sz="1200" spc="120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BC</a:t>
            </a:r>
            <a:r>
              <a:rPr lang="ru-RU" sz="1200" b="0" i="1" spc="9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:</a:t>
            </a:r>
            <a:r>
              <a:rPr lang="ru-RU" sz="1200" spc="60" dirty="0">
                <a:latin typeface="Book Antiqua"/>
                <a:cs typeface="Book Antiqua"/>
              </a:rPr>
              <a:t> </a:t>
            </a:r>
            <a:r>
              <a:rPr lang="ru-RU" sz="1200" spc="-10" dirty="0">
                <a:latin typeface="Book Antiqua"/>
                <a:cs typeface="Book Antiqua"/>
              </a:rPr>
              <a:t>14</a:t>
            </a:r>
            <a:r>
              <a:rPr lang="ru-RU" sz="1200" b="0" i="1" spc="-10" dirty="0">
                <a:latin typeface="Bookman Old Style"/>
                <a:cs typeface="Bookman Old Style"/>
              </a:rPr>
              <a:t>x</a:t>
            </a:r>
            <a:r>
              <a:rPr lang="ru-RU" sz="1200" b="0" i="1" spc="-70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15" dirty="0">
                <a:latin typeface="Book Antiqua"/>
                <a:cs typeface="Book Antiqua"/>
              </a:rPr>
              <a:t> </a:t>
            </a:r>
            <a:r>
              <a:rPr lang="ru-RU" sz="1200" spc="-90" dirty="0">
                <a:latin typeface="Book Antiqua"/>
                <a:cs typeface="Book Antiqua"/>
              </a:rPr>
              <a:t>3</a:t>
            </a:r>
            <a:r>
              <a:rPr lang="ru-RU" sz="1200" b="0" i="1" spc="-90" dirty="0">
                <a:latin typeface="Bookman Old Style"/>
                <a:cs typeface="Bookman Old Style"/>
              </a:rPr>
              <a:t>y</a:t>
            </a:r>
            <a:r>
              <a:rPr lang="ru-RU" sz="1200" b="0" i="1" spc="-30" dirty="0">
                <a:latin typeface="Bookman Old Style"/>
                <a:cs typeface="Bookman Old Style"/>
              </a:rPr>
              <a:t> </a:t>
            </a:r>
            <a:r>
              <a:rPr lang="ru-RU" sz="1200" spc="-35" dirty="0">
                <a:latin typeface="Lucida Sans Unicode"/>
                <a:cs typeface="Lucida Sans Unicode"/>
              </a:rPr>
              <a:t>−</a:t>
            </a:r>
            <a:r>
              <a:rPr lang="ru-RU" sz="1200" spc="-90" dirty="0">
                <a:latin typeface="Lucida Sans Unicode"/>
                <a:cs typeface="Lucida Sans Unicod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4</a:t>
            </a:r>
            <a:r>
              <a:rPr lang="ru-RU" sz="1200" spc="6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6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0</a:t>
            </a:r>
            <a:r>
              <a:rPr lang="ru-RU" sz="1200" spc="114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в</a:t>
            </a:r>
            <a:r>
              <a:rPr lang="ru-RU" sz="1200" spc="125" dirty="0">
                <a:latin typeface="Times New Roman"/>
                <a:cs typeface="Times New Roman"/>
              </a:rPr>
              <a:t> </a:t>
            </a:r>
            <a:r>
              <a:rPr lang="ru-RU" sz="1000" dirty="0">
                <a:latin typeface="Lucida Sans Unicode"/>
                <a:cs typeface="Lucida Sans Unicode"/>
              </a:rPr>
              <a:t>△</a:t>
            </a:r>
            <a:r>
              <a:rPr lang="ru-RU" sz="1200" b="0" i="1" dirty="0">
                <a:latin typeface="Bookman Old Style"/>
                <a:cs typeface="Bookman Old Style"/>
              </a:rPr>
              <a:t>ABC.</a:t>
            </a:r>
            <a:r>
              <a:rPr lang="ru-RU" sz="1200" b="0" i="1" spc="5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Намерете</a:t>
            </a:r>
            <a:r>
              <a:rPr lang="ru-RU" sz="1200" spc="13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координатите</a:t>
            </a:r>
            <a:r>
              <a:rPr lang="ru-RU" sz="1200" spc="120" dirty="0">
                <a:latin typeface="Times New Roman"/>
                <a:cs typeface="Times New Roman"/>
              </a:rPr>
              <a:t> </a:t>
            </a:r>
            <a:r>
              <a:rPr lang="ru-RU" sz="1200" spc="-25" dirty="0">
                <a:latin typeface="Times New Roman"/>
                <a:cs typeface="Times New Roman"/>
              </a:rPr>
              <a:t>на </a:t>
            </a:r>
            <a:r>
              <a:rPr lang="bg-BG" sz="1200" dirty="0">
                <a:latin typeface="Times New Roman"/>
                <a:cs typeface="Times New Roman"/>
              </a:rPr>
              <a:t>върховете</a:t>
            </a:r>
            <a:r>
              <a:rPr lang="bg-BG" sz="1200" spc="165" dirty="0">
                <a:latin typeface="Times New Roman"/>
                <a:cs typeface="Times New Roman"/>
              </a:rPr>
              <a:t> </a:t>
            </a:r>
            <a:r>
              <a:rPr lang="bg-BG" sz="1200" dirty="0">
                <a:latin typeface="Times New Roman"/>
                <a:cs typeface="Times New Roman"/>
              </a:rPr>
              <a:t>на</a:t>
            </a:r>
            <a:r>
              <a:rPr lang="bg-BG" sz="1200" spc="180" dirty="0">
                <a:latin typeface="Times New Roman"/>
                <a:cs typeface="Times New Roman"/>
              </a:rPr>
              <a:t> </a:t>
            </a:r>
            <a:r>
              <a:rPr lang="bg-BG" sz="1200" spc="-10" dirty="0">
                <a:latin typeface="Times New Roman"/>
                <a:cs typeface="Times New Roman"/>
              </a:rPr>
              <a:t>триъгълника.</a:t>
            </a:r>
          </a:p>
          <a:p>
            <a:pPr marL="71755" algn="just">
              <a:spcBef>
                <a:spcPts val="1450"/>
              </a:spcBef>
            </a:pPr>
            <a:r>
              <a:rPr lang="ru-RU" sz="1200" b="1" spc="-15" dirty="0">
                <a:latin typeface="Cambria"/>
                <a:cs typeface="Cambria"/>
              </a:rPr>
              <a:t>1.13</a:t>
            </a:r>
            <a:r>
              <a:rPr lang="ru-RU" sz="1200" b="1" spc="765" dirty="0">
                <a:latin typeface="Cambria"/>
                <a:cs typeface="Cambria"/>
              </a:rPr>
              <a:t> </a:t>
            </a:r>
            <a:r>
              <a:rPr lang="ru-RU" sz="1200" spc="25" dirty="0">
                <a:latin typeface="Times New Roman"/>
                <a:cs typeface="Times New Roman"/>
              </a:rPr>
              <a:t>Дадени</a:t>
            </a:r>
            <a:r>
              <a:rPr lang="ru-RU" sz="1200" spc="225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са</a:t>
            </a:r>
            <a:r>
              <a:rPr lang="ru-RU" sz="1200" spc="215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координатите</a:t>
            </a:r>
            <a:r>
              <a:rPr lang="ru-RU" sz="1200" spc="22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229" dirty="0">
                <a:latin typeface="Times New Roman"/>
                <a:cs typeface="Times New Roman"/>
              </a:rPr>
              <a:t> </a:t>
            </a:r>
            <a:r>
              <a:rPr lang="ru-RU" sz="1200" spc="25" dirty="0">
                <a:latin typeface="Times New Roman"/>
                <a:cs typeface="Times New Roman"/>
              </a:rPr>
              <a:t>върха</a:t>
            </a:r>
            <a:r>
              <a:rPr lang="ru-RU" sz="1200" spc="220" dirty="0">
                <a:latin typeface="Times New Roman"/>
                <a:cs typeface="Times New Roman"/>
              </a:rPr>
              <a:t> </a:t>
            </a:r>
            <a:r>
              <a:rPr lang="ru-RU" sz="1200" b="0" i="1" spc="5" dirty="0">
                <a:latin typeface="Bookman Old Style"/>
                <a:cs typeface="Bookman Old Style"/>
              </a:rPr>
              <a:t>A</a:t>
            </a:r>
            <a:r>
              <a:rPr lang="ru-RU" sz="1200" spc="5" dirty="0">
                <a:latin typeface="Book Antiqua"/>
                <a:cs typeface="Book Antiqua"/>
              </a:rPr>
              <a:t>(4</a:t>
            </a:r>
            <a:r>
              <a:rPr lang="ru-RU" sz="1200" b="0" i="1" spc="5" dirty="0">
                <a:latin typeface="Bookman Old Style"/>
                <a:cs typeface="Bookman Old Style"/>
              </a:rPr>
              <a:t>,</a:t>
            </a:r>
            <a:r>
              <a:rPr lang="ru-RU" sz="1200" b="0" i="1" spc="-16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Lucida Sans Unicode"/>
                <a:cs typeface="Lucida Sans Unicode"/>
              </a:rPr>
              <a:t>−</a:t>
            </a:r>
            <a:r>
              <a:rPr lang="ru-RU" sz="1200" dirty="0">
                <a:latin typeface="Book Antiqua"/>
                <a:cs typeface="Book Antiqua"/>
              </a:rPr>
              <a:t>2)</a:t>
            </a:r>
            <a:r>
              <a:rPr lang="ru-RU" sz="1200" spc="215" dirty="0">
                <a:latin typeface="Book Antiqua"/>
                <a:cs typeface="Book Antiqua"/>
              </a:rPr>
              <a:t> </a:t>
            </a:r>
            <a:r>
              <a:rPr lang="ru-RU" sz="1200" spc="5" dirty="0">
                <a:latin typeface="Times New Roman"/>
                <a:cs typeface="Times New Roman"/>
              </a:rPr>
              <a:t>и</a:t>
            </a:r>
            <a:r>
              <a:rPr lang="ru-RU" sz="1200" spc="21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уравненията</a:t>
            </a:r>
            <a:r>
              <a:rPr lang="ru-RU" sz="1200" spc="229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229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медианите</a:t>
            </a:r>
            <a:r>
              <a:rPr lang="ru-RU" sz="1200" spc="-10" dirty="0">
                <a:latin typeface="Times New Roman"/>
                <a:cs typeface="Times New Roman"/>
              </a:rPr>
              <a:t> </a:t>
            </a:r>
            <a:r>
              <a:rPr lang="ru-RU" sz="1200" b="0" i="1" spc="45" dirty="0">
                <a:latin typeface="Bookman Old Style"/>
                <a:cs typeface="Bookman Old Style"/>
              </a:rPr>
              <a:t>m</a:t>
            </a:r>
            <a:r>
              <a:rPr lang="ru-RU" sz="1200" i="1" spc="67" baseline="-13888" dirty="0">
                <a:latin typeface="Book Antiqua"/>
                <a:cs typeface="Book Antiqua"/>
              </a:rPr>
              <a:t>B</a:t>
            </a:r>
            <a:r>
              <a:rPr lang="ru-RU" sz="1200" i="1" spc="337" baseline="-13888" dirty="0">
                <a:latin typeface="Book Antiqua"/>
                <a:cs typeface="Book Antiqua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b="0" i="1" spc="-155" dirty="0">
                <a:latin typeface="Bookman Old Style"/>
                <a:cs typeface="Bookman Old Style"/>
              </a:rPr>
              <a:t>y</a:t>
            </a:r>
            <a:r>
              <a:rPr lang="ru-RU" sz="1200" b="0" i="1" spc="-16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14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1</a:t>
            </a:r>
            <a:r>
              <a:rPr lang="ru-RU" sz="1200" spc="2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5" dirty="0">
                <a:latin typeface="Times New Roman"/>
                <a:cs typeface="Times New Roman"/>
              </a:rPr>
              <a:t>и</a:t>
            </a:r>
            <a:r>
              <a:rPr lang="ru-RU" sz="1200" spc="30" dirty="0">
                <a:latin typeface="Times New Roman"/>
                <a:cs typeface="Times New Roman"/>
              </a:rPr>
              <a:t> </a:t>
            </a:r>
            <a:r>
              <a:rPr lang="ru-RU" sz="1200" b="0" i="1" spc="10" dirty="0">
                <a:latin typeface="Bookman Old Style"/>
                <a:cs typeface="Bookman Old Style"/>
              </a:rPr>
              <a:t>m</a:t>
            </a:r>
            <a:r>
              <a:rPr lang="ru-RU" sz="1200" i="1" spc="15" baseline="-13888" dirty="0">
                <a:latin typeface="Book Antiqua"/>
                <a:cs typeface="Book Antiqua"/>
              </a:rPr>
              <a:t>C</a:t>
            </a:r>
            <a:r>
              <a:rPr lang="ru-RU" sz="1200" i="1" spc="359" baseline="-13888" dirty="0">
                <a:latin typeface="Book Antiqua"/>
                <a:cs typeface="Book Antiqua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b="0" i="1" spc="10" dirty="0">
                <a:latin typeface="Bookman Old Style"/>
                <a:cs typeface="Bookman Old Style"/>
              </a:rPr>
              <a:t>x</a:t>
            </a:r>
            <a:r>
              <a:rPr lang="ru-RU" sz="1200" b="0" i="1" spc="-210" dirty="0">
                <a:latin typeface="Bookman Old Style"/>
                <a:cs typeface="Bookman Old Style"/>
              </a:rPr>
              <a:t> </a:t>
            </a:r>
            <a:r>
              <a:rPr lang="ru-RU" sz="1200" spc="-30" dirty="0">
                <a:latin typeface="Lucida Sans Unicode"/>
                <a:cs typeface="Lucida Sans Unicode"/>
              </a:rPr>
              <a:t>−</a:t>
            </a:r>
            <a:r>
              <a:rPr lang="ru-RU" sz="1200" spc="-229" dirty="0">
                <a:latin typeface="Lucida Sans Unicode"/>
                <a:cs typeface="Lucida Sans Unicode"/>
              </a:rPr>
              <a:t> </a:t>
            </a:r>
            <a:r>
              <a:rPr lang="ru-RU" sz="1200" spc="-65" dirty="0">
                <a:latin typeface="Book Antiqua"/>
                <a:cs typeface="Book Antiqua"/>
              </a:rPr>
              <a:t>11</a:t>
            </a:r>
            <a:r>
              <a:rPr lang="ru-RU" sz="1200" b="0" i="1" spc="-65" dirty="0">
                <a:latin typeface="Bookman Old Style"/>
                <a:cs typeface="Bookman Old Style"/>
              </a:rPr>
              <a:t>y</a:t>
            </a:r>
            <a:r>
              <a:rPr lang="ru-RU" sz="1200" b="0" i="1" spc="-150" dirty="0">
                <a:latin typeface="Bookman Old Style"/>
                <a:cs typeface="Bookman Old Style"/>
              </a:rPr>
              <a:t> </a:t>
            </a:r>
            <a:r>
              <a:rPr lang="ru-RU" sz="1200" spc="-30" dirty="0">
                <a:latin typeface="Lucida Sans Unicode"/>
                <a:cs typeface="Lucida Sans Unicode"/>
              </a:rPr>
              <a:t>−</a:t>
            </a:r>
            <a:r>
              <a:rPr lang="ru-RU" sz="1200" spc="-229" dirty="0">
                <a:latin typeface="Lucida Sans Unicode"/>
                <a:cs typeface="Lucida Sans Unicode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16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в</a:t>
            </a:r>
            <a:r>
              <a:rPr lang="ru-RU" sz="1200" spc="25" dirty="0">
                <a:latin typeface="Times New Roman"/>
                <a:cs typeface="Times New Roman"/>
              </a:rPr>
              <a:t> </a:t>
            </a:r>
            <a:r>
              <a:rPr lang="ru-RU" sz="1000" spc="25" dirty="0">
                <a:latin typeface="Lucida Sans Unicode"/>
                <a:cs typeface="Lucida Sans Unicode"/>
              </a:rPr>
              <a:t>△</a:t>
            </a:r>
            <a:r>
              <a:rPr lang="ru-RU" sz="1200" b="0" i="1" spc="25" dirty="0">
                <a:latin typeface="Bookman Old Style"/>
                <a:cs typeface="Bookman Old Style"/>
              </a:rPr>
              <a:t>ABC.</a:t>
            </a:r>
            <a:r>
              <a:rPr lang="ru-RU" sz="1200" b="0" i="1" spc="-25" dirty="0">
                <a:latin typeface="Bookman Old Style"/>
                <a:cs typeface="Bookman Old Style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Намерете</a:t>
            </a:r>
            <a:r>
              <a:rPr lang="ru-RU" sz="1200" spc="40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координатите</a:t>
            </a:r>
            <a:r>
              <a:rPr lang="ru-RU" sz="1200" spc="4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35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другите</a:t>
            </a:r>
            <a:r>
              <a:rPr lang="ru-RU" sz="1200" spc="-10" dirty="0">
                <a:latin typeface="Times New Roman"/>
                <a:cs typeface="Times New Roman"/>
              </a:rPr>
              <a:t> </a:t>
            </a:r>
            <a:r>
              <a:rPr lang="ru-RU" sz="1200" spc="30" dirty="0">
                <a:latin typeface="Times New Roman"/>
                <a:cs typeface="Times New Roman"/>
              </a:rPr>
              <a:t>два</a:t>
            </a:r>
            <a:r>
              <a:rPr lang="ru-RU" sz="1200" spc="85" dirty="0">
                <a:latin typeface="Times New Roman"/>
                <a:cs typeface="Times New Roman"/>
              </a:rPr>
              <a:t> </a:t>
            </a:r>
            <a:r>
              <a:rPr lang="ru-RU" sz="1200" spc="25" dirty="0">
                <a:latin typeface="Times New Roman"/>
                <a:cs typeface="Times New Roman"/>
              </a:rPr>
              <a:t>върха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200" spc="35" dirty="0">
                <a:latin typeface="Times New Roman"/>
                <a:cs typeface="Times New Roman"/>
              </a:rPr>
              <a:t>триъгълника.</a:t>
            </a:r>
            <a:endParaRPr lang="ru-RU" sz="1200" dirty="0">
              <a:latin typeface="Times New Roman"/>
              <a:cs typeface="Times New Roman"/>
            </a:endParaRPr>
          </a:p>
          <a:p>
            <a:pPr marL="71755" algn="just">
              <a:spcBef>
                <a:spcPts val="1450"/>
              </a:spcBef>
            </a:pPr>
            <a:r>
              <a:rPr lang="ru-RU" sz="1200" b="1" dirty="0">
                <a:latin typeface="Cambria"/>
                <a:cs typeface="Cambria"/>
              </a:rPr>
              <a:t>1.14</a:t>
            </a:r>
            <a:r>
              <a:rPr lang="ru-RU" sz="1200" b="1" spc="434" dirty="0">
                <a:latin typeface="Cambria"/>
                <a:cs typeface="Cambri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Дадени</a:t>
            </a:r>
            <a:r>
              <a:rPr lang="ru-RU" sz="1200" spc="5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са</a:t>
            </a:r>
            <a:r>
              <a:rPr lang="ru-RU" sz="1200" spc="4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уравненията</a:t>
            </a:r>
            <a:r>
              <a:rPr lang="ru-RU" sz="1200" spc="75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на</a:t>
            </a:r>
            <a:r>
              <a:rPr lang="ru-RU" sz="1200" spc="50" dirty="0">
                <a:latin typeface="Times New Roman"/>
                <a:cs typeface="Times New Roman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страните</a:t>
            </a:r>
            <a:r>
              <a:rPr lang="ru-RU" sz="1200" spc="55" dirty="0">
                <a:latin typeface="Times New Roman"/>
                <a:cs typeface="Times New Roman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AB</a:t>
            </a:r>
            <a:r>
              <a:rPr lang="ru-RU" sz="1200" b="0" i="1" spc="100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:</a:t>
            </a:r>
            <a:r>
              <a:rPr lang="ru-RU" sz="1200" spc="65" dirty="0">
                <a:latin typeface="Book Antiqua"/>
                <a:cs typeface="Book Antiqua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x</a:t>
            </a:r>
            <a:r>
              <a:rPr lang="ru-RU" sz="1200" dirty="0">
                <a:latin typeface="Lucida Sans Unicode"/>
                <a:cs typeface="Lucida Sans Unicode"/>
              </a:rPr>
              <a:t>−</a:t>
            </a:r>
            <a:r>
              <a:rPr lang="ru-RU" sz="1200" dirty="0">
                <a:latin typeface="Book Antiqua"/>
                <a:cs typeface="Book Antiqua"/>
              </a:rPr>
              <a:t>1</a:t>
            </a:r>
            <a:r>
              <a:rPr lang="ru-RU" sz="1200" spc="90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85" dirty="0">
                <a:latin typeface="Book Antiqua"/>
                <a:cs typeface="Book Antiqua"/>
              </a:rPr>
              <a:t> </a:t>
            </a:r>
            <a:r>
              <a:rPr lang="ru-RU" sz="1200" spc="-30" dirty="0">
                <a:latin typeface="Book Antiqua"/>
                <a:cs typeface="Book Antiqua"/>
              </a:rPr>
              <a:t>0</a:t>
            </a:r>
            <a:r>
              <a:rPr lang="ru-RU" sz="1200" b="0" i="1" spc="-30" dirty="0">
                <a:latin typeface="Bookman Old Style"/>
                <a:cs typeface="Bookman Old Style"/>
              </a:rPr>
              <a:t>,</a:t>
            </a:r>
            <a:r>
              <a:rPr lang="ru-RU" sz="1200" b="0" i="1" spc="-10" dirty="0">
                <a:latin typeface="Bookman Old Style"/>
                <a:cs typeface="Bookman Old Style"/>
              </a:rPr>
              <a:t> </a:t>
            </a:r>
            <a:r>
              <a:rPr lang="ru-RU" sz="1200" b="0" i="1" dirty="0">
                <a:latin typeface="Bookman Old Style"/>
                <a:cs typeface="Bookman Old Style"/>
              </a:rPr>
              <a:t>BC</a:t>
            </a:r>
            <a:r>
              <a:rPr lang="ru-RU" sz="1200" b="0" i="1" spc="125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:</a:t>
            </a:r>
            <a:r>
              <a:rPr lang="ru-RU" sz="1200" spc="70" dirty="0">
                <a:latin typeface="Book Antiqua"/>
                <a:cs typeface="Book Antiqua"/>
              </a:rPr>
              <a:t> </a:t>
            </a:r>
            <a:r>
              <a:rPr lang="ru-RU" sz="1200" spc="-10" dirty="0">
                <a:latin typeface="Book Antiqua"/>
                <a:cs typeface="Book Antiqua"/>
              </a:rPr>
              <a:t>9</a:t>
            </a:r>
            <a:r>
              <a:rPr lang="ru-RU" sz="1200" b="0" i="1" spc="-10" dirty="0">
                <a:latin typeface="Bookman Old Style"/>
                <a:cs typeface="Bookman Old Style"/>
              </a:rPr>
              <a:t>x</a:t>
            </a:r>
            <a:r>
              <a:rPr lang="ru-RU" sz="1200" spc="-10" dirty="0">
                <a:latin typeface="Lucida Sans Unicode"/>
                <a:cs typeface="Lucida Sans Unicode"/>
              </a:rPr>
              <a:t>−</a:t>
            </a:r>
            <a:r>
              <a:rPr lang="ru-RU" sz="1200" spc="-10" dirty="0">
                <a:latin typeface="Book Antiqua"/>
                <a:cs typeface="Book Antiqua"/>
              </a:rPr>
              <a:t>2</a:t>
            </a:r>
            <a:r>
              <a:rPr lang="ru-RU" sz="1200" b="0" i="1" spc="-10" dirty="0">
                <a:latin typeface="Bookman Old Style"/>
                <a:cs typeface="Bookman Old Style"/>
              </a:rPr>
              <a:t>y</a:t>
            </a:r>
            <a:r>
              <a:rPr lang="ru-RU" sz="1200" b="0" i="1" spc="-204" dirty="0">
                <a:latin typeface="Bookman Old Style"/>
                <a:cs typeface="Bookman Old Style"/>
              </a:rPr>
              <a:t> </a:t>
            </a:r>
            <a:r>
              <a:rPr lang="ru-RU" sz="1200" dirty="0">
                <a:latin typeface="Lucida Sans Unicode"/>
                <a:cs typeface="Lucida Sans Unicode"/>
              </a:rPr>
              <a:t>−</a:t>
            </a:r>
            <a:r>
              <a:rPr lang="ru-RU" sz="1200" dirty="0">
                <a:latin typeface="Book Antiqua"/>
                <a:cs typeface="Book Antiqua"/>
              </a:rPr>
              <a:t>33</a:t>
            </a:r>
            <a:r>
              <a:rPr lang="ru-RU" sz="1200" spc="7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85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Book Antiqua"/>
                <a:cs typeface="Book Antiqua"/>
              </a:rPr>
              <a:t>0</a:t>
            </a:r>
            <a:r>
              <a:rPr lang="ru-RU" sz="1200" spc="50" dirty="0">
                <a:latin typeface="Book Antiqua"/>
                <a:cs typeface="Book Antiqua"/>
              </a:rPr>
              <a:t> </a:t>
            </a:r>
            <a:r>
              <a:rPr lang="ru-RU" sz="1200" dirty="0">
                <a:latin typeface="Times New Roman"/>
                <a:cs typeface="Times New Roman"/>
              </a:rPr>
              <a:t>и</a:t>
            </a:r>
            <a:r>
              <a:rPr lang="ru-RU" sz="1200" spc="40" dirty="0">
                <a:latin typeface="Times New Roman"/>
                <a:cs typeface="Times New Roman"/>
              </a:rPr>
              <a:t> </a:t>
            </a:r>
            <a:r>
              <a:rPr lang="ru-RU" sz="1200" spc="-25" dirty="0">
                <a:latin typeface="Times New Roman"/>
                <a:cs typeface="Times New Roman"/>
              </a:rPr>
              <a:t>на</a:t>
            </a:r>
            <a:r>
              <a:rPr lang="ru-RU" sz="120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ъглополовящата</a:t>
            </a:r>
            <a:r>
              <a:rPr lang="ru-RU" sz="1200" spc="90" dirty="0">
                <a:latin typeface="Times New Roman"/>
                <a:cs typeface="Times New Roman"/>
              </a:rPr>
              <a:t> </a:t>
            </a:r>
            <a:r>
              <a:rPr lang="ru-RU" sz="1200" b="0" i="1" spc="30" dirty="0">
                <a:latin typeface="Bookman Old Style"/>
                <a:cs typeface="Bookman Old Style"/>
              </a:rPr>
              <a:t>l</a:t>
            </a:r>
            <a:r>
              <a:rPr lang="ru-RU" sz="1200" i="1" spc="44" baseline="-13888" dirty="0">
                <a:latin typeface="Book Antiqua"/>
                <a:cs typeface="Book Antiqua"/>
              </a:rPr>
              <a:t>A</a:t>
            </a:r>
            <a:r>
              <a:rPr lang="ru-RU" sz="1200" i="1" spc="277" baseline="-13888" dirty="0">
                <a:latin typeface="Book Antiqua"/>
                <a:cs typeface="Book Antiqua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45" dirty="0">
                <a:latin typeface="Book Antiqua"/>
                <a:cs typeface="Book Antiqua"/>
              </a:rPr>
              <a:t> </a:t>
            </a:r>
            <a:r>
              <a:rPr lang="ru-RU" sz="1200" b="0" i="1" spc="10" dirty="0">
                <a:latin typeface="Bookman Old Style"/>
                <a:cs typeface="Bookman Old Style"/>
              </a:rPr>
              <a:t>x</a:t>
            </a:r>
            <a:r>
              <a:rPr lang="ru-RU" sz="1200" b="0" i="1" spc="-90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25" dirty="0">
                <a:latin typeface="Book Antiqua"/>
                <a:cs typeface="Book Antiqua"/>
              </a:rPr>
              <a:t> </a:t>
            </a:r>
            <a:r>
              <a:rPr lang="ru-RU" sz="1200" b="0" i="1" spc="-155" dirty="0">
                <a:latin typeface="Bookman Old Style"/>
                <a:cs typeface="Bookman Old Style"/>
              </a:rPr>
              <a:t>y</a:t>
            </a:r>
            <a:r>
              <a:rPr lang="ru-RU" sz="1200" b="0" i="1" spc="-5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2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2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50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85" dirty="0">
                <a:latin typeface="Book Antiqua"/>
                <a:cs typeface="Book Antiqua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в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000" spc="25" dirty="0">
                <a:latin typeface="Lucida Sans Unicode"/>
                <a:cs typeface="Lucida Sans Unicode"/>
              </a:rPr>
              <a:t>△</a:t>
            </a:r>
            <a:r>
              <a:rPr lang="ru-RU" sz="1200" b="0" i="1" spc="25" dirty="0">
                <a:latin typeface="Bookman Old Style"/>
                <a:cs typeface="Bookman Old Style"/>
              </a:rPr>
              <a:t>ABC.</a:t>
            </a:r>
            <a:r>
              <a:rPr lang="ru-RU" sz="1200" b="0" i="1" spc="35" dirty="0">
                <a:latin typeface="Bookman Old Style"/>
                <a:cs typeface="Bookman Old Style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Намерете</a:t>
            </a:r>
            <a:r>
              <a:rPr lang="ru-RU" sz="1200" spc="100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координатите</a:t>
            </a:r>
            <a:r>
              <a:rPr lang="ru-RU" sz="1200" spc="10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върховете</a:t>
            </a:r>
            <a:r>
              <a:rPr lang="ru-RU" sz="1200" spc="-1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85" dirty="0">
                <a:latin typeface="Times New Roman"/>
                <a:cs typeface="Times New Roman"/>
              </a:rPr>
              <a:t> </a:t>
            </a:r>
            <a:r>
              <a:rPr lang="ru-RU" sz="1200" spc="35" dirty="0">
                <a:latin typeface="Times New Roman"/>
                <a:cs typeface="Times New Roman"/>
              </a:rPr>
              <a:t>триъгълника.</a:t>
            </a:r>
          </a:p>
          <a:p>
            <a:pPr marL="71755" algn="just">
              <a:spcBef>
                <a:spcPts val="1450"/>
              </a:spcBef>
            </a:pPr>
            <a:r>
              <a:rPr lang="ru-RU" sz="1200" b="1" spc="-15" dirty="0">
                <a:latin typeface="Cambria"/>
                <a:cs typeface="Cambria"/>
              </a:rPr>
              <a:t>1.15</a:t>
            </a:r>
            <a:r>
              <a:rPr lang="ru-RU" sz="1200" b="1" spc="70" dirty="0">
                <a:latin typeface="Cambria"/>
                <a:cs typeface="Cambria"/>
              </a:rPr>
              <a:t> </a:t>
            </a:r>
            <a:r>
              <a:rPr lang="ru-RU" sz="1200" spc="25" dirty="0">
                <a:latin typeface="Times New Roman"/>
                <a:cs typeface="Times New Roman"/>
              </a:rPr>
              <a:t>Дадени</a:t>
            </a:r>
            <a:r>
              <a:rPr lang="ru-RU" sz="1200" spc="20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са</a:t>
            </a:r>
            <a:r>
              <a:rPr lang="ru-RU" sz="1200" spc="35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уравненията</a:t>
            </a:r>
            <a:r>
              <a:rPr lang="ru-RU" sz="1200" spc="35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25" dirty="0">
                <a:latin typeface="Times New Roman"/>
                <a:cs typeface="Times New Roman"/>
              </a:rPr>
              <a:t> </a:t>
            </a:r>
            <a:r>
              <a:rPr lang="ru-RU" sz="1200" spc="30" dirty="0">
                <a:latin typeface="Times New Roman"/>
                <a:cs typeface="Times New Roman"/>
              </a:rPr>
              <a:t>страната </a:t>
            </a:r>
            <a:r>
              <a:rPr lang="ru-RU" sz="1200" b="0" i="1" spc="20" dirty="0">
                <a:latin typeface="Bookman Old Style"/>
                <a:cs typeface="Bookman Old Style"/>
              </a:rPr>
              <a:t>AB</a:t>
            </a:r>
            <a:r>
              <a:rPr lang="ru-RU" sz="1200" b="0" i="1" spc="35" dirty="0">
                <a:latin typeface="Bookman Old Style"/>
                <a:cs typeface="Bookman Old Style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35" dirty="0">
                <a:latin typeface="Book Antiqua"/>
                <a:cs typeface="Book Antiqua"/>
              </a:rPr>
              <a:t> </a:t>
            </a:r>
            <a:r>
              <a:rPr lang="ru-RU" sz="1200" spc="-5" dirty="0">
                <a:latin typeface="Book Antiqua"/>
                <a:cs typeface="Book Antiqua"/>
              </a:rPr>
              <a:t>2</a:t>
            </a:r>
            <a:r>
              <a:rPr lang="ru-RU" sz="1200" b="0" i="1" spc="-5" dirty="0">
                <a:latin typeface="Bookman Old Style"/>
                <a:cs typeface="Bookman Old Style"/>
              </a:rPr>
              <a:t>x</a:t>
            </a:r>
            <a:r>
              <a:rPr lang="ru-RU" sz="1200" b="0" i="1" spc="-235" dirty="0">
                <a:latin typeface="Bookman Old Style"/>
                <a:cs typeface="Bookman Old Style"/>
              </a:rPr>
              <a:t> </a:t>
            </a:r>
            <a:r>
              <a:rPr lang="ru-RU" sz="1200" spc="-30" dirty="0">
                <a:latin typeface="Lucida Sans Unicode"/>
                <a:cs typeface="Lucida Sans Unicode"/>
              </a:rPr>
              <a:t>−</a:t>
            </a:r>
            <a:r>
              <a:rPr lang="ru-RU" sz="1200" spc="-254" dirty="0">
                <a:latin typeface="Lucida Sans Unicode"/>
                <a:cs typeface="Lucida Sans Unicode"/>
              </a:rPr>
              <a:t> </a:t>
            </a:r>
            <a:r>
              <a:rPr lang="ru-RU" sz="1200" b="0" i="1" spc="-155" dirty="0">
                <a:latin typeface="Bookman Old Style"/>
                <a:cs typeface="Bookman Old Style"/>
              </a:rPr>
              <a:t>y</a:t>
            </a:r>
            <a:r>
              <a:rPr lang="ru-RU" sz="1200" b="0" i="1" spc="-17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170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6</a:t>
            </a:r>
            <a:r>
              <a:rPr lang="ru-RU" sz="1200" spc="50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2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25" dirty="0">
                <a:latin typeface="Book Antiqua"/>
                <a:cs typeface="Book Antiqua"/>
              </a:rPr>
              <a:t> </a:t>
            </a:r>
            <a:r>
              <a:rPr lang="ru-RU" sz="1200" spc="5" dirty="0">
                <a:latin typeface="Times New Roman"/>
                <a:cs typeface="Times New Roman"/>
              </a:rPr>
              <a:t>и</a:t>
            </a:r>
            <a:r>
              <a:rPr lang="ru-RU" sz="1200" spc="3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25" dirty="0">
                <a:latin typeface="Times New Roman"/>
                <a:cs typeface="Times New Roman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ъглополовящите</a:t>
            </a:r>
            <a:r>
              <a:rPr lang="ru-RU" sz="1200" spc="-10" dirty="0">
                <a:latin typeface="Times New Roman"/>
                <a:cs typeface="Times New Roman"/>
              </a:rPr>
              <a:t> </a:t>
            </a:r>
            <a:r>
              <a:rPr lang="ru-RU" sz="1200" b="0" i="1" spc="30" dirty="0">
                <a:latin typeface="Bookman Old Style"/>
                <a:cs typeface="Bookman Old Style"/>
              </a:rPr>
              <a:t>l</a:t>
            </a:r>
            <a:r>
              <a:rPr lang="ru-RU" sz="1200" i="1" spc="44" baseline="-13888" dirty="0">
                <a:latin typeface="Book Antiqua"/>
                <a:cs typeface="Book Antiqua"/>
              </a:rPr>
              <a:t>A</a:t>
            </a:r>
            <a:r>
              <a:rPr lang="ru-RU" sz="1200" i="1" spc="315" baseline="-13888" dirty="0">
                <a:latin typeface="Book Antiqua"/>
                <a:cs typeface="Book Antiqua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45" dirty="0">
                <a:latin typeface="Book Antiqua"/>
                <a:cs typeface="Book Antiqua"/>
              </a:rPr>
              <a:t> </a:t>
            </a:r>
            <a:r>
              <a:rPr lang="ru-RU" sz="1200" b="0" i="1" spc="10" dirty="0">
                <a:latin typeface="Bookman Old Style"/>
                <a:cs typeface="Bookman Old Style"/>
              </a:rPr>
              <a:t>x</a:t>
            </a:r>
            <a:r>
              <a:rPr lang="ru-RU" sz="1200" b="0" i="1" spc="-80" dirty="0">
                <a:latin typeface="Bookman Old Style"/>
                <a:cs typeface="Bookman Old Style"/>
              </a:rPr>
              <a:t> </a:t>
            </a:r>
            <a:r>
              <a:rPr lang="ru-RU" sz="1200" spc="-30" dirty="0">
                <a:latin typeface="Lucida Sans Unicode"/>
                <a:cs typeface="Lucida Sans Unicode"/>
              </a:rPr>
              <a:t>−</a:t>
            </a:r>
            <a:r>
              <a:rPr lang="ru-RU" sz="1200" spc="-110" dirty="0">
                <a:latin typeface="Lucida Sans Unicode"/>
                <a:cs typeface="Lucida Sans Unicode"/>
              </a:rPr>
              <a:t> </a:t>
            </a:r>
            <a:r>
              <a:rPr lang="ru-RU" sz="1200" b="0" i="1" spc="-155" dirty="0">
                <a:latin typeface="Bookman Old Style"/>
                <a:cs typeface="Bookman Old Style"/>
              </a:rPr>
              <a:t>y</a:t>
            </a:r>
            <a:r>
              <a:rPr lang="ru-RU" sz="1200" b="0" i="1" spc="-45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2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1</a:t>
            </a:r>
            <a:r>
              <a:rPr lang="ru-RU" sz="1200" spc="50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60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95" dirty="0">
                <a:latin typeface="Book Antiqua"/>
                <a:cs typeface="Book Antiqua"/>
              </a:rPr>
              <a:t> </a:t>
            </a:r>
            <a:r>
              <a:rPr lang="ru-RU" sz="1200" spc="5" dirty="0">
                <a:latin typeface="Times New Roman"/>
                <a:cs typeface="Times New Roman"/>
              </a:rPr>
              <a:t>и</a:t>
            </a:r>
            <a:r>
              <a:rPr lang="ru-RU" sz="1200" spc="105" dirty="0">
                <a:latin typeface="Times New Roman"/>
                <a:cs typeface="Times New Roman"/>
              </a:rPr>
              <a:t> </a:t>
            </a:r>
            <a:r>
              <a:rPr lang="ru-RU" sz="1200" b="0" i="1" spc="75" dirty="0">
                <a:latin typeface="Bookman Old Style"/>
                <a:cs typeface="Bookman Old Style"/>
              </a:rPr>
              <a:t>l</a:t>
            </a:r>
            <a:r>
              <a:rPr lang="ru-RU" sz="1200" i="1" spc="112" baseline="-13888" dirty="0">
                <a:latin typeface="Book Antiqua"/>
                <a:cs typeface="Book Antiqua"/>
              </a:rPr>
              <a:t>B</a:t>
            </a:r>
            <a:r>
              <a:rPr lang="ru-RU" sz="1200" i="1" spc="359" baseline="-13888" dirty="0">
                <a:latin typeface="Book Antiqua"/>
                <a:cs typeface="Book Antiqua"/>
              </a:rPr>
              <a:t> </a:t>
            </a:r>
            <a:r>
              <a:rPr lang="ru-RU" sz="1200" spc="20" dirty="0">
                <a:latin typeface="Book Antiqua"/>
                <a:cs typeface="Book Antiqua"/>
              </a:rPr>
              <a:t>:</a:t>
            </a:r>
            <a:r>
              <a:rPr lang="ru-RU" sz="1200" spc="60" dirty="0">
                <a:latin typeface="Book Antiqua"/>
                <a:cs typeface="Book Antiqua"/>
              </a:rPr>
              <a:t> </a:t>
            </a:r>
            <a:r>
              <a:rPr lang="ru-RU" sz="1200" b="0" i="1" spc="10" dirty="0">
                <a:latin typeface="Bookman Old Style"/>
                <a:cs typeface="Bookman Old Style"/>
              </a:rPr>
              <a:t>x</a:t>
            </a:r>
            <a:r>
              <a:rPr lang="ru-RU" sz="1200" b="0" i="1" spc="-90" dirty="0">
                <a:latin typeface="Bookman Old Style"/>
                <a:cs typeface="Bookman Old Style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+</a:t>
            </a:r>
            <a:r>
              <a:rPr lang="ru-RU" sz="1200" spc="-25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15</a:t>
            </a:r>
            <a:r>
              <a:rPr lang="ru-RU" sz="1200" spc="50" dirty="0">
                <a:latin typeface="Book Antiqua"/>
                <a:cs typeface="Book Antiqua"/>
              </a:rPr>
              <a:t> </a:t>
            </a:r>
            <a:r>
              <a:rPr lang="ru-RU" sz="1200" spc="180" dirty="0">
                <a:latin typeface="Book Antiqua"/>
                <a:cs typeface="Book Antiqua"/>
              </a:rPr>
              <a:t>=</a:t>
            </a:r>
            <a:r>
              <a:rPr lang="ru-RU" sz="1200" spc="50" dirty="0">
                <a:latin typeface="Book Antiqua"/>
                <a:cs typeface="Book Antiqua"/>
              </a:rPr>
              <a:t> </a:t>
            </a:r>
            <a:r>
              <a:rPr lang="ru-RU" sz="1200" spc="-20" dirty="0">
                <a:latin typeface="Book Antiqua"/>
                <a:cs typeface="Book Antiqua"/>
              </a:rPr>
              <a:t>0</a:t>
            </a:r>
            <a:r>
              <a:rPr lang="ru-RU" sz="1200" spc="110" dirty="0">
                <a:latin typeface="Book Antiqua"/>
                <a:cs typeface="Book Antiqua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в</a:t>
            </a:r>
            <a:r>
              <a:rPr lang="ru-RU" sz="1200" spc="95" dirty="0">
                <a:latin typeface="Times New Roman"/>
                <a:cs typeface="Times New Roman"/>
              </a:rPr>
              <a:t> </a:t>
            </a:r>
            <a:r>
              <a:rPr lang="ru-RU" sz="1000" spc="25" dirty="0">
                <a:latin typeface="Lucida Sans Unicode"/>
                <a:cs typeface="Lucida Sans Unicode"/>
              </a:rPr>
              <a:t>△</a:t>
            </a:r>
            <a:r>
              <a:rPr lang="ru-RU" sz="1200" b="0" i="1" spc="25" dirty="0">
                <a:latin typeface="Bookman Old Style"/>
                <a:cs typeface="Bookman Old Style"/>
              </a:rPr>
              <a:t>ABC.</a:t>
            </a:r>
            <a:r>
              <a:rPr lang="ru-RU" sz="1200" b="0" i="1" spc="35" dirty="0">
                <a:latin typeface="Bookman Old Style"/>
                <a:cs typeface="Bookman Old Style"/>
              </a:rPr>
              <a:t> </a:t>
            </a:r>
            <a:r>
              <a:rPr lang="ru-RU" sz="1200" spc="15" dirty="0">
                <a:latin typeface="Times New Roman"/>
                <a:cs typeface="Times New Roman"/>
              </a:rPr>
              <a:t>Намерете</a:t>
            </a:r>
            <a:r>
              <a:rPr lang="ru-RU" sz="1200" spc="114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координатите</a:t>
            </a:r>
            <a:r>
              <a:rPr lang="ru-RU" sz="1200" spc="10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110" dirty="0">
                <a:latin typeface="Times New Roman"/>
                <a:cs typeface="Times New Roman"/>
              </a:rPr>
              <a:t> </a:t>
            </a:r>
            <a:r>
              <a:rPr lang="ru-RU" sz="1200" spc="10" dirty="0">
                <a:latin typeface="Times New Roman"/>
                <a:cs typeface="Times New Roman"/>
              </a:rPr>
              <a:t>върховете</a:t>
            </a:r>
            <a:r>
              <a:rPr lang="ru-RU" sz="1200" spc="-10" dirty="0">
                <a:latin typeface="Times New Roman"/>
                <a:cs typeface="Times New Roman"/>
              </a:rPr>
              <a:t> </a:t>
            </a:r>
            <a:r>
              <a:rPr lang="ru-RU" sz="1200" spc="20" dirty="0">
                <a:latin typeface="Times New Roman"/>
                <a:cs typeface="Times New Roman"/>
              </a:rPr>
              <a:t>на</a:t>
            </a:r>
            <a:r>
              <a:rPr lang="ru-RU" sz="1200" spc="85" dirty="0">
                <a:latin typeface="Times New Roman"/>
                <a:cs typeface="Times New Roman"/>
              </a:rPr>
              <a:t> </a:t>
            </a:r>
            <a:r>
              <a:rPr lang="ru-RU" sz="1200" spc="35" dirty="0">
                <a:latin typeface="Times New Roman"/>
                <a:cs typeface="Times New Roman"/>
              </a:rPr>
              <a:t>триъгълника.</a:t>
            </a:r>
            <a:endParaRPr lang="bg-BG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936240" y="1367093"/>
            <a:ext cx="76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60" dirty="0"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6240" y="1548449"/>
            <a:ext cx="76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60" dirty="0"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36240" y="1639890"/>
            <a:ext cx="76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60" dirty="0"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36240" y="1731330"/>
            <a:ext cx="76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60" dirty="0"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6240" y="1912686"/>
            <a:ext cx="76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60" dirty="0"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800" y="237641"/>
            <a:ext cx="6164580" cy="267419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79400" algn="just">
              <a:lnSpc>
                <a:spcPct val="100000"/>
              </a:lnSpc>
              <a:spcBef>
                <a:spcPts val="935"/>
              </a:spcBef>
            </a:pPr>
            <a:r>
              <a:rPr lang="bg-BG" sz="1200" b="1" dirty="0">
                <a:latin typeface="Cambria"/>
                <a:cs typeface="Cambria"/>
              </a:rPr>
              <a:t>Задачи</a:t>
            </a:r>
            <a:r>
              <a:rPr lang="bg-BG" sz="1200" b="1" spc="265" dirty="0">
                <a:latin typeface="Cambria"/>
                <a:cs typeface="Cambria"/>
              </a:rPr>
              <a:t> </a:t>
            </a:r>
            <a:r>
              <a:rPr sz="1200" b="1" dirty="0" err="1">
                <a:latin typeface="Cambria"/>
                <a:cs typeface="Cambria"/>
              </a:rPr>
              <a:t>за</a:t>
            </a:r>
            <a:r>
              <a:rPr sz="1200" b="1" spc="25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самостоятелна</a:t>
            </a:r>
            <a:r>
              <a:rPr sz="1200" b="1" spc="25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работа:</a:t>
            </a:r>
            <a:endParaRPr sz="12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 dirty="0">
              <a:latin typeface="Cambria"/>
              <a:cs typeface="Cambria"/>
            </a:endParaRPr>
          </a:p>
          <a:p>
            <a:pPr marL="279400" marR="297815" indent="-635" algn="just">
              <a:lnSpc>
                <a:spcPct val="100800"/>
              </a:lnSpc>
            </a:pPr>
            <a:r>
              <a:rPr sz="1200" b="1" dirty="0">
                <a:latin typeface="Cambria"/>
                <a:cs typeface="Cambria"/>
              </a:rPr>
              <a:t>1.</a:t>
            </a:r>
            <a:r>
              <a:rPr sz="1200" b="1" spc="-65" dirty="0">
                <a:latin typeface="Cambria"/>
                <a:cs typeface="Cambria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Да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се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определи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кои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от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точките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M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1)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195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M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dirty="0">
                <a:latin typeface="Book Antiqua"/>
                <a:cs typeface="Book Antiqua"/>
              </a:rPr>
              <a:t>(6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7)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180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M</a:t>
            </a:r>
            <a:r>
              <a:rPr sz="1200" baseline="-13888" dirty="0">
                <a:latin typeface="Trebuchet MS"/>
                <a:cs typeface="Trebuchet MS"/>
              </a:rPr>
              <a:t>3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1)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185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M</a:t>
            </a:r>
            <a:r>
              <a:rPr sz="1200" baseline="-13888" dirty="0">
                <a:latin typeface="Trebuchet MS"/>
                <a:cs typeface="Trebuchet MS"/>
              </a:rPr>
              <a:t>4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2)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лежат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правата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b="0" i="1" spc="-120" dirty="0">
                <a:latin typeface="Bookman Old Style"/>
                <a:cs typeface="Bookman Old Style"/>
              </a:rPr>
              <a:t>g</a:t>
            </a:r>
            <a:r>
              <a:rPr sz="1200" b="0" i="1" spc="5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6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8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10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3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8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4</a:t>
            </a:r>
            <a:r>
              <a:rPr sz="1200" spc="5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6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spc="-25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4680585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M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315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M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310" dirty="0">
                <a:latin typeface="Bookman Old Style"/>
                <a:cs typeface="Bookman Old Style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M</a:t>
            </a:r>
            <a:r>
              <a:rPr sz="1200" spc="-37" baseline="-13888" dirty="0">
                <a:latin typeface="Trebuchet MS"/>
                <a:cs typeface="Trebuchet MS"/>
              </a:rPr>
              <a:t>4</a:t>
            </a:r>
            <a:endParaRPr sz="1200" baseline="-13888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50" dirty="0">
              <a:latin typeface="Trebuchet MS"/>
              <a:cs typeface="Trebuchet MS"/>
            </a:endParaRPr>
          </a:p>
          <a:p>
            <a:pPr marL="279400" marR="297180" lvl="1" algn="just">
              <a:lnSpc>
                <a:spcPct val="100800"/>
              </a:lnSpc>
              <a:tabLst>
                <a:tab pos="638175" algn="l"/>
              </a:tabLst>
            </a:pPr>
            <a:r>
              <a:rPr lang="bg-BG" sz="1200" spc="65" dirty="0">
                <a:latin typeface="Times New Roman"/>
                <a:cs typeface="Times New Roman"/>
              </a:rPr>
              <a:t>2. </a:t>
            </a:r>
            <a:r>
              <a:rPr sz="1200" spc="65" dirty="0" err="1">
                <a:latin typeface="Times New Roman"/>
                <a:cs typeface="Times New Roman"/>
              </a:rPr>
              <a:t>Да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се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определи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дали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дадените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точки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лежат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една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съща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полуравнина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от- </a:t>
            </a:r>
            <a:r>
              <a:rPr sz="1200" dirty="0">
                <a:latin typeface="Times New Roman"/>
                <a:cs typeface="Times New Roman"/>
              </a:rPr>
              <a:t>носно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правата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g</a:t>
            </a:r>
            <a:r>
              <a:rPr sz="1200" spc="-25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355600">
              <a:lnSpc>
                <a:spcPts val="1330"/>
              </a:lnSpc>
              <a:tabLst>
                <a:tab pos="638810" algn="l"/>
                <a:tab pos="1367155" algn="l"/>
                <a:tab pos="2212975" algn="l"/>
              </a:tabLst>
            </a:pPr>
            <a:r>
              <a:rPr sz="1200" spc="-2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M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2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1)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M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dirty="0">
                <a:latin typeface="Book Antiqua"/>
                <a:cs typeface="Book Antiqua"/>
              </a:rPr>
              <a:t>(4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3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2)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</a:t>
            </a:r>
            <a:r>
              <a:rPr sz="1200" b="0" i="1" spc="-120" dirty="0">
                <a:latin typeface="Bookman Old Style"/>
                <a:cs typeface="Bookman Old Style"/>
              </a:rPr>
              <a:t>g</a:t>
            </a:r>
            <a:r>
              <a:rPr sz="1200" b="0" i="1" spc="2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3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  <a:tabLst>
                <a:tab pos="638810" algn="l"/>
                <a:tab pos="1367155" algn="l"/>
                <a:tab pos="2212975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M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2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4)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M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7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7)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</a:t>
            </a:r>
            <a:r>
              <a:rPr sz="1200" b="0" i="1" spc="-120" dirty="0">
                <a:latin typeface="Bookman Old Style"/>
                <a:cs typeface="Bookman Old Style"/>
              </a:rPr>
              <a:t>g</a:t>
            </a:r>
            <a:r>
              <a:rPr sz="1200" b="0" i="1" spc="2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2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5</a:t>
            </a:r>
            <a:endParaRPr sz="1200" dirty="0">
              <a:latin typeface="Book Antiqua"/>
              <a:cs typeface="Book Antiqua"/>
            </a:endParaRPr>
          </a:p>
          <a:p>
            <a:pPr marL="4607560">
              <a:lnSpc>
                <a:spcPct val="100000"/>
              </a:lnSpc>
              <a:spcBef>
                <a:spcPts val="745"/>
              </a:spcBef>
              <a:tabLst>
                <a:tab pos="5429885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да</a:t>
            </a:r>
            <a:r>
              <a:rPr sz="1200" dirty="0">
                <a:latin typeface="Times New Roman"/>
                <a:cs typeface="Times New Roman"/>
              </a:rPr>
              <a:t>	б)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не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 dirty="0">
              <a:latin typeface="Times New Roman"/>
              <a:cs typeface="Times New Roman"/>
            </a:endParaRPr>
          </a:p>
          <a:p>
            <a:pPr marL="279400" marR="2057400" lvl="1">
              <a:lnSpc>
                <a:spcPts val="1340"/>
              </a:lnSpc>
              <a:spcBef>
                <a:spcPts val="5"/>
              </a:spcBef>
              <a:tabLst>
                <a:tab pos="633095" algn="l"/>
                <a:tab pos="638810" algn="l"/>
                <a:tab pos="2191385" algn="l"/>
              </a:tabLst>
            </a:pPr>
            <a:r>
              <a:rPr lang="bg-BG" sz="1200" spc="65" dirty="0">
                <a:latin typeface="Times New Roman"/>
                <a:cs typeface="Times New Roman"/>
              </a:rPr>
              <a:t>3. </a:t>
            </a:r>
            <a:r>
              <a:rPr sz="1200" spc="65" dirty="0" err="1">
                <a:latin typeface="Times New Roman"/>
                <a:cs typeface="Times New Roman"/>
              </a:rPr>
              <a:t>Да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се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намери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пресечната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точка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lang="en-US" sz="1200" spc="135" dirty="0">
                <a:latin typeface="Times New Roman"/>
                <a:cs typeface="Times New Roman"/>
              </a:rPr>
              <a:t>P </a:t>
            </a:r>
            <a:r>
              <a:rPr sz="1200" dirty="0" err="1">
                <a:latin typeface="Times New Roman"/>
                <a:cs typeface="Times New Roman"/>
              </a:rPr>
              <a:t>на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правите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spc="359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g</a:t>
            </a:r>
            <a:r>
              <a:rPr sz="1200" spc="-37" baseline="-13888" dirty="0">
                <a:latin typeface="Trebuchet MS"/>
                <a:cs typeface="Trebuchet MS"/>
              </a:rPr>
              <a:t>2</a:t>
            </a:r>
            <a:r>
              <a:rPr sz="1200" spc="-25" dirty="0">
                <a:latin typeface="Times New Roman"/>
                <a:cs typeface="Times New Roman"/>
              </a:rPr>
              <a:t>. </a:t>
            </a:r>
            <a:endParaRPr lang="en-US" sz="1200" spc="-25" dirty="0">
              <a:latin typeface="Times New Roman"/>
              <a:cs typeface="Times New Roman"/>
            </a:endParaRPr>
          </a:p>
          <a:p>
            <a:pPr marL="279400" marR="2057400" lvl="1">
              <a:lnSpc>
                <a:spcPts val="1340"/>
              </a:lnSpc>
              <a:spcBef>
                <a:spcPts val="5"/>
              </a:spcBef>
              <a:tabLst>
                <a:tab pos="633095" algn="l"/>
                <a:tab pos="638810" algn="l"/>
                <a:tab pos="2191385" algn="l"/>
              </a:tabLst>
            </a:pPr>
            <a:r>
              <a:rPr lang="en-US" sz="1200" spc="-25" dirty="0">
                <a:latin typeface="Times New Roman"/>
                <a:cs typeface="Times New Roman"/>
              </a:rPr>
              <a:t>   </a:t>
            </a:r>
            <a:r>
              <a:rPr sz="1200" spc="-2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spc="127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7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15</a:t>
            </a:r>
            <a:r>
              <a:rPr sz="1200" spc="1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g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spc="150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lang="en-US"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lang="en-US" sz="1200" b="0" i="1" spc="180" dirty="0">
                <a:latin typeface="Book Antiqua"/>
                <a:cs typeface="Bookman Old Style"/>
              </a:rPr>
              <a:t>-7</a:t>
            </a:r>
            <a:r>
              <a:rPr sz="1200" b="0" i="1" spc="-7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</a:t>
            </a:r>
            <a:r>
              <a:rPr lang="en-US" sz="1200" dirty="0">
                <a:latin typeface="Book Antiqua"/>
                <a:cs typeface="Book Antiqua"/>
              </a:rPr>
              <a:t>0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1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99206" y="2919488"/>
            <a:ext cx="14039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spc="142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6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9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650" y="2945786"/>
            <a:ext cx="1725295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34010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spc="142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4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6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 dirty="0">
              <a:latin typeface="Bookman Old Style"/>
              <a:cs typeface="Bookman Old Style"/>
            </a:endParaRPr>
          </a:p>
          <a:p>
            <a:pPr marL="50800">
              <a:lnSpc>
                <a:spcPct val="100000"/>
              </a:lnSpc>
              <a:spcBef>
                <a:spcPts val="10"/>
              </a:spcBef>
              <a:tabLst>
                <a:tab pos="334010" algn="l"/>
              </a:tabLst>
            </a:pPr>
            <a:r>
              <a:rPr sz="1200" spc="-25" dirty="0">
                <a:latin typeface="Times New Roman"/>
                <a:cs typeface="Times New Roman"/>
              </a:rPr>
              <a:t>в)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spc="150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8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1850" y="3057262"/>
            <a:ext cx="1588770" cy="53149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0"/>
              </a:spcBef>
            </a:pP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spc="142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3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25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 dirty="0">
              <a:latin typeface="Bookman Old Style"/>
              <a:cs typeface="Bookman Old Style"/>
            </a:endParaRPr>
          </a:p>
          <a:p>
            <a:pPr marL="342265">
              <a:lnSpc>
                <a:spcPct val="100000"/>
              </a:lnSpc>
              <a:spcBef>
                <a:spcPts val="555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lang="en-US" sz="1200" spc="165" dirty="0">
                <a:latin typeface="Times New Roman"/>
                <a:cs typeface="Times New Roman"/>
              </a:rPr>
              <a:t>P</a:t>
            </a:r>
            <a:r>
              <a:rPr lang="en-US" sz="1200" spc="-10" dirty="0">
                <a:latin typeface="Times New Roman"/>
                <a:cs typeface="Times New Roman"/>
              </a:rPr>
              <a:t>(1, 12/7)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65882" y="3381328"/>
            <a:ext cx="84264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сливат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се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83788" y="3412744"/>
            <a:ext cx="8153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в)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lang="en-US" sz="1200" spc="135" dirty="0">
                <a:latin typeface="Times New Roman"/>
                <a:cs typeface="Times New Roman"/>
              </a:rPr>
              <a:t>P</a:t>
            </a:r>
            <a:r>
              <a:rPr sz="1200" b="0" i="1" spc="-22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(1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9)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20" name="object 2"/>
          <p:cNvSpPr txBox="1"/>
          <p:nvPr/>
        </p:nvSpPr>
        <p:spPr>
          <a:xfrm>
            <a:off x="425450" y="3361109"/>
            <a:ext cx="5605780" cy="2553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 marR="6985">
              <a:lnSpc>
                <a:spcPct val="100800"/>
              </a:lnSpc>
              <a:spcBef>
                <a:spcPts val="5"/>
              </a:spcBef>
            </a:pPr>
            <a:r>
              <a:rPr lang="bg-BG" sz="1200" b="1" dirty="0">
                <a:latin typeface="Cambria"/>
                <a:cs typeface="Cambria"/>
              </a:rPr>
              <a:t>4. </a:t>
            </a:r>
            <a:r>
              <a:rPr sz="1200" spc="65" dirty="0" err="1">
                <a:latin typeface="Times New Roman"/>
                <a:cs typeface="Times New Roman"/>
              </a:rPr>
              <a:t>Да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се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намерят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координатите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върховете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Lucida Sans Unicode"/>
                <a:cs typeface="Lucida Sans Unicode"/>
              </a:rPr>
              <a:t>△</a:t>
            </a:r>
            <a:r>
              <a:rPr sz="1200" b="0" i="1" spc="50" dirty="0">
                <a:latin typeface="Bookman Old Style"/>
                <a:cs typeface="Bookman Old Style"/>
              </a:rPr>
              <a:t>ABC</a:t>
            </a:r>
            <a:r>
              <a:rPr sz="1200" spc="50" dirty="0">
                <a:latin typeface="Times New Roman"/>
                <a:cs typeface="Times New Roman"/>
              </a:rPr>
              <a:t>,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ако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уравне- </a:t>
            </a:r>
            <a:r>
              <a:rPr sz="1200" dirty="0">
                <a:latin typeface="Times New Roman"/>
                <a:cs typeface="Times New Roman"/>
              </a:rPr>
              <a:t>нията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страните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му.</a:t>
            </a:r>
            <a:endParaRPr sz="1200" dirty="0">
              <a:latin typeface="Times New Roman"/>
              <a:cs typeface="Times New Roman"/>
            </a:endParaRPr>
          </a:p>
          <a:p>
            <a:pPr marL="88900">
              <a:lnSpc>
                <a:spcPts val="1330"/>
              </a:lnSpc>
              <a:tabLst>
                <a:tab pos="372110" algn="l"/>
                <a:tab pos="2025650" algn="l"/>
                <a:tab pos="3608704" algn="l"/>
              </a:tabLst>
            </a:pPr>
            <a:r>
              <a:rPr sz="1200" spc="-2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AB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15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3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BC</a:t>
            </a:r>
            <a:r>
              <a:rPr sz="1200" b="0" i="1" spc="7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16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7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35" dirty="0">
                <a:latin typeface="Book Antiqua"/>
                <a:cs typeface="Book Antiqua"/>
              </a:rPr>
              <a:t>0</a:t>
            </a:r>
            <a:r>
              <a:rPr sz="1200" b="0" i="1" spc="-3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AC</a:t>
            </a:r>
            <a:r>
              <a:rPr sz="1200" b="0" i="1" spc="5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8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7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  <a:p>
            <a:pPr marL="88265">
              <a:lnSpc>
                <a:spcPct val="100000"/>
              </a:lnSpc>
              <a:spcBef>
                <a:spcPts val="10"/>
              </a:spcBef>
              <a:tabLst>
                <a:tab pos="372110" algn="l"/>
                <a:tab pos="2025650" algn="l"/>
                <a:tab pos="3608704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AB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4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BC</a:t>
            </a:r>
            <a:r>
              <a:rPr sz="1200" b="0" i="1" spc="7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2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35" dirty="0">
                <a:latin typeface="Book Antiqua"/>
                <a:cs typeface="Book Antiqua"/>
              </a:rPr>
              <a:t>0</a:t>
            </a:r>
            <a:r>
              <a:rPr sz="1200" b="0" i="1" spc="-3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AC</a:t>
            </a:r>
            <a:r>
              <a:rPr sz="1200" b="0" i="1" spc="5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8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5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  <a:p>
            <a:pPr marL="2714625">
              <a:lnSpc>
                <a:spcPct val="100000"/>
              </a:lnSpc>
              <a:spcBef>
                <a:spcPts val="1355"/>
              </a:spcBef>
              <a:tabLst>
                <a:tab pos="3409315" algn="l"/>
                <a:tab pos="4187825" algn="l"/>
                <a:tab pos="4949825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204" dirty="0">
                <a:latin typeface="Times New Roman"/>
                <a:cs typeface="Times New Roman"/>
              </a:rPr>
              <a:t>  </a:t>
            </a:r>
            <a:r>
              <a:rPr sz="1200" spc="-3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6)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2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9)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C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7)</a:t>
            </a:r>
            <a:endParaRPr sz="1200" dirty="0">
              <a:latin typeface="Book Antiqua"/>
              <a:cs typeface="Book Antiqua"/>
            </a:endParaRPr>
          </a:p>
          <a:p>
            <a:pPr marL="3124200">
              <a:lnSpc>
                <a:spcPct val="100000"/>
              </a:lnSpc>
              <a:tabLst>
                <a:tab pos="3409315" algn="l"/>
                <a:tab pos="4187825" algn="l"/>
                <a:tab pos="4949825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spc="-10" dirty="0">
                <a:latin typeface="Bookman Old Style"/>
                <a:cs typeface="Bookman Old Style"/>
              </a:rPr>
              <a:t>A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1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Book Antiqua"/>
                <a:cs typeface="Book Antiqua"/>
              </a:rPr>
              <a:t>2</a:t>
            </a:r>
            <a:r>
              <a:rPr sz="1200" b="0" i="1" spc="-35" dirty="0">
                <a:latin typeface="Bookman Old Style"/>
                <a:cs typeface="Bookman Old Style"/>
              </a:rPr>
              <a:t>,</a:t>
            </a:r>
            <a:r>
              <a:rPr sz="1200" b="0" i="1" spc="-13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)	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2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C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3)</a:t>
            </a:r>
            <a:endParaRPr sz="1200" dirty="0">
              <a:latin typeface="Book Antiqua"/>
              <a:cs typeface="Book Antiqua"/>
            </a:endParaRPr>
          </a:p>
          <a:p>
            <a:pPr marL="12700" marR="6985">
              <a:lnSpc>
                <a:spcPct val="100000"/>
              </a:lnSpc>
              <a:spcBef>
                <a:spcPts val="1165"/>
              </a:spcBef>
            </a:pPr>
            <a:r>
              <a:rPr lang="bg-BG" sz="1200" b="1" dirty="0">
                <a:latin typeface="Cambria"/>
                <a:cs typeface="Cambria"/>
              </a:rPr>
              <a:t>5.</a:t>
            </a:r>
            <a:r>
              <a:rPr sz="1200" b="1" spc="204" dirty="0">
                <a:latin typeface="Cambria"/>
                <a:cs typeface="Cambria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Да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се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намерят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уравненията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страните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Lucida Sans Unicode"/>
                <a:cs typeface="Lucida Sans Unicode"/>
              </a:rPr>
              <a:t>△</a:t>
            </a:r>
            <a:r>
              <a:rPr sz="1200" b="0" i="1" spc="50" dirty="0">
                <a:latin typeface="Bookman Old Style"/>
                <a:cs typeface="Bookman Old Style"/>
              </a:rPr>
              <a:t>ABC</a:t>
            </a:r>
            <a:r>
              <a:rPr sz="1200" spc="50" dirty="0">
                <a:latin typeface="Times New Roman"/>
                <a:cs typeface="Times New Roman"/>
              </a:rPr>
              <a:t>,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ако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координа- </a:t>
            </a:r>
            <a:r>
              <a:rPr sz="1200" dirty="0">
                <a:latin typeface="Times New Roman"/>
                <a:cs typeface="Times New Roman"/>
              </a:rPr>
              <a:t>тите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върховете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му.</a:t>
            </a:r>
            <a:endParaRPr sz="1200" dirty="0">
              <a:latin typeface="Times New Roman"/>
              <a:cs typeface="Times New Roman"/>
            </a:endParaRPr>
          </a:p>
          <a:p>
            <a:pPr marL="88900">
              <a:lnSpc>
                <a:spcPts val="1345"/>
              </a:lnSpc>
              <a:tabLst>
                <a:tab pos="372110" algn="l"/>
                <a:tab pos="1126490" algn="l"/>
                <a:tab pos="1888489" algn="l"/>
              </a:tabLst>
            </a:pPr>
            <a:r>
              <a:rPr sz="1200" spc="-2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spc="-10" dirty="0">
                <a:latin typeface="Bookman Old Style"/>
                <a:cs typeface="Bookman Old Style"/>
              </a:rPr>
              <a:t>A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4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2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1)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</a:t>
            </a:r>
            <a:r>
              <a:rPr sz="1200" dirty="0">
                <a:latin typeface="Book Antiqua"/>
                <a:cs typeface="Book Antiqua"/>
              </a:rPr>
              <a:t>(5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2)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</a:t>
            </a:r>
            <a:r>
              <a:rPr sz="1200" b="0" i="1" spc="-10" dirty="0">
                <a:latin typeface="Bookman Old Style"/>
                <a:cs typeface="Bookman Old Style"/>
              </a:rPr>
              <a:t>C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10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11)</a:t>
            </a:r>
            <a:endParaRPr sz="1200" dirty="0">
              <a:latin typeface="Book Antiqua"/>
              <a:cs typeface="Book Antiqua"/>
            </a:endParaRPr>
          </a:p>
          <a:p>
            <a:pPr marL="88900">
              <a:lnSpc>
                <a:spcPct val="100000"/>
              </a:lnSpc>
              <a:tabLst>
                <a:tab pos="372110" algn="l"/>
                <a:tab pos="1126490" algn="l"/>
                <a:tab pos="1888489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(8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9)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5)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C</a:t>
            </a:r>
            <a:r>
              <a:rPr sz="1200" dirty="0">
                <a:latin typeface="Book Antiqua"/>
                <a:cs typeface="Book Antiqua"/>
              </a:rPr>
              <a:t>(13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6)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50026563-255F-761A-9DEF-B21735239DA7}"/>
              </a:ext>
            </a:extLst>
          </p:cNvPr>
          <p:cNvSpPr txBox="1"/>
          <p:nvPr/>
        </p:nvSpPr>
        <p:spPr>
          <a:xfrm>
            <a:off x="4138931" y="5499100"/>
            <a:ext cx="5695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210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а)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3" name="object 4">
            <a:extLst>
              <a:ext uri="{FF2B5EF4-FFF2-40B4-BE49-F238E27FC236}">
                <a16:creationId xmlns:a16="http://schemas.microsoft.com/office/drawing/2014/main" id="{4091C97B-A5CD-0C7D-EEFF-70D3880FEA38}"/>
              </a:ext>
            </a:extLst>
          </p:cNvPr>
          <p:cNvSpPr txBox="1"/>
          <p:nvPr/>
        </p:nvSpPr>
        <p:spPr>
          <a:xfrm>
            <a:off x="4708526" y="5518484"/>
            <a:ext cx="13760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dirty="0">
                <a:latin typeface="Bookman Old Style"/>
                <a:cs typeface="Bookman Old Style"/>
              </a:rPr>
              <a:t>AB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3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AA8BB6-47C1-6758-B812-86ACE8437A45}"/>
              </a:ext>
            </a:extLst>
          </p:cNvPr>
          <p:cNvSpPr txBox="1"/>
          <p:nvPr/>
        </p:nvSpPr>
        <p:spPr>
          <a:xfrm>
            <a:off x="120650" y="5777001"/>
            <a:ext cx="7010400" cy="118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24300" marR="138430">
              <a:lnSpc>
                <a:spcPct val="100800"/>
              </a:lnSpc>
              <a:spcBef>
                <a:spcPts val="80"/>
              </a:spcBef>
            </a:pPr>
            <a:r>
              <a:rPr lang="es-ES" sz="1400" b="0" i="1" dirty="0">
                <a:latin typeface="Bookman Old Style"/>
                <a:cs typeface="Bookman Old Style"/>
              </a:rPr>
              <a:t>BC</a:t>
            </a:r>
            <a:r>
              <a:rPr lang="es-ES" sz="1400" b="0" i="1" spc="65" dirty="0">
                <a:latin typeface="Bookman Old Style"/>
                <a:cs typeface="Bookman Old Style"/>
              </a:rPr>
              <a:t> </a:t>
            </a:r>
            <a:r>
              <a:rPr lang="es-ES" sz="1400" dirty="0">
                <a:latin typeface="Book Antiqua"/>
                <a:cs typeface="Book Antiqua"/>
              </a:rPr>
              <a:t>:</a:t>
            </a:r>
            <a:r>
              <a:rPr lang="es-ES" sz="1400" spc="25" dirty="0">
                <a:latin typeface="Book Antiqua"/>
                <a:cs typeface="Book Antiqua"/>
              </a:rPr>
              <a:t> </a:t>
            </a:r>
            <a:r>
              <a:rPr lang="es-ES" sz="1400" spc="-10" dirty="0">
                <a:latin typeface="Book Antiqua"/>
                <a:cs typeface="Book Antiqua"/>
              </a:rPr>
              <a:t>13</a:t>
            </a:r>
            <a:r>
              <a:rPr lang="es-ES" sz="1400" b="0" i="1" spc="-10" dirty="0">
                <a:latin typeface="Bookman Old Style"/>
                <a:cs typeface="Bookman Old Style"/>
              </a:rPr>
              <a:t>x</a:t>
            </a:r>
            <a:r>
              <a:rPr lang="es-ES" sz="1400" b="0" i="1" spc="-85" dirty="0">
                <a:latin typeface="Bookman Old Style"/>
                <a:cs typeface="Bookman Old Style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+</a:t>
            </a:r>
            <a:r>
              <a:rPr lang="es-ES" sz="1400" spc="-30" dirty="0">
                <a:latin typeface="Book Antiqua"/>
                <a:cs typeface="Book Antiqua"/>
              </a:rPr>
              <a:t> </a:t>
            </a:r>
            <a:r>
              <a:rPr lang="es-ES" sz="1400" spc="-65" dirty="0">
                <a:latin typeface="Book Antiqua"/>
                <a:cs typeface="Book Antiqua"/>
              </a:rPr>
              <a:t>15</a:t>
            </a:r>
            <a:r>
              <a:rPr lang="es-ES" sz="1400" b="0" i="1" spc="-65" dirty="0">
                <a:latin typeface="Bookman Old Style"/>
                <a:cs typeface="Bookman Old Style"/>
              </a:rPr>
              <a:t>y </a:t>
            </a:r>
            <a:r>
              <a:rPr lang="es-ES" sz="1400" spc="-35" dirty="0">
                <a:latin typeface="Lucida Sans Unicode"/>
                <a:cs typeface="Lucida Sans Unicode"/>
              </a:rPr>
              <a:t>−</a:t>
            </a:r>
            <a:r>
              <a:rPr lang="es-ES" sz="1400" spc="-105" dirty="0">
                <a:latin typeface="Lucida Sans Unicode"/>
                <a:cs typeface="Lucida Sans Unicode"/>
              </a:rPr>
              <a:t> </a:t>
            </a:r>
            <a:r>
              <a:rPr lang="es-ES" sz="1400" dirty="0">
                <a:latin typeface="Book Antiqua"/>
                <a:cs typeface="Book Antiqua"/>
              </a:rPr>
              <a:t>35</a:t>
            </a:r>
            <a:r>
              <a:rPr lang="es-ES" sz="1400" spc="35" dirty="0">
                <a:latin typeface="Book Antiqua"/>
                <a:cs typeface="Book Antiqua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=</a:t>
            </a:r>
            <a:r>
              <a:rPr lang="es-ES" sz="1400" spc="40" dirty="0">
                <a:latin typeface="Book Antiqua"/>
                <a:cs typeface="Book Antiqua"/>
              </a:rPr>
              <a:t> </a:t>
            </a:r>
            <a:r>
              <a:rPr lang="es-ES" sz="1400" spc="-35" dirty="0">
                <a:latin typeface="Book Antiqua"/>
                <a:cs typeface="Book Antiqua"/>
              </a:rPr>
              <a:t>0</a:t>
            </a:r>
            <a:r>
              <a:rPr lang="es-ES" sz="1400" b="0" i="1" spc="-35" dirty="0">
                <a:latin typeface="Bookman Old Style"/>
                <a:cs typeface="Bookman Old Style"/>
              </a:rPr>
              <a:t>, </a:t>
            </a:r>
            <a:endParaRPr lang="bg-BG" sz="1400" b="0" i="1" spc="-35" dirty="0">
              <a:latin typeface="Bookman Old Style"/>
              <a:cs typeface="Bookman Old Style"/>
            </a:endParaRPr>
          </a:p>
          <a:p>
            <a:pPr marL="3924300" marR="138430">
              <a:lnSpc>
                <a:spcPct val="100800"/>
              </a:lnSpc>
              <a:spcBef>
                <a:spcPts val="80"/>
              </a:spcBef>
            </a:pPr>
            <a:r>
              <a:rPr lang="es-ES" sz="1400" b="0" i="1" dirty="0">
                <a:latin typeface="Bookman Old Style"/>
                <a:cs typeface="Bookman Old Style"/>
              </a:rPr>
              <a:t>AC</a:t>
            </a:r>
            <a:r>
              <a:rPr lang="es-ES" sz="1400" b="0" i="1" spc="60" dirty="0">
                <a:latin typeface="Bookman Old Style"/>
                <a:cs typeface="Bookman Old Style"/>
              </a:rPr>
              <a:t> </a:t>
            </a:r>
            <a:r>
              <a:rPr lang="es-ES" sz="1400" dirty="0">
                <a:latin typeface="Book Antiqua"/>
                <a:cs typeface="Book Antiqua"/>
              </a:rPr>
              <a:t>:</a:t>
            </a:r>
            <a:r>
              <a:rPr lang="es-ES" sz="1400" spc="20" dirty="0">
                <a:latin typeface="Book Antiqua"/>
                <a:cs typeface="Book Antiqua"/>
              </a:rPr>
              <a:t> </a:t>
            </a:r>
            <a:r>
              <a:rPr lang="es-ES" sz="1400" spc="-10" dirty="0">
                <a:latin typeface="Book Antiqua"/>
                <a:cs typeface="Book Antiqua"/>
              </a:rPr>
              <a:t>5</a:t>
            </a:r>
            <a:r>
              <a:rPr lang="es-ES" sz="1400" b="0" i="1" spc="-10" dirty="0">
                <a:latin typeface="Bookman Old Style"/>
                <a:cs typeface="Bookman Old Style"/>
              </a:rPr>
              <a:t>x</a:t>
            </a:r>
            <a:r>
              <a:rPr lang="es-ES" sz="1400" b="0" i="1" spc="-90" dirty="0">
                <a:latin typeface="Bookman Old Style"/>
                <a:cs typeface="Bookman Old Style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+</a:t>
            </a:r>
            <a:r>
              <a:rPr lang="es-ES" sz="1400" spc="-30" dirty="0">
                <a:latin typeface="Book Antiqua"/>
                <a:cs typeface="Book Antiqua"/>
              </a:rPr>
              <a:t> </a:t>
            </a:r>
            <a:r>
              <a:rPr lang="es-ES" sz="1400" spc="-90" dirty="0">
                <a:latin typeface="Book Antiqua"/>
                <a:cs typeface="Book Antiqua"/>
              </a:rPr>
              <a:t>3</a:t>
            </a:r>
            <a:r>
              <a:rPr lang="es-ES" sz="1400" b="0" i="1" spc="-90" dirty="0">
                <a:latin typeface="Bookman Old Style"/>
                <a:cs typeface="Bookman Old Style"/>
              </a:rPr>
              <a:t>y</a:t>
            </a:r>
            <a:r>
              <a:rPr lang="es-ES" sz="1400" b="0" i="1" spc="-55" dirty="0">
                <a:latin typeface="Bookman Old Style"/>
                <a:cs typeface="Bookman Old Style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+</a:t>
            </a:r>
            <a:r>
              <a:rPr lang="es-ES" sz="1400" spc="-35" dirty="0">
                <a:latin typeface="Book Antiqua"/>
                <a:cs typeface="Book Antiqua"/>
              </a:rPr>
              <a:t> </a:t>
            </a:r>
            <a:r>
              <a:rPr lang="es-ES" sz="1400" dirty="0">
                <a:latin typeface="Book Antiqua"/>
                <a:cs typeface="Book Antiqua"/>
              </a:rPr>
              <a:t>17</a:t>
            </a:r>
            <a:r>
              <a:rPr lang="es-ES" sz="1400" spc="25" dirty="0">
                <a:latin typeface="Book Antiqua"/>
                <a:cs typeface="Book Antiqua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=</a:t>
            </a:r>
            <a:r>
              <a:rPr lang="es-ES" sz="1400" spc="40" dirty="0">
                <a:latin typeface="Book Antiqua"/>
                <a:cs typeface="Book Antiqua"/>
              </a:rPr>
              <a:t> </a:t>
            </a:r>
            <a:r>
              <a:rPr lang="es-ES" sz="1400" spc="-25" dirty="0">
                <a:latin typeface="Book Antiqua"/>
                <a:cs typeface="Book Antiqua"/>
              </a:rPr>
              <a:t>0</a:t>
            </a:r>
            <a:r>
              <a:rPr lang="es-ES" sz="1400" b="0" i="1" spc="-25" dirty="0">
                <a:latin typeface="Bookman Old Style"/>
                <a:cs typeface="Bookman Old Style"/>
              </a:rPr>
              <a:t>.</a:t>
            </a:r>
            <a:endParaRPr lang="es-ES" sz="1400" dirty="0">
              <a:latin typeface="Bookman Old Style"/>
              <a:cs typeface="Bookman Old Style"/>
            </a:endParaRPr>
          </a:p>
          <a:p>
            <a:pPr marR="289560" algn="r">
              <a:lnSpc>
                <a:spcPct val="100000"/>
              </a:lnSpc>
              <a:tabLst>
                <a:tab pos="283210" algn="l"/>
              </a:tabLst>
            </a:pPr>
            <a:r>
              <a:rPr lang="es-ES" sz="1400" spc="-25" dirty="0">
                <a:latin typeface="Times New Roman"/>
                <a:cs typeface="Times New Roman"/>
              </a:rPr>
              <a:t>б)</a:t>
            </a:r>
            <a:r>
              <a:rPr lang="es-ES" sz="1400" dirty="0">
                <a:latin typeface="Times New Roman"/>
                <a:cs typeface="Times New Roman"/>
              </a:rPr>
              <a:t>	</a:t>
            </a:r>
            <a:r>
              <a:rPr lang="es-ES" sz="1400" b="0" i="1" dirty="0">
                <a:latin typeface="Bookman Old Style"/>
                <a:cs typeface="Bookman Old Style"/>
              </a:rPr>
              <a:t>AB</a:t>
            </a:r>
            <a:r>
              <a:rPr lang="es-ES" sz="1400" b="0" i="1" spc="40" dirty="0">
                <a:latin typeface="Bookman Old Style"/>
                <a:cs typeface="Bookman Old Style"/>
              </a:rPr>
              <a:t> </a:t>
            </a:r>
            <a:r>
              <a:rPr lang="es-ES" sz="1400" dirty="0">
                <a:latin typeface="Book Antiqua"/>
                <a:cs typeface="Book Antiqua"/>
              </a:rPr>
              <a:t>:</a:t>
            </a:r>
            <a:r>
              <a:rPr lang="es-ES" sz="1400" spc="45" dirty="0">
                <a:latin typeface="Book Antiqua"/>
                <a:cs typeface="Book Antiqua"/>
              </a:rPr>
              <a:t> </a:t>
            </a:r>
            <a:r>
              <a:rPr lang="es-ES" sz="1400" spc="-10" dirty="0">
                <a:latin typeface="Book Antiqua"/>
                <a:cs typeface="Book Antiqua"/>
              </a:rPr>
              <a:t>4</a:t>
            </a:r>
            <a:r>
              <a:rPr lang="es-ES" sz="1400" b="0" i="1" spc="-10" dirty="0">
                <a:latin typeface="Bookman Old Style"/>
                <a:cs typeface="Bookman Old Style"/>
              </a:rPr>
              <a:t>x</a:t>
            </a:r>
            <a:r>
              <a:rPr lang="es-ES" sz="1400" b="0" i="1" spc="-100" dirty="0">
                <a:latin typeface="Bookman Old Style"/>
                <a:cs typeface="Bookman Old Style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+</a:t>
            </a:r>
            <a:r>
              <a:rPr lang="es-ES" sz="1400" spc="-25" dirty="0">
                <a:latin typeface="Book Antiqua"/>
                <a:cs typeface="Book Antiqua"/>
              </a:rPr>
              <a:t> </a:t>
            </a:r>
            <a:r>
              <a:rPr lang="es-ES" sz="1400" spc="-90" dirty="0">
                <a:latin typeface="Book Antiqua"/>
                <a:cs typeface="Book Antiqua"/>
              </a:rPr>
              <a:t>7</a:t>
            </a:r>
            <a:r>
              <a:rPr lang="es-ES" sz="1400" b="0" i="1" spc="-90" dirty="0">
                <a:latin typeface="Bookman Old Style"/>
                <a:cs typeface="Bookman Old Style"/>
              </a:rPr>
              <a:t>y</a:t>
            </a:r>
            <a:r>
              <a:rPr lang="es-ES" sz="1400" b="0" i="1" spc="-50" dirty="0">
                <a:latin typeface="Bookman Old Style"/>
                <a:cs typeface="Bookman Old Style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+</a:t>
            </a:r>
            <a:r>
              <a:rPr lang="es-ES" sz="1400" spc="-25" dirty="0">
                <a:latin typeface="Book Antiqua"/>
                <a:cs typeface="Book Antiqua"/>
              </a:rPr>
              <a:t> </a:t>
            </a:r>
            <a:r>
              <a:rPr lang="es-ES" sz="1400" dirty="0">
                <a:latin typeface="Book Antiqua"/>
                <a:cs typeface="Book Antiqua"/>
              </a:rPr>
              <a:t>31</a:t>
            </a:r>
            <a:r>
              <a:rPr lang="es-ES" sz="1400" spc="30" dirty="0">
                <a:latin typeface="Book Antiqua"/>
                <a:cs typeface="Book Antiqua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=</a:t>
            </a:r>
            <a:r>
              <a:rPr lang="es-ES" sz="1400" spc="45" dirty="0">
                <a:latin typeface="Book Antiqua"/>
                <a:cs typeface="Book Antiqua"/>
              </a:rPr>
              <a:t> </a:t>
            </a:r>
            <a:r>
              <a:rPr lang="es-ES" sz="1400" spc="-25" dirty="0">
                <a:latin typeface="Book Antiqua"/>
                <a:cs typeface="Book Antiqua"/>
              </a:rPr>
              <a:t>0</a:t>
            </a:r>
            <a:r>
              <a:rPr lang="es-ES" sz="1400" b="0" i="1" spc="-25" dirty="0">
                <a:latin typeface="Bookman Old Style"/>
                <a:cs typeface="Bookman Old Style"/>
              </a:rPr>
              <a:t>,</a:t>
            </a:r>
            <a:endParaRPr lang="es-ES" sz="1400" dirty="0">
              <a:latin typeface="Bookman Old Style"/>
              <a:cs typeface="Bookman Old Style"/>
            </a:endParaRPr>
          </a:p>
          <a:p>
            <a:pPr marL="3924300" marR="289560">
              <a:lnSpc>
                <a:spcPct val="100000"/>
              </a:lnSpc>
              <a:spcBef>
                <a:spcPts val="15"/>
              </a:spcBef>
            </a:pPr>
            <a:r>
              <a:rPr lang="es-ES" sz="1400" b="0" i="1" dirty="0">
                <a:latin typeface="Bookman Old Style"/>
                <a:cs typeface="Bookman Old Style"/>
              </a:rPr>
              <a:t>BC</a:t>
            </a:r>
            <a:r>
              <a:rPr lang="es-ES" sz="1400" b="0" i="1" spc="70" dirty="0">
                <a:latin typeface="Bookman Old Style"/>
                <a:cs typeface="Bookman Old Style"/>
              </a:rPr>
              <a:t> </a:t>
            </a:r>
            <a:r>
              <a:rPr lang="es-ES" sz="1400" dirty="0">
                <a:latin typeface="Book Antiqua"/>
                <a:cs typeface="Book Antiqua"/>
              </a:rPr>
              <a:t>:</a:t>
            </a:r>
            <a:r>
              <a:rPr lang="es-ES" sz="1400" spc="25" dirty="0">
                <a:latin typeface="Book Antiqua"/>
                <a:cs typeface="Book Antiqua"/>
              </a:rPr>
              <a:t> </a:t>
            </a:r>
            <a:r>
              <a:rPr lang="es-ES" sz="1400" b="0" i="1" dirty="0">
                <a:latin typeface="Bookman Old Style"/>
                <a:cs typeface="Bookman Old Style"/>
              </a:rPr>
              <a:t>x</a:t>
            </a:r>
            <a:r>
              <a:rPr lang="es-ES" sz="1400" b="0" i="1" spc="-80" dirty="0">
                <a:latin typeface="Bookman Old Style"/>
                <a:cs typeface="Bookman Old Style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+</a:t>
            </a:r>
            <a:r>
              <a:rPr lang="es-ES" sz="1400" spc="-30" dirty="0">
                <a:latin typeface="Book Antiqua"/>
                <a:cs typeface="Book Antiqua"/>
              </a:rPr>
              <a:t> </a:t>
            </a:r>
            <a:r>
              <a:rPr lang="es-ES" sz="1400" spc="-70" dirty="0">
                <a:latin typeface="Book Antiqua"/>
                <a:cs typeface="Book Antiqua"/>
              </a:rPr>
              <a:t>12</a:t>
            </a:r>
            <a:r>
              <a:rPr lang="es-ES" sz="1400" b="0" i="1" spc="-70" dirty="0">
                <a:latin typeface="Bookman Old Style"/>
                <a:cs typeface="Bookman Old Style"/>
              </a:rPr>
              <a:t>y</a:t>
            </a:r>
            <a:r>
              <a:rPr lang="es-ES" sz="1400" b="0" i="1" spc="-45" dirty="0">
                <a:latin typeface="Bookman Old Style"/>
                <a:cs typeface="Bookman Old Style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+</a:t>
            </a:r>
            <a:r>
              <a:rPr lang="es-ES" sz="1400" spc="-30" dirty="0">
                <a:latin typeface="Book Antiqua"/>
                <a:cs typeface="Book Antiqua"/>
              </a:rPr>
              <a:t> </a:t>
            </a:r>
            <a:r>
              <a:rPr lang="es-ES" sz="1400" dirty="0">
                <a:latin typeface="Book Antiqua"/>
                <a:cs typeface="Book Antiqua"/>
              </a:rPr>
              <a:t>59</a:t>
            </a:r>
            <a:r>
              <a:rPr lang="es-ES" sz="1400" spc="35" dirty="0">
                <a:latin typeface="Book Antiqua"/>
                <a:cs typeface="Book Antiqua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=</a:t>
            </a:r>
            <a:r>
              <a:rPr lang="es-ES" sz="1400" spc="40" dirty="0">
                <a:latin typeface="Book Antiqua"/>
                <a:cs typeface="Book Antiqua"/>
              </a:rPr>
              <a:t> </a:t>
            </a:r>
            <a:r>
              <a:rPr lang="es-ES" sz="1400" spc="-25" dirty="0">
                <a:latin typeface="Book Antiqua"/>
                <a:cs typeface="Book Antiqua"/>
              </a:rPr>
              <a:t>0</a:t>
            </a:r>
            <a:r>
              <a:rPr lang="es-ES" sz="1400" b="0" i="1" spc="-25" dirty="0">
                <a:latin typeface="Bookman Old Style"/>
                <a:cs typeface="Bookman Old Style"/>
              </a:rPr>
              <a:t>, </a:t>
            </a:r>
            <a:endParaRPr lang="bg-BG" sz="1400" b="0" i="1" spc="-25" dirty="0">
              <a:latin typeface="Bookman Old Style"/>
              <a:cs typeface="Bookman Old Style"/>
            </a:endParaRPr>
          </a:p>
          <a:p>
            <a:pPr marL="3924300" marR="289560">
              <a:lnSpc>
                <a:spcPct val="100000"/>
              </a:lnSpc>
              <a:spcBef>
                <a:spcPts val="15"/>
              </a:spcBef>
            </a:pPr>
            <a:r>
              <a:rPr lang="es-ES" sz="1400" b="0" i="1" dirty="0">
                <a:latin typeface="Bookman Old Style"/>
                <a:cs typeface="Bookman Old Style"/>
              </a:rPr>
              <a:t>AC</a:t>
            </a:r>
            <a:r>
              <a:rPr lang="es-ES" sz="1400" b="0" i="1" spc="60" dirty="0">
                <a:latin typeface="Bookman Old Style"/>
                <a:cs typeface="Bookman Old Style"/>
              </a:rPr>
              <a:t> </a:t>
            </a:r>
            <a:r>
              <a:rPr lang="es-ES" sz="1400" dirty="0">
                <a:latin typeface="Book Antiqua"/>
                <a:cs typeface="Book Antiqua"/>
              </a:rPr>
              <a:t>:</a:t>
            </a:r>
            <a:r>
              <a:rPr lang="es-ES" sz="1400" spc="25" dirty="0">
                <a:latin typeface="Book Antiqua"/>
                <a:cs typeface="Book Antiqua"/>
              </a:rPr>
              <a:t> </a:t>
            </a:r>
            <a:r>
              <a:rPr lang="es-ES" sz="1400" spc="-10" dirty="0">
                <a:latin typeface="Book Antiqua"/>
                <a:cs typeface="Book Antiqua"/>
              </a:rPr>
              <a:t>3</a:t>
            </a:r>
            <a:r>
              <a:rPr lang="es-ES" sz="1400" b="0" i="1" spc="-10" dirty="0">
                <a:latin typeface="Bookman Old Style"/>
                <a:cs typeface="Bookman Old Style"/>
              </a:rPr>
              <a:t>x</a:t>
            </a:r>
            <a:r>
              <a:rPr lang="es-ES" sz="1400" b="0" i="1" spc="-90" dirty="0">
                <a:latin typeface="Bookman Old Style"/>
                <a:cs typeface="Bookman Old Style"/>
              </a:rPr>
              <a:t> </a:t>
            </a:r>
            <a:r>
              <a:rPr lang="es-ES" sz="1400" spc="-35" dirty="0">
                <a:latin typeface="Lucida Sans Unicode"/>
                <a:cs typeface="Lucida Sans Unicode"/>
              </a:rPr>
              <a:t>−</a:t>
            </a:r>
            <a:r>
              <a:rPr lang="es-ES" sz="1400" spc="-125" dirty="0">
                <a:latin typeface="Lucida Sans Unicode"/>
                <a:cs typeface="Lucida Sans Unicode"/>
              </a:rPr>
              <a:t> </a:t>
            </a:r>
            <a:r>
              <a:rPr lang="es-ES" sz="1400" spc="-90" dirty="0">
                <a:latin typeface="Book Antiqua"/>
                <a:cs typeface="Book Antiqua"/>
              </a:rPr>
              <a:t>5</a:t>
            </a:r>
            <a:r>
              <a:rPr lang="es-ES" sz="1400" b="0" i="1" spc="-90" dirty="0">
                <a:latin typeface="Bookman Old Style"/>
                <a:cs typeface="Bookman Old Style"/>
              </a:rPr>
              <a:t>y</a:t>
            </a:r>
            <a:r>
              <a:rPr lang="es-ES" sz="1400" b="0" i="1" spc="-40" dirty="0">
                <a:latin typeface="Bookman Old Style"/>
                <a:cs typeface="Bookman Old Style"/>
              </a:rPr>
              <a:t> </a:t>
            </a:r>
            <a:r>
              <a:rPr lang="es-ES" sz="1400" spc="-35" dirty="0">
                <a:latin typeface="Lucida Sans Unicode"/>
                <a:cs typeface="Lucida Sans Unicode"/>
              </a:rPr>
              <a:t>−</a:t>
            </a:r>
            <a:r>
              <a:rPr lang="es-ES" sz="1400" spc="-125" dirty="0">
                <a:latin typeface="Lucida Sans Unicode"/>
                <a:cs typeface="Lucida Sans Unicode"/>
              </a:rPr>
              <a:t> </a:t>
            </a:r>
            <a:r>
              <a:rPr lang="es-ES" sz="1400" dirty="0">
                <a:latin typeface="Book Antiqua"/>
                <a:cs typeface="Book Antiqua"/>
              </a:rPr>
              <a:t>69</a:t>
            </a:r>
            <a:r>
              <a:rPr lang="es-ES" sz="1400" spc="30" dirty="0">
                <a:latin typeface="Book Antiqua"/>
                <a:cs typeface="Book Antiqua"/>
              </a:rPr>
              <a:t> </a:t>
            </a:r>
            <a:r>
              <a:rPr lang="es-ES" sz="1400" spc="180" dirty="0">
                <a:latin typeface="Book Antiqua"/>
                <a:cs typeface="Book Antiqua"/>
              </a:rPr>
              <a:t>=</a:t>
            </a:r>
            <a:r>
              <a:rPr lang="es-ES" sz="1400" spc="35" dirty="0">
                <a:latin typeface="Book Antiqua"/>
                <a:cs typeface="Book Antiqua"/>
              </a:rPr>
              <a:t> </a:t>
            </a:r>
            <a:r>
              <a:rPr lang="es-ES" sz="1400" spc="-25" dirty="0">
                <a:latin typeface="Book Antiqua"/>
                <a:cs typeface="Book Antiqua"/>
              </a:rPr>
              <a:t>0</a:t>
            </a:r>
            <a:r>
              <a:rPr lang="es-ES" sz="1400" b="0" i="1" spc="-25" dirty="0">
                <a:latin typeface="Bookman Old Style"/>
                <a:cs typeface="Bookman Old Style"/>
              </a:rPr>
              <a:t>.</a:t>
            </a:r>
            <a:endParaRPr lang="es-ES" sz="1400" dirty="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09732" y="937251"/>
            <a:ext cx="5727700" cy="1284967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52400" marR="2087880" lvl="1" indent="-76200">
              <a:lnSpc>
                <a:spcPts val="1340"/>
              </a:lnSpc>
              <a:spcBef>
                <a:spcPts val="715"/>
              </a:spcBef>
              <a:buFont typeface="Cambria"/>
              <a:buAutoNum type="arabicPeriod" startAt="21"/>
              <a:tabLst>
                <a:tab pos="429895" algn="l"/>
                <a:tab pos="435609" algn="l"/>
                <a:tab pos="1800860" algn="l"/>
              </a:tabLst>
            </a:pPr>
            <a:r>
              <a:rPr sz="1200" spc="65" dirty="0" err="1">
                <a:latin typeface="Times New Roman"/>
                <a:cs typeface="Times New Roman"/>
              </a:rPr>
              <a:t>Да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се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определи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60" dirty="0">
                <a:latin typeface="Times New Roman"/>
                <a:cs typeface="Times New Roman"/>
              </a:rPr>
              <a:t>ъгълът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между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правите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spc="345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g</a:t>
            </a:r>
            <a:r>
              <a:rPr sz="1200" spc="-37" baseline="-13888" dirty="0">
                <a:latin typeface="Trebuchet MS"/>
                <a:cs typeface="Trebuchet MS"/>
              </a:rPr>
              <a:t>2</a:t>
            </a:r>
            <a:r>
              <a:rPr sz="1200" spc="-25" dirty="0">
                <a:latin typeface="Times New Roman"/>
                <a:cs typeface="Times New Roman"/>
              </a:rPr>
              <a:t>. </a:t>
            </a:r>
            <a:endParaRPr lang="bg-BG" sz="1200" spc="-25" dirty="0">
              <a:latin typeface="Times New Roman"/>
              <a:cs typeface="Times New Roman"/>
            </a:endParaRPr>
          </a:p>
          <a:p>
            <a:pPr marL="76200" marR="2087880" lvl="1">
              <a:lnSpc>
                <a:spcPts val="1340"/>
              </a:lnSpc>
              <a:spcBef>
                <a:spcPts val="715"/>
              </a:spcBef>
              <a:tabLst>
                <a:tab pos="429895" algn="l"/>
                <a:tab pos="435609" algn="l"/>
                <a:tab pos="1800860" algn="l"/>
              </a:tabLst>
            </a:pPr>
            <a:r>
              <a:rPr lang="bg-BG" sz="1200" spc="-25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spc="150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1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2</a:t>
            </a:r>
            <a:r>
              <a:rPr sz="1200" b="0" i="1" spc="-20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11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spc="135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1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4</a:t>
            </a:r>
            <a:endParaRPr sz="1200" dirty="0">
              <a:latin typeface="Book Antiqua"/>
              <a:cs typeface="Book Antiqua"/>
            </a:endParaRPr>
          </a:p>
          <a:p>
            <a:pPr marL="151765">
              <a:lnSpc>
                <a:spcPts val="1415"/>
              </a:lnSpc>
              <a:tabLst>
                <a:tab pos="435609" algn="l"/>
                <a:tab pos="1800860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spc="135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3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spc="150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2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  <a:p>
            <a:pPr marR="68580" algn="r">
              <a:lnSpc>
                <a:spcPct val="100000"/>
              </a:lnSpc>
              <a:spcBef>
                <a:spcPts val="790"/>
              </a:spcBef>
              <a:tabLst>
                <a:tab pos="972185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45</a:t>
            </a:r>
            <a:r>
              <a:rPr sz="1200" spc="-37" baseline="31250" dirty="0">
                <a:latin typeface="Arial"/>
                <a:cs typeface="Arial"/>
              </a:rPr>
              <a:t>◦</a:t>
            </a:r>
            <a:r>
              <a:rPr sz="1200" baseline="31250" dirty="0">
                <a:latin typeface="Arial"/>
                <a:cs typeface="Arial"/>
              </a:rPr>
              <a:t>	</a:t>
            </a: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90</a:t>
            </a:r>
            <a:r>
              <a:rPr sz="1200" spc="-37" baseline="31250" dirty="0">
                <a:latin typeface="Arial"/>
                <a:cs typeface="Arial"/>
              </a:rPr>
              <a:t>◦</a:t>
            </a:r>
            <a:endParaRPr sz="1200" baseline="312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 dirty="0">
              <a:latin typeface="Arial"/>
              <a:cs typeface="Arial"/>
            </a:endParaRPr>
          </a:p>
          <a:p>
            <a:pPr marL="455295" lvl="1" indent="-380365">
              <a:lnSpc>
                <a:spcPct val="100000"/>
              </a:lnSpc>
              <a:spcBef>
                <a:spcPts val="5"/>
              </a:spcBef>
              <a:buFont typeface="Cambria"/>
              <a:buAutoNum type="arabicPeriod" startAt="22"/>
              <a:tabLst>
                <a:tab pos="455930" algn="l"/>
              </a:tabLst>
            </a:pP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дължината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височината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през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върха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b="0" i="1" spc="42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△</a:t>
            </a:r>
            <a:r>
              <a:rPr sz="1200" b="0" i="1" dirty="0">
                <a:latin typeface="Bookman Old Style"/>
                <a:cs typeface="Bookman Old Style"/>
              </a:rPr>
              <a:t>ABC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b="0" i="1" spc="-10" dirty="0">
                <a:latin typeface="Bookman Old Style"/>
                <a:cs typeface="Bookman Old Style"/>
              </a:rPr>
              <a:t>A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1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2)</a:t>
            </a:r>
            <a:r>
              <a:rPr sz="1200" spc="-20" dirty="0">
                <a:latin typeface="Times New Roman"/>
                <a:cs typeface="Times New Roman"/>
              </a:rPr>
              <a:t>,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8013" y="2437482"/>
            <a:ext cx="10591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4)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7)</a:t>
            </a:r>
            <a:r>
              <a:rPr sz="1200" b="0" i="1" spc="-25" dirty="0">
                <a:latin typeface="Bookman Old Style"/>
                <a:cs typeface="Bookman Old Style"/>
              </a:rPr>
              <a:t>.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00291" y="5946800"/>
            <a:ext cx="74930" cy="0"/>
          </a:xfrm>
          <a:custGeom>
            <a:avLst/>
            <a:gdLst/>
            <a:ahLst/>
            <a:cxnLst/>
            <a:rect l="l" t="t" r="r" b="b"/>
            <a:pathLst>
              <a:path w="74929">
                <a:moveTo>
                  <a:pt x="0" y="0"/>
                </a:moveTo>
                <a:lnTo>
                  <a:pt x="74675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2005" y="2822236"/>
            <a:ext cx="5952490" cy="1139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9105" lvl="1" indent="-370840">
              <a:lnSpc>
                <a:spcPct val="100000"/>
              </a:lnSpc>
              <a:spcBef>
                <a:spcPts val="95"/>
              </a:spcBef>
              <a:buFont typeface="Cambria"/>
              <a:buAutoNum type="arabicPeriod" startAt="23"/>
              <a:tabLst>
                <a:tab pos="459740" algn="l"/>
              </a:tabLst>
            </a:pP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разстоянието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между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успоредните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spc="577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8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3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2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7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4</a:t>
            </a:r>
            <a:r>
              <a:rPr sz="1200" b="0" i="1" spc="-50" dirty="0">
                <a:latin typeface="Bookman Old Style"/>
                <a:cs typeface="Bookman Old Style"/>
              </a:rPr>
              <a:t>y</a:t>
            </a:r>
            <a:r>
              <a:rPr sz="1200" b="0" i="1" spc="5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spc="-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15</a:t>
            </a:r>
            <a:r>
              <a:rPr sz="1200" spc="29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7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0</a:t>
            </a:r>
            <a:r>
              <a:rPr sz="1200" spc="24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и</a:t>
            </a:r>
            <a:endParaRPr sz="1200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0"/>
              </a:spcBef>
            </a:pP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spc="142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4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20</a:t>
            </a:r>
            <a:r>
              <a:rPr sz="1200" spc="1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spc="-25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R="274955" algn="r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7</a:t>
            </a:r>
            <a:endParaRPr sz="12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 dirty="0">
              <a:latin typeface="Book Antiqua"/>
              <a:cs typeface="Book Antiqua"/>
            </a:endParaRPr>
          </a:p>
          <a:p>
            <a:pPr marL="425450" lvl="1" indent="-337820">
              <a:lnSpc>
                <a:spcPct val="100000"/>
              </a:lnSpc>
              <a:buFont typeface="Cambria"/>
              <a:buAutoNum type="arabicPeriod" startAt="24"/>
              <a:tabLst>
                <a:tab pos="426084" algn="l"/>
              </a:tabLst>
            </a:pP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ортоцентъра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медицентъра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△</a:t>
            </a:r>
            <a:r>
              <a:rPr sz="1200" b="0" i="1" dirty="0">
                <a:latin typeface="Bookman Old Style"/>
                <a:cs typeface="Bookman Old Style"/>
              </a:rPr>
              <a:t>ABC</a:t>
            </a:r>
            <a:r>
              <a:rPr sz="1200" b="0" i="1" spc="8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върхове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b="0" i="1" spc="-10" dirty="0">
                <a:latin typeface="Bookman Old Style"/>
                <a:cs typeface="Bookman Old Style"/>
              </a:rPr>
              <a:t>A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4)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125" dirty="0">
                <a:latin typeface="Bookman Old Style"/>
                <a:cs typeface="Bookman Old Style"/>
              </a:rPr>
              <a:t> 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5)</a:t>
            </a:r>
            <a:r>
              <a:rPr sz="1200" spc="36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и</a:t>
            </a:r>
            <a:endParaRPr sz="1200" dirty="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3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3)</a:t>
            </a:r>
            <a:r>
              <a:rPr sz="1200" b="0" i="1" spc="-20" dirty="0">
                <a:latin typeface="Bookman Old Style"/>
                <a:cs typeface="Bookman Old Style"/>
              </a:rPr>
              <a:t>.</a:t>
            </a:r>
            <a:endParaRPr sz="1200" dirty="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5498" y="7370129"/>
            <a:ext cx="996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latin typeface="Book Antiqua"/>
                <a:cs typeface="Book Antiqua"/>
              </a:rPr>
              <a:t>5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68059" y="7598816"/>
            <a:ext cx="74930" cy="0"/>
          </a:xfrm>
          <a:custGeom>
            <a:avLst/>
            <a:gdLst/>
            <a:ahLst/>
            <a:cxnLst/>
            <a:rect l="l" t="t" r="r" b="b"/>
            <a:pathLst>
              <a:path w="74929">
                <a:moveTo>
                  <a:pt x="0" y="0"/>
                </a:moveTo>
                <a:lnTo>
                  <a:pt x="74675" y="0"/>
                </a:lnTo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42516" y="4021621"/>
            <a:ext cx="20180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H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8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13)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254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spc="-260" dirty="0">
                <a:latin typeface="Lucida Sans Unicode"/>
                <a:cs typeface="Lucida Sans Unicode"/>
              </a:rPr>
              <a:t> </a:t>
            </a:r>
            <a:r>
              <a:rPr sz="1800" spc="-37" baseline="-39351" dirty="0">
                <a:latin typeface="Book Antiqua"/>
                <a:cs typeface="Book Antiqua"/>
              </a:rPr>
              <a:t>3</a:t>
            </a:r>
            <a:r>
              <a:rPr sz="1800" spc="-254" baseline="-39351" dirty="0">
                <a:latin typeface="Book Antiqua"/>
                <a:cs typeface="Book Antiqua"/>
              </a:rPr>
              <a:t> </a:t>
            </a:r>
            <a:r>
              <a:rPr sz="1200" b="0" i="1" spc="-45" dirty="0">
                <a:latin typeface="Bookman Old Style"/>
                <a:cs typeface="Bookman Old Style"/>
              </a:rPr>
              <a:t>,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4)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5873" y="4477633"/>
            <a:ext cx="5606415" cy="1735732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88265" marR="243840" lvl="1" indent="-76200">
              <a:lnSpc>
                <a:spcPts val="1340"/>
              </a:lnSpc>
              <a:spcBef>
                <a:spcPts val="220"/>
              </a:spcBef>
              <a:buFont typeface="Cambria"/>
              <a:buAutoNum type="arabicPeriod" startAt="25"/>
              <a:tabLst>
                <a:tab pos="366395" algn="l"/>
                <a:tab pos="372110" algn="l"/>
                <a:tab pos="1207135" algn="l"/>
              </a:tabLst>
            </a:pPr>
            <a:r>
              <a:rPr sz="1200" spc="65" dirty="0">
                <a:latin typeface="Times New Roman"/>
                <a:cs typeface="Times New Roman"/>
              </a:rPr>
              <a:t>Да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се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намери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ортогоналната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проекция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P</a:t>
            </a:r>
            <a:r>
              <a:rPr sz="1200" b="0" i="1" spc="32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точката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29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върху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правата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g</a:t>
            </a:r>
            <a:r>
              <a:rPr sz="1200" spc="-25" dirty="0">
                <a:latin typeface="Times New Roman"/>
                <a:cs typeface="Times New Roman"/>
              </a:rPr>
              <a:t>. 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-23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(6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8)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b="0" i="1" spc="-120" dirty="0">
                <a:latin typeface="Bookman Old Style"/>
                <a:cs typeface="Bookman Old Style"/>
              </a:rPr>
              <a:t>g</a:t>
            </a:r>
            <a:r>
              <a:rPr sz="1200" b="0" i="1" spc="1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10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  <a:p>
            <a:pPr marL="88900">
              <a:lnSpc>
                <a:spcPts val="1430"/>
              </a:lnSpc>
              <a:tabLst>
                <a:tab pos="372110" algn="l"/>
                <a:tab pos="1207135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-240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(10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3)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b="0" i="1" spc="-120" dirty="0">
                <a:latin typeface="Bookman Old Style"/>
                <a:cs typeface="Bookman Old Style"/>
              </a:rPr>
              <a:t>g</a:t>
            </a:r>
            <a:r>
              <a:rPr sz="1200" b="0" i="1" spc="2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1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  <a:p>
            <a:pPr marL="88900">
              <a:lnSpc>
                <a:spcPct val="100000"/>
              </a:lnSpc>
              <a:tabLst>
                <a:tab pos="372110" algn="l"/>
                <a:tab pos="1207135" algn="l"/>
              </a:tabLst>
            </a:pPr>
            <a:r>
              <a:rPr sz="1200" spc="-25" dirty="0">
                <a:latin typeface="Times New Roman"/>
                <a:cs typeface="Times New Roman"/>
              </a:rPr>
              <a:t>в)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-23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(1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3)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b="0" i="1" spc="-120" dirty="0">
                <a:latin typeface="Bookman Old Style"/>
                <a:cs typeface="Bookman Old Style"/>
              </a:rPr>
              <a:t>g</a:t>
            </a:r>
            <a:r>
              <a:rPr sz="1200" b="0" i="1" spc="2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3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  <a:p>
            <a:pPr marL="3005455">
              <a:lnSpc>
                <a:spcPct val="100000"/>
              </a:lnSpc>
              <a:spcBef>
                <a:spcPts val="590"/>
              </a:spcBef>
              <a:tabLst>
                <a:tab pos="4845050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P</a:t>
            </a:r>
            <a:r>
              <a:rPr sz="1200" b="0" i="1" spc="-17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(2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6)</a:t>
            </a:r>
            <a:r>
              <a:rPr sz="1200" spc="125" dirty="0">
                <a:latin typeface="Book Antiqua"/>
                <a:cs typeface="Book Antiqua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P</a:t>
            </a:r>
            <a:r>
              <a:rPr sz="1200" b="0" i="1" spc="-17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(7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Book Antiqua"/>
                <a:cs typeface="Book Antiqua"/>
              </a:rPr>
              <a:t>3)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dirty="0">
                <a:latin typeface="Times New Roman"/>
                <a:cs typeface="Times New Roman"/>
              </a:rPr>
              <a:t>в)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P</a:t>
            </a:r>
            <a:r>
              <a:rPr sz="1200" b="0" i="1" spc="-17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1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3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2)</a:t>
            </a:r>
            <a:endParaRPr sz="1200" dirty="0">
              <a:latin typeface="Book Antiqua"/>
              <a:cs typeface="Book Antiqua"/>
            </a:endParaRPr>
          </a:p>
          <a:p>
            <a:pPr marL="88265" marR="443230" lvl="1" indent="-20320">
              <a:lnSpc>
                <a:spcPts val="1340"/>
              </a:lnSpc>
              <a:spcBef>
                <a:spcPts val="1630"/>
              </a:spcBef>
              <a:buFont typeface="Cambria"/>
              <a:buAutoNum type="arabicPeriod" startAt="26"/>
              <a:tabLst>
                <a:tab pos="372110" algn="l"/>
                <a:tab pos="422909" algn="l"/>
                <a:tab pos="1207135" algn="l"/>
              </a:tabLst>
            </a:pPr>
            <a:r>
              <a:rPr sz="1200" spc="65" dirty="0">
                <a:latin typeface="Times New Roman"/>
                <a:cs typeface="Times New Roman"/>
              </a:rPr>
              <a:t>Да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се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намери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точка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b="0" i="1" spc="65" dirty="0">
                <a:latin typeface="Bookman Old Style"/>
                <a:cs typeface="Bookman Old Style"/>
              </a:rPr>
              <a:t>N</a:t>
            </a:r>
            <a:r>
              <a:rPr sz="1200" b="0" i="1" spc="-22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симетрична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точката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2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относно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правата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g</a:t>
            </a:r>
            <a:r>
              <a:rPr sz="1200" spc="-25" dirty="0">
                <a:latin typeface="Times New Roman"/>
                <a:cs typeface="Times New Roman"/>
              </a:rPr>
              <a:t>. </a:t>
            </a:r>
            <a:endParaRPr lang="bg-BG" sz="1200" spc="-25" dirty="0">
              <a:latin typeface="Times New Roman"/>
              <a:cs typeface="Times New Roman"/>
            </a:endParaRPr>
          </a:p>
          <a:p>
            <a:pPr marL="67945" marR="443230" lvl="1">
              <a:lnSpc>
                <a:spcPts val="1340"/>
              </a:lnSpc>
              <a:spcBef>
                <a:spcPts val="1630"/>
              </a:spcBef>
              <a:tabLst>
                <a:tab pos="372110" algn="l"/>
                <a:tab pos="422909" algn="l"/>
                <a:tab pos="1207135" algn="l"/>
              </a:tabLst>
            </a:pPr>
            <a:r>
              <a:rPr sz="1200" spc="-2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-24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5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Book Antiqua"/>
                <a:cs typeface="Book Antiqua"/>
              </a:rPr>
              <a:t>9)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b="0" i="1" spc="-120" dirty="0">
                <a:latin typeface="Bookman Old Style"/>
                <a:cs typeface="Bookman Old Style"/>
              </a:rPr>
              <a:t>g</a:t>
            </a:r>
            <a:r>
              <a:rPr sz="1200" b="0" i="1" spc="1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3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18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9763" y="6201189"/>
            <a:ext cx="23768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5910" algn="l"/>
                <a:tab pos="1130935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-24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5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5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13)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b="0" i="1" spc="-120" dirty="0">
                <a:latin typeface="Bookman Old Style"/>
                <a:cs typeface="Bookman Old Style"/>
              </a:rPr>
              <a:t>g</a:t>
            </a:r>
            <a:r>
              <a:rPr sz="1200" b="0" i="1" spc="2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3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3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9763" y="6506014"/>
            <a:ext cx="7994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5910" algn="l"/>
              </a:tabLst>
            </a:pPr>
            <a:r>
              <a:rPr sz="1200" spc="-25" dirty="0">
                <a:latin typeface="Times New Roman"/>
                <a:cs typeface="Times New Roman"/>
              </a:rPr>
              <a:t>в)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-23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(4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5)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4402" y="6427118"/>
            <a:ext cx="4333875" cy="54102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200" b="0" i="1" spc="-120" dirty="0">
                <a:latin typeface="Bookman Old Style"/>
                <a:cs typeface="Bookman Old Style"/>
              </a:rPr>
              <a:t>g</a:t>
            </a:r>
            <a:r>
              <a:rPr sz="1200" b="0" i="1" spc="2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4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  <a:p>
            <a:pPr marL="1162685">
              <a:lnSpc>
                <a:spcPct val="100000"/>
              </a:lnSpc>
              <a:spcBef>
                <a:spcPts val="590"/>
              </a:spcBef>
              <a:tabLst>
                <a:tab pos="2371725" algn="l"/>
                <a:tab pos="3438525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2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b="0" i="1" spc="65" dirty="0">
                <a:latin typeface="Bookman Old Style"/>
                <a:cs typeface="Bookman Old Style"/>
              </a:rPr>
              <a:t>N</a:t>
            </a:r>
            <a:r>
              <a:rPr sz="1200" b="0" i="1" spc="-23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(2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3)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b="0" i="1" spc="65" dirty="0">
                <a:latin typeface="Bookman Old Style"/>
                <a:cs typeface="Bookman Old Style"/>
              </a:rPr>
              <a:t>N</a:t>
            </a:r>
            <a:r>
              <a:rPr sz="1200" b="0" i="1" spc="-240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(11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11)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dirty="0">
                <a:latin typeface="Times New Roman"/>
                <a:cs typeface="Times New Roman"/>
              </a:rPr>
              <a:t>в)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b="0" i="1" spc="65" dirty="0">
                <a:latin typeface="Bookman Old Style"/>
                <a:cs typeface="Bookman Old Style"/>
              </a:rPr>
              <a:t>N</a:t>
            </a:r>
            <a:r>
              <a:rPr sz="1200" b="0" i="1" spc="-229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8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3)</a:t>
            </a:r>
            <a:endParaRPr sz="1200" dirty="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53" y="722439"/>
            <a:ext cx="5606415" cy="28166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 dirty="0">
              <a:latin typeface="Verdana Pro Cond Light"/>
              <a:cs typeface="Verdana Pro Cond Ligh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 dirty="0">
              <a:latin typeface="Verdana Pro Cond Light"/>
              <a:cs typeface="Verdana Pro Cond Light"/>
            </a:endParaRPr>
          </a:p>
          <a:p>
            <a:pPr marL="12700" marR="5715" lvl="1" indent="53340" algn="just">
              <a:lnSpc>
                <a:spcPct val="100400"/>
              </a:lnSpc>
              <a:buFont typeface="Cambria"/>
              <a:buAutoNum type="arabicPeriod" startAt="27"/>
              <a:tabLst>
                <a:tab pos="418465" algn="l"/>
              </a:tabLst>
            </a:pPr>
            <a:r>
              <a:rPr sz="1200" spc="20" dirty="0">
                <a:latin typeface="Times New Roman"/>
                <a:cs typeface="Times New Roman"/>
              </a:rPr>
              <a:t>През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точката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b="0" i="1" spc="5" dirty="0">
                <a:latin typeface="Bookman Old Style"/>
                <a:cs typeface="Bookman Old Style"/>
              </a:rPr>
              <a:t>A</a:t>
            </a:r>
            <a:r>
              <a:rPr sz="1200" spc="5" dirty="0">
                <a:latin typeface="Book Antiqua"/>
                <a:cs typeface="Book Antiqua"/>
              </a:rPr>
              <a:t>(1</a:t>
            </a:r>
            <a:r>
              <a:rPr sz="1200" b="0" i="1" spc="5" dirty="0">
                <a:latin typeface="Bookman Old Style"/>
                <a:cs typeface="Bookman Old Style"/>
              </a:rPr>
              <a:t>,</a:t>
            </a:r>
            <a:r>
              <a:rPr sz="1200" b="0" i="1" spc="-160" dirty="0">
                <a:latin typeface="Bookman Old Style"/>
                <a:cs typeface="Bookman Old Style"/>
              </a:rPr>
              <a:t> </a:t>
            </a:r>
            <a:r>
              <a:rPr sz="1200" spc="15" dirty="0">
                <a:latin typeface="Book Antiqua"/>
                <a:cs typeface="Book Antiqua"/>
              </a:rPr>
              <a:t>2)</a:t>
            </a:r>
            <a:r>
              <a:rPr sz="1200" spc="60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е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пуснат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светлинен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лъч,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който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след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отразяването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си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от</a:t>
            </a:r>
            <a:r>
              <a:rPr sz="1200" spc="30" dirty="0">
                <a:latin typeface="Times New Roman"/>
                <a:cs typeface="Times New Roman"/>
              </a:rPr>
              <a:t> правата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b="0" i="1" spc="-114" dirty="0">
                <a:latin typeface="Bookman Old Style"/>
                <a:cs typeface="Bookman Old Style"/>
              </a:rPr>
              <a:t>g</a:t>
            </a:r>
            <a:r>
              <a:rPr sz="1200" b="0" i="1" spc="15" dirty="0">
                <a:latin typeface="Bookman Old Style"/>
                <a:cs typeface="Bookman Old Style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b="0" i="1" spc="10" dirty="0">
                <a:latin typeface="Bookman Old Style"/>
                <a:cs typeface="Bookman Old Style"/>
              </a:rPr>
              <a:t>x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50" dirty="0">
                <a:latin typeface="Book Antiqua"/>
                <a:cs typeface="Book Antiqua"/>
              </a:rPr>
              <a:t> </a:t>
            </a:r>
            <a:r>
              <a:rPr sz="1200" spc="-85" dirty="0">
                <a:latin typeface="Book Antiqua"/>
                <a:cs typeface="Book Antiqua"/>
              </a:rPr>
              <a:t>5</a:t>
            </a:r>
            <a:r>
              <a:rPr sz="1200" b="0" i="1" spc="-85" dirty="0">
                <a:latin typeface="Bookman Old Style"/>
                <a:cs typeface="Bookman Old Style"/>
              </a:rPr>
              <a:t>y</a:t>
            </a:r>
            <a:r>
              <a:rPr sz="1200" b="0" i="1" spc="-8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50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1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0</a:t>
            </a:r>
            <a:r>
              <a:rPr sz="1200" spc="85" dirty="0">
                <a:latin typeface="Book Antiqua"/>
                <a:cs typeface="Book Antiqua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минава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през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точка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-24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1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60" dirty="0">
                <a:latin typeface="Bookman Old Style"/>
                <a:cs typeface="Bookman Old Style"/>
              </a:rPr>
              <a:t> </a:t>
            </a:r>
            <a:r>
              <a:rPr sz="1200" spc="-5" dirty="0">
                <a:latin typeface="Book Antiqua"/>
                <a:cs typeface="Book Antiqua"/>
              </a:rPr>
              <a:t>3)</a:t>
            </a:r>
            <a:r>
              <a:rPr sz="1200" b="0" i="1" spc="-5" dirty="0">
                <a:latin typeface="Bookman Old Style"/>
                <a:cs typeface="Bookman Old Style"/>
              </a:rPr>
              <a:t>.</a:t>
            </a:r>
            <a:r>
              <a:rPr sz="1200" b="0" i="1" spc="20" dirty="0">
                <a:latin typeface="Bookman Old Style"/>
                <a:cs typeface="Bookman Old Style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Да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се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намери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уравнението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отразения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лъч.</a:t>
            </a:r>
            <a:endParaRPr sz="12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73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spc="-70" dirty="0">
                <a:latin typeface="Book Antiqua"/>
                <a:cs typeface="Book Antiqua"/>
              </a:rPr>
              <a:t>14</a:t>
            </a:r>
            <a:r>
              <a:rPr sz="1200" b="0" i="1" spc="-7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31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 dirty="0">
              <a:latin typeface="Book Antiqua"/>
              <a:cs typeface="Book Antiqua"/>
            </a:endParaRPr>
          </a:p>
          <a:p>
            <a:pPr marL="12700" marR="5715" lvl="1" indent="81915" algn="just">
              <a:lnSpc>
                <a:spcPct val="100400"/>
              </a:lnSpc>
              <a:buFont typeface="Cambria"/>
              <a:buAutoNum type="arabicPeriod" startAt="28"/>
              <a:tabLst>
                <a:tab pos="470534" algn="l"/>
              </a:tabLst>
            </a:pPr>
            <a:r>
              <a:rPr sz="1200" spc="5" dirty="0">
                <a:latin typeface="Times New Roman"/>
                <a:cs typeface="Times New Roman"/>
              </a:rPr>
              <a:t>Светлинен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лъч,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минаващ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през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точката</a:t>
            </a:r>
            <a:r>
              <a:rPr sz="1200" spc="830" dirty="0">
                <a:latin typeface="Times New Roman"/>
                <a:cs typeface="Times New Roman"/>
              </a:rPr>
              <a:t> </a:t>
            </a:r>
            <a:r>
              <a:rPr sz="1200" b="0" i="1" spc="5" dirty="0">
                <a:latin typeface="Bookman Old Style"/>
                <a:cs typeface="Bookman Old Style"/>
              </a:rPr>
              <a:t>A</a:t>
            </a:r>
            <a:r>
              <a:rPr sz="1200" spc="5" dirty="0">
                <a:latin typeface="Book Antiqua"/>
                <a:cs typeface="Book Antiqua"/>
              </a:rPr>
              <a:t>(8</a:t>
            </a:r>
            <a:r>
              <a:rPr sz="1200" b="0" i="1" spc="5" dirty="0">
                <a:latin typeface="Bookman Old Style"/>
                <a:cs typeface="Bookman Old Style"/>
              </a:rPr>
              <a:t>,</a:t>
            </a:r>
            <a:r>
              <a:rPr sz="1200" b="0" i="1" spc="-160" dirty="0">
                <a:latin typeface="Bookman Old Style"/>
                <a:cs typeface="Bookman Old Style"/>
              </a:rPr>
              <a:t> </a:t>
            </a:r>
            <a:r>
              <a:rPr sz="1200" spc="-5" dirty="0">
                <a:latin typeface="Book Antiqua"/>
                <a:cs typeface="Book Antiqua"/>
              </a:rPr>
              <a:t>12)</a:t>
            </a:r>
            <a:r>
              <a:rPr sz="1200" b="0" i="1" spc="-5" dirty="0">
                <a:latin typeface="Bookman Old Style"/>
                <a:cs typeface="Bookman Old Style"/>
              </a:rPr>
              <a:t>,</a:t>
            </a:r>
            <a:r>
              <a:rPr sz="1200" b="0" i="1" spc="185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се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35" dirty="0">
                <a:latin typeface="Times New Roman"/>
                <a:cs typeface="Times New Roman"/>
              </a:rPr>
              <a:t>отразява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от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правата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b="0" i="1" spc="-114" dirty="0">
                <a:latin typeface="Bookman Old Style"/>
                <a:cs typeface="Bookman Old Style"/>
              </a:rPr>
              <a:t>g</a:t>
            </a:r>
            <a:r>
              <a:rPr sz="1200" b="0" i="1" spc="100" dirty="0">
                <a:latin typeface="Bookman Old Style"/>
                <a:cs typeface="Bookman Old Style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</a:t>
            </a:r>
            <a:r>
              <a:rPr sz="1200" spc="105" dirty="0">
                <a:latin typeface="Book Antiqua"/>
                <a:cs typeface="Book Antiqua"/>
              </a:rPr>
              <a:t> </a:t>
            </a:r>
            <a:r>
              <a:rPr sz="1200" b="0" i="1" spc="10" dirty="0">
                <a:latin typeface="Bookman Old Style"/>
                <a:cs typeface="Bookman Old Style"/>
              </a:rPr>
              <a:t>x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10" dirty="0">
                <a:latin typeface="Book Antiqua"/>
                <a:cs typeface="Book Antiqua"/>
              </a:rPr>
              <a:t> </a:t>
            </a:r>
            <a:r>
              <a:rPr sz="1200" b="0" i="1" spc="-155" dirty="0">
                <a:latin typeface="Bookman Old Style"/>
                <a:cs typeface="Bookman Old Style"/>
              </a:rPr>
              <a:t>y</a:t>
            </a:r>
            <a:r>
              <a:rPr sz="1200" b="0" i="1" spc="-20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75" dirty="0">
                <a:latin typeface="Lucida Sans Unicode"/>
                <a:cs typeface="Lucida Sans Unicode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3</a:t>
            </a:r>
            <a:r>
              <a:rPr sz="1200" spc="11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120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0</a:t>
            </a:r>
            <a:r>
              <a:rPr sz="1200" spc="565" dirty="0">
                <a:latin typeface="Book Antiqua"/>
                <a:cs typeface="Book Antiqua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и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минава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през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точката</a:t>
            </a:r>
            <a:r>
              <a:rPr sz="1200" spc="580" dirty="0">
                <a:latin typeface="Times New Roman"/>
                <a:cs typeface="Times New Roman"/>
              </a:rPr>
              <a:t> </a:t>
            </a:r>
            <a:r>
              <a:rPr sz="1200" b="0" i="1" spc="15" dirty="0">
                <a:latin typeface="Bookman Old Style"/>
                <a:cs typeface="Bookman Old Style"/>
              </a:rPr>
              <a:t>B</a:t>
            </a:r>
            <a:r>
              <a:rPr sz="1200" spc="15" dirty="0">
                <a:latin typeface="Book Antiqua"/>
                <a:cs typeface="Book Antiqua"/>
              </a:rPr>
              <a:t>(6</a:t>
            </a:r>
            <a:r>
              <a:rPr sz="1200" b="0" i="1" spc="15" dirty="0">
                <a:latin typeface="Bookman Old Style"/>
                <a:cs typeface="Bookman Old Style"/>
              </a:rPr>
              <a:t>,</a:t>
            </a:r>
            <a:r>
              <a:rPr sz="1200" b="0" i="1" spc="-160" dirty="0">
                <a:latin typeface="Bookman Old Style"/>
                <a:cs typeface="Bookman Old Style"/>
              </a:rPr>
              <a:t> </a:t>
            </a:r>
            <a:r>
              <a:rPr sz="1200" spc="15" dirty="0">
                <a:latin typeface="Book Antiqua"/>
                <a:cs typeface="Book Antiqua"/>
              </a:rPr>
              <a:t>1)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Да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се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намерят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уравненията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падащия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и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отразения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лъч.</a:t>
            </a:r>
            <a:endParaRPr sz="1200" dirty="0">
              <a:latin typeface="Times New Roman"/>
              <a:cs typeface="Times New Roman"/>
            </a:endParaRPr>
          </a:p>
          <a:p>
            <a:pPr marL="2495550" algn="ctr">
              <a:lnSpc>
                <a:spcPct val="100000"/>
              </a:lnSpc>
              <a:spcBef>
                <a:spcPts val="25"/>
              </a:spcBef>
              <a:tabLst>
                <a:tab pos="4374515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b="0" i="1" spc="-145" dirty="0">
                <a:latin typeface="Bookman Old Style"/>
                <a:cs typeface="Bookman Old Style"/>
              </a:rPr>
              <a:t>p</a:t>
            </a:r>
            <a:r>
              <a:rPr sz="1200" b="0" i="1" spc="-1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5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16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l</a:t>
            </a:r>
            <a:r>
              <a:rPr sz="1200" b="0" i="1" spc="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5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7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 dirty="0">
              <a:latin typeface="Book Antiqua"/>
              <a:cs typeface="Book Antiqua"/>
            </a:endParaRPr>
          </a:p>
          <a:p>
            <a:pPr marL="12700" marR="5715" lvl="1" indent="63500" algn="just">
              <a:lnSpc>
                <a:spcPct val="100800"/>
              </a:lnSpc>
              <a:spcBef>
                <a:spcPts val="1450"/>
              </a:spcBef>
              <a:buFont typeface="Cambria"/>
              <a:buAutoNum type="arabicPeriod" startAt="29"/>
              <a:tabLst>
                <a:tab pos="434975" algn="l"/>
              </a:tabLst>
            </a:pPr>
            <a:r>
              <a:rPr sz="1200" spc="25" dirty="0">
                <a:latin typeface="Times New Roman"/>
                <a:cs typeface="Times New Roman"/>
              </a:rPr>
              <a:t>Върху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правата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b="0" i="1" spc="-114" dirty="0">
                <a:latin typeface="Bookman Old Style"/>
                <a:cs typeface="Bookman Old Style"/>
              </a:rPr>
              <a:t>g</a:t>
            </a:r>
            <a:r>
              <a:rPr sz="1200" b="0" i="1" spc="100" dirty="0">
                <a:latin typeface="Bookman Old Style"/>
                <a:cs typeface="Bookman Old Style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</a:t>
            </a:r>
            <a:r>
              <a:rPr sz="1200" spc="105" dirty="0">
                <a:latin typeface="Book Antiqua"/>
                <a:cs typeface="Book Antiqua"/>
              </a:rPr>
              <a:t> </a:t>
            </a:r>
            <a:r>
              <a:rPr sz="1200" spc="-5" dirty="0">
                <a:latin typeface="Book Antiqua"/>
                <a:cs typeface="Book Antiqua"/>
              </a:rPr>
              <a:t>4</a:t>
            </a:r>
            <a:r>
              <a:rPr sz="1200" b="0" i="1" spc="-5" dirty="0">
                <a:latin typeface="Bookman Old Style"/>
                <a:cs typeface="Bookman Old Style"/>
              </a:rPr>
              <a:t>x</a:t>
            </a:r>
            <a:r>
              <a:rPr sz="1200" b="0" i="1" spc="-6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dirty="0">
                <a:latin typeface="Book Antiqua"/>
                <a:cs typeface="Book Antiqua"/>
              </a:rPr>
              <a:t> </a:t>
            </a:r>
            <a:r>
              <a:rPr sz="1200" spc="-85" dirty="0">
                <a:latin typeface="Book Antiqua"/>
                <a:cs typeface="Book Antiqua"/>
              </a:rPr>
              <a:t>3</a:t>
            </a:r>
            <a:r>
              <a:rPr sz="1200" b="0" i="1" spc="-85" dirty="0">
                <a:latin typeface="Bookman Old Style"/>
                <a:cs typeface="Bookman Old Style"/>
              </a:rPr>
              <a:t>y</a:t>
            </a:r>
            <a:r>
              <a:rPr sz="1200" b="0" i="1" spc="-30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85" dirty="0">
                <a:latin typeface="Lucida Sans Unicode"/>
                <a:cs typeface="Lucida Sans Unicode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12</a:t>
            </a:r>
            <a:r>
              <a:rPr sz="1200" spc="11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110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0</a:t>
            </a:r>
            <a:r>
              <a:rPr sz="1200" spc="135" dirty="0">
                <a:latin typeface="Book Antiqua"/>
                <a:cs typeface="Book Antiqua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намерете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точка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b="0" i="1" spc="35" dirty="0">
                <a:latin typeface="Bookman Old Style"/>
                <a:cs typeface="Bookman Old Style"/>
              </a:rPr>
              <a:t>C</a:t>
            </a:r>
            <a:r>
              <a:rPr sz="1200" spc="35" dirty="0">
                <a:latin typeface="Times New Roman"/>
                <a:cs typeface="Times New Roman"/>
              </a:rPr>
              <a:t>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равноотдалечена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от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точките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b="0" i="1" spc="-5" dirty="0">
                <a:latin typeface="Bookman Old Style"/>
                <a:cs typeface="Bookman Old Style"/>
              </a:rPr>
              <a:t>A</a:t>
            </a:r>
            <a:r>
              <a:rPr sz="1200" spc="-5" dirty="0">
                <a:latin typeface="Book Antiqua"/>
                <a:cs typeface="Book Antiqua"/>
              </a:rPr>
              <a:t>(</a:t>
            </a:r>
            <a:r>
              <a:rPr sz="1200" spc="-5" dirty="0">
                <a:latin typeface="Lucida Sans Unicode"/>
                <a:cs typeface="Lucida Sans Unicode"/>
              </a:rPr>
              <a:t>−</a:t>
            </a:r>
            <a:r>
              <a:rPr sz="1200" spc="-5" dirty="0">
                <a:latin typeface="Book Antiqua"/>
                <a:cs typeface="Book Antiqua"/>
              </a:rPr>
              <a:t>1</a:t>
            </a:r>
            <a:r>
              <a:rPr sz="1200" b="0" i="1" spc="-5" dirty="0">
                <a:latin typeface="Bookman Old Style"/>
                <a:cs typeface="Bookman Old Style"/>
              </a:rPr>
              <a:t>,</a:t>
            </a:r>
            <a:r>
              <a:rPr sz="1200" b="0" i="1" spc="-16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2)</a:t>
            </a:r>
            <a:r>
              <a:rPr sz="1200" spc="85" dirty="0">
                <a:latin typeface="Book Antiqua"/>
                <a:cs typeface="Book Antiqua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и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b="0" i="1" spc="15" dirty="0">
                <a:latin typeface="Bookman Old Style"/>
                <a:cs typeface="Bookman Old Style"/>
              </a:rPr>
              <a:t>B</a:t>
            </a:r>
            <a:r>
              <a:rPr sz="1200" spc="15" dirty="0">
                <a:latin typeface="Book Antiqua"/>
                <a:cs typeface="Book Antiqua"/>
              </a:rPr>
              <a:t>(1</a:t>
            </a:r>
            <a:r>
              <a:rPr sz="1200" b="0" i="1" spc="15" dirty="0">
                <a:latin typeface="Bookman Old Style"/>
                <a:cs typeface="Bookman Old Style"/>
              </a:rPr>
              <a:t>,</a:t>
            </a:r>
            <a:r>
              <a:rPr sz="1200" b="0" i="1" spc="-160" dirty="0">
                <a:latin typeface="Bookman Old Style"/>
                <a:cs typeface="Bookman Old Style"/>
              </a:rPr>
              <a:t> </a:t>
            </a:r>
            <a:r>
              <a:rPr sz="1200" spc="15" dirty="0">
                <a:latin typeface="Book Antiqua"/>
                <a:cs typeface="Book Antiqua"/>
              </a:rPr>
              <a:t>4)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(3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0)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1868" y="3895407"/>
            <a:ext cx="5604510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Cambria"/>
                <a:cs typeface="Cambria"/>
              </a:rPr>
              <a:t>1.30</a:t>
            </a:r>
            <a:r>
              <a:rPr sz="1200" b="1" spc="370" dirty="0">
                <a:latin typeface="Cambria"/>
                <a:cs typeface="Cambria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центъра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радиуса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описаната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около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△</a:t>
            </a:r>
            <a:r>
              <a:rPr sz="1200" b="0" i="1" dirty="0">
                <a:latin typeface="Bookman Old Style"/>
                <a:cs typeface="Bookman Old Style"/>
              </a:rPr>
              <a:t>ABC</a:t>
            </a:r>
            <a:r>
              <a:rPr sz="1200" b="0" i="1" spc="37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окръжност,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ако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b="0" i="1" spc="-10" dirty="0">
                <a:latin typeface="Bookman Old Style"/>
                <a:cs typeface="Bookman Old Style"/>
              </a:rPr>
              <a:t>A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1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7)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6)</a:t>
            </a:r>
            <a:r>
              <a:rPr sz="1200" spc="140" dirty="0">
                <a:latin typeface="Book Antiqua"/>
                <a:cs typeface="Book Antiqua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5)</a:t>
            </a:r>
            <a:r>
              <a:rPr sz="1200" spc="-25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9611" y="4392320"/>
            <a:ext cx="55244" cy="0"/>
          </a:xfrm>
          <a:custGeom>
            <a:avLst/>
            <a:gdLst/>
            <a:ahLst/>
            <a:cxnLst/>
            <a:rect l="l" t="t" r="r" b="b"/>
            <a:pathLst>
              <a:path w="55245">
                <a:moveTo>
                  <a:pt x="0" y="0"/>
                </a:moveTo>
                <a:lnTo>
                  <a:pt x="5486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20487" y="4392320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5">
                <a:moveTo>
                  <a:pt x="0" y="0"/>
                </a:moveTo>
                <a:lnTo>
                  <a:pt x="10820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96203" y="4392320"/>
            <a:ext cx="55244" cy="0"/>
          </a:xfrm>
          <a:custGeom>
            <a:avLst/>
            <a:gdLst/>
            <a:ahLst/>
            <a:cxnLst/>
            <a:rect l="l" t="t" r="r" b="b"/>
            <a:pathLst>
              <a:path w="55245">
                <a:moveTo>
                  <a:pt x="0" y="0"/>
                </a:moveTo>
                <a:lnTo>
                  <a:pt x="54863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57064" y="4368163"/>
            <a:ext cx="10058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9165" algn="l"/>
              </a:tabLst>
            </a:pPr>
            <a:r>
              <a:rPr sz="800" dirty="0">
                <a:latin typeface="Trebuchet MS"/>
                <a:cs typeface="Trebuchet MS"/>
              </a:rPr>
              <a:t>2</a:t>
            </a:r>
            <a:r>
              <a:rPr sz="800" spc="245" dirty="0">
                <a:latin typeface="Trebuchet MS"/>
                <a:cs typeface="Trebuchet MS"/>
              </a:rPr>
              <a:t>  </a:t>
            </a:r>
            <a:r>
              <a:rPr sz="800" spc="-50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2235" y="4139247"/>
            <a:ext cx="4108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510" algn="l"/>
              </a:tabLst>
            </a:pPr>
            <a:r>
              <a:rPr sz="1200" spc="-50" dirty="0">
                <a:latin typeface="Lucida Sans Unicode"/>
                <a:cs typeface="Lucida Sans Unicode"/>
              </a:rPr>
              <a:t>√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12062" y="4265739"/>
            <a:ext cx="1854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053465" algn="l"/>
                <a:tab pos="1579245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Book Antiqua"/>
                <a:cs typeface="Book Antiqua"/>
              </a:rPr>
              <a:t>(</a:t>
            </a:r>
            <a:r>
              <a:rPr sz="1200" spc="-180" dirty="0">
                <a:latin typeface="Book Antiqua"/>
                <a:cs typeface="Book Antiqua"/>
              </a:rPr>
              <a:t> </a:t>
            </a:r>
            <a:r>
              <a:rPr sz="1200" baseline="31250" dirty="0">
                <a:latin typeface="Trebuchet MS"/>
                <a:cs typeface="Trebuchet MS"/>
              </a:rPr>
              <a:t>7</a:t>
            </a:r>
            <a:r>
              <a:rPr sz="1200" spc="-165" baseline="31250" dirty="0">
                <a:latin typeface="Trebuchet MS"/>
                <a:cs typeface="Trebuchet MS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-15" baseline="31250" dirty="0">
                <a:latin typeface="Trebuchet MS"/>
                <a:cs typeface="Trebuchet MS"/>
              </a:rPr>
              <a:t>21</a:t>
            </a:r>
            <a:r>
              <a:rPr sz="1200" spc="-165" baseline="3125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</a:t>
            </a:r>
            <a:r>
              <a:rPr sz="1200" b="0" i="1" spc="50" dirty="0">
                <a:latin typeface="Bookman Old Style"/>
                <a:cs typeface="Bookman Old Style"/>
              </a:rPr>
              <a:t>R</a:t>
            </a:r>
            <a:r>
              <a:rPr sz="1200" b="0" i="1" spc="-1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155" dirty="0">
                <a:latin typeface="Book Antiqua"/>
                <a:cs typeface="Book Antiqua"/>
              </a:rPr>
              <a:t> </a:t>
            </a:r>
            <a:r>
              <a:rPr sz="1200" spc="-75" baseline="31250" dirty="0">
                <a:latin typeface="Trebuchet MS"/>
                <a:cs typeface="Trebuchet MS"/>
              </a:rPr>
              <a:t>1</a:t>
            </a:r>
            <a:r>
              <a:rPr sz="1200" baseline="31250" dirty="0">
                <a:latin typeface="Trebuchet MS"/>
                <a:cs typeface="Trebuchet MS"/>
              </a:rPr>
              <a:t>	</a:t>
            </a:r>
            <a:r>
              <a:rPr sz="1200" spc="-25" dirty="0">
                <a:latin typeface="Book Antiqua"/>
                <a:cs typeface="Book Antiqua"/>
              </a:rPr>
              <a:t>130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919" y="4634547"/>
            <a:ext cx="5758815" cy="3528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0220" lvl="1" indent="-343535" algn="just">
              <a:lnSpc>
                <a:spcPct val="100000"/>
              </a:lnSpc>
              <a:spcBef>
                <a:spcPts val="95"/>
              </a:spcBef>
              <a:buFont typeface="Cambria"/>
              <a:buAutoNum type="arabicPeriod" startAt="31"/>
              <a:tabLst>
                <a:tab pos="490855" algn="l"/>
              </a:tabLst>
            </a:pPr>
            <a:r>
              <a:rPr sz="1200" spc="65" dirty="0">
                <a:latin typeface="Times New Roman"/>
                <a:cs typeface="Times New Roman"/>
              </a:rPr>
              <a:t>Да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се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намери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уравнението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ъглополовящата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вътрешния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ъгъл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върха</a:t>
            </a:r>
            <a:endParaRPr sz="1200">
              <a:latin typeface="Times New Roman"/>
              <a:cs typeface="Times New Roman"/>
            </a:endParaRPr>
          </a:p>
          <a:p>
            <a:pPr marL="101600">
              <a:lnSpc>
                <a:spcPts val="1390"/>
              </a:lnSpc>
              <a:spcBef>
                <a:spcPts val="10"/>
              </a:spcBef>
            </a:pP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ако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уравненията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страните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000" spc="40" dirty="0">
                <a:latin typeface="Lucida Sans Unicode"/>
                <a:cs typeface="Lucida Sans Unicode"/>
              </a:rPr>
              <a:t>△</a:t>
            </a:r>
            <a:r>
              <a:rPr sz="1200" b="0" i="1" spc="40" dirty="0">
                <a:latin typeface="Bookman Old Style"/>
                <a:cs typeface="Bookman Old Style"/>
              </a:rPr>
              <a:t>ABC</a:t>
            </a:r>
            <a:r>
              <a:rPr sz="1200" spc="4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77800">
              <a:lnSpc>
                <a:spcPts val="1390"/>
              </a:lnSpc>
              <a:tabLst>
                <a:tab pos="461009" algn="l"/>
                <a:tab pos="2114550" algn="l"/>
                <a:tab pos="3773804" algn="l"/>
              </a:tabLst>
            </a:pPr>
            <a:r>
              <a:rPr sz="1200" spc="-2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AB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4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BC</a:t>
            </a:r>
            <a:r>
              <a:rPr sz="1200" b="0" i="1" spc="7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4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AC</a:t>
            </a:r>
            <a:r>
              <a:rPr sz="1200" b="0" i="1" spc="6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1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L="177800">
              <a:lnSpc>
                <a:spcPct val="100000"/>
              </a:lnSpc>
              <a:spcBef>
                <a:spcPts val="565"/>
              </a:spcBef>
              <a:tabLst>
                <a:tab pos="461009" algn="l"/>
                <a:tab pos="2114550" algn="l"/>
                <a:tab pos="3773804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AB</a:t>
            </a:r>
            <a:r>
              <a:rPr sz="1200" b="0" i="1" spc="5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spc="-70" dirty="0">
                <a:latin typeface="Book Antiqua"/>
                <a:cs typeface="Book Antiqua"/>
              </a:rPr>
              <a:t>11</a:t>
            </a:r>
            <a:r>
              <a:rPr sz="1200" b="0" i="1" spc="-70" dirty="0">
                <a:latin typeface="Bookman Old Style"/>
                <a:cs typeface="Bookman Old Style"/>
              </a:rPr>
              <a:t>y</a:t>
            </a:r>
            <a:r>
              <a:rPr sz="1200" b="0" i="1" spc="-4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5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5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BC</a:t>
            </a:r>
            <a:r>
              <a:rPr sz="1200" b="0" i="1" spc="7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spc="-70" dirty="0">
                <a:latin typeface="Book Antiqua"/>
                <a:cs typeface="Book Antiqua"/>
              </a:rPr>
              <a:t>13</a:t>
            </a:r>
            <a:r>
              <a:rPr sz="1200" b="0" i="1" spc="-7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25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AC</a:t>
            </a:r>
            <a:r>
              <a:rPr sz="1200" b="0" i="1" spc="6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0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8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5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R="68580" algn="r">
              <a:lnSpc>
                <a:spcPct val="100000"/>
              </a:lnSpc>
              <a:spcBef>
                <a:spcPts val="1130"/>
              </a:spcBef>
              <a:tabLst>
                <a:tab pos="1816100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l</a:t>
            </a:r>
            <a:r>
              <a:rPr sz="1200" b="0" i="1" spc="2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5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7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3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5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l</a:t>
            </a:r>
            <a:r>
              <a:rPr sz="1200" b="0" i="1" spc="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7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20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L="101600" marR="68580" lvl="1" indent="77470" algn="just">
              <a:lnSpc>
                <a:spcPct val="100000"/>
              </a:lnSpc>
              <a:spcBef>
                <a:spcPts val="1475"/>
              </a:spcBef>
              <a:buFont typeface="Cambria"/>
              <a:buAutoNum type="arabicPeriod" startAt="32"/>
              <a:tabLst>
                <a:tab pos="551815" algn="l"/>
              </a:tabLst>
            </a:pPr>
            <a:r>
              <a:rPr sz="1200" dirty="0">
                <a:latin typeface="Times New Roman"/>
                <a:cs typeface="Times New Roman"/>
              </a:rPr>
              <a:t>Върху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правата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p</a:t>
            </a:r>
            <a:r>
              <a:rPr sz="1200" b="0" i="1" spc="26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3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2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2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spc="15" dirty="0">
                <a:latin typeface="Lucida Sans Unicode"/>
                <a:cs typeface="Lucida Sans Unicode"/>
              </a:rPr>
              <a:t> </a:t>
            </a:r>
            <a:r>
              <a:rPr sz="1200" spc="-30" dirty="0">
                <a:latin typeface="Book Antiqua"/>
                <a:cs typeface="Book Antiqua"/>
              </a:rPr>
              <a:t>3</a:t>
            </a:r>
            <a:r>
              <a:rPr sz="1200" b="0" i="1" spc="-30" dirty="0">
                <a:latin typeface="Bookman Old Style"/>
                <a:cs typeface="Bookman Old Style"/>
              </a:rPr>
              <a:t>y</a:t>
            </a:r>
            <a:r>
              <a:rPr sz="1200" b="0" i="1" spc="8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9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3</a:t>
            </a:r>
            <a:r>
              <a:rPr sz="1200" spc="32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3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0</a:t>
            </a:r>
            <a:r>
              <a:rPr sz="1200" spc="275" dirty="0">
                <a:latin typeface="Book Antiqua"/>
                <a:cs typeface="Book Antiqua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точки,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равноотдалечени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от </a:t>
            </a:r>
            <a:r>
              <a:rPr sz="1200" dirty="0">
                <a:latin typeface="Times New Roman"/>
                <a:cs typeface="Times New Roman"/>
              </a:rPr>
              <a:t>правите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1</a:t>
            </a:r>
            <a:r>
              <a:rPr sz="1200" spc="187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5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3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4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4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0</a:t>
            </a:r>
            <a:r>
              <a:rPr sz="1200" spc="95" dirty="0">
                <a:latin typeface="Book Antiqua"/>
                <a:cs typeface="Book Antiqua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aseline="-13888" dirty="0">
                <a:latin typeface="Trebuchet MS"/>
                <a:cs typeface="Trebuchet MS"/>
              </a:rPr>
              <a:t>2</a:t>
            </a:r>
            <a:r>
              <a:rPr sz="1200" spc="202" baseline="-13888" dirty="0">
                <a:latin typeface="Trebuchet MS"/>
                <a:cs typeface="Trebuchet MS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8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spc="-25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R="67945" algn="r">
              <a:lnSpc>
                <a:spcPct val="1000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b="0" i="1" spc="90" dirty="0">
                <a:latin typeface="Bookman Old Style"/>
                <a:cs typeface="Bookman Old Style"/>
              </a:rPr>
              <a:t>M</a:t>
            </a:r>
            <a:r>
              <a:rPr sz="1200" b="0" i="1" spc="-240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(6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5)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150" dirty="0">
                <a:latin typeface="Bookman Old Style"/>
                <a:cs typeface="Bookman Old Style"/>
              </a:rPr>
              <a:t>  </a:t>
            </a:r>
            <a:r>
              <a:rPr sz="1200" b="0" i="1" spc="65" dirty="0">
                <a:latin typeface="Bookman Old Style"/>
                <a:cs typeface="Bookman Old Style"/>
              </a:rPr>
              <a:t>N</a:t>
            </a:r>
            <a:r>
              <a:rPr sz="1200" b="0" i="1" spc="-23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(3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3)</a:t>
            </a:r>
            <a:endParaRPr sz="12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Book Antiqua"/>
              <a:cs typeface="Book Antiqua"/>
            </a:endParaRPr>
          </a:p>
          <a:p>
            <a:pPr marL="100965" marR="68580" lvl="1" indent="65405" algn="just">
              <a:lnSpc>
                <a:spcPct val="100000"/>
              </a:lnSpc>
              <a:buFont typeface="Cambria"/>
              <a:buAutoNum type="arabicPeriod" startAt="33"/>
              <a:tabLst>
                <a:tab pos="527050" algn="l"/>
              </a:tabLst>
            </a:pPr>
            <a:r>
              <a:rPr sz="1200" spc="20" dirty="0">
                <a:latin typeface="Times New Roman"/>
                <a:cs typeface="Times New Roman"/>
              </a:rPr>
              <a:t>През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точката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b="0" i="1" spc="-5" dirty="0">
                <a:latin typeface="Bookman Old Style"/>
                <a:cs typeface="Bookman Old Style"/>
              </a:rPr>
              <a:t>A</a:t>
            </a:r>
            <a:r>
              <a:rPr sz="1200" spc="-5" dirty="0">
                <a:latin typeface="Book Antiqua"/>
                <a:cs typeface="Book Antiqua"/>
              </a:rPr>
              <a:t>(</a:t>
            </a:r>
            <a:r>
              <a:rPr sz="1200" spc="-5" dirty="0">
                <a:latin typeface="Lucida Sans Unicode"/>
                <a:cs typeface="Lucida Sans Unicode"/>
              </a:rPr>
              <a:t>−</a:t>
            </a:r>
            <a:r>
              <a:rPr sz="1200" spc="-5" dirty="0">
                <a:latin typeface="Book Antiqua"/>
                <a:cs typeface="Book Antiqua"/>
              </a:rPr>
              <a:t>1</a:t>
            </a:r>
            <a:r>
              <a:rPr sz="1200" b="0" i="1" spc="-5" dirty="0">
                <a:latin typeface="Bookman Old Style"/>
                <a:cs typeface="Bookman Old Style"/>
              </a:rPr>
              <a:t>,</a:t>
            </a:r>
            <a:r>
              <a:rPr sz="1200" b="0" i="1" spc="-160" dirty="0">
                <a:latin typeface="Bookman Old Style"/>
                <a:cs typeface="Bookman Old Style"/>
              </a:rPr>
              <a:t> </a:t>
            </a:r>
            <a:r>
              <a:rPr sz="1200" spc="15" dirty="0">
                <a:latin typeface="Book Antiqua"/>
                <a:cs typeface="Book Antiqua"/>
              </a:rPr>
              <a:t>1)</a:t>
            </a:r>
            <a:r>
              <a:rPr sz="1200" spc="145" dirty="0">
                <a:latin typeface="Book Antiqua"/>
                <a:cs typeface="Book Antiqua"/>
              </a:rPr>
              <a:t> </a:t>
            </a:r>
            <a:r>
              <a:rPr sz="1200" spc="35" dirty="0">
                <a:latin typeface="Times New Roman"/>
                <a:cs typeface="Times New Roman"/>
              </a:rPr>
              <a:t>да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се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прекара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права,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40" dirty="0">
                <a:latin typeface="Times New Roman"/>
                <a:cs typeface="Times New Roman"/>
              </a:rPr>
              <a:t>за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която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средата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отсечката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от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нея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35" dirty="0">
                <a:latin typeface="Times New Roman"/>
                <a:cs typeface="Times New Roman"/>
              </a:rPr>
              <a:t>между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правите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b="0" i="1" spc="-60" dirty="0">
                <a:latin typeface="Bookman Old Style"/>
                <a:cs typeface="Bookman Old Style"/>
              </a:rPr>
              <a:t>g</a:t>
            </a:r>
            <a:r>
              <a:rPr sz="1200" spc="-89" baseline="-13888" dirty="0">
                <a:latin typeface="Trebuchet MS"/>
                <a:cs typeface="Trebuchet MS"/>
              </a:rPr>
              <a:t>1</a:t>
            </a:r>
            <a:r>
              <a:rPr sz="1200" spc="202" baseline="-13888" dirty="0">
                <a:latin typeface="Trebuchet MS"/>
                <a:cs typeface="Trebuchet MS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b="0" i="1" spc="10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spc="-85" dirty="0">
                <a:latin typeface="Book Antiqua"/>
                <a:cs typeface="Book Antiqua"/>
              </a:rPr>
              <a:t>2</a:t>
            </a:r>
            <a:r>
              <a:rPr sz="1200" b="0" i="1" spc="-85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1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0</a:t>
            </a:r>
            <a:r>
              <a:rPr sz="1200" spc="95" dirty="0">
                <a:latin typeface="Book Antiqua"/>
                <a:cs typeface="Book Antiqua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и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b="0" i="1" spc="-60" dirty="0">
                <a:latin typeface="Bookman Old Style"/>
                <a:cs typeface="Bookman Old Style"/>
              </a:rPr>
              <a:t>g</a:t>
            </a:r>
            <a:r>
              <a:rPr sz="1200" spc="-89" baseline="-13888" dirty="0">
                <a:latin typeface="Trebuchet MS"/>
                <a:cs typeface="Trebuchet MS"/>
              </a:rPr>
              <a:t>2</a:t>
            </a:r>
            <a:r>
              <a:rPr sz="1200" spc="202" baseline="-13888" dirty="0">
                <a:latin typeface="Trebuchet MS"/>
                <a:cs typeface="Trebuchet MS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b="0" i="1" spc="10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spc="-85" dirty="0">
                <a:latin typeface="Book Antiqua"/>
                <a:cs typeface="Book Antiqua"/>
              </a:rPr>
              <a:t>2</a:t>
            </a:r>
            <a:r>
              <a:rPr sz="1200" b="0" i="1" spc="-85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3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0</a:t>
            </a:r>
            <a:r>
              <a:rPr sz="1200" spc="85" dirty="0">
                <a:latin typeface="Book Antiqua"/>
                <a:cs typeface="Book Antiqua"/>
              </a:rPr>
              <a:t> </a:t>
            </a:r>
            <a:r>
              <a:rPr sz="1200" spc="35" dirty="0">
                <a:latin typeface="Times New Roman"/>
                <a:cs typeface="Times New Roman"/>
              </a:rPr>
              <a:t>да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40" dirty="0">
                <a:latin typeface="Times New Roman"/>
                <a:cs typeface="Times New Roman"/>
              </a:rPr>
              <a:t>лежи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правата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b="0" i="1" spc="-60" dirty="0">
                <a:latin typeface="Bookman Old Style"/>
                <a:cs typeface="Bookman Old Style"/>
              </a:rPr>
              <a:t>g</a:t>
            </a:r>
            <a:r>
              <a:rPr sz="1200" spc="-89" baseline="-13888" dirty="0">
                <a:latin typeface="Trebuchet MS"/>
                <a:cs typeface="Trebuchet MS"/>
              </a:rPr>
              <a:t>3</a:t>
            </a:r>
            <a:r>
              <a:rPr sz="1200" spc="202" baseline="-13888" dirty="0">
                <a:latin typeface="Trebuchet MS"/>
                <a:cs typeface="Trebuchet MS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 </a:t>
            </a:r>
            <a:r>
              <a:rPr sz="1200" b="0" i="1" spc="10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spc="-85" dirty="0">
                <a:latin typeface="Book Antiqua"/>
                <a:cs typeface="Book Antiqua"/>
              </a:rPr>
              <a:t>2</a:t>
            </a:r>
            <a:r>
              <a:rPr sz="1200" b="0" i="1" spc="-85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125" dirty="0">
                <a:latin typeface="Lucida Sans Unicode"/>
                <a:cs typeface="Lucida Sans Unicode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6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0</a:t>
            </a:r>
            <a:r>
              <a:rPr sz="1200" spc="95" dirty="0">
                <a:latin typeface="Book Antiqua"/>
                <a:cs typeface="Book Antiqua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R="68580" algn="r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5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3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L="521970" lvl="1" indent="-358775">
              <a:lnSpc>
                <a:spcPct val="100000"/>
              </a:lnSpc>
              <a:spcBef>
                <a:spcPts val="1465"/>
              </a:spcBef>
              <a:buFont typeface="Cambria"/>
              <a:buAutoNum type="arabicPeriod" startAt="34"/>
              <a:tabLst>
                <a:tab pos="522605" algn="l"/>
              </a:tabLst>
            </a:pP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координатите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връх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уравненията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две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височини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Lucida Sans Unicode"/>
                <a:cs typeface="Lucida Sans Unicode"/>
              </a:rPr>
              <a:t>△</a:t>
            </a:r>
            <a:r>
              <a:rPr sz="1200" b="0" i="1" spc="-10" dirty="0">
                <a:latin typeface="Bookman Old Style"/>
                <a:cs typeface="Bookman Old Style"/>
              </a:rPr>
              <a:t>ABC.</a:t>
            </a:r>
            <a:endParaRPr sz="1200">
              <a:latin typeface="Bookman Old Style"/>
              <a:cs typeface="Bookman Old Style"/>
            </a:endParaRPr>
          </a:p>
          <a:p>
            <a:pPr marL="177165" marR="1336675" indent="-76200">
              <a:lnSpc>
                <a:spcPts val="1330"/>
              </a:lnSpc>
              <a:spcBef>
                <a:spcPts val="150"/>
              </a:spcBef>
              <a:tabLst>
                <a:tab pos="1078230" algn="l"/>
                <a:tab pos="2672080" algn="l"/>
              </a:tabLst>
            </a:pP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координатите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другите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два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върха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триъгълника.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1)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i="1" baseline="-13888" dirty="0">
                <a:latin typeface="Book Antiqua"/>
                <a:cs typeface="Book Antiqua"/>
              </a:rPr>
              <a:t>A</a:t>
            </a:r>
            <a:r>
              <a:rPr sz="1200" i="1" spc="247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4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i="1" baseline="-13888" dirty="0">
                <a:latin typeface="Book Antiqua"/>
                <a:cs typeface="Book Antiqua"/>
              </a:rPr>
              <a:t>C</a:t>
            </a:r>
            <a:r>
              <a:rPr sz="1200" i="1" spc="359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8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1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73285" y="8139748"/>
            <a:ext cx="30765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631950" algn="l"/>
              </a:tabLst>
            </a:pPr>
            <a:r>
              <a:rPr sz="1200" b="0" i="1" dirty="0">
                <a:latin typeface="Bookman Old Style"/>
                <a:cs typeface="Bookman Old Style"/>
              </a:rPr>
              <a:t>h</a:t>
            </a:r>
            <a:r>
              <a:rPr sz="1200" i="1" baseline="-13888" dirty="0">
                <a:latin typeface="Book Antiqua"/>
                <a:cs typeface="Book Antiqua"/>
              </a:rPr>
              <a:t>A</a:t>
            </a:r>
            <a:r>
              <a:rPr sz="1200" i="1" spc="254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5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4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7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i="1" baseline="-13888" dirty="0">
                <a:latin typeface="Book Antiqua"/>
                <a:cs typeface="Book Antiqua"/>
              </a:rPr>
              <a:t>B</a:t>
            </a:r>
            <a:r>
              <a:rPr sz="1200" i="1" spc="337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5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5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23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7998" y="8139748"/>
            <a:ext cx="775970" cy="575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(3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7)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в)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10)</a:t>
            </a:r>
            <a:r>
              <a:rPr sz="1200" spc="-20" dirty="0">
                <a:latin typeface="Times New Roman"/>
                <a:cs typeface="Times New Roman"/>
              </a:rPr>
              <a:t>,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г)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4)</a:t>
            </a:r>
            <a:r>
              <a:rPr sz="1200" spc="-25" dirty="0">
                <a:latin typeface="Times New Roman"/>
                <a:cs typeface="Times New Roman"/>
              </a:rPr>
              <a:t>,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47884" y="8322627"/>
            <a:ext cx="3037205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5"/>
              </a:spcBef>
              <a:tabLst>
                <a:tab pos="1657350" algn="l"/>
              </a:tabLst>
            </a:pPr>
            <a:r>
              <a:rPr sz="1200" b="0" i="1" dirty="0">
                <a:latin typeface="Bookman Old Style"/>
                <a:cs typeface="Bookman Old Style"/>
              </a:rPr>
              <a:t>h</a:t>
            </a:r>
            <a:r>
              <a:rPr sz="1200" i="1" baseline="-13888" dirty="0">
                <a:latin typeface="Book Antiqua"/>
                <a:cs typeface="Book Antiqua"/>
              </a:rPr>
              <a:t>A</a:t>
            </a:r>
            <a:r>
              <a:rPr sz="1200" i="1" spc="247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5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22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spc="-25" dirty="0">
                <a:latin typeface="Times New Roman"/>
                <a:cs typeface="Times New Roman"/>
              </a:rPr>
              <a:t>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h</a:t>
            </a:r>
            <a:r>
              <a:rPr sz="1200" i="1" baseline="-13888" dirty="0">
                <a:latin typeface="Book Antiqua"/>
                <a:cs typeface="Book Antiqua"/>
              </a:rPr>
              <a:t>C</a:t>
            </a:r>
            <a:r>
              <a:rPr sz="1200" i="1" spc="359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5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14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L="63500">
              <a:lnSpc>
                <a:spcPct val="100000"/>
              </a:lnSpc>
              <a:spcBef>
                <a:spcPts val="10"/>
              </a:spcBef>
              <a:tabLst>
                <a:tab pos="1657350" algn="l"/>
              </a:tabLst>
            </a:pPr>
            <a:r>
              <a:rPr sz="1200" b="0" i="1" dirty="0">
                <a:latin typeface="Bookman Old Style"/>
                <a:cs typeface="Bookman Old Style"/>
              </a:rPr>
              <a:t>h</a:t>
            </a:r>
            <a:r>
              <a:rPr sz="1200" i="1" baseline="-13888" dirty="0">
                <a:latin typeface="Book Antiqua"/>
                <a:cs typeface="Book Antiqua"/>
              </a:rPr>
              <a:t>A</a:t>
            </a:r>
            <a:r>
              <a:rPr sz="1200" i="1" spc="254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7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spc="-25" dirty="0">
                <a:latin typeface="Times New Roman"/>
                <a:cs typeface="Times New Roman"/>
              </a:rPr>
              <a:t>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h</a:t>
            </a:r>
            <a:r>
              <a:rPr sz="1200" i="1" baseline="-13888" dirty="0">
                <a:latin typeface="Book Antiqua"/>
                <a:cs typeface="Book Antiqua"/>
              </a:rPr>
              <a:t>B</a:t>
            </a:r>
            <a:r>
              <a:rPr sz="1200" i="1" spc="345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5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7</a:t>
            </a:r>
            <a:r>
              <a:rPr sz="1200" spc="5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83381" y="8760015"/>
            <a:ext cx="1176655" cy="758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2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(4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2)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>
              <a:latin typeface="Bookman Old Style"/>
              <a:cs typeface="Bookman Old Style"/>
            </a:endParaRPr>
          </a:p>
          <a:p>
            <a:pPr marL="422275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2)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>
              <a:latin typeface="Bookman Old Style"/>
              <a:cs typeface="Bookman Old Style"/>
            </a:endParaRPr>
          </a:p>
          <a:p>
            <a:pPr marL="42227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в)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25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11)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endParaRPr sz="1200">
              <a:latin typeface="Bookman Old Style"/>
              <a:cs typeface="Bookman Old Style"/>
            </a:endParaRPr>
          </a:p>
          <a:p>
            <a:pPr marL="42227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г)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5)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84875" y="8760015"/>
            <a:ext cx="478155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Book Antiqua"/>
                <a:cs typeface="Book Antiqua"/>
              </a:rPr>
              <a:t>1)</a:t>
            </a:r>
            <a:endParaRPr sz="12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(4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3)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84883" y="9127299"/>
            <a:ext cx="6673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12)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4888" y="9310179"/>
            <a:ext cx="4781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5)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8042" y="9564687"/>
            <a:ext cx="55295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Cambria"/>
                <a:cs typeface="Cambria"/>
              </a:rPr>
              <a:t>1.35</a:t>
            </a:r>
            <a:r>
              <a:rPr sz="1200" b="1" spc="315" dirty="0">
                <a:latin typeface="Cambria"/>
                <a:cs typeface="Cambria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уравненията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страна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две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височини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△</a:t>
            </a:r>
            <a:r>
              <a:rPr sz="1200" b="0" i="1" dirty="0">
                <a:latin typeface="Bookman Old Style"/>
                <a:cs typeface="Bookman Old Style"/>
              </a:rPr>
              <a:t>ABC.</a:t>
            </a:r>
            <a:r>
              <a:rPr sz="1200" b="0" i="1" spc="225" dirty="0">
                <a:latin typeface="Bookman Old Style"/>
                <a:cs typeface="Bookman Old Style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Намерете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1856" y="9747567"/>
            <a:ext cx="30626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координатите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върховете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триъгълника.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2640" y="9844417"/>
            <a:ext cx="4870450" cy="5378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75"/>
              </a:spcBef>
              <a:tabLst>
                <a:tab pos="321310" algn="l"/>
                <a:tab pos="1978025" algn="l"/>
                <a:tab pos="3576320" algn="l"/>
              </a:tabLst>
            </a:pPr>
            <a:r>
              <a:rPr sz="1200" spc="-2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AB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21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i="1" baseline="-13888" dirty="0">
                <a:latin typeface="Book Antiqua"/>
                <a:cs typeface="Book Antiqua"/>
              </a:rPr>
              <a:t>A</a:t>
            </a:r>
            <a:r>
              <a:rPr sz="1200" i="1" spc="240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17</a:t>
            </a:r>
            <a:r>
              <a:rPr sz="1200" spc="2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i="1" baseline="-13888" dirty="0">
                <a:latin typeface="Book Antiqua"/>
                <a:cs typeface="Book Antiqua"/>
              </a:rPr>
              <a:t>B</a:t>
            </a:r>
            <a:r>
              <a:rPr sz="1200" i="1" spc="352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8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13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575"/>
              </a:spcBef>
              <a:tabLst>
                <a:tab pos="321310" algn="l"/>
                <a:tab pos="1978025" algn="l"/>
                <a:tab pos="3576320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BC</a:t>
            </a:r>
            <a:r>
              <a:rPr sz="1200" b="0" i="1" spc="6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12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35" dirty="0">
                <a:latin typeface="Book Antiqua"/>
                <a:cs typeface="Book Antiqua"/>
              </a:rPr>
              <a:t>0</a:t>
            </a:r>
            <a:r>
              <a:rPr sz="1200" b="0" i="1" spc="-3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i="1" baseline="-13888" dirty="0">
                <a:latin typeface="Book Antiqua"/>
                <a:cs typeface="Book Antiqua"/>
              </a:rPr>
              <a:t>B</a:t>
            </a:r>
            <a:r>
              <a:rPr sz="1200" i="1" spc="337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5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12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i="1" baseline="-13888" dirty="0">
                <a:latin typeface="Book Antiqua"/>
                <a:cs typeface="Book Antiqua"/>
              </a:rPr>
              <a:t>C</a:t>
            </a:r>
            <a:r>
              <a:rPr sz="1200" i="1" spc="359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8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5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3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1548" y="722439"/>
            <a:ext cx="5607050" cy="36986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2581910">
              <a:lnSpc>
                <a:spcPct val="100000"/>
              </a:lnSpc>
              <a:tabLst>
                <a:tab pos="3924300" algn="l"/>
                <a:tab pos="4875530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2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9)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25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12)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C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10)</a:t>
            </a:r>
            <a:endParaRPr sz="1200" dirty="0">
              <a:latin typeface="Book Antiqua"/>
              <a:cs typeface="Book Antiqua"/>
            </a:endParaRPr>
          </a:p>
          <a:p>
            <a:pPr marL="2991485">
              <a:lnSpc>
                <a:spcPct val="100000"/>
              </a:lnSpc>
              <a:spcBef>
                <a:spcPts val="15"/>
              </a:spcBef>
              <a:tabLst>
                <a:tab pos="3924300" algn="l"/>
                <a:tab pos="4566285" algn="l"/>
              </a:tabLst>
            </a:pP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b="0" i="1" spc="-10" dirty="0">
                <a:latin typeface="Bookman Old Style"/>
                <a:cs typeface="Bookman Old Style"/>
              </a:rPr>
              <a:t>A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1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7)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6)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C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5)</a:t>
            </a:r>
            <a:endParaRPr sz="1200" dirty="0">
              <a:latin typeface="Book Antiqua"/>
              <a:cs typeface="Book Antiqua"/>
            </a:endParaRPr>
          </a:p>
          <a:p>
            <a:pPr marL="88265" marR="6350" lvl="1" indent="-32384">
              <a:lnSpc>
                <a:spcPts val="1340"/>
              </a:lnSpc>
              <a:spcBef>
                <a:spcPts val="1245"/>
              </a:spcBef>
              <a:buFont typeface="Cambria"/>
              <a:buAutoNum type="arabicPeriod" startAt="36"/>
              <a:tabLst>
                <a:tab pos="372110" algn="l"/>
                <a:tab pos="398780" algn="l"/>
                <a:tab pos="1135380" algn="l"/>
                <a:tab pos="1897380" algn="l"/>
              </a:tabLst>
            </a:pP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два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върха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△</a:t>
            </a:r>
            <a:r>
              <a:rPr sz="1200" b="0" i="1" dirty="0">
                <a:latin typeface="Bookman Old Style"/>
                <a:cs typeface="Bookman Old Style"/>
              </a:rPr>
              <a:t>ABC</a:t>
            </a:r>
            <a:r>
              <a:rPr sz="1200" b="0" i="1" spc="17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ортоцентърът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му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b="0" i="1" spc="60" dirty="0">
                <a:latin typeface="Bookman Old Style"/>
                <a:cs typeface="Bookman Old Style"/>
              </a:rPr>
              <a:t>H</a:t>
            </a:r>
            <a:r>
              <a:rPr sz="1200" spc="60" dirty="0">
                <a:latin typeface="Times New Roman"/>
                <a:cs typeface="Times New Roman"/>
              </a:rPr>
              <a:t>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третия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връх. </a:t>
            </a:r>
            <a:r>
              <a:rPr sz="1200" spc="-2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6)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4)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6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4)</a:t>
            </a:r>
            <a:endParaRPr sz="1200" dirty="0">
              <a:latin typeface="Book Antiqua"/>
              <a:cs typeface="Book Antiqua"/>
            </a:endParaRPr>
          </a:p>
          <a:p>
            <a:pPr marL="88265">
              <a:lnSpc>
                <a:spcPts val="1415"/>
              </a:lnSpc>
              <a:tabLst>
                <a:tab pos="372110" algn="l"/>
                <a:tab pos="1135380" algn="l"/>
                <a:tab pos="1897380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3)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C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6)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dirty="0">
                <a:latin typeface="Book Antiqua"/>
                <a:cs typeface="Book Antiqua"/>
              </a:rPr>
              <a:t>(6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6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3)</a:t>
            </a:r>
            <a:endParaRPr sz="1200" dirty="0">
              <a:latin typeface="Book Antiqua"/>
              <a:cs typeface="Book Antiqua"/>
            </a:endParaRPr>
          </a:p>
          <a:p>
            <a:pPr marL="3718560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7)</a:t>
            </a:r>
            <a:r>
              <a:rPr sz="1200" spc="130" dirty="0">
                <a:latin typeface="Book Antiqua"/>
                <a:cs typeface="Book Antiqua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1)</a:t>
            </a:r>
            <a:endParaRPr sz="1200" dirty="0">
              <a:latin typeface="Book Antiqua"/>
              <a:cs typeface="Book Antiqua"/>
            </a:endParaRPr>
          </a:p>
          <a:p>
            <a:pPr marL="12700" marR="5080" lvl="1" indent="53340">
              <a:lnSpc>
                <a:spcPct val="100000"/>
              </a:lnSpc>
              <a:spcBef>
                <a:spcPts val="1465"/>
              </a:spcBef>
              <a:buFont typeface="Cambria"/>
              <a:buAutoNum type="arabicPeriod" startAt="37"/>
              <a:tabLst>
                <a:tab pos="415290" algn="l"/>
              </a:tabLst>
            </a:pP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уравненията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две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от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страните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△</a:t>
            </a:r>
            <a:r>
              <a:rPr sz="1200" b="0" i="1" dirty="0">
                <a:latin typeface="Bookman Old Style"/>
                <a:cs typeface="Bookman Old Style"/>
              </a:rPr>
              <a:t>ABC</a:t>
            </a:r>
            <a:r>
              <a:rPr sz="1200" b="0" i="1" spc="21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ортоцентърът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му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b="0" i="1" spc="35" dirty="0">
                <a:latin typeface="Bookman Old Style"/>
                <a:cs typeface="Bookman Old Style"/>
              </a:rPr>
              <a:t>H</a:t>
            </a:r>
            <a:r>
              <a:rPr sz="1200" spc="35" dirty="0">
                <a:latin typeface="Times New Roman"/>
                <a:cs typeface="Times New Roman"/>
              </a:rPr>
              <a:t>. </a:t>
            </a: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координатите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върховете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триъгълника.</a:t>
            </a:r>
            <a:endParaRPr sz="1200" dirty="0">
              <a:latin typeface="Times New Roman"/>
              <a:cs typeface="Times New Roman"/>
            </a:endParaRPr>
          </a:p>
          <a:p>
            <a:pPr marL="88900">
              <a:lnSpc>
                <a:spcPts val="1345"/>
              </a:lnSpc>
              <a:tabLst>
                <a:tab pos="372110" algn="l"/>
                <a:tab pos="2028825" algn="l"/>
                <a:tab pos="3616325" algn="l"/>
              </a:tabLst>
            </a:pPr>
            <a:r>
              <a:rPr sz="1200" spc="-2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AB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8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3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30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BC</a:t>
            </a:r>
            <a:r>
              <a:rPr sz="1200" b="0" i="1" spc="6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3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10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dirty="0">
                <a:latin typeface="Book Antiqua"/>
                <a:cs typeface="Book Antiqua"/>
              </a:rPr>
              <a:t>(3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6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4)</a:t>
            </a:r>
            <a:endParaRPr sz="1200" dirty="0">
              <a:latin typeface="Book Antiqua"/>
              <a:cs typeface="Book Antiqua"/>
            </a:endParaRPr>
          </a:p>
          <a:p>
            <a:pPr marL="88265">
              <a:lnSpc>
                <a:spcPct val="100000"/>
              </a:lnSpc>
              <a:tabLst>
                <a:tab pos="372110" algn="l"/>
                <a:tab pos="2028825" algn="l"/>
                <a:tab pos="3616325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AB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3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40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BC</a:t>
            </a:r>
            <a:r>
              <a:rPr sz="1200" b="0" i="1" spc="7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8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26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6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4)</a:t>
            </a:r>
            <a:endParaRPr sz="1200" dirty="0">
              <a:latin typeface="Book Antiqua"/>
              <a:cs typeface="Book Antiqua"/>
            </a:endParaRPr>
          </a:p>
          <a:p>
            <a:pPr marL="2404745">
              <a:lnSpc>
                <a:spcPct val="100000"/>
              </a:lnSpc>
              <a:spcBef>
                <a:spcPts val="1320"/>
              </a:spcBef>
              <a:tabLst>
                <a:tab pos="3100070" algn="l"/>
                <a:tab pos="3805554" algn="l"/>
                <a:tab pos="4521835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204" dirty="0">
                <a:latin typeface="Times New Roman"/>
                <a:cs typeface="Times New Roman"/>
              </a:rPr>
              <a:t>  </a:t>
            </a:r>
            <a:r>
              <a:rPr sz="1200" spc="-3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(3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11)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10)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C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10)</a:t>
            </a:r>
            <a:endParaRPr sz="1200" dirty="0">
              <a:latin typeface="Book Antiqua"/>
              <a:cs typeface="Book Antiqua"/>
            </a:endParaRPr>
          </a:p>
          <a:p>
            <a:pPr marL="2814955">
              <a:lnSpc>
                <a:spcPct val="100000"/>
              </a:lnSpc>
              <a:tabLst>
                <a:tab pos="3100070" algn="l"/>
                <a:tab pos="4041775" algn="l"/>
                <a:tab pos="4875530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spc="-10" dirty="0">
                <a:latin typeface="Bookman Old Style"/>
                <a:cs typeface="Bookman Old Style"/>
              </a:rPr>
              <a:t>A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1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2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14)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12)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C</a:t>
            </a:r>
            <a:r>
              <a:rPr sz="1200" dirty="0">
                <a:latin typeface="Book Antiqua"/>
                <a:cs typeface="Book Antiqua"/>
              </a:rPr>
              <a:t>(0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13)</a:t>
            </a:r>
            <a:endParaRPr sz="1200" dirty="0">
              <a:latin typeface="Book Antiqua"/>
              <a:cs typeface="Book Antiqua"/>
            </a:endParaRPr>
          </a:p>
          <a:p>
            <a:pPr marL="12700" marR="5715" lvl="1" indent="45085">
              <a:lnSpc>
                <a:spcPct val="100800"/>
              </a:lnSpc>
              <a:spcBef>
                <a:spcPts val="1105"/>
              </a:spcBef>
              <a:buFont typeface="Cambria"/>
              <a:buAutoNum type="arabicPeriod" startAt="38"/>
              <a:tabLst>
                <a:tab pos="403225" algn="l"/>
              </a:tabLst>
            </a:pP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уравненията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две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страни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медиана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△</a:t>
            </a:r>
            <a:r>
              <a:rPr sz="1200" b="0" i="1" dirty="0">
                <a:latin typeface="Bookman Old Style"/>
                <a:cs typeface="Bookman Old Style"/>
              </a:rPr>
              <a:t>ABC.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урав- </a:t>
            </a:r>
            <a:r>
              <a:rPr sz="1200" dirty="0">
                <a:latin typeface="Times New Roman"/>
                <a:cs typeface="Times New Roman"/>
              </a:rPr>
              <a:t>нението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третата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страна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триъгълника.</a:t>
            </a:r>
            <a:endParaRPr sz="1200" dirty="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38707" y="4617996"/>
          <a:ext cx="5491479" cy="902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2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5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  <a:tabLst>
                          <a:tab pos="314960" algn="l"/>
                        </a:tabLst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а)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b="0" i="1" dirty="0">
                          <a:latin typeface="Bookman Old Style"/>
                          <a:cs typeface="Bookman Old Style"/>
                        </a:rPr>
                        <a:t>AB</a:t>
                      </a:r>
                      <a:r>
                        <a:rPr sz="1200" b="0" i="1" spc="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:</a:t>
                      </a:r>
                      <a:r>
                        <a:rPr sz="1200" spc="4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10" dirty="0">
                          <a:latin typeface="Book Antiqua"/>
                          <a:cs typeface="Book Antiqua"/>
                        </a:rPr>
                        <a:t>3</a:t>
                      </a:r>
                      <a:r>
                        <a:rPr sz="1200" b="0" i="1" spc="-1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9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2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b="0" i="1" spc="-160" dirty="0"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sz="1200" b="0" i="1" spc="-3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200" spc="-2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6</a:t>
                      </a:r>
                      <a:r>
                        <a:rPr sz="1200" spc="3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200" spc="4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25" dirty="0">
                          <a:latin typeface="Book Antiqua"/>
                          <a:cs typeface="Book Antiqua"/>
                        </a:rPr>
                        <a:t>0</a:t>
                      </a:r>
                      <a:r>
                        <a:rPr sz="1200" b="0" i="1" spc="-25" dirty="0">
                          <a:latin typeface="Bookman Old Style"/>
                          <a:cs typeface="Bookman Old Style"/>
                        </a:rPr>
                        <a:t>,</a:t>
                      </a:r>
                      <a:endParaRPr sz="12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1140"/>
                        </a:lnSpc>
                      </a:pPr>
                      <a:r>
                        <a:rPr sz="1200" b="0" i="1" dirty="0">
                          <a:latin typeface="Bookman Old Style"/>
                          <a:cs typeface="Bookman Old Style"/>
                        </a:rPr>
                        <a:t>AC</a:t>
                      </a:r>
                      <a:r>
                        <a:rPr sz="1200" b="0" i="1" spc="6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:</a:t>
                      </a:r>
                      <a:r>
                        <a:rPr sz="1200" spc="3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10" dirty="0">
                          <a:latin typeface="Book Antiqua"/>
                          <a:cs typeface="Book Antiqua"/>
                        </a:rPr>
                        <a:t>5</a:t>
                      </a:r>
                      <a:r>
                        <a:rPr sz="1200" b="0" i="1" spc="-1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10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2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90" dirty="0">
                          <a:latin typeface="Book Antiqua"/>
                          <a:cs typeface="Book Antiqua"/>
                        </a:rPr>
                        <a:t>9</a:t>
                      </a:r>
                      <a:r>
                        <a:rPr sz="1200" b="0" i="1" spc="-90" dirty="0"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sz="1200" b="0" i="1" spc="-5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200" spc="-3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10</a:t>
                      </a:r>
                      <a:r>
                        <a:rPr sz="1200" spc="2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200" spc="4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50" dirty="0">
                          <a:latin typeface="Book Antiqua"/>
                          <a:cs typeface="Book Antiqua"/>
                        </a:rPr>
                        <a:t>0</a:t>
                      </a:r>
                      <a:endParaRPr sz="12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40"/>
                        </a:lnSpc>
                      </a:pPr>
                      <a:r>
                        <a:rPr sz="1200" b="0" i="1" dirty="0">
                          <a:latin typeface="Bookman Old Style"/>
                          <a:cs typeface="Bookman Old Style"/>
                        </a:rPr>
                        <a:t>m</a:t>
                      </a:r>
                      <a:r>
                        <a:rPr sz="1200" i="1" baseline="-13888" dirty="0">
                          <a:latin typeface="Book Antiqua"/>
                          <a:cs typeface="Book Antiqua"/>
                        </a:rPr>
                        <a:t>B</a:t>
                      </a:r>
                      <a:r>
                        <a:rPr sz="1200" i="1" spc="367" baseline="-13888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:</a:t>
                      </a:r>
                      <a:r>
                        <a:rPr sz="1200" spc="5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b="0" i="1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9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-3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200" spc="-9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200" spc="-90" dirty="0">
                          <a:latin typeface="Book Antiqua"/>
                          <a:cs typeface="Book Antiqua"/>
                        </a:rPr>
                        <a:t>7</a:t>
                      </a:r>
                      <a:r>
                        <a:rPr sz="1200" b="0" i="1" spc="-90" dirty="0"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sz="1200" b="0" i="1" spc="-4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-3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200" spc="-9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64</a:t>
                      </a:r>
                      <a:r>
                        <a:rPr sz="1200" spc="4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200" spc="4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50" dirty="0">
                          <a:latin typeface="Book Antiqua"/>
                          <a:cs typeface="Book Antiqua"/>
                        </a:rPr>
                        <a:t>0</a:t>
                      </a:r>
                      <a:endParaRPr sz="12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31750">
                        <a:lnSpc>
                          <a:spcPts val="1115"/>
                        </a:lnSpc>
                        <a:tabLst>
                          <a:tab pos="314960" algn="l"/>
                        </a:tabLst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б)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b="0" i="1" dirty="0">
                          <a:latin typeface="Bookman Old Style"/>
                          <a:cs typeface="Bookman Old Style"/>
                        </a:rPr>
                        <a:t>AC</a:t>
                      </a:r>
                      <a:r>
                        <a:rPr sz="1200" b="0" i="1" spc="6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:</a:t>
                      </a:r>
                      <a:r>
                        <a:rPr sz="1200" spc="4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b="0" i="1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10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-3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200" spc="-1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200" b="0" i="1" spc="-160" dirty="0"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sz="1200" b="0" i="1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-3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200" spc="-11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7</a:t>
                      </a:r>
                      <a:r>
                        <a:rPr sz="1200" spc="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200" spc="4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25" dirty="0">
                          <a:latin typeface="Book Antiqua"/>
                          <a:cs typeface="Book Antiqua"/>
                        </a:rPr>
                        <a:t>0</a:t>
                      </a:r>
                      <a:r>
                        <a:rPr sz="1200" b="0" i="1" spc="-25" dirty="0">
                          <a:latin typeface="Bookman Old Style"/>
                          <a:cs typeface="Bookman Old Style"/>
                        </a:rPr>
                        <a:t>,</a:t>
                      </a:r>
                      <a:endParaRPr sz="12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1115"/>
                        </a:lnSpc>
                      </a:pPr>
                      <a:r>
                        <a:rPr sz="1200" b="0" i="1" dirty="0">
                          <a:latin typeface="Bookman Old Style"/>
                          <a:cs typeface="Bookman Old Style"/>
                        </a:rPr>
                        <a:t>BC</a:t>
                      </a:r>
                      <a:r>
                        <a:rPr sz="1200" b="0" i="1" spc="7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:</a:t>
                      </a:r>
                      <a:r>
                        <a:rPr sz="1200" spc="4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10" dirty="0">
                          <a:latin typeface="Book Antiqua"/>
                          <a:cs typeface="Book Antiqua"/>
                        </a:rPr>
                        <a:t>14</a:t>
                      </a:r>
                      <a:r>
                        <a:rPr sz="1200" b="0" i="1" spc="-1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9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2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70" dirty="0">
                          <a:latin typeface="Book Antiqua"/>
                          <a:cs typeface="Book Antiqua"/>
                        </a:rPr>
                        <a:t>25</a:t>
                      </a:r>
                      <a:r>
                        <a:rPr sz="1200" b="0" i="1" spc="-70" dirty="0"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sz="1200" b="0" i="1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-3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200" spc="-114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20</a:t>
                      </a:r>
                      <a:r>
                        <a:rPr sz="1200" spc="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200" spc="4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50" dirty="0">
                          <a:latin typeface="Book Antiqua"/>
                          <a:cs typeface="Book Antiqua"/>
                        </a:rPr>
                        <a:t>0</a:t>
                      </a:r>
                      <a:endParaRPr sz="12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15"/>
                        </a:lnSpc>
                      </a:pPr>
                      <a:r>
                        <a:rPr sz="1200" b="0" i="1" dirty="0">
                          <a:latin typeface="Bookman Old Style"/>
                          <a:cs typeface="Bookman Old Style"/>
                        </a:rPr>
                        <a:t>m</a:t>
                      </a:r>
                      <a:r>
                        <a:rPr sz="1200" i="1" baseline="-13888" dirty="0">
                          <a:latin typeface="Book Antiqua"/>
                          <a:cs typeface="Book Antiqua"/>
                        </a:rPr>
                        <a:t>A</a:t>
                      </a:r>
                      <a:r>
                        <a:rPr sz="1200" i="1" spc="277" baseline="-13888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:</a:t>
                      </a:r>
                      <a:r>
                        <a:rPr sz="1200" spc="4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10" dirty="0">
                          <a:latin typeface="Book Antiqua"/>
                          <a:cs typeface="Book Antiqua"/>
                        </a:rPr>
                        <a:t>6</a:t>
                      </a:r>
                      <a:r>
                        <a:rPr sz="1200" b="0" i="1" spc="-1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9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2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90" dirty="0">
                          <a:latin typeface="Book Antiqua"/>
                          <a:cs typeface="Book Antiqua"/>
                        </a:rPr>
                        <a:t>7</a:t>
                      </a:r>
                      <a:r>
                        <a:rPr sz="1200" b="0" i="1" spc="-90" dirty="0"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sz="1200" b="0" i="1" spc="-5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2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10</a:t>
                      </a:r>
                      <a:r>
                        <a:rPr sz="1200" spc="2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200" spc="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50" dirty="0">
                          <a:latin typeface="Book Antiqua"/>
                          <a:cs typeface="Book Antiqua"/>
                        </a:rPr>
                        <a:t>0</a:t>
                      </a:r>
                      <a:endParaRPr sz="12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35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Отг.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350"/>
                        </a:lnSpc>
                        <a:tabLst>
                          <a:tab pos="345440" algn="l"/>
                        </a:tabLst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а)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b="0" i="1" dirty="0">
                          <a:latin typeface="Bookman Old Style"/>
                          <a:cs typeface="Bookman Old Style"/>
                        </a:rPr>
                        <a:t>BC</a:t>
                      </a:r>
                      <a:r>
                        <a:rPr sz="1200" b="0" i="1" spc="6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:</a:t>
                      </a:r>
                      <a:r>
                        <a:rPr sz="1200" spc="4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b="0" i="1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8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2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90" dirty="0">
                          <a:latin typeface="Book Antiqua"/>
                          <a:cs typeface="Book Antiqua"/>
                        </a:rPr>
                        <a:t>4</a:t>
                      </a:r>
                      <a:r>
                        <a:rPr sz="1200" b="0" i="1" spc="-90" dirty="0"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sz="1200" b="0" i="1" spc="-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2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35</a:t>
                      </a:r>
                      <a:r>
                        <a:rPr sz="1200" spc="3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200" spc="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50" dirty="0">
                          <a:latin typeface="Book Antiqua"/>
                          <a:cs typeface="Book Antiqua"/>
                        </a:rPr>
                        <a:t>0</a:t>
                      </a:r>
                      <a:endParaRPr sz="1200">
                        <a:latin typeface="Book Antiqua"/>
                        <a:cs typeface="Book Antiqua"/>
                      </a:endParaRPr>
                    </a:p>
                    <a:p>
                      <a:pPr marL="62230">
                        <a:lnSpc>
                          <a:spcPts val="1400"/>
                        </a:lnSpc>
                        <a:tabLst>
                          <a:tab pos="345440" algn="l"/>
                        </a:tabLst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б)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b="0" i="1" dirty="0">
                          <a:latin typeface="Bookman Old Style"/>
                          <a:cs typeface="Bookman Old Style"/>
                        </a:rPr>
                        <a:t>AB</a:t>
                      </a:r>
                      <a:r>
                        <a:rPr sz="1200" b="0" i="1" spc="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:</a:t>
                      </a:r>
                      <a:r>
                        <a:rPr sz="1200" spc="4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10" dirty="0">
                          <a:latin typeface="Book Antiqua"/>
                          <a:cs typeface="Book Antiqua"/>
                        </a:rPr>
                        <a:t>16</a:t>
                      </a:r>
                      <a:r>
                        <a:rPr sz="1200" b="0" i="1" spc="-10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9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2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70" dirty="0">
                          <a:latin typeface="Book Antiqua"/>
                          <a:cs typeface="Book Antiqua"/>
                        </a:rPr>
                        <a:t>23</a:t>
                      </a:r>
                      <a:r>
                        <a:rPr sz="1200" b="0" i="1" spc="-70" dirty="0">
                          <a:latin typeface="Bookman Old Style"/>
                          <a:cs typeface="Bookman Old Style"/>
                        </a:rPr>
                        <a:t>y</a:t>
                      </a:r>
                      <a:r>
                        <a:rPr sz="1200" b="0" i="1" spc="-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200" spc="-30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dirty="0">
                          <a:latin typeface="Book Antiqua"/>
                          <a:cs typeface="Book Antiqua"/>
                        </a:rPr>
                        <a:t>44</a:t>
                      </a:r>
                      <a:r>
                        <a:rPr sz="1200" spc="3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180" dirty="0">
                          <a:latin typeface="Book Antiqua"/>
                          <a:cs typeface="Book Antiqua"/>
                        </a:rPr>
                        <a:t>=</a:t>
                      </a:r>
                      <a:r>
                        <a:rPr sz="1200" spc="45" dirty="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200" spc="-50" dirty="0">
                          <a:latin typeface="Book Antiqua"/>
                          <a:cs typeface="Book Antiqua"/>
                        </a:rPr>
                        <a:t>0</a:t>
                      </a:r>
                      <a:endParaRPr sz="1200">
                        <a:latin typeface="Book Antiqua"/>
                        <a:cs typeface="Book Antiqu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43424" y="5571807"/>
            <a:ext cx="5681980" cy="1677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Cambria"/>
                <a:cs typeface="Cambria"/>
              </a:rPr>
              <a:t>1.39</a:t>
            </a:r>
            <a:r>
              <a:rPr sz="1200" b="1" spc="295" dirty="0">
                <a:latin typeface="Cambria"/>
                <a:cs typeface="Cambria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координатите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връх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уравненията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височина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медиана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в</a:t>
            </a:r>
            <a:endParaRPr sz="1200">
              <a:latin typeface="Times New Roman"/>
              <a:cs typeface="Times New Roman"/>
            </a:endParaRPr>
          </a:p>
          <a:p>
            <a:pPr marL="50800" marR="1493520">
              <a:lnSpc>
                <a:spcPts val="1450"/>
              </a:lnSpc>
              <a:spcBef>
                <a:spcPts val="40"/>
              </a:spcBef>
              <a:tabLst>
                <a:tab pos="870585" algn="l"/>
                <a:tab pos="2392680" algn="l"/>
              </a:tabLst>
            </a:pPr>
            <a:r>
              <a:rPr sz="1000" dirty="0">
                <a:latin typeface="Lucida Sans Unicode"/>
                <a:cs typeface="Lucida Sans Unicode"/>
              </a:rPr>
              <a:t>△</a:t>
            </a:r>
            <a:r>
              <a:rPr sz="1200" b="0" i="1" dirty="0">
                <a:latin typeface="Bookman Old Style"/>
                <a:cs typeface="Bookman Old Style"/>
              </a:rPr>
              <a:t>ABC.</a:t>
            </a:r>
            <a:r>
              <a:rPr sz="1200" b="0" i="1" spc="1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уравненията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страните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триъгълника.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5)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i="1" baseline="-13888" dirty="0">
                <a:latin typeface="Book Antiqua"/>
                <a:cs typeface="Book Antiqua"/>
              </a:rPr>
              <a:t>B</a:t>
            </a:r>
            <a:r>
              <a:rPr sz="1200" i="1" spc="337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50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8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5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3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46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m</a:t>
            </a:r>
            <a:r>
              <a:rPr sz="1200" i="1" baseline="-13888" dirty="0">
                <a:latin typeface="Book Antiqua"/>
                <a:cs typeface="Book Antiqua"/>
              </a:rPr>
              <a:t>B</a:t>
            </a:r>
            <a:r>
              <a:rPr sz="1200" i="1" spc="352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50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7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0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9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8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5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L="50800">
              <a:lnSpc>
                <a:spcPts val="1390"/>
              </a:lnSpc>
              <a:tabLst>
                <a:tab pos="982980" algn="l"/>
                <a:tab pos="2502535" algn="l"/>
              </a:tabLst>
            </a:pP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7)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h</a:t>
            </a:r>
            <a:r>
              <a:rPr sz="1200" i="1" baseline="-13888" dirty="0">
                <a:latin typeface="Book Antiqua"/>
                <a:cs typeface="Book Antiqua"/>
              </a:rPr>
              <a:t>B</a:t>
            </a:r>
            <a:r>
              <a:rPr sz="1200" i="1" spc="337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3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11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m</a:t>
            </a:r>
            <a:r>
              <a:rPr sz="1200" i="1" baseline="-13888" dirty="0">
                <a:latin typeface="Book Antiqua"/>
                <a:cs typeface="Book Antiqua"/>
              </a:rPr>
              <a:t>C</a:t>
            </a:r>
            <a:r>
              <a:rPr sz="1200" i="1" spc="367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7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L="3355975">
              <a:lnSpc>
                <a:spcPct val="100000"/>
              </a:lnSpc>
              <a:spcBef>
                <a:spcPts val="1465"/>
              </a:spcBef>
              <a:tabLst>
                <a:tab pos="4049395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204" dirty="0">
                <a:latin typeface="Times New Roman"/>
                <a:cs typeface="Times New Roman"/>
              </a:rPr>
              <a:t>  </a:t>
            </a:r>
            <a:r>
              <a:rPr sz="1200" spc="-35" dirty="0">
                <a:latin typeface="Times New Roman"/>
                <a:cs typeface="Times New Roman"/>
              </a:rPr>
              <a:t>а)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AB</a:t>
            </a:r>
            <a:r>
              <a:rPr sz="1200" b="0" i="1" spc="4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10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>
              <a:latin typeface="Bookman Old Style"/>
              <a:cs typeface="Bookman Old Style"/>
            </a:endParaRPr>
          </a:p>
          <a:p>
            <a:pPr marL="4049395" marR="199390">
              <a:lnSpc>
                <a:spcPts val="1450"/>
              </a:lnSpc>
              <a:spcBef>
                <a:spcPts val="40"/>
              </a:spcBef>
            </a:pPr>
            <a:r>
              <a:rPr sz="1200" b="0" i="1" dirty="0">
                <a:latin typeface="Bookman Old Style"/>
                <a:cs typeface="Bookman Old Style"/>
              </a:rPr>
              <a:t>BC</a:t>
            </a:r>
            <a:r>
              <a:rPr sz="1200" b="0" i="1" spc="7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2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7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 </a:t>
            </a:r>
            <a:r>
              <a:rPr sz="1200" b="0" i="1" dirty="0">
                <a:latin typeface="Bookman Old Style"/>
                <a:cs typeface="Bookman Old Style"/>
              </a:rPr>
              <a:t>AC</a:t>
            </a:r>
            <a:r>
              <a:rPr sz="1200" b="0" i="1" spc="6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5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10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.</a:t>
            </a:r>
            <a:endParaRPr sz="1200">
              <a:latin typeface="Bookman Old Style"/>
              <a:cs typeface="Bookman Old Style"/>
            </a:endParaRPr>
          </a:p>
          <a:p>
            <a:pPr marL="3766185">
              <a:lnSpc>
                <a:spcPts val="1390"/>
              </a:lnSpc>
              <a:tabLst>
                <a:tab pos="4049395" algn="l"/>
              </a:tabLst>
            </a:pPr>
            <a:r>
              <a:rPr sz="1200" spc="-25" dirty="0">
                <a:latin typeface="Times New Roman"/>
                <a:cs typeface="Times New Roman"/>
              </a:rPr>
              <a:t>б)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AC</a:t>
            </a:r>
            <a:r>
              <a:rPr sz="1200" b="0" i="1" spc="6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3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23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80483" y="7223823"/>
            <a:ext cx="15316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0" i="1" dirty="0">
                <a:latin typeface="Bookman Old Style"/>
                <a:cs typeface="Bookman Old Style"/>
              </a:rPr>
              <a:t>BC</a:t>
            </a:r>
            <a:r>
              <a:rPr sz="1200" b="0" i="1" spc="6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7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9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19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endParaRPr sz="12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6094" y="7338961"/>
            <a:ext cx="5656580" cy="295465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R="111760" algn="r">
              <a:lnSpc>
                <a:spcPct val="100000"/>
              </a:lnSpc>
              <a:spcBef>
                <a:spcPts val="640"/>
              </a:spcBef>
            </a:pPr>
            <a:r>
              <a:rPr sz="1200" b="0" i="1" dirty="0">
                <a:latin typeface="Bookman Old Style"/>
                <a:cs typeface="Bookman Old Style"/>
              </a:rPr>
              <a:t>AB</a:t>
            </a:r>
            <a:r>
              <a:rPr sz="1200" b="0" i="1" spc="4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4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3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13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.</a:t>
            </a:r>
            <a:endParaRPr sz="1200">
              <a:latin typeface="Bookman Old Style"/>
              <a:cs typeface="Bookman Old Style"/>
            </a:endParaRPr>
          </a:p>
          <a:p>
            <a:pPr marL="457200" lvl="1" indent="-358140">
              <a:lnSpc>
                <a:spcPct val="100000"/>
              </a:lnSpc>
              <a:spcBef>
                <a:spcPts val="540"/>
              </a:spcBef>
              <a:buFont typeface="Cambria"/>
              <a:buAutoNum type="arabicPeriod" startAt="40"/>
              <a:tabLst>
                <a:tab pos="457200" algn="l"/>
              </a:tabLst>
            </a:pP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координатите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медицентъра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b="0" i="1" spc="16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уравненията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две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страни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в</a:t>
            </a:r>
            <a:endParaRPr sz="1200">
              <a:latin typeface="Times New Roman"/>
              <a:cs typeface="Times New Roman"/>
            </a:endParaRPr>
          </a:p>
          <a:p>
            <a:pPr marL="38100" marR="1334770">
              <a:lnSpc>
                <a:spcPct val="100000"/>
              </a:lnSpc>
              <a:spcBef>
                <a:spcPts val="10"/>
              </a:spcBef>
              <a:tabLst>
                <a:tab pos="857885" algn="l"/>
                <a:tab pos="2285365" algn="l"/>
              </a:tabLst>
            </a:pPr>
            <a:r>
              <a:rPr sz="1000" dirty="0">
                <a:latin typeface="Lucida Sans Unicode"/>
                <a:cs typeface="Lucida Sans Unicode"/>
              </a:rPr>
              <a:t>△</a:t>
            </a:r>
            <a:r>
              <a:rPr sz="1200" b="0" i="1" dirty="0">
                <a:latin typeface="Bookman Old Style"/>
                <a:cs typeface="Bookman Old Style"/>
              </a:rPr>
              <a:t>ABC.</a:t>
            </a:r>
            <a:r>
              <a:rPr sz="1200" b="0" i="1" spc="12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координатите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върховете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триъгълника.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G</a:t>
            </a:r>
            <a:r>
              <a:rPr sz="1200" dirty="0">
                <a:latin typeface="Book Antiqua"/>
                <a:cs typeface="Book Antiqua"/>
              </a:rPr>
              <a:t>(4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2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3)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AB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9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3</a:t>
            </a:r>
            <a:r>
              <a:rPr sz="1200" spc="5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BC</a:t>
            </a:r>
            <a:r>
              <a:rPr sz="1200" b="0" i="1" spc="5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7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5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3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51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  <a:tabLst>
                <a:tab pos="974725" algn="l"/>
                <a:tab pos="2552065" algn="l"/>
              </a:tabLst>
            </a:pP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b="0" i="1" spc="-10" dirty="0">
                <a:latin typeface="Bookman Old Style"/>
                <a:cs typeface="Bookman Old Style"/>
              </a:rPr>
              <a:t>G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1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1)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AB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8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2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14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9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BC</a:t>
            </a:r>
            <a:r>
              <a:rPr sz="1200" b="0" i="1" spc="6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9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8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5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3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L="2997200">
              <a:lnSpc>
                <a:spcPct val="100000"/>
              </a:lnSpc>
              <a:spcBef>
                <a:spcPts val="1450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2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4)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55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(3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6)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50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(8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1)</a:t>
            </a:r>
            <a:endParaRPr sz="1200">
              <a:latin typeface="Book Antiqua"/>
              <a:cs typeface="Book Antiqua"/>
            </a:endParaRPr>
          </a:p>
          <a:p>
            <a:pPr marL="340741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b="0" i="1" spc="-10" dirty="0">
                <a:latin typeface="Bookman Old Style"/>
                <a:cs typeface="Bookman Old Style"/>
              </a:rPr>
              <a:t>A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9)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55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6)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50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12)</a:t>
            </a:r>
            <a:endParaRPr sz="1200">
              <a:latin typeface="Book Antiqua"/>
              <a:cs typeface="Book Antiqua"/>
            </a:endParaRPr>
          </a:p>
          <a:p>
            <a:pPr marL="38100" marR="31750" lvl="1" indent="63500">
              <a:lnSpc>
                <a:spcPct val="100800"/>
              </a:lnSpc>
              <a:spcBef>
                <a:spcPts val="530"/>
              </a:spcBef>
              <a:buFont typeface="Cambria"/>
              <a:buAutoNum type="arabicPeriod" startAt="41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координатите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връх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b="0" i="1" spc="18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уравненията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медианите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през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дру- </a:t>
            </a:r>
            <a:r>
              <a:rPr sz="1200" dirty="0">
                <a:latin typeface="Times New Roman"/>
                <a:cs typeface="Times New Roman"/>
              </a:rPr>
              <a:t>гите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два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върха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△</a:t>
            </a:r>
            <a:r>
              <a:rPr sz="1200" b="0" i="1" dirty="0">
                <a:latin typeface="Bookman Old Style"/>
                <a:cs typeface="Bookman Old Style"/>
              </a:rPr>
              <a:t>ABC.</a:t>
            </a:r>
            <a:r>
              <a:rPr sz="1200" b="0" i="1" spc="8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координатите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върховете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b="0" i="1" spc="140" dirty="0">
                <a:latin typeface="Bookman Old Style"/>
                <a:cs typeface="Bookman Old Style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b="0" i="1" spc="-25" dirty="0">
                <a:latin typeface="Bookman Old Style"/>
                <a:cs typeface="Bookman Old Style"/>
              </a:rPr>
              <a:t>C</a:t>
            </a:r>
            <a:r>
              <a:rPr sz="1200" spc="-25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14300">
              <a:lnSpc>
                <a:spcPts val="1330"/>
              </a:lnSpc>
              <a:tabLst>
                <a:tab pos="999490" algn="l"/>
              </a:tabLst>
            </a:pP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35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−</a:t>
            </a:r>
            <a:r>
              <a:rPr sz="1200" spc="-20" dirty="0">
                <a:latin typeface="Book Antiqua"/>
                <a:cs typeface="Book Antiqua"/>
              </a:rPr>
              <a:t>3)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m</a:t>
            </a:r>
            <a:r>
              <a:rPr sz="1200" i="1" baseline="-13888" dirty="0">
                <a:latin typeface="Book Antiqua"/>
                <a:cs typeface="Book Antiqua"/>
              </a:rPr>
              <a:t>B</a:t>
            </a:r>
            <a:r>
              <a:rPr sz="1200" i="1" spc="352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b="0" i="1" spc="-16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1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m</a:t>
            </a:r>
            <a:r>
              <a:rPr sz="1200" i="1" baseline="-13888" dirty="0">
                <a:latin typeface="Book Antiqua"/>
                <a:cs typeface="Book Antiqua"/>
              </a:rPr>
              <a:t>C</a:t>
            </a:r>
            <a:r>
              <a:rPr sz="1200" i="1" spc="375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4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7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7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L="114300">
              <a:lnSpc>
                <a:spcPct val="100000"/>
              </a:lnSpc>
              <a:spcBef>
                <a:spcPts val="15"/>
              </a:spcBef>
              <a:tabLst>
                <a:tab pos="999490" algn="l"/>
              </a:tabLst>
            </a:pP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6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9)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m</a:t>
            </a:r>
            <a:r>
              <a:rPr sz="1200" i="1" baseline="-13888" dirty="0">
                <a:latin typeface="Book Antiqua"/>
                <a:cs typeface="Book Antiqua"/>
              </a:rPr>
              <a:t>B</a:t>
            </a:r>
            <a:r>
              <a:rPr sz="1200" i="1" spc="345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20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7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41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40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m</a:t>
            </a:r>
            <a:r>
              <a:rPr sz="1200" i="1" baseline="-13888" dirty="0">
                <a:latin typeface="Book Antiqua"/>
                <a:cs typeface="Book Antiqua"/>
              </a:rPr>
              <a:t>C</a:t>
            </a:r>
            <a:r>
              <a:rPr sz="1200" i="1" spc="375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40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7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10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105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3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3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29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-50" dirty="0">
                <a:latin typeface="Book Antiqua"/>
                <a:cs typeface="Book Antiqua"/>
              </a:rPr>
              <a:t>0</a:t>
            </a:r>
            <a:endParaRPr sz="1200">
              <a:latin typeface="Book Antiqua"/>
              <a:cs typeface="Book Antiqua"/>
            </a:endParaRPr>
          </a:p>
          <a:p>
            <a:pPr marL="3773170">
              <a:lnSpc>
                <a:spcPct val="100000"/>
              </a:lnSpc>
              <a:spcBef>
                <a:spcPts val="1305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а)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9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1)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65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(7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5)</a:t>
            </a:r>
            <a:endParaRPr sz="1200">
              <a:latin typeface="Book Antiqua"/>
              <a:cs typeface="Book Antiqua"/>
            </a:endParaRPr>
          </a:p>
          <a:p>
            <a:pPr marL="4134485">
              <a:lnSpc>
                <a:spcPct val="1000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б)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(5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8)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55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5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4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−</a:t>
            </a:r>
            <a:r>
              <a:rPr sz="1200" spc="-25" dirty="0">
                <a:latin typeface="Book Antiqua"/>
                <a:cs typeface="Book Antiqua"/>
              </a:rPr>
              <a:t>2)</a:t>
            </a:r>
            <a:endParaRPr sz="12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9464" y="722439"/>
            <a:ext cx="5909945" cy="49622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Verdana Pro Cond Light"/>
              <a:cs typeface="Verdana Pro Cond Light"/>
            </a:endParaRPr>
          </a:p>
          <a:p>
            <a:pPr marL="164465" marR="156845" lvl="1" indent="59055" algn="just">
              <a:lnSpc>
                <a:spcPct val="100400"/>
              </a:lnSpc>
              <a:buFont typeface="Cambria"/>
              <a:buAutoNum type="arabicPeriod" startAt="42"/>
              <a:tabLst>
                <a:tab pos="579755" algn="l"/>
              </a:tabLst>
            </a:pPr>
            <a:r>
              <a:rPr sz="1200" spc="25" dirty="0">
                <a:latin typeface="Times New Roman"/>
                <a:cs typeface="Times New Roman"/>
              </a:rPr>
              <a:t>Дадени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са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уравненията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страните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b="0" i="1" spc="20" dirty="0">
                <a:latin typeface="Bookman Old Style"/>
                <a:cs typeface="Bookman Old Style"/>
              </a:rPr>
              <a:t>AB</a:t>
            </a:r>
            <a:r>
              <a:rPr sz="1200" b="0" i="1" spc="60" dirty="0">
                <a:latin typeface="Bookman Old Style"/>
                <a:cs typeface="Bookman Old Style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</a:t>
            </a:r>
            <a:r>
              <a:rPr sz="1200" spc="70" dirty="0">
                <a:latin typeface="Book Antiqua"/>
                <a:cs typeface="Book Antiqua"/>
              </a:rPr>
              <a:t> </a:t>
            </a:r>
            <a:r>
              <a:rPr sz="1200" b="0" i="1" spc="10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100" dirty="0">
                <a:latin typeface="Lucida Sans Unicode"/>
                <a:cs typeface="Lucida Sans Unicode"/>
              </a:rPr>
              <a:t> </a:t>
            </a:r>
            <a:r>
              <a:rPr sz="1200" b="0" i="1" spc="-155" dirty="0">
                <a:latin typeface="Bookman Old Style"/>
                <a:cs typeface="Bookman Old Style"/>
              </a:rPr>
              <a:t>y</a:t>
            </a:r>
            <a:r>
              <a:rPr sz="1200" b="0" i="1" spc="-4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14</a:t>
            </a:r>
            <a:r>
              <a:rPr sz="1200" spc="6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60" dirty="0">
                <a:latin typeface="Book Antiqua"/>
                <a:cs typeface="Book Antiqua"/>
              </a:rPr>
              <a:t> </a:t>
            </a:r>
            <a:r>
              <a:rPr sz="1200" spc="-30" dirty="0">
                <a:latin typeface="Book Antiqua"/>
                <a:cs typeface="Book Antiqua"/>
              </a:rPr>
              <a:t>0</a:t>
            </a:r>
            <a:r>
              <a:rPr sz="1200" b="0" i="1" spc="-30" dirty="0">
                <a:latin typeface="Bookman Old Style"/>
                <a:cs typeface="Bookman Old Style"/>
              </a:rPr>
              <a:t>,</a:t>
            </a:r>
            <a:r>
              <a:rPr sz="1200" b="0" i="1" spc="855" dirty="0">
                <a:latin typeface="Bookman Old Style"/>
                <a:cs typeface="Bookman Old Style"/>
              </a:rPr>
              <a:t> </a:t>
            </a:r>
            <a:r>
              <a:rPr sz="1200" b="0" i="1" spc="-5" dirty="0">
                <a:latin typeface="Bookman Old Style"/>
                <a:cs typeface="Bookman Old Style"/>
              </a:rPr>
              <a:t>AC</a:t>
            </a:r>
            <a:r>
              <a:rPr sz="1200" b="0" i="1" spc="85" dirty="0">
                <a:latin typeface="Bookman Old Style"/>
                <a:cs typeface="Bookman Old Style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</a:t>
            </a:r>
            <a:r>
              <a:rPr sz="1200" spc="70" dirty="0">
                <a:latin typeface="Book Antiqua"/>
                <a:cs typeface="Book Antiqua"/>
              </a:rPr>
              <a:t> </a:t>
            </a:r>
            <a:r>
              <a:rPr sz="1200" b="0" i="1" spc="10" dirty="0">
                <a:latin typeface="Bookman Old Style"/>
                <a:cs typeface="Bookman Old Style"/>
              </a:rPr>
              <a:t>x</a:t>
            </a:r>
            <a:r>
              <a:rPr sz="1200" b="0" i="1" spc="-9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2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4</a:t>
            </a:r>
            <a:r>
              <a:rPr sz="1200" spc="60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60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0</a:t>
            </a:r>
            <a:r>
              <a:rPr sz="1200" spc="110" dirty="0">
                <a:latin typeface="Book Antiqua"/>
                <a:cs typeface="Book Antiqua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и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ъглополовящата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b="0" i="1" spc="35" dirty="0">
                <a:latin typeface="Bookman Old Style"/>
                <a:cs typeface="Bookman Old Style"/>
              </a:rPr>
              <a:t>l</a:t>
            </a:r>
            <a:r>
              <a:rPr sz="1200" i="1" spc="52" baseline="-13888" dirty="0">
                <a:latin typeface="Book Antiqua"/>
                <a:cs typeface="Book Antiqua"/>
              </a:rPr>
              <a:t>C</a:t>
            </a:r>
            <a:r>
              <a:rPr sz="1200" i="1" spc="427" baseline="-13888" dirty="0">
                <a:latin typeface="Book Antiqua"/>
                <a:cs typeface="Book Antiqua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</a:t>
            </a:r>
            <a:r>
              <a:rPr sz="1200" spc="80" dirty="0">
                <a:latin typeface="Book Antiqua"/>
                <a:cs typeface="Book Antiqua"/>
              </a:rPr>
              <a:t> </a:t>
            </a:r>
            <a:r>
              <a:rPr sz="1200" b="0" i="1" spc="10" dirty="0">
                <a:latin typeface="Bookman Old Style"/>
                <a:cs typeface="Bookman Old Style"/>
              </a:rPr>
              <a:t>x</a:t>
            </a:r>
            <a:r>
              <a:rPr sz="1200" b="0" i="1" spc="-8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10" dirty="0">
                <a:latin typeface="Book Antiqua"/>
                <a:cs typeface="Book Antiqua"/>
              </a:rPr>
              <a:t> </a:t>
            </a:r>
            <a:r>
              <a:rPr sz="1200" b="0" i="1" spc="-155" dirty="0">
                <a:latin typeface="Bookman Old Style"/>
                <a:cs typeface="Bookman Old Style"/>
              </a:rPr>
              <a:t>y</a:t>
            </a:r>
            <a:r>
              <a:rPr sz="1200" b="0" i="1" spc="6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8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0</a:t>
            </a:r>
            <a:r>
              <a:rPr sz="1200" spc="120" dirty="0">
                <a:latin typeface="Book Antiqua"/>
                <a:cs typeface="Book Antiqua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в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000" spc="25" dirty="0">
                <a:latin typeface="Lucida Sans Unicode"/>
                <a:cs typeface="Lucida Sans Unicode"/>
              </a:rPr>
              <a:t>△</a:t>
            </a:r>
            <a:r>
              <a:rPr sz="1200" b="0" i="1" spc="25" dirty="0">
                <a:latin typeface="Bookman Old Style"/>
                <a:cs typeface="Bookman Old Style"/>
              </a:rPr>
              <a:t>ABC.</a:t>
            </a:r>
            <a:r>
              <a:rPr sz="1200" b="0" i="1" spc="45" dirty="0">
                <a:latin typeface="Bookman Old Style"/>
                <a:cs typeface="Bookman Old Style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Намерете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координатите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върховете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35" dirty="0">
                <a:latin typeface="Times New Roman"/>
                <a:cs typeface="Times New Roman"/>
              </a:rPr>
              <a:t>триъгълника.</a:t>
            </a:r>
            <a:endParaRPr sz="12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ambria"/>
              <a:buAutoNum type="arabicPeriod" startAt="42"/>
            </a:pPr>
            <a:endParaRPr sz="1250" dirty="0">
              <a:latin typeface="Times New Roman"/>
              <a:cs typeface="Times New Roman"/>
            </a:endParaRPr>
          </a:p>
          <a:p>
            <a:pPr marL="3235325">
              <a:lnSpc>
                <a:spcPct val="100000"/>
              </a:lnSpc>
              <a:tabLst>
                <a:tab pos="5178425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b="0" i="1" spc="-10" dirty="0">
                <a:latin typeface="Bookman Old Style"/>
                <a:cs typeface="Bookman Old Style"/>
              </a:rPr>
              <a:t>A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4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Book Antiqua"/>
                <a:cs typeface="Book Antiqua"/>
              </a:rPr>
              <a:t>10)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455" dirty="0">
                <a:latin typeface="Bookman Old Style"/>
                <a:cs typeface="Bookman Old Style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10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4)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C</a:t>
            </a:r>
            <a:r>
              <a:rPr sz="1200" dirty="0">
                <a:latin typeface="Book Antiqua"/>
                <a:cs typeface="Book Antiqua"/>
              </a:rPr>
              <a:t>(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4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4)</a:t>
            </a:r>
            <a:endParaRPr sz="1200" dirty="0">
              <a:latin typeface="Book Antiqua"/>
              <a:cs typeface="Book Antiqua"/>
            </a:endParaRPr>
          </a:p>
          <a:p>
            <a:pPr marL="164465" marR="157480" lvl="1" indent="66675" algn="just">
              <a:lnSpc>
                <a:spcPct val="100400"/>
              </a:lnSpc>
              <a:spcBef>
                <a:spcPts val="1435"/>
              </a:spcBef>
              <a:buFont typeface="Cambria"/>
              <a:buAutoNum type="arabicPeriod" startAt="43"/>
              <a:tabLst>
                <a:tab pos="594995" algn="l"/>
              </a:tabLst>
            </a:pPr>
            <a:r>
              <a:rPr sz="1200" spc="75" dirty="0">
                <a:latin typeface="Times New Roman"/>
                <a:cs typeface="Times New Roman"/>
              </a:rPr>
              <a:t>За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000" spc="35" dirty="0">
                <a:latin typeface="Lucida Sans Unicode"/>
                <a:cs typeface="Lucida Sans Unicode"/>
              </a:rPr>
              <a:t>△</a:t>
            </a:r>
            <a:r>
              <a:rPr sz="1200" b="0" i="1" spc="35" dirty="0">
                <a:latin typeface="Bookman Old Style"/>
                <a:cs typeface="Bookman Old Style"/>
              </a:rPr>
              <a:t>ABC</a:t>
            </a:r>
            <a:r>
              <a:rPr sz="1200" b="0" i="1" spc="190" dirty="0">
                <a:latin typeface="Bookman Old Style"/>
                <a:cs typeface="Bookman Old Style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са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дадени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уравненията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страната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b="0" i="1" spc="-5" dirty="0">
                <a:latin typeface="Bookman Old Style"/>
                <a:cs typeface="Bookman Old Style"/>
              </a:rPr>
              <a:t>AC</a:t>
            </a:r>
            <a:r>
              <a:rPr sz="1200" b="0" i="1" spc="175" dirty="0">
                <a:latin typeface="Bookman Old Style"/>
                <a:cs typeface="Bookman Old Style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</a:t>
            </a:r>
            <a:r>
              <a:rPr sz="1200" spc="155" dirty="0">
                <a:latin typeface="Book Antiqua"/>
                <a:cs typeface="Book Antiqua"/>
              </a:rPr>
              <a:t> </a:t>
            </a:r>
            <a:r>
              <a:rPr sz="1200" spc="-5" dirty="0">
                <a:latin typeface="Book Antiqua"/>
                <a:cs typeface="Book Antiqua"/>
              </a:rPr>
              <a:t>3</a:t>
            </a:r>
            <a:r>
              <a:rPr sz="1200" b="0" i="1" spc="-5" dirty="0">
                <a:latin typeface="Bookman Old Style"/>
                <a:cs typeface="Bookman Old Style"/>
              </a:rPr>
              <a:t>x</a:t>
            </a:r>
            <a:r>
              <a:rPr sz="1200" b="0" i="1" spc="-55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65" dirty="0">
                <a:latin typeface="Lucida Sans Unicode"/>
                <a:cs typeface="Lucida Sans Unicode"/>
              </a:rPr>
              <a:t> </a:t>
            </a:r>
            <a:r>
              <a:rPr sz="1200" spc="-85" dirty="0">
                <a:latin typeface="Book Antiqua"/>
                <a:cs typeface="Book Antiqua"/>
              </a:rPr>
              <a:t>2</a:t>
            </a:r>
            <a:r>
              <a:rPr sz="1200" b="0" i="1" spc="-85" dirty="0">
                <a:latin typeface="Bookman Old Style"/>
                <a:cs typeface="Bookman Old Style"/>
              </a:rPr>
              <a:t>y</a:t>
            </a:r>
            <a:r>
              <a:rPr sz="1200" b="0" i="1" spc="-1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10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15</a:t>
            </a:r>
            <a:r>
              <a:rPr sz="1200" spc="14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15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0</a:t>
            </a:r>
            <a:r>
              <a:rPr sz="1200" spc="155" dirty="0">
                <a:latin typeface="Book Antiqua"/>
                <a:cs typeface="Book Antiqua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и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ъглополовящите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b="0" i="1" spc="30" dirty="0">
                <a:latin typeface="Bookman Old Style"/>
                <a:cs typeface="Bookman Old Style"/>
              </a:rPr>
              <a:t>l</a:t>
            </a:r>
            <a:r>
              <a:rPr sz="1200" i="1" spc="44" baseline="-13888" dirty="0">
                <a:latin typeface="Book Antiqua"/>
                <a:cs typeface="Book Antiqua"/>
              </a:rPr>
              <a:t>A</a:t>
            </a:r>
            <a:r>
              <a:rPr sz="1200" i="1" spc="277" baseline="-13888" dirty="0">
                <a:latin typeface="Book Antiqua"/>
                <a:cs typeface="Book Antiqua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 </a:t>
            </a:r>
            <a:r>
              <a:rPr sz="1200" b="0" i="1" spc="10" dirty="0">
                <a:latin typeface="Bookman Old Style"/>
                <a:cs typeface="Bookman Old Style"/>
              </a:rPr>
              <a:t>x</a:t>
            </a:r>
            <a:r>
              <a:rPr sz="1200" b="0" i="1" spc="-140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170" dirty="0">
                <a:latin typeface="Lucida Sans Unicode"/>
                <a:cs typeface="Lucida Sans Unicode"/>
              </a:rPr>
              <a:t> </a:t>
            </a:r>
            <a:r>
              <a:rPr sz="1200" b="0" i="1" spc="-155" dirty="0">
                <a:latin typeface="Bookman Old Style"/>
                <a:cs typeface="Bookman Old Style"/>
              </a:rPr>
              <a:t>y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8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6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30" dirty="0">
                <a:latin typeface="Book Antiqua"/>
                <a:cs typeface="Book Antiqua"/>
              </a:rPr>
              <a:t>0</a:t>
            </a:r>
            <a:r>
              <a:rPr sz="1200" b="0" i="1" spc="-3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  </a:t>
            </a:r>
            <a:r>
              <a:rPr sz="1200" spc="5" dirty="0">
                <a:latin typeface="Times New Roman"/>
                <a:cs typeface="Times New Roman"/>
              </a:rPr>
              <a:t>и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b="0" i="1" spc="35" dirty="0">
                <a:latin typeface="Bookman Old Style"/>
                <a:cs typeface="Bookman Old Style"/>
              </a:rPr>
              <a:t>l</a:t>
            </a:r>
            <a:r>
              <a:rPr sz="1200" i="1" spc="52" baseline="-13888" dirty="0">
                <a:latin typeface="Book Antiqua"/>
                <a:cs typeface="Book Antiqua"/>
              </a:rPr>
              <a:t>C</a:t>
            </a:r>
            <a:r>
              <a:rPr sz="1200" i="1" spc="359" baseline="-13888" dirty="0">
                <a:latin typeface="Book Antiqua"/>
                <a:cs typeface="Book Antiqua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5" dirty="0">
                <a:latin typeface="Book Antiqua"/>
                <a:cs typeface="Book Antiqua"/>
              </a:rPr>
              <a:t>5</a:t>
            </a:r>
            <a:r>
              <a:rPr sz="1200" b="0" i="1" spc="-5" dirty="0">
                <a:latin typeface="Bookman Old Style"/>
                <a:cs typeface="Bookman Old Style"/>
              </a:rPr>
              <a:t>x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95" dirty="0">
                <a:latin typeface="Book Antiqua"/>
                <a:cs typeface="Book Antiqua"/>
              </a:rPr>
              <a:t> </a:t>
            </a:r>
            <a:r>
              <a:rPr sz="1200" b="0" i="1" spc="-155" dirty="0">
                <a:latin typeface="Bookman Old Style"/>
                <a:cs typeface="Bookman Old Style"/>
              </a:rPr>
              <a:t>y</a:t>
            </a:r>
            <a:r>
              <a:rPr sz="1200" b="0" i="1" spc="-105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160" dirty="0">
                <a:latin typeface="Lucida Sans Unicode"/>
                <a:cs typeface="Lucida Sans Unicode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144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30" dirty="0">
                <a:latin typeface="Book Antiqua"/>
                <a:cs typeface="Book Antiqua"/>
              </a:rPr>
              <a:t>0</a:t>
            </a:r>
            <a:r>
              <a:rPr sz="1200" b="0" i="1" spc="-30" dirty="0">
                <a:latin typeface="Bookman Old Style"/>
                <a:cs typeface="Bookman Old Style"/>
              </a:rPr>
              <a:t>.</a:t>
            </a:r>
            <a:r>
              <a:rPr sz="1200" b="0" i="1" dirty="0">
                <a:latin typeface="Bookman Old Style"/>
                <a:cs typeface="Bookman Old Style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Намерете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координатите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върховете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35" dirty="0">
                <a:latin typeface="Times New Roman"/>
                <a:cs typeface="Times New Roman"/>
              </a:rPr>
              <a:t>триъгълника.</a:t>
            </a:r>
            <a:endParaRPr sz="12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Cambria"/>
              <a:buAutoNum type="arabicPeriod" startAt="43"/>
            </a:pPr>
            <a:endParaRPr sz="1250" dirty="0">
              <a:latin typeface="Times New Roman"/>
              <a:cs typeface="Times New Roman"/>
            </a:endParaRPr>
          </a:p>
          <a:p>
            <a:pPr marL="3272154">
              <a:lnSpc>
                <a:spcPct val="100000"/>
              </a:lnSpc>
              <a:spcBef>
                <a:spcPts val="5"/>
              </a:spcBef>
              <a:tabLst>
                <a:tab pos="4357370" algn="l"/>
                <a:tab pos="5147945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b="0" i="1" spc="-10" dirty="0">
                <a:latin typeface="Bookman Old Style"/>
                <a:cs typeface="Bookman Old Style"/>
              </a:rPr>
              <a:t>A</a:t>
            </a:r>
            <a:r>
              <a:rPr sz="1200" spc="-10" dirty="0">
                <a:latin typeface="Book Antiqua"/>
                <a:cs typeface="Book Antiqua"/>
              </a:rPr>
              <a:t>(</a:t>
            </a:r>
            <a:r>
              <a:rPr sz="1200" spc="-10" dirty="0">
                <a:latin typeface="Lucida Sans Unicode"/>
                <a:cs typeface="Lucida Sans Unicode"/>
              </a:rPr>
              <a:t>−</a:t>
            </a:r>
            <a:r>
              <a:rPr sz="1200" spc="-10" dirty="0">
                <a:latin typeface="Book Antiqua"/>
                <a:cs typeface="Book Antiqua"/>
              </a:rPr>
              <a:t>3</a:t>
            </a:r>
            <a:r>
              <a:rPr sz="1200" b="0" i="1" spc="-10" dirty="0">
                <a:latin typeface="Bookman Old Style"/>
                <a:cs typeface="Bookman Old Style"/>
              </a:rPr>
              <a:t>,</a:t>
            </a:r>
            <a:r>
              <a:rPr sz="1200" b="0" i="1" spc="-135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3)</a:t>
            </a:r>
            <a:r>
              <a:rPr sz="1200" b="0" i="1" spc="-25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B</a:t>
            </a:r>
            <a:r>
              <a:rPr sz="1200" dirty="0">
                <a:latin typeface="Book Antiqua"/>
                <a:cs typeface="Book Antiqua"/>
              </a:rPr>
              <a:t>(36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0" dirty="0">
                <a:latin typeface="Bookman Old Style"/>
                <a:cs typeface="Bookman Old Style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29)</a:t>
            </a:r>
            <a:r>
              <a:rPr sz="1200" b="0" i="1" spc="-20" dirty="0">
                <a:latin typeface="Bookman Old Style"/>
                <a:cs typeface="Bookman Old Style"/>
              </a:rPr>
              <a:t>,</a:t>
            </a:r>
            <a:r>
              <a:rPr sz="1200" b="0" i="1" dirty="0">
                <a:latin typeface="Bookman Old Style"/>
                <a:cs typeface="Bookman Old Style"/>
              </a:rPr>
              <a:t>	C</a:t>
            </a:r>
            <a:r>
              <a:rPr sz="1200" dirty="0">
                <a:latin typeface="Book Antiqua"/>
                <a:cs typeface="Book Antiqua"/>
              </a:rPr>
              <a:t>(21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39)</a:t>
            </a:r>
            <a:endParaRPr sz="1200" dirty="0">
              <a:latin typeface="Book Antiqua"/>
              <a:cs typeface="Book Antiqua"/>
            </a:endParaRPr>
          </a:p>
          <a:p>
            <a:pPr marL="164465" marR="156845" lvl="1" indent="78740" algn="just">
              <a:lnSpc>
                <a:spcPct val="100000"/>
              </a:lnSpc>
              <a:spcBef>
                <a:spcPts val="1450"/>
              </a:spcBef>
              <a:buFont typeface="Cambria"/>
              <a:buAutoNum type="arabicPeriod" startAt="44"/>
              <a:tabLst>
                <a:tab pos="617855" algn="l"/>
              </a:tabLst>
            </a:pPr>
            <a:r>
              <a:rPr sz="1200" spc="75" dirty="0">
                <a:latin typeface="Times New Roman"/>
                <a:cs typeface="Times New Roman"/>
              </a:rPr>
              <a:t>За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000" spc="35" dirty="0">
                <a:latin typeface="Lucida Sans Unicode"/>
                <a:cs typeface="Lucida Sans Unicode"/>
              </a:rPr>
              <a:t>△</a:t>
            </a:r>
            <a:r>
              <a:rPr sz="1200" b="0" i="1" spc="35" dirty="0">
                <a:latin typeface="Bookman Old Style"/>
                <a:cs typeface="Bookman Old Style"/>
              </a:rPr>
              <a:t>ABC</a:t>
            </a:r>
            <a:r>
              <a:rPr sz="1200" b="0" i="1" spc="260" dirty="0">
                <a:latin typeface="Bookman Old Style"/>
                <a:cs typeface="Bookman Old Style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са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дадени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40" dirty="0">
                <a:latin typeface="Times New Roman"/>
                <a:cs typeface="Times New Roman"/>
              </a:rPr>
              <a:t>върхът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b="0" i="1" spc="5" dirty="0">
                <a:latin typeface="Bookman Old Style"/>
                <a:cs typeface="Bookman Old Style"/>
              </a:rPr>
              <a:t>A</a:t>
            </a:r>
            <a:r>
              <a:rPr sz="1200" spc="5" dirty="0">
                <a:latin typeface="Book Antiqua"/>
                <a:cs typeface="Book Antiqua"/>
              </a:rPr>
              <a:t>(2</a:t>
            </a:r>
            <a:r>
              <a:rPr sz="1200" b="0" i="1" spc="5" dirty="0">
                <a:latin typeface="Bookman Old Style"/>
                <a:cs typeface="Bookman Old Style"/>
              </a:rPr>
              <a:t>,</a:t>
            </a:r>
            <a:r>
              <a:rPr sz="1200" b="0" i="1" spc="-16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1)</a:t>
            </a:r>
            <a:r>
              <a:rPr sz="1200" spc="240" dirty="0">
                <a:latin typeface="Book Antiqua"/>
                <a:cs typeface="Book Antiqua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и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уравненията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височината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b="0" i="1" spc="30" dirty="0">
                <a:latin typeface="Bookman Old Style"/>
                <a:cs typeface="Bookman Old Style"/>
              </a:rPr>
              <a:t>h</a:t>
            </a:r>
            <a:r>
              <a:rPr sz="1200" i="1" spc="44" baseline="-13888" dirty="0">
                <a:latin typeface="Book Antiqua"/>
                <a:cs typeface="Book Antiqua"/>
              </a:rPr>
              <a:t>B</a:t>
            </a:r>
            <a:r>
              <a:rPr sz="1200" i="1" spc="735" baseline="-13888" dirty="0">
                <a:latin typeface="Book Antiqua"/>
                <a:cs typeface="Book Antiqua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 </a:t>
            </a:r>
            <a:r>
              <a:rPr sz="1200" spc="-5" dirty="0">
                <a:latin typeface="Book Antiqua"/>
                <a:cs typeface="Book Antiqua"/>
              </a:rPr>
              <a:t>7</a:t>
            </a:r>
            <a:r>
              <a:rPr sz="1200" b="0" i="1" spc="-5" dirty="0">
                <a:latin typeface="Bookman Old Style"/>
                <a:cs typeface="Bookman Old Style"/>
              </a:rPr>
              <a:t>x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170" dirty="0">
                <a:latin typeface="Lucida Sans Unicode"/>
                <a:cs typeface="Lucida Sans Unicode"/>
              </a:rPr>
              <a:t> </a:t>
            </a:r>
            <a:r>
              <a:rPr sz="1200" spc="-65" dirty="0">
                <a:latin typeface="Book Antiqua"/>
                <a:cs typeface="Book Antiqua"/>
              </a:rPr>
              <a:t>10</a:t>
            </a:r>
            <a:r>
              <a:rPr sz="1200" b="0" i="1" spc="-65" dirty="0">
                <a:latin typeface="Bookman Old Style"/>
                <a:cs typeface="Bookman Old Style"/>
              </a:rPr>
              <a:t>y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9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1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0</a:t>
            </a:r>
            <a:r>
              <a:rPr sz="1200" spc="60" dirty="0">
                <a:latin typeface="Book Antiqua"/>
                <a:cs typeface="Book Antiqua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и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ъглополовящата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b="0" i="1" spc="75" dirty="0">
                <a:latin typeface="Bookman Old Style"/>
                <a:cs typeface="Bookman Old Style"/>
              </a:rPr>
              <a:t>l</a:t>
            </a:r>
            <a:r>
              <a:rPr sz="1200" i="1" spc="112" baseline="-13888" dirty="0">
                <a:latin typeface="Book Antiqua"/>
                <a:cs typeface="Book Antiqua"/>
              </a:rPr>
              <a:t>B</a:t>
            </a:r>
            <a:r>
              <a:rPr sz="1200" i="1" spc="322" baseline="-13888" dirty="0">
                <a:latin typeface="Book Antiqua"/>
                <a:cs typeface="Book Antiqua"/>
              </a:rPr>
              <a:t> </a:t>
            </a:r>
            <a:r>
              <a:rPr sz="1200" spc="20" dirty="0">
                <a:latin typeface="Book Antiqua"/>
                <a:cs typeface="Book Antiqua"/>
              </a:rPr>
              <a:t>: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-5" dirty="0">
                <a:latin typeface="Book Antiqua"/>
                <a:cs typeface="Book Antiqua"/>
              </a:rPr>
              <a:t>3</a:t>
            </a:r>
            <a:r>
              <a:rPr sz="1200" b="0" i="1" spc="-5" dirty="0">
                <a:latin typeface="Bookman Old Style"/>
                <a:cs typeface="Bookman Old Style"/>
              </a:rPr>
              <a:t>x</a:t>
            </a:r>
            <a:r>
              <a:rPr sz="1200" b="0" i="1" spc="-150" dirty="0">
                <a:latin typeface="Bookman Old Style"/>
                <a:cs typeface="Bookman Old Style"/>
              </a:rPr>
              <a:t> </a:t>
            </a:r>
            <a:r>
              <a:rPr sz="1200" spc="-30" dirty="0">
                <a:latin typeface="Lucida Sans Unicode"/>
                <a:cs typeface="Lucida Sans Unicode"/>
              </a:rPr>
              <a:t>−</a:t>
            </a:r>
            <a:r>
              <a:rPr sz="1200" spc="-170" dirty="0">
                <a:latin typeface="Lucida Sans Unicode"/>
                <a:cs typeface="Lucida Sans Unicode"/>
              </a:rPr>
              <a:t> </a:t>
            </a:r>
            <a:r>
              <a:rPr sz="1200" spc="-85" dirty="0">
                <a:latin typeface="Book Antiqua"/>
                <a:cs typeface="Book Antiqua"/>
              </a:rPr>
              <a:t>2</a:t>
            </a:r>
            <a:r>
              <a:rPr sz="1200" b="0" i="1" spc="-85" dirty="0">
                <a:latin typeface="Bookman Old Style"/>
                <a:cs typeface="Bookman Old Style"/>
              </a:rPr>
              <a:t>y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95" dirty="0">
                <a:latin typeface="Book Antiqua"/>
                <a:cs typeface="Book Antiqua"/>
              </a:rPr>
              <a:t> </a:t>
            </a:r>
            <a:r>
              <a:rPr sz="1200" spc="-20" dirty="0">
                <a:latin typeface="Book Antiqua"/>
                <a:cs typeface="Book Antiqua"/>
              </a:rPr>
              <a:t>5</a:t>
            </a:r>
            <a:r>
              <a:rPr sz="1200" spc="3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2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0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Намерете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координатите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другите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два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Times New Roman"/>
                <a:cs typeface="Times New Roman"/>
              </a:rPr>
              <a:t>върха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на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35" dirty="0">
                <a:latin typeface="Times New Roman"/>
                <a:cs typeface="Times New Roman"/>
              </a:rPr>
              <a:t>триъгълника.</a:t>
            </a:r>
            <a:endParaRPr sz="12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ambria"/>
              <a:buAutoNum type="arabicPeriod" startAt="44"/>
            </a:pPr>
            <a:endParaRPr sz="1250" dirty="0">
              <a:latin typeface="Times New Roman"/>
              <a:cs typeface="Times New Roman"/>
            </a:endParaRPr>
          </a:p>
          <a:p>
            <a:pPr marR="155575" algn="r">
              <a:lnSpc>
                <a:spcPct val="100000"/>
              </a:lnSpc>
              <a:tabLst>
                <a:tab pos="982344" algn="l"/>
              </a:tabLst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B</a:t>
            </a:r>
            <a:r>
              <a:rPr sz="1200" dirty="0">
                <a:latin typeface="Book Antiqua"/>
                <a:cs typeface="Book Antiqua"/>
              </a:rPr>
              <a:t>(5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20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0)</a:t>
            </a:r>
            <a:r>
              <a:rPr sz="1200" dirty="0">
                <a:latin typeface="Book Antiqua"/>
                <a:cs typeface="Book Antiqua"/>
              </a:rPr>
              <a:t>	</a:t>
            </a:r>
            <a:r>
              <a:rPr sz="1200" b="0" i="1" dirty="0">
                <a:latin typeface="Bookman Old Style"/>
                <a:cs typeface="Bookman Old Style"/>
              </a:rPr>
              <a:t>C</a:t>
            </a:r>
            <a:r>
              <a:rPr sz="1200" dirty="0">
                <a:latin typeface="Book Antiqua"/>
                <a:cs typeface="Book Antiqua"/>
              </a:rPr>
              <a:t>(2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14" dirty="0">
                <a:latin typeface="Bookman Old Style"/>
                <a:cs typeface="Bookman Old Style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9)</a:t>
            </a:r>
            <a:endParaRPr sz="1200" dirty="0">
              <a:latin typeface="Book Antiqua"/>
              <a:cs typeface="Book Antiqua"/>
            </a:endParaRPr>
          </a:p>
          <a:p>
            <a:pPr marL="164465" marR="156845">
              <a:lnSpc>
                <a:spcPct val="100000"/>
              </a:lnSpc>
              <a:spcBef>
                <a:spcPts val="575"/>
              </a:spcBef>
            </a:pPr>
            <a:r>
              <a:rPr sz="1200" b="0" i="1" spc="-65" dirty="0">
                <a:latin typeface="Bookman Old Style"/>
                <a:cs typeface="Bookman Old Style"/>
              </a:rPr>
              <a:t>Упътване:</a:t>
            </a:r>
            <a:r>
              <a:rPr sz="1200" b="0" i="1" spc="170" dirty="0">
                <a:latin typeface="Bookman Old Style"/>
                <a:cs typeface="Bookman Old Style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Използвайте,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че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симетричната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точка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точката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b="0" i="1" spc="12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спрямо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ъглополо- </a:t>
            </a:r>
            <a:r>
              <a:rPr sz="1200" dirty="0">
                <a:latin typeface="Times New Roman"/>
                <a:cs typeface="Times New Roman"/>
              </a:rPr>
              <a:t>вящата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b="0" i="1" spc="75" dirty="0">
                <a:latin typeface="Bookman Old Style"/>
                <a:cs typeface="Bookman Old Style"/>
              </a:rPr>
              <a:t>l</a:t>
            </a:r>
            <a:r>
              <a:rPr sz="1200" i="1" spc="112" baseline="-13888" dirty="0">
                <a:latin typeface="Book Antiqua"/>
                <a:cs typeface="Book Antiqua"/>
              </a:rPr>
              <a:t>B</a:t>
            </a:r>
            <a:r>
              <a:rPr sz="1200" i="1" spc="652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лежи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правата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b="0" i="1" spc="-25" dirty="0">
                <a:latin typeface="Bookman Old Style"/>
                <a:cs typeface="Bookman Old Style"/>
              </a:rPr>
              <a:t>BC</a:t>
            </a:r>
            <a:r>
              <a:rPr sz="1200" spc="-25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164465" marR="157480" lvl="1" indent="52705">
              <a:lnSpc>
                <a:spcPct val="100000"/>
              </a:lnSpc>
              <a:buAutoNum type="arabicPeriod" startAt="45"/>
              <a:tabLst>
                <a:tab pos="522605" algn="l"/>
              </a:tabLst>
            </a:pPr>
            <a:r>
              <a:rPr sz="1200" b="1" spc="120" dirty="0">
                <a:latin typeface="Cambria"/>
                <a:cs typeface="Cambria"/>
              </a:rPr>
              <a:t>*</a:t>
            </a:r>
            <a:r>
              <a:rPr sz="1200" b="1" spc="155" dirty="0">
                <a:latin typeface="Cambria"/>
                <a:cs typeface="Cambria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Намерете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лицето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Lucida Sans Unicode"/>
                <a:cs typeface="Lucida Sans Unicode"/>
              </a:rPr>
              <a:t>△</a:t>
            </a:r>
            <a:r>
              <a:rPr sz="1200" b="0" i="1" spc="50" dirty="0">
                <a:latin typeface="Bookman Old Style"/>
                <a:cs typeface="Bookman Old Style"/>
              </a:rPr>
              <a:t>ABC</a:t>
            </a:r>
            <a:r>
              <a:rPr sz="1200" spc="50" dirty="0">
                <a:latin typeface="Times New Roman"/>
                <a:cs typeface="Times New Roman"/>
              </a:rPr>
              <a:t>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ако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са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дадени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върхът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A</a:t>
            </a:r>
            <a:r>
              <a:rPr sz="1200" dirty="0">
                <a:latin typeface="Book Antiqua"/>
                <a:cs typeface="Book Antiqua"/>
              </a:rPr>
              <a:t>(3</a:t>
            </a:r>
            <a:r>
              <a:rPr sz="1200" b="0" i="1" dirty="0">
                <a:latin typeface="Bookman Old Style"/>
                <a:cs typeface="Bookman Old Style"/>
              </a:rPr>
              <a:t>,</a:t>
            </a:r>
            <a:r>
              <a:rPr sz="1200" b="0" i="1" spc="-130" dirty="0">
                <a:latin typeface="Bookman Old Style"/>
                <a:cs typeface="Bookman Old Style"/>
              </a:rPr>
              <a:t> </a:t>
            </a:r>
            <a:r>
              <a:rPr sz="1200" dirty="0">
                <a:latin typeface="Lucida Sans Unicode"/>
                <a:cs typeface="Lucida Sans Unicode"/>
              </a:rPr>
              <a:t>−</a:t>
            </a:r>
            <a:r>
              <a:rPr sz="1200" dirty="0">
                <a:latin typeface="Book Antiqua"/>
                <a:cs typeface="Book Antiqua"/>
              </a:rPr>
              <a:t>1)</a:t>
            </a:r>
            <a:r>
              <a:rPr sz="1200" spc="114" dirty="0">
                <a:latin typeface="Book Antiqua"/>
                <a:cs typeface="Book Antiqua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уравненията </a:t>
            </a:r>
            <a:r>
              <a:rPr sz="1200" dirty="0">
                <a:latin typeface="Times New Roman"/>
                <a:cs typeface="Times New Roman"/>
              </a:rPr>
              <a:t>на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медианата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m</a:t>
            </a:r>
            <a:r>
              <a:rPr sz="1200" i="1" baseline="-13888" dirty="0">
                <a:latin typeface="Book Antiqua"/>
                <a:cs typeface="Book Antiqua"/>
              </a:rPr>
              <a:t>B</a:t>
            </a:r>
            <a:r>
              <a:rPr sz="1200" i="1" spc="405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75" dirty="0">
                <a:latin typeface="Book Antiqua"/>
                <a:cs typeface="Book Antiqua"/>
              </a:rPr>
              <a:t> </a:t>
            </a:r>
            <a:r>
              <a:rPr sz="1200" spc="-10" dirty="0">
                <a:latin typeface="Book Antiqua"/>
                <a:cs typeface="Book Antiqua"/>
              </a:rPr>
              <a:t>6</a:t>
            </a:r>
            <a:r>
              <a:rPr sz="1200" b="0" i="1" spc="-10" dirty="0">
                <a:latin typeface="Bookman Old Style"/>
                <a:cs typeface="Bookman Old Style"/>
              </a:rPr>
              <a:t>x</a:t>
            </a:r>
            <a:r>
              <a:rPr sz="1200" b="0" i="1" spc="-75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5" dirty="0">
                <a:latin typeface="Book Antiqua"/>
                <a:cs typeface="Book Antiqua"/>
              </a:rPr>
              <a:t> </a:t>
            </a:r>
            <a:r>
              <a:rPr sz="1200" spc="-70" dirty="0">
                <a:latin typeface="Book Antiqua"/>
                <a:cs typeface="Book Antiqua"/>
              </a:rPr>
              <a:t>10</a:t>
            </a:r>
            <a:r>
              <a:rPr sz="1200" b="0" i="1" spc="-70" dirty="0">
                <a:latin typeface="Bookman Old Style"/>
                <a:cs typeface="Bookman Old Style"/>
              </a:rPr>
              <a:t>y</a:t>
            </a:r>
            <a:r>
              <a:rPr sz="1200" b="0" i="1" spc="-2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95" dirty="0">
                <a:latin typeface="Lucida Sans Unicode"/>
                <a:cs typeface="Lucida Sans Unicode"/>
              </a:rPr>
              <a:t> </a:t>
            </a:r>
            <a:r>
              <a:rPr sz="1200" dirty="0">
                <a:latin typeface="Book Antiqua"/>
                <a:cs typeface="Book Antiqua"/>
              </a:rPr>
              <a:t>59</a:t>
            </a:r>
            <a:r>
              <a:rPr sz="1200" spc="7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60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0</a:t>
            </a:r>
            <a:r>
              <a:rPr sz="1200" spc="130" dirty="0">
                <a:latin typeface="Book Antiqua"/>
                <a:cs typeface="Book Antiqua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ъглополовящата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l</a:t>
            </a:r>
            <a:r>
              <a:rPr sz="1200" i="1" baseline="-13888" dirty="0">
                <a:latin typeface="Book Antiqua"/>
                <a:cs typeface="Book Antiqua"/>
              </a:rPr>
              <a:t>C</a:t>
            </a:r>
            <a:r>
              <a:rPr sz="1200" i="1" spc="442" baseline="-13888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:</a:t>
            </a:r>
            <a:r>
              <a:rPr sz="1200" spc="70" dirty="0">
                <a:latin typeface="Book Antiqua"/>
                <a:cs typeface="Book Antiqua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x</a:t>
            </a:r>
            <a:r>
              <a:rPr sz="1200" b="0" i="1" spc="-60" dirty="0">
                <a:latin typeface="Bookman Old Style"/>
                <a:cs typeface="Bookman Old Styl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−</a:t>
            </a:r>
            <a:r>
              <a:rPr sz="1200" spc="-95" dirty="0">
                <a:latin typeface="Lucida Sans Unicode"/>
                <a:cs typeface="Lucida Sans Unicode"/>
              </a:rPr>
              <a:t> </a:t>
            </a:r>
            <a:r>
              <a:rPr sz="1200" spc="-90" dirty="0">
                <a:latin typeface="Book Antiqua"/>
                <a:cs typeface="Book Antiqua"/>
              </a:rPr>
              <a:t>4</a:t>
            </a:r>
            <a:r>
              <a:rPr sz="1200" b="0" i="1" spc="-90" dirty="0">
                <a:latin typeface="Bookman Old Style"/>
                <a:cs typeface="Bookman Old Style"/>
              </a:rPr>
              <a:t>y</a:t>
            </a:r>
            <a:r>
              <a:rPr sz="1200" b="0" i="1" spc="-2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+</a:t>
            </a:r>
            <a:r>
              <a:rPr sz="1200" spc="-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10</a:t>
            </a:r>
            <a:r>
              <a:rPr sz="1200" spc="75" dirty="0">
                <a:latin typeface="Book Antiqua"/>
                <a:cs typeface="Book Antiqua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65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0</a:t>
            </a:r>
            <a:r>
              <a:rPr sz="1200" spc="-25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R="156210" algn="r">
              <a:lnSpc>
                <a:spcPct val="100000"/>
              </a:lnSpc>
              <a:spcBef>
                <a:spcPts val="1450"/>
              </a:spcBef>
            </a:pPr>
            <a:r>
              <a:rPr sz="1200" dirty="0">
                <a:latin typeface="Times New Roman"/>
                <a:cs typeface="Times New Roman"/>
              </a:rPr>
              <a:t>Отг.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Bookman Old Style"/>
                <a:cs typeface="Bookman Old Style"/>
              </a:rPr>
              <a:t>S</a:t>
            </a:r>
            <a:r>
              <a:rPr sz="1200" b="0" i="1" spc="30" dirty="0">
                <a:latin typeface="Bookman Old Style"/>
                <a:cs typeface="Bookman Old Style"/>
              </a:rPr>
              <a:t> </a:t>
            </a:r>
            <a:r>
              <a:rPr sz="1200" spc="180" dirty="0">
                <a:latin typeface="Book Antiqua"/>
                <a:cs typeface="Book Antiqua"/>
              </a:rPr>
              <a:t>=</a:t>
            </a:r>
            <a:r>
              <a:rPr sz="1200" spc="30" dirty="0">
                <a:latin typeface="Book Antiqua"/>
                <a:cs typeface="Book Antiqua"/>
              </a:rPr>
              <a:t> </a:t>
            </a:r>
            <a:r>
              <a:rPr sz="1200" spc="-25" dirty="0">
                <a:latin typeface="Book Antiqua"/>
                <a:cs typeface="Book Antiqua"/>
              </a:rPr>
              <a:t>51</a:t>
            </a:r>
            <a:endParaRPr sz="1200" dirty="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8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86029B83A6C60E4E8E76FBB39EFC46EF" ma:contentTypeVersion="4" ma:contentTypeDescription="Създаване на нов документ" ma:contentTypeScope="" ma:versionID="6a3849aa6f9ef5dc23182014ac50975a">
  <xsd:schema xmlns:xsd="http://www.w3.org/2001/XMLSchema" xmlns:xs="http://www.w3.org/2001/XMLSchema" xmlns:p="http://schemas.microsoft.com/office/2006/metadata/properties" xmlns:ns2="965eb245-00d1-4304-8ecd-44747c24bd45" targetNamespace="http://schemas.microsoft.com/office/2006/metadata/properties" ma:root="true" ma:fieldsID="885d900a6479a8c2c8dd4f95ca1054e3" ns2:_="">
    <xsd:import namespace="965eb245-00d1-4304-8ecd-44747c24bd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5eb245-00d1-4304-8ecd-44747c24b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FB399D5-28AB-4DD4-873A-FE2881FDBA89}"/>
</file>

<file path=customXml/itemProps2.xml><?xml version="1.0" encoding="utf-8"?>
<ds:datastoreItem xmlns:ds="http://schemas.openxmlformats.org/officeDocument/2006/customXml" ds:itemID="{3AD3945B-9413-4313-B7A2-D85296800298}"/>
</file>

<file path=customXml/itemProps3.xml><?xml version="1.0" encoding="utf-8"?>
<ds:datastoreItem xmlns:ds="http://schemas.openxmlformats.org/officeDocument/2006/customXml" ds:itemID="{8CFDDEAF-EA8C-4EEF-9E8D-3FEEE6CF618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</TotalTime>
  <Words>4556</Words>
  <Application>Microsoft Office PowerPoint</Application>
  <PresentationFormat>Custom</PresentationFormat>
  <Paragraphs>345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SimSun</vt:lpstr>
      <vt:lpstr>Arial</vt:lpstr>
      <vt:lpstr>Book Antiqua</vt:lpstr>
      <vt:lpstr>Bookman Old Style</vt:lpstr>
      <vt:lpstr>Cambria</vt:lpstr>
      <vt:lpstr>Cambria Math</vt:lpstr>
      <vt:lpstr>Century</vt:lpstr>
      <vt:lpstr>Comic Sans MS</vt:lpstr>
      <vt:lpstr>Garamond</vt:lpstr>
      <vt:lpstr>Lucida Sans Unicode</vt:lpstr>
      <vt:lpstr>Symbol</vt:lpstr>
      <vt:lpstr>Times New Roman</vt:lpstr>
      <vt:lpstr>Trebuchet MS</vt:lpstr>
      <vt:lpstr>Verdana Pro Cond Light</vt:lpstr>
      <vt:lpstr>Office Theme</vt:lpstr>
      <vt:lpstr>TEMA 1 : Права в равнината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BMI_2012_AG.dvi</dc:title>
  <dc:creator>Гергана Цветкова</dc:creator>
  <cp:lastModifiedBy>Гергана Цветкова</cp:lastModifiedBy>
  <cp:revision>3</cp:revision>
  <dcterms:created xsi:type="dcterms:W3CDTF">2025-02-06T09:58:48Z</dcterms:created>
  <dcterms:modified xsi:type="dcterms:W3CDTF">2025-02-22T18:44:24Z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2013-03-26T00:00:00Z</vt:filetime>
  </property>
  <property fmtid="{D5CDD505-2E9C-101B-9397-08002B2CF9AE}" pid="3" name="Creator">
    <vt:lpwstr>dvips(k) 5.99 Copyright 2010 Radical Eye Software</vt:lpwstr>
  </property>
  <property fmtid="{D5CDD505-2E9C-101B-9397-08002B2CF9AE}" pid="4" name="LastSaved">
    <vt:filetime>2025-02-06T00:00:00Z</vt:filetime>
  </property>
  <property fmtid="{D5CDD505-2E9C-101B-9397-08002B2CF9AE}" pid="5" name="ContentTypeId">
    <vt:lpwstr>0x01010086029B83A6C60E4E8E76FBB39EFC46EF</vt:lpwstr>
  </property>
</Properties>
</file>
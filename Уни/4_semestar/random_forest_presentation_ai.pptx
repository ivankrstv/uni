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65760"/>
            <a:ext cx="1280160" cy="1280160"/>
          </a:xfrm>
          <a:prstGeom prst="ellipse">
            <a:avLst/>
          </a:prstGeom>
          <a:solidFill>
            <a:srgbClr val="97BC62">
              <a:alpha val="4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914400" cy="914400"/>
          </a:xfrm>
          <a:prstGeom prst="ellipse">
            <a:avLst/>
          </a:prstGeom>
          <a:solidFill>
            <a:srgbClr val="97BC62">
              <a:alpha val="25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657600"/>
            <a:ext cx="1463040" cy="1463040"/>
          </a:xfrm>
          <a:prstGeom prst="ellipse">
            <a:avLst/>
          </a:prstGeom>
          <a:solidFill>
            <a:srgbClr val="97BC62">
              <a:alpha val="35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4114800"/>
            <a:ext cx="914400" cy="914400"/>
          </a:xfrm>
          <a:prstGeom prst="ellipse">
            <a:avLst/>
          </a:prstGeom>
          <a:solidFill>
            <a:srgbClr val="97BC62">
              <a:alpha val="2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Случайна гора — мъдростта на колектива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0" y="3017520"/>
            <a:ext cx="18288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Изготвил: Иван Георгиев Кръстев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 — Варна  |  Изкуствен интелект, гр. 1а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Реферат по „Основи на изкуствения интелект“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Какво е Random Forest?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Ансамблов алгоритъм за машинно обучение,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съставен от множество дървета на решенията,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които работят заедно.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„Вместо да разчиташ на едно мнение,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питаш много експерти и взимаш решение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според мнозинството.“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94960" y="1280160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0" y="1280160"/>
            <a:ext cx="73152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7784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Breiman, 2001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2194560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94960" y="2194560"/>
            <a:ext cx="73152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Класификация + регресия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94960" y="3108960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3108960"/>
            <a:ext cx="73152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АНСАМБЪЛ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7784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|  Иван Кръстев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Дърво на решенията — основата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Йерархична структура от въпроси, която води до отговор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80160" y="1554480"/>
            <a:ext cx="128016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554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 ли?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2103120"/>
            <a:ext cx="-548640" cy="914400"/>
          </a:xfrm>
          <a:prstGeom prst="line">
            <a:avLst/>
          </a:prstGeom>
          <a:noFill/>
          <a:ln w="19050">
            <a:solidFill>
              <a:srgbClr val="5A6B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2103120"/>
            <a:ext cx="548640" cy="914400"/>
          </a:xfrm>
          <a:prstGeom prst="line">
            <a:avLst/>
          </a:prstGeom>
          <a:noFill/>
          <a:ln w="19050">
            <a:solidFill>
              <a:srgbClr val="5A6B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017520"/>
            <a:ext cx="1188720" cy="5486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Стой вкъщи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3017520"/>
            <a:ext cx="1280160" cy="5486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017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Студено?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3566160"/>
            <a:ext cx="-365760" cy="640080"/>
          </a:xfrm>
          <a:prstGeom prst="line">
            <a:avLst/>
          </a:prstGeom>
          <a:noFill/>
          <a:ln w="19050">
            <a:solidFill>
              <a:srgbClr val="5A6B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3566160"/>
            <a:ext cx="365760" cy="640080"/>
          </a:xfrm>
          <a:prstGeom prst="line">
            <a:avLst/>
          </a:prstGeom>
          <a:noFill/>
          <a:ln w="19050">
            <a:solidFill>
              <a:srgbClr val="5A6B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4160520"/>
            <a:ext cx="11887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4160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Облечи яке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4160520"/>
            <a:ext cx="11887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4160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Излез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1645920"/>
            <a:ext cx="320040" cy="3200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Първото и най-важно разделяне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2560320"/>
            <a:ext cx="320040" cy="3200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Вътрешни възли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Задават нови въпроси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3474720"/>
            <a:ext cx="320040" cy="3200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Окончателното решение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|  Иван Кръстев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Критерии за разделяне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алгоритъмът избира кой въпрос да зададе пръв?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402336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на Джини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Gini(S) = 1 — Σ(pᵢ)²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 случайно избран елемент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бъде неправилно класифициран.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чисто множество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 стойност = смесени класове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463040"/>
            <a:ext cx="402336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Ентропия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H(S) = − Σ pᵢ · log₂(pᵢ)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7889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Идва от теорията на информацията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Клод Шанон.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Измерва „изненадата“ или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несигурността в множеството.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|  Иван Кръстев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Проблемът: Overfitting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Когато едно дърво стане „прекалено умно“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91440" cy="1188720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Аналогията със студента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 наизуст всички упражнения от учебника, но на изпита се проваля, защото не е разбрал принципите — само е запомнил конкретните примери.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Техники за борба с overfitting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246888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Ограничаване на дълбочината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383280"/>
            <a:ext cx="246888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примери в лист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3383280"/>
            <a:ext cx="2468880" cy="109728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Премахване на маловажни клони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|  Иван Кръстев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Ансамблово обучение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Много „слаби“ модели → един „силен“ резултат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68880"/>
            <a:ext cx="91440" cy="2011680"/>
          </a:xfrm>
          <a:prstGeom prst="rect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Паралелно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Тренира много модели едновременно върху различни подмножества данни.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Random Forest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46888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468880"/>
            <a:ext cx="91440" cy="2011680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Последователно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2918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Всеки следващ модел се концентрира върху грешките на предишния.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XGBoost, AdaBoost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|  Иван Кръстев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Bootstrap Aggregating (Bagging)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Вземане на извадки с повторение от тренировъчния набор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Аналогията с топчетата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Чанта със 100 номерирани топчета.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Вадиш едно, записваш го,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връщаш го обратно. Повтаряш 100 пъти.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Някои се повтарят, други липсват.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Всяко дърво „вижда“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леко различен свят.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463040"/>
            <a:ext cx="2926080" cy="141732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554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63.2%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извадката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3063240"/>
            <a:ext cx="2926080" cy="1417320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3154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36.8%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576072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Out-of-Bag (OOB)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|  Иван Кръстев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Случайност при признаците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Ключовото нововъведение на Random Forest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91440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 един признак е значително по-информативен, всички дървета го избират като корен → силно корелирани дървета → слаб ансамбъл.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14600"/>
            <a:ext cx="9144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06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всяко разделяне разглеждай само случайно подмножество от m признаци, не всичките 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4023360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√p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63440" y="3657600"/>
            <a:ext cx="4023360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Регресия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p / 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|  Иван Кръстев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Алгоритъмът стъпка по стъпка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7315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26187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Хиперпараметри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55448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Задаваме K, m, max_depth, min_samples_split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371600" y="2057400"/>
            <a:ext cx="7315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13055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извадки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42316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Генерираме K извадки с повторение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371600" y="2926080"/>
            <a:ext cx="7315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299923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Изграждане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29184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всеки възел: m случайни признака, най-добро разделяне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94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371600" y="3794760"/>
            <a:ext cx="7315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386791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Гласуване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416052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Класификация: мнозинство  |  Регресия: средна стойност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|  Иван Кръстев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Основни хиперпараметри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Настройки, които задаваме преди обучението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Брой дървета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Типично 100–1000. Повече = по-стабилно, но по-бавно.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Признаци за разглеждане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√p за класификация, p/3 за регресия.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Максимална дълбочина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По-дълбоки = по-сложни зависимости, риск от overfitting.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min_samples_split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за разделяне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Предпазва от свръхспецифични разделяния. Типично 2–20.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|  Иван Кръстев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Предимства и недостатъци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ПРЕДИМСТВА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 точност от начало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 на шум и outliers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изисква нормализация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оценка „безплатно“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Числови + категориални данни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402336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НЕДОСТАТЪЦИ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Слаба интерпретируемост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„Черна кутия“ при много дървета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Изчислително тежък при големи 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 с небалансирани класове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Изисква повече памет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|  Иван Кръстев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Приложения в реалния свят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на рак, риск от диабет, класификация на инсулт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57784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7784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Кредитен рейтинг, разкриване на измами, оценка на риск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37160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Екология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Сателитни изображения, прогноза на пожари, добив на реколти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37744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57784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77840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Спам филтри, sentiment analysis, класификация на документи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37160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Биоинформатика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069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на гени, GWAS анализ, генетичен профил на тумори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56616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57784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4069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Препоръчителни системи, churn prediction, детекция на ботове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|  Иван Кръстев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97BC62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657600"/>
            <a:ext cx="1828800" cy="1828800"/>
          </a:xfrm>
          <a:prstGeom prst="ellipse">
            <a:avLst/>
          </a:prstGeom>
          <a:solidFill>
            <a:srgbClr val="97BC62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274320"/>
            <a:ext cx="1280160" cy="1280160"/>
          </a:xfrm>
          <a:prstGeom prst="ellipse">
            <a:avLst/>
          </a:prstGeom>
          <a:solidFill>
            <a:srgbClr val="D4A017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Благодаря за вниманието!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657600" y="2331720"/>
            <a:ext cx="18288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„Никое единично дърво не може да устои на бурята,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но гората оцелява.“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Въпроси?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Forest</dc:title>
  <dc:subject>PptxGenJS Presentation</dc:subject>
  <dc:creator>Иван Георгиев Кръстев</dc:creator>
  <cp:lastModifiedBy>Иван Георгиев Кръстев</cp:lastModifiedBy>
  <cp:revision>1</cp:revision>
  <dcterms:created xsi:type="dcterms:W3CDTF">2026-05-10T15:51:46Z</dcterms:created>
  <dcterms:modified xsi:type="dcterms:W3CDTF">2026-05-10T15:51:46Z</dcterms:modified>
</cp:coreProperties>
</file>
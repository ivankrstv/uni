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6366"/>
  </p:normalViewPr>
  <p:slideViewPr>
    <p:cSldViewPr snapToGrid="0" snapToObjects="1">
      <p:cViewPr varScale="1">
        <p:scale>
          <a:sx n="152" d="100"/>
          <a:sy n="152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67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59A48-FD6D-D7ED-22D1-967CBC24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083F6-467F-4673-2371-8325C84C4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B244C-40F0-22BD-06A6-BA80F0734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577A6-6EAE-F2D5-6419-3E83FC5BD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41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65760"/>
            <a:ext cx="1280160" cy="1280160"/>
          </a:xfrm>
          <a:prstGeom prst="ellipse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914400" cy="91440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3657600"/>
            <a:ext cx="1463040" cy="1463040"/>
          </a:xfrm>
          <a:prstGeom prst="ellipse">
            <a:avLst/>
          </a:prstGeom>
          <a:solidFill>
            <a:srgbClr val="97BC62">
              <a:alpha val="35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4114800"/>
            <a:ext cx="914400" cy="914400"/>
          </a:xfrm>
          <a:prstGeom prst="ellipse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657600" y="3017520"/>
            <a:ext cx="1828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Изготвил: Иван Георгиев Кръстев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 — Варна  |  Изкуствен интелект, гр. 1а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е Random Forest?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Ансамблов алгоритъм за машинно обучение,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съставен от множество дървета на решенията,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които работят заедно.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0" y="12801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94960" y="1280160"/>
            <a:ext cx="7315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77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Breiman, 2001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1945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94960" y="2194560"/>
            <a:ext cx="7315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 + регресия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31089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3108960"/>
            <a:ext cx="7315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АНСАМБЪЛ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Дърво на решенията — основата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Йерархична структура от въпроси, която води до отговор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128016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 ли?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2103120"/>
            <a:ext cx="0" cy="91440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548640" cy="91440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118872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 вкъщи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017520"/>
            <a:ext cx="128016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Студено?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566160"/>
            <a:ext cx="0" cy="64008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3566160"/>
            <a:ext cx="365760" cy="64008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54480" y="4160520"/>
            <a:ext cx="11887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Облечи яке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4160520"/>
            <a:ext cx="11887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Излез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645920"/>
            <a:ext cx="320040" cy="320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Първото и най-важно разделяне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Вътрешни възли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Задават нови въпроси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47472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Окончателното решение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48BCD8-FEC6-BBE9-E05A-11F0752CD001}"/>
              </a:ext>
            </a:extLst>
          </p:cNvPr>
          <p:cNvSpPr txBox="1"/>
          <p:nvPr/>
        </p:nvSpPr>
        <p:spPr>
          <a:xfrm>
            <a:off x="955040" y="2351008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Да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591F1F-A8F5-4EB7-A65F-AF2C5C7C0CD3}"/>
              </a:ext>
            </a:extLst>
          </p:cNvPr>
          <p:cNvSpPr txBox="1"/>
          <p:nvPr/>
        </p:nvSpPr>
        <p:spPr>
          <a:xfrm>
            <a:off x="2666218" y="2347100"/>
            <a:ext cx="519723" cy="379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Не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52196B-8BB8-4EB9-B6F7-6FAF2B58DCB5}"/>
              </a:ext>
            </a:extLst>
          </p:cNvPr>
          <p:cNvSpPr txBox="1"/>
          <p:nvPr/>
        </p:nvSpPr>
        <p:spPr>
          <a:xfrm>
            <a:off x="2065610" y="3678674"/>
            <a:ext cx="494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Да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FB256B-4E80-1306-496D-6131298BCF08}"/>
              </a:ext>
            </a:extLst>
          </p:cNvPr>
          <p:cNvSpPr txBox="1"/>
          <p:nvPr/>
        </p:nvSpPr>
        <p:spPr>
          <a:xfrm>
            <a:off x="3566159" y="3672868"/>
            <a:ext cx="64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Не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Критерии за разделяне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алгоритъмът избира кой въпрос да зададе пръв?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на Джини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Gini(S) = 1 — Σ(pᵢ)²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 случайно избран елемент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бъде неправилно класифициран.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чисто множество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стойност = смесени класове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Ентропия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H(S) = − Σ pᵢ · log₂(pᵢ)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7889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Идва от теорията на информацията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Клод Шанон.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Измерва „изненадата“ или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несигурността в множеството.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Проблемът: Overfitting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едно дърво стане „прекалено умно“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Техники за борба с overfitting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46888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Ограничаване на дълбочината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46888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примери в лист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246888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Премахване на маловажни клони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89B882-9DEC-A8C2-CBA8-804DD431CB8A}"/>
              </a:ext>
            </a:extLst>
          </p:cNvPr>
          <p:cNvSpPr txBox="1"/>
          <p:nvPr/>
        </p:nvSpPr>
        <p:spPr>
          <a:xfrm>
            <a:off x="457200" y="1672493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Прекалено обученото дърво научава шума в данните, а не истинските закономерности.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03224-8385-28CB-B792-0B7461F1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5A3161-5A79-FF74-816B-6E18AE00E1C8}"/>
              </a:ext>
            </a:extLst>
          </p:cNvPr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Проблемът: Overfitting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F46893-B710-3826-87ED-75697542CC9A}"/>
              </a:ext>
            </a:extLst>
          </p:cNvPr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1400" i="1" dirty="0">
                <a:solidFill>
                  <a:srgbClr val="5A6B5C"/>
                </a:solidFill>
                <a:latin typeface="Calibri" pitchFamily="34" charset="0"/>
                <a:cs typeface="Calibri" pitchFamily="34" charset="-120"/>
              </a:rPr>
              <a:t>“Подрязване” на излишни клони</a:t>
            </a:r>
            <a:endParaRPr lang="en-US" sz="1400" dirty="0"/>
          </a:p>
        </p:txBody>
      </p:sp>
      <p:pic>
        <p:nvPicPr>
          <p:cNvPr id="4" name="Picture 3" descr="Overfitting and Pruning in Decision Trees — Improving Model's Accuracy | by  Rishika Ravindran | Nerd For Tech | Medium">
            <a:extLst>
              <a:ext uri="{FF2B5EF4-FFF2-40B4-BE49-F238E27FC236}">
                <a16:creationId xmlns:a16="http://schemas.microsoft.com/office/drawing/2014/main" id="{5392B26C-F0EE-DB2B-4900-EEE90B44D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0" y="1399540"/>
            <a:ext cx="7248299" cy="34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64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Ансамблово обучение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Много „слаби“ модели → един „силен“ резултат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91440" cy="2011680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Паралелно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Тренира много модели едновременно върху различни подмножества данни.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4688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91440" cy="201168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Последователно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следващ модел се концентрира върху грешките на предишния.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XGBoost, AdaBoost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Aggregating (Bagging)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Вземане на извадки с повторение от тренировъчния набор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292608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63.2%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извадката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3063240"/>
            <a:ext cx="2926080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36.8%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76072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(OOB)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pic>
        <p:nvPicPr>
          <p:cNvPr id="13" name="Picture 12" descr="What is Bootstrap Sampling? A Guide to Understand it Better">
            <a:extLst>
              <a:ext uri="{FF2B5EF4-FFF2-40B4-BE49-F238E27FC236}">
                <a16:creationId xmlns:a16="http://schemas.microsoft.com/office/drawing/2014/main" id="{63DDC113-A949-87BE-7EB9-494F12F13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4" y="1874520"/>
            <a:ext cx="5304885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Случайност при признаците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Ключовото нововъведение на Random Forest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4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един признак е значително по-информативен, всички дървета го избират като корен → силно корелирани дървета → слаб ансамбъл.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9144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всяко разделяне разглеждай само случайно подмножество от m признаци, не всичките 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02336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√p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402336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p / 3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Алгоритъмът стъпка по стъпка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12618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Хиперпараметри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Задаваме K, m, max_depth, min_samples_split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05740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0" y="21305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извадки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4231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Генерираме K извадки с повторение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71600" y="292608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29992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Изграждан</a:t>
            </a:r>
            <a:r>
              <a:rPr lang="bg-BG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 на дървото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291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всеки възел: m случайни признака, най-добро разделяне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371600" y="379476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54480" y="38679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Гласуване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1605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Класификация: мнозинство  |  Регресия: средна стойност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Основни хиперпараметри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Настройки, които задаваме преди обучението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Брой дървета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Типично 100–1000. Повече = по-стабилно, но по-бавно.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Признаци за разглеждане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√p за класификация, p/3 за регресия.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Максимална дълбочина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По-дълбоки = по-сложни зависимости, риск от overfitting.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за разделяне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Предпазва от свръхспецифични разделяния. Типично 2–20.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Предимства и недостатъци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ПРЕДИМСТВА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точност от начало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 на шум и outliers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изисква нормализация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оценка „безплатно“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Числови + категориални данни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НЕДОСТАТЪЦИ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 интерпретируемост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„Черна кутия“ при много дървета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Изчислително тежък при големи 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 с небалансирани класове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Изисква повече памет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Приложения в реалния свят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на рак, риск от диабет, класификация на инсулт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Кредитен рейтинг, разкриване на измами, оценка на риск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Екология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Сателитни изображения, прогноза на пожари, добив на реколти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5778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филтри, sentiment analysis, класификация на документи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Биоинформатика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069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на гени, GWAS анализ, генетичен профил на тумори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5778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4069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Препоръчителни системи, churn prediction, детекция на ботове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1828800" cy="1828800"/>
          </a:xfrm>
          <a:prstGeom prst="ellipse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274320"/>
            <a:ext cx="1280160" cy="1280160"/>
          </a:xfrm>
          <a:prstGeom prst="ellipse">
            <a:avLst/>
          </a:prstGeom>
          <a:solidFill>
            <a:srgbClr val="D4A017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Благодаря за вниманието!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0" y="2331720"/>
            <a:ext cx="1828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624</Words>
  <Application>Microsoft Macintosh PowerPoint</Application>
  <PresentationFormat>On-screen Show (16:9)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subject>PptxGenJS Presentation</dc:subject>
  <dc:creator>Иван Георгиев Кръстев</dc:creator>
  <cp:lastModifiedBy>Ivann9</cp:lastModifiedBy>
  <cp:revision>3</cp:revision>
  <dcterms:created xsi:type="dcterms:W3CDTF">2026-05-10T15:51:46Z</dcterms:created>
  <dcterms:modified xsi:type="dcterms:W3CDTF">2026-05-13T18:37:07Z</dcterms:modified>
</cp:coreProperties>
</file>
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7008"/>
    <p:restoredTop sz="96366"/>
  </p:normalViewPr>
  <p:slideViewPr>
    <p:cSldViewPr snapToGrid="0" snapToObjects="1">
      <p:cViewPr varScale="1">
        <p:scale>
          <a:sx n="163" d="100"/>
          <a:sy n="163" d="100"/>
        </p:scale>
        <p:origin x="184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9106753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9A48-FD6D-D7ED-22D1-967CBC24E0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9083F6-467F-4673-2371-8325C84C4A3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BB244C-40F0-22BD-06A6-BA80F0734E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5577A6-6EAE-F2D5-6419-3E83FC5BD7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44198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7498080" y="365760"/>
            <a:ext cx="1280160" cy="1280160"/>
          </a:xfrm>
          <a:prstGeom prst="ellipse">
            <a:avLst/>
          </a:prstGeom>
          <a:solidFill>
            <a:srgbClr val="97BC62">
              <a:alpha val="40000"/>
            </a:srgbClr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858000" y="1371600"/>
            <a:ext cx="914400" cy="914400"/>
          </a:xfrm>
          <a:prstGeom prst="ellipse">
            <a:avLst/>
          </a:prstGeom>
          <a:solidFill>
            <a:srgbClr val="97BC62">
              <a:alpha val="25000"/>
            </a:srgbClr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274320" y="3657600"/>
            <a:ext cx="1463040" cy="1463040"/>
          </a:xfrm>
          <a:prstGeom prst="ellipse">
            <a:avLst/>
          </a:prstGeom>
          <a:solidFill>
            <a:srgbClr val="97BC62">
              <a:alpha val="35000"/>
            </a:srgbClr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1554480" y="4114800"/>
            <a:ext cx="914400" cy="914400"/>
          </a:xfrm>
          <a:prstGeom prst="ellipse">
            <a:avLst/>
          </a:prstGeom>
          <a:solidFill>
            <a:srgbClr val="97BC62">
              <a:alpha val="20000"/>
            </a:srgbClr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57200" y="1463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kern="0" spc="4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RANDOM FOREST</a:t>
            </a:r>
            <a:endParaRPr lang="en-US" sz="5400" dirty="0"/>
          </a:p>
        </p:txBody>
      </p:sp>
      <p:sp>
        <p:nvSpPr>
          <p:cNvPr id="8" name="Shape 6"/>
          <p:cNvSpPr/>
          <p:nvPr/>
        </p:nvSpPr>
        <p:spPr>
          <a:xfrm>
            <a:off x="3657600" y="3017520"/>
            <a:ext cx="1828800" cy="0"/>
          </a:xfrm>
          <a:prstGeom prst="line">
            <a:avLst/>
          </a:prstGeom>
          <a:noFill/>
          <a:ln w="254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32918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Изготвил: Иван Георгиев Кръстев</a:t>
            </a:r>
            <a:endParaRPr lang="en-US" sz="1400" dirty="0"/>
          </a:p>
          <a:p>
            <a:pPr marL="0" indent="0" algn="ctr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ТУ — Варна  |  Изкуствен интелект, гр. 1а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Какво е Random Forest?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1280160"/>
            <a:ext cx="4572000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Ансамблов алгоритъм за машинно обучение,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съставен от множество дървета на решенията,</a:t>
            </a:r>
            <a:endParaRPr lang="en-US" sz="1600" dirty="0"/>
          </a:p>
          <a:p>
            <a:pPr marL="0" indent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които работят заедно.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394960" y="128016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5394960" y="1280160"/>
            <a:ext cx="73152" cy="77724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577840" y="13716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АВТОР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5577840" y="16459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Leo Breiman, 2001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394960" y="219456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5394960" y="2194560"/>
            <a:ext cx="73152" cy="77724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577840" y="22860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577840" y="25603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Класификация + регресия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394960" y="3108960"/>
            <a:ext cx="338328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5394960" y="3108960"/>
            <a:ext cx="73152" cy="77724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577840" y="3200400"/>
            <a:ext cx="3108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 АНСАМБЪЛ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5577840" y="347472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Дърво на решенията — основата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Йерархична структура от въпроси, която води до отговор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1280160" y="1554480"/>
            <a:ext cx="1280160" cy="5486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1280160" y="155448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Вали ли?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463040" y="2103120"/>
            <a:ext cx="0" cy="914400"/>
          </a:xfrm>
          <a:prstGeom prst="line">
            <a:avLst/>
          </a:prstGeom>
          <a:noFill/>
          <a:ln w="19050">
            <a:solidFill>
              <a:srgbClr val="5A6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5"/>
          <p:cNvSpPr/>
          <p:nvPr/>
        </p:nvSpPr>
        <p:spPr>
          <a:xfrm>
            <a:off x="2286000" y="2103120"/>
            <a:ext cx="548640" cy="914400"/>
          </a:xfrm>
          <a:prstGeom prst="line">
            <a:avLst/>
          </a:prstGeom>
          <a:noFill/>
          <a:ln w="19050">
            <a:solidFill>
              <a:srgbClr val="5A6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365760" y="3017520"/>
            <a:ext cx="1188720" cy="548640"/>
          </a:xfrm>
          <a:prstGeom prst="ellipse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65760" y="3017520"/>
            <a:ext cx="1188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Стой вкъщи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3017520"/>
            <a:ext cx="1280160" cy="5486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2286000" y="3017520"/>
            <a:ext cx="1280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Студено?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560320" y="3566160"/>
            <a:ext cx="0" cy="640080"/>
          </a:xfrm>
          <a:prstGeom prst="line">
            <a:avLst/>
          </a:prstGeom>
          <a:noFill/>
          <a:ln w="19050">
            <a:solidFill>
              <a:srgbClr val="5A6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0" y="3566160"/>
            <a:ext cx="365760" cy="640080"/>
          </a:xfrm>
          <a:prstGeom prst="line">
            <a:avLst/>
          </a:prstGeom>
          <a:noFill/>
          <a:ln w="19050">
            <a:solidFill>
              <a:srgbClr val="5A6B5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1554480" y="4160520"/>
            <a:ext cx="1188720" cy="502920"/>
          </a:xfrm>
          <a:prstGeom prst="ellipse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155448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Облечи яке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3108960" y="4160520"/>
            <a:ext cx="1188720" cy="502920"/>
          </a:xfrm>
          <a:prstGeom prst="ellipse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3108960" y="4160520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Излез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5029200" y="1645920"/>
            <a:ext cx="320040" cy="32004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5486400" y="15544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5486400" y="19202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Първото и най-важно разделяне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029200" y="2560320"/>
            <a:ext cx="320040" cy="320040"/>
          </a:xfrm>
          <a:prstGeom prst="ellipse">
            <a:avLst/>
          </a:prstGeom>
          <a:solidFill>
            <a:srgbClr val="97BC6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486400" y="24688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Вътрешни възли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5486400" y="28346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Задават нови въпроси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029200" y="3474720"/>
            <a:ext cx="320040" cy="320040"/>
          </a:xfrm>
          <a:prstGeom prst="ellipse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5486400" y="3383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Листа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486400" y="37490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Окончателното решение</a:t>
            </a:r>
            <a:endParaRPr lang="en-US" sz="12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748BCD8-FEC6-BBE9-E05A-11F0752CD001}"/>
              </a:ext>
            </a:extLst>
          </p:cNvPr>
          <p:cNvSpPr txBox="1"/>
          <p:nvPr/>
        </p:nvSpPr>
        <p:spPr>
          <a:xfrm>
            <a:off x="955040" y="2351008"/>
            <a:ext cx="4673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/>
              <a:t>Да</a:t>
            </a:r>
            <a:endParaRPr lang="en-US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B591F1F-A8F5-4EB7-A65F-AF2C5C7C0CD3}"/>
              </a:ext>
            </a:extLst>
          </p:cNvPr>
          <p:cNvSpPr txBox="1"/>
          <p:nvPr/>
        </p:nvSpPr>
        <p:spPr>
          <a:xfrm>
            <a:off x="2666218" y="2347100"/>
            <a:ext cx="519723" cy="3790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/>
              <a:t>Не</a:t>
            </a:r>
            <a:endParaRPr lang="en-US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952196B-8BB8-4EB9-B6F7-6FAF2B58DCB5}"/>
              </a:ext>
            </a:extLst>
          </p:cNvPr>
          <p:cNvSpPr txBox="1"/>
          <p:nvPr/>
        </p:nvSpPr>
        <p:spPr>
          <a:xfrm>
            <a:off x="2065610" y="3678674"/>
            <a:ext cx="4947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/>
              <a:t>Да</a:t>
            </a:r>
            <a:endParaRPr lang="en-US" dirty="0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FB256B-4E80-1306-496D-6131298BCF08}"/>
              </a:ext>
            </a:extLst>
          </p:cNvPr>
          <p:cNvSpPr txBox="1"/>
          <p:nvPr/>
        </p:nvSpPr>
        <p:spPr>
          <a:xfrm>
            <a:off x="3566159" y="3672868"/>
            <a:ext cx="640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dirty="0"/>
              <a:t>Не</a:t>
            </a: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Критерии за разделяне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алгоритъмът избира кой въпрос да зададе пръв?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4023360" cy="54864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64008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Индекс на Джини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194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Gini(S) = 1 — Σ(pᵢ)²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78892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Вероятност случайно избран елемент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бъде неправилно класифициран.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= чисто множество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стойност = смесени класове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463040"/>
            <a:ext cx="4023360" cy="301752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663440" y="1463040"/>
            <a:ext cx="4023360" cy="54864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4630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Ентропия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4846320" y="21945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2C5F2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H(S) = − Σ pᵢ · log₂(pᵢ)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788920"/>
            <a:ext cx="35661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Идва от теорията на информацията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Клод Шанон.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Измерва „изненадата“ или</a:t>
            </a:r>
            <a:endParaRPr lang="en-US" sz="1200" dirty="0"/>
          </a:p>
          <a:p>
            <a:pPr marL="0" indent="0">
              <a:buNone/>
            </a:pPr>
            <a:r>
              <a:rPr lang="en-US" sz="11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несигурността в множеството.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Проблемът: Overfitting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Когато едно дърво стане „прекалено умно“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88036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Техники за борба с overfitting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3383280"/>
            <a:ext cx="2468880" cy="109728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594360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9436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Ограничаване на дълбочината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383280" y="3383280"/>
            <a:ext cx="2468880" cy="109728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520440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min_samples_leaf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52044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примери в лист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309360" y="3383280"/>
            <a:ext cx="2468880" cy="109728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46520" y="352044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Pruning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446520" y="39319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Премахване на маловажни клони</a:t>
            </a:r>
            <a:endParaRPr lang="en-US" sz="1100" dirty="0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A89B882-9DEC-A8C2-CBA8-804DD431CB8A}"/>
              </a:ext>
            </a:extLst>
          </p:cNvPr>
          <p:cNvSpPr txBox="1"/>
          <p:nvPr/>
        </p:nvSpPr>
        <p:spPr>
          <a:xfrm>
            <a:off x="457200" y="1672493"/>
            <a:ext cx="82296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bg-BG" sz="2000" dirty="0"/>
              <a:t>Прекалено обученото дърво научава шума в данните, а не истинските закономерности.</a:t>
            </a:r>
            <a:endParaRPr lang="en-US" sz="2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5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D003224-8385-28CB-B792-0B7461F1B4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65A3161-5A79-FF74-816B-6E18AE00E1C8}"/>
              </a:ext>
            </a:extLst>
          </p:cNvPr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Проблемът: Overfitting</a:t>
            </a:r>
            <a:endParaRPr lang="en-US" sz="32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EEF46893-B710-3826-87ED-75697542CC9A}"/>
              </a:ext>
            </a:extLst>
          </p:cNvPr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bg-BG" sz="1400" i="1" dirty="0">
                <a:solidFill>
                  <a:srgbClr val="5A6B5C"/>
                </a:solidFill>
                <a:latin typeface="Calibri" pitchFamily="34" charset="0"/>
                <a:cs typeface="Calibri" pitchFamily="34" charset="-120"/>
              </a:rPr>
              <a:t>“Подрязване” на излишни клони</a:t>
            </a:r>
            <a:endParaRPr lang="en-US" sz="1400" dirty="0"/>
          </a:p>
        </p:txBody>
      </p:sp>
      <p:pic>
        <p:nvPicPr>
          <p:cNvPr id="4" name="Picture 3" descr="Overfitting and Pruning in Decision Trees — Improving Model's Accuracy | by  Rishika Ravindran | Nerd For Tech | Medium">
            <a:extLst>
              <a:ext uri="{FF2B5EF4-FFF2-40B4-BE49-F238E27FC236}">
                <a16:creationId xmlns:a16="http://schemas.microsoft.com/office/drawing/2014/main" id="{5392B26C-F0EE-DB2B-4900-EEE90B44D6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7850" y="1399540"/>
            <a:ext cx="7248299" cy="3423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416409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Ансамблово обучение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Много „слаби“ модели → един „силен“ резултат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457200" y="246888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4"/>
          <p:cNvSpPr/>
          <p:nvPr/>
        </p:nvSpPr>
        <p:spPr>
          <a:xfrm>
            <a:off x="457200" y="2468880"/>
            <a:ext cx="91440" cy="2011680"/>
          </a:xfrm>
          <a:prstGeom prst="rect">
            <a:avLst/>
          </a:prstGeom>
          <a:solidFill>
            <a:srgbClr val="97BC62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5"/>
          <p:cNvSpPr/>
          <p:nvPr/>
        </p:nvSpPr>
        <p:spPr>
          <a:xfrm>
            <a:off x="73152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BAGGING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3152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Паралелно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31520" y="32918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Тренира много модели едновременно върху различни подмножества данни.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Random Forest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246888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9"/>
          <p:cNvSpPr/>
          <p:nvPr/>
        </p:nvSpPr>
        <p:spPr>
          <a:xfrm>
            <a:off x="4663440" y="2468880"/>
            <a:ext cx="91440" cy="2011680"/>
          </a:xfrm>
          <a:prstGeom prst="rect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4937760" y="26060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300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BOOSTING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937760" y="29718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Последователно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937760" y="3291840"/>
            <a:ext cx="35661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Всеки следващ модел се концентрира върху грешките на предишния.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XGBoost, AdaBoost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Bootstrap Aggregating (Bagging)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Вземане на извадки с повторение от тренировъчния набор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760720" y="1463040"/>
            <a:ext cx="2926080" cy="141732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760720" y="15544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63.2%</a:t>
            </a:r>
            <a:endParaRPr lang="en-US" sz="5600" dirty="0"/>
          </a:p>
        </p:txBody>
      </p:sp>
      <p:sp>
        <p:nvSpPr>
          <p:cNvPr id="9" name="Text 7"/>
          <p:cNvSpPr/>
          <p:nvPr/>
        </p:nvSpPr>
        <p:spPr>
          <a:xfrm>
            <a:off x="5760720" y="24231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извадката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760720" y="3063240"/>
            <a:ext cx="2926080" cy="1417320"/>
          </a:xfrm>
          <a:prstGeom prst="rect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5760720" y="3154680"/>
            <a:ext cx="29260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36.8%</a:t>
            </a:r>
            <a:endParaRPr lang="en-US" sz="5600" dirty="0"/>
          </a:p>
        </p:txBody>
      </p:sp>
      <p:sp>
        <p:nvSpPr>
          <p:cNvPr id="12" name="Text 10"/>
          <p:cNvSpPr/>
          <p:nvPr/>
        </p:nvSpPr>
        <p:spPr>
          <a:xfrm>
            <a:off x="5760720" y="40233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Out-of-Bag (OOB)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822960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13</a:t>
            </a:r>
            <a:endParaRPr lang="en-US" sz="900" dirty="0"/>
          </a:p>
        </p:txBody>
      </p:sp>
      <p:pic>
        <p:nvPicPr>
          <p:cNvPr id="13" name="Picture 12" descr="What is Bootstrap Sampling? A Guide to Understand it Better">
            <a:extLst>
              <a:ext uri="{FF2B5EF4-FFF2-40B4-BE49-F238E27FC236}">
                <a16:creationId xmlns:a16="http://schemas.microsoft.com/office/drawing/2014/main" id="{63DDC113-A949-87BE-7EB9-494F12F13B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9394" y="1874520"/>
            <a:ext cx="5304885" cy="2103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Случайност при признаците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Ключовото нововъведение на Random Forest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91440" cy="914400"/>
          </a:xfrm>
          <a:prstGeom prst="rect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31520" y="150876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4A0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Проблем: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731520" y="182880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Ако един признак е значително по-информативен, всички дървета го избират като корен → силно корелирани дървета → слаб ансамбъл.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514600"/>
            <a:ext cx="8229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57200" y="2514600"/>
            <a:ext cx="91440" cy="91440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31520" y="260604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Решение: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731520" y="29260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 всяко разделяне разглеждай само случайно подмножество от m признаци, не всичките p.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657600"/>
            <a:ext cx="4023360" cy="86868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Класификация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√p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4663440" y="3657600"/>
            <a:ext cx="4023360" cy="86868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46320" y="37490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Регресия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846320" y="402336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 = p / 3</a:t>
            </a:r>
            <a:endParaRPr lang="en-US" sz="2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Алгоритъмът стъпка по стъпка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685800" cy="6858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457200" y="118872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1371600" y="1188720"/>
            <a:ext cx="7315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1554480" y="126187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Хиперпараметри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554480" y="155448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Задаваме K, m, max_depth, min_samples_split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057400"/>
            <a:ext cx="685800" cy="6858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57200" y="205740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1371600" y="2057400"/>
            <a:ext cx="7315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1554480" y="213055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извадки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1554480" y="242316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Генерираме K извадки с повторение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2926080"/>
            <a:ext cx="685800" cy="6858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57200" y="292608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5" name="Shape 13"/>
          <p:cNvSpPr/>
          <p:nvPr/>
        </p:nvSpPr>
        <p:spPr>
          <a:xfrm>
            <a:off x="1371600" y="2926080"/>
            <a:ext cx="7315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1554480" y="299923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 err="1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Изграждан</a:t>
            </a:r>
            <a:r>
              <a:rPr lang="bg-BG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 на дървото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554480" y="329184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всеки възел: m случайни признака, най-добро разделяне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794760"/>
            <a:ext cx="685800" cy="685800"/>
          </a:xfrm>
          <a:prstGeom prst="ellipse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457200" y="3794760"/>
            <a:ext cx="685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2800" dirty="0"/>
          </a:p>
        </p:txBody>
      </p:sp>
      <p:sp>
        <p:nvSpPr>
          <p:cNvPr id="20" name="Shape 18"/>
          <p:cNvSpPr/>
          <p:nvPr/>
        </p:nvSpPr>
        <p:spPr>
          <a:xfrm>
            <a:off x="1371600" y="3794760"/>
            <a:ext cx="7315200" cy="68580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1554480" y="386791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Гласуване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554480" y="4160520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Класификация: мнозинство  |  Регресия: средна стойност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Основни хиперпараметри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457200" y="9144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i="1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Настройки, които задаваме преди обучението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n_estimators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Брой дървета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Типично 100–1000. Повече = по-стабилно, но по-бавно.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16002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max_features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846320" y="19659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Признаци за разглеждане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46320" y="2331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√p за класификация, p/3 за регресия.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01752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64008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max_depth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008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Максимална дълбочина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0080" y="3886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По-дълбоки = по-сложни зависимости, риск от overfitting.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663440" y="301752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4A01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min_samples_split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846320" y="35204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Минимум за разделяне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46320" y="388620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Предпазва от свръхспецифични разделяния. Типично 2–20.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Предимства и недостатъци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2C5F2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502920"/>
          </a:xfrm>
          <a:prstGeom prst="rect">
            <a:avLst/>
          </a:prstGeom>
          <a:solidFill>
            <a:srgbClr val="2C5F2D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640080" y="1188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ПРЕДИМСТВА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87452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Висока точност от начало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Устойчив на шум и outliers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изисква нормализация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OOB оценка „безплатно“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importance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Числови + категориални данни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3383280"/>
          </a:xfrm>
          <a:prstGeom prst="rect">
            <a:avLst/>
          </a:prstGeom>
          <a:solidFill>
            <a:srgbClr val="FFFFFF"/>
          </a:solidFill>
          <a:ln w="1905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4663440" y="1188720"/>
            <a:ext cx="4023360" cy="502920"/>
          </a:xfrm>
          <a:prstGeom prst="rect">
            <a:avLst/>
          </a:prstGeom>
          <a:solidFill>
            <a:srgbClr val="D4A017"/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4846320" y="118872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НЕДОСТАТЪЦИ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37760" y="1874520"/>
            <a:ext cx="35661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Слаба интерпретируемост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„Черна кутия“ при много дървета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Изчислително тежък при големи K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 с небалансирани класове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■"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Изисква повече памет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5F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2C5F2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Приложения в реалния свят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4023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59436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🏥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71600" y="1325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Медицина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371600" y="1691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Диагностика на рак, риск от диабет, класификация на инсулт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663440" y="1188720"/>
            <a:ext cx="4023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4800600" y="137160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💳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5577840" y="1325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Финанси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577840" y="169164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Кредитен рейтинг, разкриване на измами, оценка на риск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57200" y="2377440"/>
            <a:ext cx="4023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59436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🌍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1371600" y="2514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Екология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371600" y="28803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Сателитни изображения, прогноза на пожари, добив на реколти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663440" y="2377440"/>
            <a:ext cx="4023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800600" y="25603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5577840" y="251460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5577840" y="288036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Спам филтри, sentiment analysis, класификация на документи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" y="3566160"/>
            <a:ext cx="4023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94360" y="3749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🧬</a:t>
            </a:r>
            <a:endParaRPr lang="en-US" sz="3200" dirty="0"/>
          </a:p>
        </p:txBody>
      </p:sp>
      <p:sp>
        <p:nvSpPr>
          <p:cNvPr id="21" name="Text 19"/>
          <p:cNvSpPr/>
          <p:nvPr/>
        </p:nvSpPr>
        <p:spPr>
          <a:xfrm>
            <a:off x="1371600" y="3703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Биоинформатика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1371600" y="4069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Функция на гени, GWAS анализ, генетичен профил на тумори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4663440" y="3566160"/>
            <a:ext cx="402336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97BC6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4800600" y="374904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5577840" y="370332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C5F2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Интернет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577840" y="4069080"/>
            <a:ext cx="3017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A6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Препоръчителни системи, churn prediction, детекция на ботове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C5F2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457200" y="-457200"/>
            <a:ext cx="2286000" cy="2286000"/>
          </a:xfrm>
          <a:prstGeom prst="ellipse">
            <a:avLst/>
          </a:prstGeom>
          <a:solidFill>
            <a:srgbClr val="97BC62">
              <a:alpha val="2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7772400" y="3657600"/>
            <a:ext cx="1828800" cy="1828800"/>
          </a:xfrm>
          <a:prstGeom prst="ellipse">
            <a:avLst/>
          </a:prstGeom>
          <a:solidFill>
            <a:srgbClr val="97BC62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315200" y="-274320"/>
            <a:ext cx="1280160" cy="1280160"/>
          </a:xfrm>
          <a:prstGeom prst="ellipse">
            <a:avLst/>
          </a:prstGeom>
          <a:solidFill>
            <a:srgbClr val="D4A017">
              <a:alpha val="30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457200" y="13716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Благодаря за вниманието!</a:t>
            </a:r>
            <a:endParaRPr lang="en-US" sz="4000" dirty="0"/>
          </a:p>
        </p:txBody>
      </p:sp>
      <p:sp>
        <p:nvSpPr>
          <p:cNvPr id="6" name="Shape 4"/>
          <p:cNvSpPr/>
          <p:nvPr/>
        </p:nvSpPr>
        <p:spPr>
          <a:xfrm>
            <a:off x="3657600" y="2331720"/>
            <a:ext cx="1828800" cy="0"/>
          </a:xfrm>
          <a:prstGeom prst="line">
            <a:avLst/>
          </a:prstGeom>
          <a:noFill/>
          <a:ln w="25400">
            <a:solidFill>
              <a:srgbClr val="D4A01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1096</TotalTime>
  <Words>624</Words>
  <Application>Microsoft Macintosh PowerPoint</Application>
  <PresentationFormat>On-screen Show (16:9)</PresentationFormat>
  <Paragraphs>162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Arial</vt:lpstr>
      <vt:lpstr>Calibri</vt:lpstr>
      <vt:lpstr>Consolas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Random Forest</dc:title>
  <dc:subject>PptxGenJS Presentation</dc:subject>
  <dc:creator>Иван Георгиев Кръстев</dc:creator>
  <cp:lastModifiedBy>Ivann9</cp:lastModifiedBy>
  <cp:revision>3</cp:revision>
  <dcterms:created xsi:type="dcterms:W3CDTF">2026-05-10T15:51:46Z</dcterms:created>
  <dcterms:modified xsi:type="dcterms:W3CDTF">2026-05-13T09:35:26Z</dcterms:modified>
</cp:coreProperties>
</file>